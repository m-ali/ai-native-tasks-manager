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4748044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70" d="100"/>
          <a:sy n="70" d="100"/>
        </p:scale>
        <p:origin x="6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2B55-00A3-43DA-AF5A-BEC7BB02F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D87B1A-5018-4FAF-8E0E-C0F8366699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5E2E3-5AE9-4473-A3F8-31E257221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835FC-2DFA-45B5-8FC4-FD6D94A3C415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659B4-D692-41F9-B76F-748893703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51C50-CECC-492A-A731-376408CCE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DD59C-FFDE-48B8-9A12-06A560F06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450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9CD0D-4FAD-4AFB-8CC5-58E68999E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19288-E4E7-4F26-9B87-CC5001B8F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E8D54-4692-40A7-BD5C-C4F0326D5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835FC-2DFA-45B5-8FC4-FD6D94A3C415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97CEC-81AD-4D7F-A741-C03F5F754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F15AE-5017-4136-B301-20DCCADCC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DD59C-FFDE-48B8-9A12-06A560F06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388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69872-4EE1-403A-B747-351FFD196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DB758B-875C-4F5D-9DE6-8AD03CFF7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82D16-5609-45C7-BAA4-7E559AAE0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835FC-2DFA-45B5-8FC4-FD6D94A3C415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E6864-DB5A-4AA2-A806-B63A37AAF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4CFFE-075C-4903-9DF1-A94F8E273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DD59C-FFDE-48B8-9A12-06A560F06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558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0B36B-68EC-410A-8A84-81CC5AC99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CAA59-E947-4DA9-BC45-8C1472FBEE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00B417-8D24-480B-BFC1-71B8D0A448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B6F98-D97B-4A89-8B11-ABDCC974C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835FC-2DFA-45B5-8FC4-FD6D94A3C415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5C6BD-5629-4C3C-861B-55F6DDF93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CDBA8F-057B-42F4-947A-F59E7467F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DD59C-FFDE-48B8-9A12-06A560F06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87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5337B-A2E0-479F-AD4B-CC4743F32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1F9EE7-FC0D-47B5-9584-06B41FB61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C7AEE6-43A0-4528-9683-FB16A3D35C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B23632-F151-45D3-BC31-E253967B2F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874B24-1966-4A4C-B6F5-16EF53FA8D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187D0F-703B-4290-B713-6DAC7E4A0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835FC-2DFA-45B5-8FC4-FD6D94A3C415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3D222F-7E0B-4C44-96F9-D2EF22F8D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3E59C2-90F0-4C41-A7FD-D68AFA0D2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DD59C-FFDE-48B8-9A12-06A560F06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51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9E79F-6CE2-4216-A581-49463822E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6A2417-99F9-4020-963A-9E91F3388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835FC-2DFA-45B5-8FC4-FD6D94A3C415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7F49C6-D92D-4373-8EA7-7C23E12FA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EC81B6-5D91-426F-9B1E-8ECF04F44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DD59C-FFDE-48B8-9A12-06A560F06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603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43D784-E8AA-4009-989E-8E2CD83B0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835FC-2DFA-45B5-8FC4-FD6D94A3C415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53AC14-0D93-477E-A52E-99857B2C8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1C3FF-84AB-4047-BD1F-31F17B062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DD59C-FFDE-48B8-9A12-06A560F06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90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A50FA-D15D-459B-B0E8-B7106FA63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C62FD-0A75-4300-B39C-75918DBA5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219F4F-B6D9-4687-B232-66DAEEA61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E633BA-A81E-4AFC-B9BD-566A410A3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835FC-2DFA-45B5-8FC4-FD6D94A3C415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EB0574-A9F1-41F1-82E1-A0B214488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C9FB4-0447-4040-AE99-804D83768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DD59C-FFDE-48B8-9A12-06A560F06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450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F0AEC-62C8-49F8-9913-6BE643486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2B8D3B-F176-49A4-808F-69465865A7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4D24A-0A6C-4181-809C-F90ADA5309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3037C-0D5C-4E19-B770-F851CA01F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835FC-2DFA-45B5-8FC4-FD6D94A3C415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BFB6C-B2FC-4B4F-8AB6-204C800A6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E9483-ADF5-4634-AB4F-84E2E54B1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DD59C-FFDE-48B8-9A12-06A560F06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819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485CA-73C1-458B-8A91-9E80E1596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FC17A3-60D0-4326-89CC-9FC85E055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2EDE7-6D95-4FCC-A649-FF1206C2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835FC-2DFA-45B5-8FC4-FD6D94A3C415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408FE-2713-44E2-91C9-11D27BA2A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CCCCA-8ED9-4FB4-A100-1851D47BC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DD59C-FFDE-48B8-9A12-06A560F06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592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A5D8E9-4A67-44EE-92DB-4EC3D9FC65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5E2433-5C2E-4C19-B43D-F15B25CEA4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7A6A2-9F38-4D9F-9841-40403A8CB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835FC-2DFA-45B5-8FC4-FD6D94A3C415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8442F-1081-4087-94C6-E8CB2FD78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2CF1F-A862-475C-80D4-0B9E9D1C2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DD59C-FFDE-48B8-9A12-06A560F06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793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423B93-C17E-4D75-BF60-2B7F2821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2B883-4F3B-4DE2-84B3-5B3F9BADC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04A5F-607B-4C40-A635-58629355E7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1835FC-2DFA-45B5-8FC4-FD6D94A3C415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826B9-9424-4087-A72E-A9184E980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97FB7-79A9-4E59-97C8-5690FAF637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DD59C-FFDE-48B8-9A12-06A560F06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026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8FF85864-05E8-3E47-A293-943331658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672A8A7-5088-4AAD-A9DE-D91ED1C980A1}"/>
              </a:ext>
            </a:extLst>
          </p:cNvPr>
          <p:cNvSpPr txBox="1"/>
          <p:nvPr/>
        </p:nvSpPr>
        <p:spPr>
          <a:xfrm>
            <a:off x="282989" y="3937284"/>
            <a:ext cx="3142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highlight>
                  <a:srgbClr val="005CA7"/>
                </a:highlight>
              </a:rPr>
              <a:t>Buying Triggers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50B056E-FAD9-48F2-BF43-0FE272BFC5B7}"/>
              </a:ext>
            </a:extLst>
          </p:cNvPr>
          <p:cNvGraphicFramePr>
            <a:graphicFrameLocks noGrp="1"/>
          </p:cNvGraphicFramePr>
          <p:nvPr/>
        </p:nvGraphicFramePr>
        <p:xfrm>
          <a:off x="320545" y="4315003"/>
          <a:ext cx="3654475" cy="1554480"/>
        </p:xfrm>
        <a:graphic>
          <a:graphicData uri="http://schemas.openxmlformats.org/drawingml/2006/table">
            <a:tbl>
              <a:tblPr/>
              <a:tblGrid>
                <a:gridCol w="3654475">
                  <a:extLst>
                    <a:ext uri="{9D8B030D-6E8A-4147-A177-3AD203B41FA5}">
                      <a16:colId xmlns:a16="http://schemas.microsoft.com/office/drawing/2014/main" val="13799473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Seasonal Shift: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Increased load-shedding at the start of April/May.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Referral Trust: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 recommendation from a "Technical Friend" or a social media "Brutal Mentor" who shows a real-world stress test.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Warranty Clarity: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He will choose a brand that offers a clear, verifiable "Company Warranty" over a vague "Shop Guarantee."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781784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79A32CC3-4EA5-4078-B145-DC43A679007F}"/>
              </a:ext>
            </a:extLst>
          </p:cNvPr>
          <p:cNvSpPr txBox="1"/>
          <p:nvPr/>
        </p:nvSpPr>
        <p:spPr>
          <a:xfrm>
            <a:off x="263776" y="98553"/>
            <a:ext cx="116960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Salman -- Small Business Owner </a:t>
            </a:r>
          </a:p>
          <a:p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85D343-223B-4DB3-97FC-162F5AA230B0}"/>
              </a:ext>
            </a:extLst>
          </p:cNvPr>
          <p:cNvSpPr txBox="1"/>
          <p:nvPr/>
        </p:nvSpPr>
        <p:spPr>
          <a:xfrm>
            <a:off x="294944" y="711937"/>
            <a:ext cx="83491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Age: 39 | Lives in Lahore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5A6508F-A61B-4E97-A12D-D7EA303FF47C}"/>
              </a:ext>
            </a:extLst>
          </p:cNvPr>
          <p:cNvSpPr/>
          <p:nvPr/>
        </p:nvSpPr>
        <p:spPr>
          <a:xfrm>
            <a:off x="4377515" y="5570298"/>
            <a:ext cx="7517173" cy="115295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45B04B2-5AA1-4919-AC16-B8070BEFB20D}"/>
              </a:ext>
            </a:extLst>
          </p:cNvPr>
          <p:cNvGrpSpPr/>
          <p:nvPr/>
        </p:nvGrpSpPr>
        <p:grpSpPr>
          <a:xfrm>
            <a:off x="4500284" y="5607961"/>
            <a:ext cx="7763915" cy="1569660"/>
            <a:chOff x="247970" y="1283462"/>
            <a:chExt cx="7763915" cy="156966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3C4D3B7-4BFE-441B-8BCB-6BF0BFE01610}"/>
                </a:ext>
              </a:extLst>
            </p:cNvPr>
            <p:cNvSpPr txBox="1"/>
            <p:nvPr/>
          </p:nvSpPr>
          <p:spPr>
            <a:xfrm>
              <a:off x="247970" y="1283462"/>
              <a:ext cx="7763915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highlight>
                    <a:srgbClr val="005CA7"/>
                  </a:highlight>
                </a:rPr>
                <a:t>Media Consumption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/>
                <a:t>Traditional Meida:                  (65%),                 (46%),                    (5%)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6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/>
                <a:t>Social media on his phone:                  (66%),               (70%),            (45%),         (50%)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6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600" dirty="0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872DC85D-112F-441E-AAA0-E341C46613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4814" r="15170" b="12681"/>
            <a:stretch>
              <a:fillRect/>
            </a:stretch>
          </p:blipFill>
          <p:spPr>
            <a:xfrm>
              <a:off x="2355656" y="1450003"/>
              <a:ext cx="464426" cy="388331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BE241BEB-6193-4DEF-88D7-7CBFE92C6F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741596" y="1504794"/>
              <a:ext cx="388331" cy="388331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D1DB1507-235C-4783-A680-662E2401F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50537" y="1478620"/>
              <a:ext cx="461511" cy="389962"/>
            </a:xfrm>
            <a:prstGeom prst="rect">
              <a:avLst/>
            </a:prstGeom>
          </p:spPr>
        </p:pic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130548F1-59F8-4FA3-9596-6E737426382B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04671" y="6437318"/>
            <a:ext cx="566977" cy="10973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DFB8329-62B6-4D3F-8BAD-8CB203FEEE9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4103" y="6415656"/>
            <a:ext cx="466090" cy="19177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479C487-D592-48DF-A84B-04601793B96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0712" y="6347095"/>
            <a:ext cx="274845" cy="274845"/>
          </a:xfrm>
          <a:prstGeom prst="rect">
            <a:avLst/>
          </a:prstGeom>
          <a:noFill/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D1A2FAF-E18B-48F6-87E3-BA1DDD690BDE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07" t="15706" r="13448" b="17886"/>
          <a:stretch>
            <a:fillRect/>
          </a:stretch>
        </p:blipFill>
        <p:spPr bwMode="auto">
          <a:xfrm>
            <a:off x="10879088" y="6338625"/>
            <a:ext cx="274845" cy="26275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2" name="AutoShape 2" descr="Image of ">
            <a:extLst>
              <a:ext uri="{FF2B5EF4-FFF2-40B4-BE49-F238E27FC236}">
                <a16:creationId xmlns:a16="http://schemas.microsoft.com/office/drawing/2014/main" id="{1365A743-E0D9-4492-B3FB-4B51AB8F57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20830" y="325919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2074EF1-874A-46BF-9C09-273109C7A256}"/>
              </a:ext>
            </a:extLst>
          </p:cNvPr>
          <p:cNvSpPr/>
          <p:nvPr/>
        </p:nvSpPr>
        <p:spPr>
          <a:xfrm>
            <a:off x="9110193" y="146901"/>
            <a:ext cx="2954428" cy="1980778"/>
          </a:xfrm>
          <a:prstGeom prst="roundRect">
            <a:avLst/>
          </a:prstGeom>
          <a:solidFill>
            <a:srgbClr val="005C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Salman is a pragmatic researcher who values technical data over marketing hype. Deeply risk-averse, he acts as a </a:t>
            </a:r>
            <a:r>
              <a:rPr lang="en-US" sz="1600" dirty="0">
                <a:highlight>
                  <a:srgbClr val="000080"/>
                </a:highlight>
              </a:rPr>
              <a:t>"Family Sentinel," </a:t>
            </a:r>
            <a:r>
              <a:rPr lang="en-US" sz="1600" dirty="0"/>
              <a:t>prioritizing his household's comfort during Lahore's peak heat.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A74126-CA6A-4080-9036-20BA24984C01}"/>
              </a:ext>
            </a:extLst>
          </p:cNvPr>
          <p:cNvSpPr txBox="1"/>
          <p:nvPr/>
        </p:nvSpPr>
        <p:spPr>
          <a:xfrm>
            <a:off x="4184530" y="2865718"/>
            <a:ext cx="5246073" cy="2640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200" dirty="0">
                <a:solidFill>
                  <a:schemeClr val="bg1"/>
                </a:solidFill>
                <a:highlight>
                  <a:srgbClr val="005CA7"/>
                </a:highlight>
              </a:rPr>
              <a:t>Pain Points:</a:t>
            </a:r>
          </a:p>
          <a:p>
            <a:pPr marL="174625" marR="0" lvl="0" indent="-17462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74625" algn="l"/>
              </a:tabLst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Maturity Return-Oriented: Evaluates savings strictly on guaranteed multiplier returns (e.g., expecting 3× to 4× payout over 15–20 years to combat inflation). </a:t>
            </a:r>
          </a:p>
          <a:p>
            <a:pPr marL="174625" marR="0" lvl="0" indent="-17462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74625" algn="l"/>
              </a:tabLst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Direct Institutional Dealing: Prefers depositing premiums directly at physical head offices or via verified official bank counters to ensure receipts are genuine. </a:t>
            </a:r>
          </a:p>
          <a:p>
            <a:pPr marL="174625" marR="0" lvl="0" indent="-17462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74625" algn="l"/>
              </a:tabLst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Family-First Legacy Savings: Willing to sacrifice current lifestyle liquidity to secure long-term funds specifically dedicated to children's higher education, weddings, or personal pension income. </a:t>
            </a:r>
          </a:p>
          <a:p>
            <a:pPr marL="174625" marR="0" lvl="0" indent="-17462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74625" algn="l"/>
              </a:tabLst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Shariah-Compliance Sensitivity: Strong preference for Takaful savings over conventional insurance to ensure peace of mind regarding religious principles (Halal income).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3346C4-9071-466E-8560-0448844F14CA}"/>
              </a:ext>
            </a:extLst>
          </p:cNvPr>
          <p:cNvSpPr txBox="1"/>
          <p:nvPr/>
        </p:nvSpPr>
        <p:spPr>
          <a:xfrm>
            <a:off x="4243555" y="986301"/>
            <a:ext cx="4746046" cy="1027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1600" dirty="0">
                <a:solidFill>
                  <a:schemeClr val="bg1"/>
                </a:solidFill>
                <a:highlight>
                  <a:srgbClr val="005CA7"/>
                </a:highlight>
              </a:rPr>
              <a:t>Behavioral Mindset</a:t>
            </a:r>
          </a:p>
          <a:p>
            <a:pPr marL="174625" marR="0" lvl="0" indent="-17462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Deeply concerned with family financial security, inflation defense, and preserving capital; carries a high fear of systemic scams or bank/agent dishonesty.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C817BDF-875A-4160-9478-0F078F1C66DA}"/>
              </a:ext>
            </a:extLst>
          </p:cNvPr>
          <p:cNvSpPr txBox="1"/>
          <p:nvPr/>
        </p:nvSpPr>
        <p:spPr>
          <a:xfrm>
            <a:off x="232168" y="2250729"/>
            <a:ext cx="4004726" cy="169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600" dirty="0">
                <a:solidFill>
                  <a:schemeClr val="bg1"/>
                </a:solidFill>
                <a:highlight>
                  <a:srgbClr val="005CA7"/>
                </a:highlight>
              </a:rPr>
              <a:t>Top Interests and Affinity Index</a:t>
            </a:r>
            <a:r>
              <a:rPr lang="en-US" dirty="0">
                <a:solidFill>
                  <a:schemeClr val="bg1"/>
                </a:solidFill>
                <a:highlight>
                  <a:srgbClr val="005CA7"/>
                </a:highlight>
              </a:rPr>
              <a:t>:</a:t>
            </a:r>
          </a:p>
          <a:p>
            <a:pPr marL="285750" indent="-285750" defTabSz="4572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News &amp; Politics / Avid News Readers – i135</a:t>
            </a:r>
          </a:p>
          <a:p>
            <a:pPr marL="285750" indent="-285750" defTabSz="4572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Banking &amp; Finance / Avid Investors – i137</a:t>
            </a:r>
          </a:p>
          <a:p>
            <a:pPr marL="285750" indent="-285750" defTabSz="4572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Food &amp; Dining / Foodies – i130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Life style/Hobbies  --  i125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Vehicles / Auto Enthusiasts </a:t>
            </a:r>
            <a:r>
              <a:rPr lang="en-US" sz="1200" dirty="0">
                <a:solidFill>
                  <a:prstClr val="black"/>
                </a:solidFill>
                <a:latin typeface="Calibri"/>
              </a:rPr>
              <a:t>--  i120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indent="-285750" defTabSz="4572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Shoppers / Bargain Hunters – i115</a:t>
            </a:r>
            <a:endParaRPr lang="en-US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939FD04-F0A1-4D9A-B772-855C7DAAFC43}"/>
              </a:ext>
            </a:extLst>
          </p:cNvPr>
          <p:cNvSpPr txBox="1"/>
          <p:nvPr/>
        </p:nvSpPr>
        <p:spPr>
          <a:xfrm>
            <a:off x="232168" y="1142794"/>
            <a:ext cx="3742852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rtl="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solidFill>
                  <a:schemeClr val="bg1"/>
                </a:solidFill>
                <a:highlight>
                  <a:srgbClr val="005CA7"/>
                </a:highlight>
              </a:rPr>
              <a:t>Family Status: </a:t>
            </a:r>
          </a:p>
          <a:p>
            <a:pPr marL="231775" marR="0" lvl="0" indent="-231775" rtl="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Married with children; lives in a multi-generational household.</a:t>
            </a:r>
          </a:p>
          <a:p>
            <a:pPr marL="231775" marR="0" lvl="0" indent="-231775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Property Type: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Self-owned 10 Marla house.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4DA8CF6D-A1A2-4A6D-B902-A9077525A574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97" r="19946"/>
          <a:stretch/>
        </p:blipFill>
        <p:spPr>
          <a:xfrm>
            <a:off x="9258136" y="2497042"/>
            <a:ext cx="2783008" cy="246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7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348</Words>
  <Application>Microsoft Office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Symbol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M. Ali</dc:creator>
  <cp:lastModifiedBy>M. Ali</cp:lastModifiedBy>
  <cp:revision>2</cp:revision>
  <dcterms:created xsi:type="dcterms:W3CDTF">2026-08-24T13:51:20Z</dcterms:created>
  <dcterms:modified xsi:type="dcterms:W3CDTF">2026-08-24T13:52:42Z</dcterms:modified>
</cp:coreProperties>
</file>