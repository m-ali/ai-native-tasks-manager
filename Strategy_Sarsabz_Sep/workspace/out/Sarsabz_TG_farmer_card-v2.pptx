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</a:rPr>
              <a:t>The Sarsabz farmer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7607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9FB4C7"/>
                </a:solidFill>
                <a:latin typeface="Segoe UI"/>
              </a:rPr>
              <a:t>Male, 25-55  ·  Punjab and Sindh  ·  12-150+ acres  ·  50%+ of income from farming  (brief p23)</a:t>
            </a:r>
          </a:p>
        </p:txBody>
      </p:sp>
      <p:sp>
        <p:nvSpPr>
          <p:cNvPr id="5" name="Rectangle 4"/>
          <p:cNvSpPr/>
          <p:nvPr/>
        </p:nvSpPr>
        <p:spPr>
          <a:xfrm>
            <a:off x="9966960" y="201168"/>
            <a:ext cx="1828800" cy="32918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0" y="26517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COMPOSITE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65760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143000"/>
            <a:ext cx="54864" cy="2194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27101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WHO HE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618488"/>
            <a:ext cx="3291840" cy="1591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Head of a farming household. Brief p23: male, 25-55, Punjab and Sindh, 12-150+ acres, half or more of income from farming.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Brief p6 describes a wider buyer: 18-60, SEC A to upper D, minimum secondary education. The two definitions differ - settle it with the client.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Farming is a family identity: commenters introduce themselves through a father or grandfather who farmed.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474720"/>
            <a:ext cx="3657600" cy="23317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474720"/>
            <a:ext cx="54864" cy="2331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6027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INTERESTS AND AFFINITY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950208"/>
            <a:ext cx="3291840" cy="1728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No interest-affinity dataset covers this audience. The available export (Interests.csv) is brandsynario.com's own web audience - 35,681 urban, English-reading visitors, Jan-Sep 2026 - so it is kept for the urban card. To fill this block: a rural U&amp;A or media study from Fatima.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143000"/>
            <a:ext cx="4206240" cy="17373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143000"/>
            <a:ext cx="54864" cy="17373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271016"/>
            <a:ext cx="38404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BEHAVIOURAL MINDSET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1618488"/>
            <a:ext cx="3840479" cy="11338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Judges at product level, on what he has seen work on land like his.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Asks strangers in comment threads what the maker should be telling him, and suspects the answers are paid for.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1A1A1A"/>
                </a:solidFill>
                <a:latin typeface="Segoe UI"/>
              </a:rPr>
              <a:t>Fears waste more than failure: not whether NP and CAN work, but what will lock up if he mixes them.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017520"/>
            <a:ext cx="4206240" cy="27889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3017520"/>
            <a:ext cx="54864" cy="27889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3128" y="3145536"/>
            <a:ext cx="38404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PAIN POINTS (6)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493008"/>
            <a:ext cx="3840479" cy="2185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Will it lock up if I mix it: Whether NP with zinc urea, sulphur or potash reacts and wastes the bag.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Give me the dose for my soil, not the country: Wants a per-acre, per-irrigation plan for his soil and district.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Every expert says something different: Creators contradict each other and Fatima's own field practice.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Nobody answers me: He asks under videos and asks for a WhatsApp number.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The bag is expensive, and sometimes not there: Price and supply surface even under a tribute film.</a:t>
            </a:r>
          </a:p>
          <a:p>
            <a:pPr algn="l">
              <a:spcAft>
                <a:spcPts val="600"/>
              </a:spcAft>
            </a:pPr>
            <a:r>
              <a:rPr sz="1050" b="0" i="0">
                <a:solidFill>
                  <a:srgbClr val="1A1A1A"/>
                </a:solidFill>
                <a:latin typeface="Segoe UI"/>
              </a:rPr>
              <a:t>Show me proof, in words I use: Asks for written evidence; says the advice he gets is too English.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41080" y="1143000"/>
            <a:ext cx="3154680" cy="219456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641080" y="1143000"/>
            <a:ext cx="54864" cy="21945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42248" y="127101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BUYING TRIGGERS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2248" y="1618488"/>
            <a:ext cx="2788920" cy="15910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The irrigation calendar: Buys against sowing and first irrigation: Rabi Oct-Mar, Kharif Apr-Sep.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result on a field like his: Yield in maunds, from a named farmer in a district he knows.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A recipe he can copy: What replaced DAP, mixed with what, on which irrigation, on what soil.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Being addressed, not thanked: Response is strongest where farmers and families are the voice.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41080" y="3474720"/>
            <a:ext cx="3154680" cy="233172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41080" y="3474720"/>
            <a:ext cx="54864" cy="2331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42248" y="3602736"/>
            <a:ext cx="2788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Segoe UI"/>
              </a:rPr>
              <a:t>WHERE TO REACH HIM (EVIDENCED, NO SURVEY)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2248" y="3950208"/>
            <a:ext cx="2788920" cy="17282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YouTube, agronomy creators: where the switch is argued out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YouTube, brand films: long anthems draw response; 2025's AI shorts drew almost none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Dealer and trade counter: the last conversation before the bag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Sarsabz Pakistan App: 800,000+ downloads claimed (brief p7)</a:t>
            </a:r>
          </a:p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1A1A1A"/>
                </a:solidFill>
                <a:latin typeface="Segoe UI"/>
              </a:rPr>
              <a:t>TikTok: brief p23 calls the target TikTok-engaged; unverified, not readable logged-out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943600"/>
            <a:ext cx="11384280" cy="50292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6044184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He is not waiting to be persuaded that the product works. He is waiting to be shown how to use it without losing a season - and to be heard, not thanked.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6446520"/>
            <a:ext cx="113842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B7480"/>
                </a:solidFill>
                <a:latin typeface="Segoe UI"/>
              </a:rPr>
              <a:t>Sources: Fatima brief 2026, pp.6, 7, 23  ·  1,433 farmer comments (case2_audit/comments/analysis.md, theme_counts.csv)  ·  1,572 Salam Kissan comments (case1_salam_kissan/comments/comment_findings.md)  ·  76-upload archive (case1_salam_kissan/archive/archive_findings.md)  ·  No media survey supplied, so no percentages are shown; ask Fatima for TGI or Gallup  ·  The name and composite framing are a device; no individual farmer is described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