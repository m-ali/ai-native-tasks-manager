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The Brand Meaning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9FB4C7"/>
                </a:solidFill>
                <a:latin typeface="Segoe UI"/>
              </a:rPr>
              <a:t>A simple way to understand how farmers see a brand - from what it is and does, to what it means to them.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9FB4C7"/>
                </a:solidFill>
                <a:latin typeface="Segoe U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9FB4C7"/>
                </a:solidFill>
                <a:latin typeface="Segoe UI"/>
              </a:rPr>
              <a:t>From functional benefits → to emotions → to values and purpose.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Levels of branding: where the category is, and where Sarsabz is talking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2A43"/>
                </a:solidFill>
                <a:latin typeface="Segoe UI"/>
              </a:rPr>
              <a:t>Each brand sits on the level most of its coded posts occupy (mean in brackets). Computed from 200 coded uploads - 90 Sarsabz, 110 Engro - not asserted.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BRANDS AT THIS LEVEL (MEAN LEVEL)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4173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071616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Sarsabz talks at the level of values while Engro occupies benefits - and farmers judge at benefits and below. The ladder does not let a brand skip.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7480"/>
                </a:solidFill>
                <a:latin typeface="Segoe UI"/>
              </a:rPr>
              <a:t>Framework: Brand Meaning Ladder. Placement = modal level across each brand's coded uploads, mean in brackets (ladder_levels.csv, levels.csv). Window 15 Sep 2024 - 15 Sep 2026, owned YouTube only. Sarsabz is flagged split: modal L5, mean 3.2.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6420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728216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6. Mission / philosophy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"I change things you would like to"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755648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Nobody in this category.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110642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377440"/>
            <a:ext cx="54864" cy="6766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41448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5. Human values / way of life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"I think like you do"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468880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Sarsabz (3.2, split) - 30 of 90 uploads - Dil Se Dekho, Tabeer, national days.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68880"/>
            <a:ext cx="30175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WHERE SARSABZ IS TALKING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90672"/>
            <a:ext cx="110642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090672"/>
            <a:ext cx="54864" cy="6766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154679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4. Psychological territory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"I am like you; you are like me"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182112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Salam Kissan sits here - 12 uploads, and the only rung Sarsabz genuinely owns.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182112"/>
            <a:ext cx="30175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THE ASSET SARSABZ OWNS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110642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803904"/>
            <a:ext cx="54864" cy="6766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867912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3. Product benefits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"Here is what I can do for you"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895344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Engro (2.4) - 50 of 110 uploads - expert crop advice, soil testing, cost per acre. Sarsabz: 18.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895344"/>
            <a:ext cx="30175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WHERE THE CATEGORY SITS - AND WHERE SARSABZ MUST EARN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17136"/>
            <a:ext cx="110642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517136"/>
            <a:ext cx="54864" cy="6766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581144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2. Product attributes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"Reason to buy me"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608576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Engro 35 uploads: bio-active zinc, blends, the DAP Bharosa seal. Sarsabz: 5.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608576"/>
            <a:ext cx="30175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WHERE SARSABZ MUST PROVE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23036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294376"/>
            <a:ext cx="2651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1. Product identification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"I am here"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321808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A1A1A"/>
                </a:solidFill>
                <a:latin typeface="Segoe UI"/>
              </a:rPr>
              <a:t>Sarsabz 25 uploads: Multan Sultans, Ramzan, corporate. Engro: 18.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The Brand Meaning Ladder for fertilizer: the factors at each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2A43"/>
                </a:solidFill>
                <a:latin typeface="Segoe UI"/>
              </a:rPr>
              <a:t>Current = seen in the 200 coded uploads.  Potential = relevant to fertilizer, not yet claimed.  Unsupported = little link to the category.  † = added for this category from farmer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41732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CURRENT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41732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POTENTIAL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141732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UNSUPPORTED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71616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Current factors cluster at levels 1-3 and at 5. The gap is level 2-3 proof - and higher is not better: a factor is only worth owning if it is relevant, credible, distinctive and defensible.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7480"/>
                </a:solidFill>
                <a:latin typeface="Segoe UI"/>
              </a:rPr>
              <a:t>Framework: Brand Meaning Ladder - factor lists per level. Current factors: 200 coded uploads (codes_window.csv, Sarsabz + Engro). † additions: 1,433 farmer comments (comments/analysis.md) and the category read.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6420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1664208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728216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6. Purpose / philosophy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change do you want to create?"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728216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No brand states a purpose in 200 uploads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728216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National food security  ·  A farming livelihood that pays  ·  Restoring the soil for the next generation  ·  Closing the yield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1728216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Climate leadership without a farm-level mechanism  ·  Global development language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2377440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441448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5. Human values / way of life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believe?"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441448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National identity (Sarsabz 22)  ·  Women in farming (Sarsabz 8)  ·  Food security framing (Engro corporate)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441448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Straight dealing with the farmer †  ·  Knowledge shared, not sold †  ·  Progress you can 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41448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Sustainability language with no farm proof  ·  Urban lifestyle values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90672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0" y="3090672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154679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4. Psychological associations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choosing you say about me?"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154679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The farmer as someone worth saluting (Salam Kissan 12)  ·  The winning farmer (Ki Jeet)  ·  Cricket fandom (Multan Sultans 22)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154679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The progressive farmer others copy †  ·  The farmer who tests rather than guesses †  ·  Respected by the company he buys from 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154679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Luxury or status display  ·  Urban aspiration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03904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0" y="3803904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867912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3. Product benefits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it do for me?"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3867912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More yield (Sarsabz 15)  ·  Expert crop advice (Engro 44)  ·  Less cost, more profit (Engro 6)  ·  Soil tested, not guessed (Engro Mitti Mahir)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867912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Switching without waste: what replaces DAP, mixed with what †  ·  A cheaper bag that yields more †  ·  An answer when you ask 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867912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Convenience claims with no delivery  ·  Time saving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17136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0" y="4517136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581144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2. Product attributes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have?"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4581144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Bio-active zinc coating (Engro)  ·  Blends and micronutrients (Engro Zarkhez)  ·  Anti-counterfeit seal (Engro DAP)  ·  Prize draws (both)  ·  Nitrate + calcium (Sarsabz CAN)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4581144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The 500+ demo plots, published †  ·  The NP-to-DAP price gap, stated †  ·  Sarsabz's own authenticity sticker, revived †  ·  Compatibility: what NP and CAN can be mixed with 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4581144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Packaging design  ·  Plant capacity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3036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86000" y="5230368"/>
            <a:ext cx="324612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294376"/>
            <a:ext cx="1645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1. Product identification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"Who are you?"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5294376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02A43"/>
                </a:solidFill>
                <a:latin typeface="Segoe UI"/>
              </a:rPr>
              <a:t>Brand name and bag  ·  Heritage and national days  ·  Sponsorship (Multan Sultans)  ·  Festive films (Ramzan)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5294376"/>
            <a:ext cx="42062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Sarsabz as the name on NP and CAN †  ·  Recall: farmers say 'Nitrophos', not 'Sarsabz' 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94376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Corporate plant imagery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How the Brand Meaning Ladder works in fertilizer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2A43"/>
                </a:solidFill>
                <a:latin typeface="Segoe UI"/>
              </a:rPr>
              <a:t>What brands publish (200 coded uploads) against what farmers judge on (1,433 comments on independent agronomy channels). Levels are depth of meaning, not stages: higher is not better.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41732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WHAT BRANDS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WHAT CUSTOMERS JUDGE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41732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OPEN - NOBODY CLAIMS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71616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Farmers judge at levels 2 and 3. Engro is there with 50 benefit uploads and 31 named experts. Sarsabz is at level 5 with 30.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7480"/>
                </a:solidFill>
                <a:latin typeface="Segoe UI"/>
              </a:rPr>
              <a:t>Framework: Brand Meaning Ladder. Counts = uploads whose main claim is that factor, of 200 coded (codes_window.csv); a claim can sit at more than one level, so counts show where factors appear, not per-level totals. Farmer evidence: 1,433 comments, self-selected corpus, not research.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6420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06840" y="1664208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728216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6. Purpose / philosophy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change do you want to create?"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728216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No brand states a purpose. Food security appears in corporate webinars, not in farmer-facing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28216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Not raised. Farmers talk about this season's crop, not the nation's food supply.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728216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National food security made personal: the yield gap on this farm, closed.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2377440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441448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5. Values / way of life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believe?"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441448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Sarsabz: national identity (22 uploads) and women in farming (8). Engro: 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41448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Fairness and straight dealing, named by its absence: creators are suspected of taking company money; farmers ask for written proof.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441448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Knowledge shared rather than sold; straight dealing with the farmer.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90672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3090672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154679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4. Psychological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choosing you say about me?"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3154679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Sarsabz owns the salute to the farmer (Salam Kissan, 12 uploads, Kissan Day now official). Engro: the shaandar kissan, named, 6 uploads.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54679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Farmers post their own plans and yields for peer judgement - 63-68 maunds stated with inputs. Identity is earned by results, not by being saluted.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154679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The farmer others copy because his field proves it.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03904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3803904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867912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3. Benefits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it do for me?"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3867912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Engro: expert crop advice (44), cost saving (6), soil testing. Sarsabz: yield (15), advisory (3).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67912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This is where farmers live: 220 comments on what can be mixed with what, 163 on timing and dose, 149 on flood vs broadcast.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867912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Switching without waste: what replaces DAP, in what quantity, mixed with what, on which irrigation.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17136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06840" y="4517136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581144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2. Attributes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have?"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4581144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Engro: bio-active zinc, blends, the DAP Bharosa seal, 35 uploads. Sarsabz: 5, mostly prize draws.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581144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Counterfeit DAP, the price per bag, whether NP works in sandy soil. No comment mentions the 10% promise; one asks whether CAN raises yield at all.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581144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The demo-plot data published; the NP-to-DAP price gap stated; Sarsabz's own sticker used to verify, not to enter a draw.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3036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06840" y="5230368"/>
            <a:ext cx="26060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294376"/>
            <a:ext cx="146304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1. Identification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"Who are you?"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5294376"/>
            <a:ext cx="4114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Sarsabz: 25 uploads - cricket, Ramzan, corporate. Largest owned audience in the category: 1.2M TikTok, 396K YouTube.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294376"/>
            <a:ext cx="25146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Farmers name the product, not the brand: CAN 193 mentions, NP 147, Sarsabz 15. Engro Zabardast is named 89 times.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5294376"/>
            <a:ext cx="24231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02A43"/>
                </a:solidFill>
                <a:latin typeface="Segoe UI"/>
              </a:rPr>
              <a:t>Putting the Sarsabz name on the products farmers already discuss.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Sarsabz's Brand Meaning Ladder: the category's factors, and where to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2A43"/>
                </a:solidFill>
                <a:latin typeface="Segoe UI"/>
              </a:rPr>
              <a:t>Sarsabz says = its 90 coded uploads by level (modal L5, mean 3.2, flagged split). Farmers say = 1,433 comments. Higher is not better - the target is the deepest level Sarsabz can prove.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417320"/>
            <a:ext cx="4617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FACTORS IN THE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41732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SARSABZ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141732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7480"/>
                </a:solidFill>
                <a:latin typeface="Segoe UI"/>
              </a:rPr>
              <a:t>PLACEMENT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71616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Place Sarsabz at Level 3, on proof rather than advice: the 10% shown on a farmer's own field, beside a cheaper bag. Engro owns advice; no brand shows a yield result side by side on a farm. Levels 4 and 5 are earned from there.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7480"/>
                </a:solidFill>
                <a:latin typeface="Segoe UI"/>
              </a:rPr>
              <a:t>Framework: Brand Meaning Ladder. Sarsabz levels: levels.csv, classified from codes_window.csv (90 uploads). Farmer evidence: comments/analysis.md - 1,433 comments, self-selected, not a satisfaction measure. Competitor placement: Engro only; FFC Sona, Bubber Sher and Agritech have no official channel.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6420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728216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6. Purpose / philosophy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change do you want to create?"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728216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None - no brand states a purpose in 200 uploads.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National food security, made personal.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728216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0 posts.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NOT RAISED BY FARMERS.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1755648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2A43"/>
                </a:solidFill>
                <a:latin typeface="Segoe UI"/>
              </a:rPr>
              <a:t>NOT NOW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no permission yet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77440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441448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5. Values / way of life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believe?"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441448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National identity (22), women in farming (8).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Straight dealing; knowledge shared, not sold.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441448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30 posts - Dil Se Dekho, Tabeer, national days - the largest block at any level.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Not established - farmers name Sarsabz 15 times in 1,433 comments.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2468880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2A43"/>
                </a:solidFill>
                <a:latin typeface="Segoe UI"/>
              </a:rPr>
              <a:t>LATER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over-claimed today; earn it from level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90672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154679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4. Psychological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choosing you say about me?"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154679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Salam Kissan (12); Ki Jeet's winning farmer; cricket (22).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The farmer others copy because his field proves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154679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12 posts - Salam Kissan, 15.7M views; Kissan Day is now official.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Real but generic - farmers respect results, not salutes.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182112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2A43"/>
                </a:solidFill>
                <a:latin typeface="Segoe UI"/>
              </a:rPr>
              <a:t>HOLD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Salam Kissan is genuinely owned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803904"/>
            <a:ext cx="11064240" cy="67665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803904"/>
            <a:ext cx="54864" cy="6766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867912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3. Benefits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does it do for me?"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867912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Yield (Sarsabz 15); expert advice and cost saving (Engro 50).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Switching without waste: what replaces DAP, mixed with what, on which irrigation.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867912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18 posts - 10 of 11 yield films offer no proof beyond the badge.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Strong demand - 220 mixing comments, 163 on timing, 16 on NP vs DAP.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895344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8102E"/>
                </a:solidFill>
                <a:latin typeface="Segoe UI"/>
              </a:rPr>
              <a:t>PLACE SARSABZ HERE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proof on the farmer's own field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17136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581144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2. Attributes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"What do you have?"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581144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Bio-active zinc, blends, anti-counterfeit seal (Engro 35); prize draws.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The 500+ demo plots published; the NP-to-DAP price gap; the sticker used to verify.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581144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5 posts - mostly the Nitrophos prize scheme.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Mixed - counterfeit fear attaches to DAP; NP doubted in sandy soil.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608576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2A43"/>
                </a:solidFill>
                <a:latin typeface="Segoe UI"/>
              </a:rPr>
              <a:t>PROVE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publish the plots and the price gap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30368"/>
            <a:ext cx="11064240" cy="676656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294376"/>
            <a:ext cx="158191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02A43"/>
                </a:solidFill>
                <a:latin typeface="Segoe UI"/>
              </a:rPr>
              <a:t>1. Identification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6B7480"/>
                </a:solidFill>
                <a:latin typeface="Segoe UI"/>
              </a:rPr>
              <a:t>"Who are you?"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294376"/>
            <a:ext cx="4617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In use:  </a:t>
            </a:r>
            <a:r>
              <a:rPr sz="850" b="0">
                <a:solidFill>
                  <a:srgbClr val="1A1A1A"/>
                </a:solidFill>
                <a:latin typeface="Segoe UI"/>
              </a:rPr>
              <a:t>Name, bag, heritage, cricket, Ramzan.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Open:  </a:t>
            </a:r>
            <a:r>
              <a:rPr sz="850" b="0">
                <a:solidFill>
                  <a:srgbClr val="1A1A1A"/>
                </a:solidFill>
                <a:latin typeface="Segoe UI"/>
              </a:rPr>
              <a:t>Put the Sarsabz name on the products farmers already discuss.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5294376"/>
            <a:ext cx="27889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Says:  </a:t>
            </a:r>
            <a:r>
              <a:rPr sz="850" b="0">
                <a:solidFill>
                  <a:srgbClr val="1A1A1A"/>
                </a:solidFill>
                <a:latin typeface="Segoe UI"/>
              </a:rPr>
              <a:t>25 posts - cricket, Ramzan, corporate; 1.2M TikTok followers, the category's largest.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A1A1A"/>
                </a:solidFill>
                <a:latin typeface="Segoe UI"/>
              </a:rPr>
              <a:t>Heard:  </a:t>
            </a:r>
            <a:r>
              <a:rPr sz="850" b="0">
                <a:solidFill>
                  <a:srgbClr val="1A1A1A"/>
                </a:solidFill>
                <a:latin typeface="Segoe UI"/>
              </a:rPr>
              <a:t>Weak for the brand, strong for the product - CAN 193, NP 147, Sarsabz 15.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5321808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2A43"/>
                </a:solidFill>
                <a:latin typeface="Segoe UI"/>
              </a:rPr>
              <a:t>HOLD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A1A1A"/>
                </a:solidFill>
                <a:latin typeface="Segoe UI"/>
              </a:rPr>
              <a:t>reach is not the problem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