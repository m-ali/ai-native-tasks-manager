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554480"/>
            <a:ext cx="1463040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9FB4C7"/>
                </a:solidFill>
                <a:latin typeface="Segoe UI"/>
              </a:rPr>
              <a:t>Fatima Fertilizer creative pitch  · 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 i="0">
                <a:solidFill>
                  <a:srgbClr val="FFFFFF"/>
                </a:solidFill>
                <a:latin typeface="Segoe UI"/>
              </a:rPr>
              <a:t>The agricultural landscape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1">
                <a:solidFill>
                  <a:srgbClr val="FFFFFF"/>
                </a:solidFill>
                <a:latin typeface="Segoe UI"/>
              </a:rPr>
              <a:t>What Pakistan grows, when, where - and where the fertilizer opportunity sits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89120"/>
            <a:ext cx="104241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FB4C7"/>
                </a:solidFill>
                <a:latin typeface="Segoe UI"/>
              </a:rPr>
              <a:t>1  The land and the two seasons   ·   2  What Pakistan grows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FB4C7"/>
                </a:solidFill>
                <a:latin typeface="Segoe UI"/>
              </a:rPr>
              <a:t>3  Punjab   ·   4  Sindh   ·   5  Where the fertilizer goes   ·   6  The imbalance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FB4C7"/>
                </a:solidFill>
                <a:latin typeface="Segoe UI"/>
              </a:rPr>
              <a:t>7  What is practised internationally   ·   8  The opportunity by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350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9FB4C7"/>
                </a:solidFill>
                <a:latin typeface="Segoe UI"/>
              </a:rPr>
              <a:t>Built from the PBS tables supplied, the MNFSR district-wise crop publication, the Economic Survey 2025-26, the World Bank, IFA and the European Commission  ·  16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1  ·  THE LAND AND THE TWO SEASONS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Two seasons, two provinces, and water that decides both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Punjab is 71% of the cropped area; Sindh is canal-fed and concentrated. The season, not the campaign, sets when fertilizer moves.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Sources: PBS agriculture tables (data/reference/Agri_Landscape_2026), supplied by the user  ·  Fatima Creative Marketing Brief 2026  ·  Pakistan Economic Survey 2025-26, ch.2 Agriculture (data/reference/Agri_Landscape_2026/2_Agriculture.pdf, the latest chapter, supplied by the user)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43000"/>
            <a:ext cx="5486400" cy="21488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43000"/>
            <a:ext cx="54864" cy="21488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80160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THE LAND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5074920" cy="1490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Pakistan crops 24.60m hectares: Punjab 17.52m, Sindh 3.90m, KP 1.73m, Balochistan 1.45m (2024-25).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Punjab irrigates 15.47m ha, over half of it canal-plus-tubewell; Sindh irrigates 1.52m ha, almost all canal.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29000"/>
            <a:ext cx="5486400" cy="2194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429000"/>
            <a:ext cx="54864" cy="21945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66160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THE TWO SEASONS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31920"/>
            <a:ext cx="5074920" cy="1536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Rabi runs October-March, Kharif April-September.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Rabi is the wheat season; Kharif carries rice, cotton, sugarcane and maize.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PBS 'crop calendars' (Tables 13-15) are dates for releasing crop estimates, not sowing windows - sowing windows are not in this data set.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143000"/>
            <a:ext cx="5303520" cy="4480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143000"/>
            <a:ext cx="54864" cy="44805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280160"/>
            <a:ext cx="4892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WATER, WHICH DECIDES THE SEASON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645920"/>
            <a:ext cx="4892040" cy="3822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Kharif 2025 water availability 60.6 MAF; Rabi 2025-26 31.4 MAF, against average system usage of 103.5 MAF.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Canal withdrawals 2024-25: Punjab 31.88 MAF in Kharif and 15.53 in Rabi; Sindh 26.16 and 12.14.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Kharif carries roughly twice the water of Rabi, but Rabi is when wheat - half the country's fertilizer - is grown.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Agriculture grew 2.89% in 2025-26; crops 1.44%; important crops 0.65%.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2  ·  WHAT PAKISTAN GROWS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Five crops carry the fertilizer market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Wheat alone is over half the cropped area of the five majors - and the Rabi season the brand keeps celebrating in December.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Sources: Pakistan Economic Survey 2025-26, ch.2 Agriculture (data/reference/Agri_Landscape_2026/2_Agriculture.pdf, the latest chapter, supplied by the user)  ·  Ministry of National Food Security &amp; Research, Crops Area &amp; Production (District Wise) 2022-23, area 2022-23, province totals reconciled against PBS Table-1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71016"/>
            <a:ext cx="179222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Crop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0048" y="1271016"/>
            <a:ext cx="261518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Season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4688" y="1271016"/>
            <a:ext cx="215798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National area ('000 ha)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82127" y="1271016"/>
            <a:ext cx="170078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Punjab share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02367" y="1271016"/>
            <a:ext cx="170078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Sindh share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682496"/>
            <a:ext cx="179222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Wheat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1682496"/>
            <a:ext cx="26151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Rabi (Oct-Mar)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04688" y="1682496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9,033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1682496"/>
            <a:ext cx="17007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72%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02367" y="1682496"/>
            <a:ext cx="17007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14%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167128"/>
            <a:ext cx="11064240" cy="56692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2249424"/>
            <a:ext cx="179222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Rice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70048" y="2249424"/>
            <a:ext cx="26151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Kharif (Apr-Sep)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04688" y="2249424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2,976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2127" y="2249424"/>
            <a:ext cx="17007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74%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02367" y="2249424"/>
            <a:ext cx="17007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2816352"/>
            <a:ext cx="179222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Cotton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70048" y="2816352"/>
            <a:ext cx="26151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Kharif (Apr-Sep)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04688" y="2816352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2,144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82127" y="2816352"/>
            <a:ext cx="17007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69%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02367" y="2816352"/>
            <a:ext cx="17007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28%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300984"/>
            <a:ext cx="11064240" cy="56692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3383280"/>
            <a:ext cx="179222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Maize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70048" y="3383280"/>
            <a:ext cx="26151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Spring and Kharif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04688" y="3383280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1,719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82127" y="3383280"/>
            <a:ext cx="17007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72%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02367" y="3383280"/>
            <a:ext cx="17007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3950208"/>
            <a:ext cx="179222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Sugarcane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70048" y="3950208"/>
            <a:ext cx="26151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Kharif, 12-18 month crop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04688" y="3950208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1,319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82127" y="3950208"/>
            <a:ext cx="17007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71%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02367" y="3950208"/>
            <a:ext cx="17007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22%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206240"/>
            <a:ext cx="11064240" cy="14173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" y="4206240"/>
            <a:ext cx="54864" cy="14173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4343400"/>
            <a:ext cx="10652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WHAT THIS DATA SET CANNOT TELL YOU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4709159"/>
            <a:ext cx="10652760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Only these five crops are shown: their province totals reconcile exactly with PBS Table-1. Minor crops (gram, sesame, tobacco, bajra) were dropped because their province attribution could not be validated in the source PDF.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Agriculture is 23.4% of GDP and 33.1% of employment - the sector's weight, but not its fertilizer demand, which follows crop and season.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3  ·  PUNJAB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Punjab: what is grown, ranked by area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Punjab is the fertilizer market: 69% of national nutrient 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Ministry of National Food Security &amp; Research, Crops Area &amp; Production (District Wise) 2022-23  ·  area and production 2022-23  ·  cotton production in bales, others in tonnes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71016"/>
            <a:ext cx="215798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Crop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35808" y="1271016"/>
            <a:ext cx="215798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Area ('000 ha)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13248" y="1271016"/>
            <a:ext cx="252374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Share of national area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6448" y="1271016"/>
            <a:ext cx="334670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682496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Wheat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1682496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6,480.5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13248" y="1682496"/>
            <a:ext cx="25237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72%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1682496"/>
            <a:ext cx="334670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21,225 '000 tonnes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167128"/>
            <a:ext cx="11064240" cy="56692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249424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5808" y="2249424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2,188.6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3248" y="2249424"/>
            <a:ext cx="25237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74%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6448" y="2249424"/>
            <a:ext cx="334670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5,070 '000 tonnes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2816352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Cotton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35808" y="2816352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1,485.2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13248" y="2816352"/>
            <a:ext cx="25237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69%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6448" y="2816352"/>
            <a:ext cx="334670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3,210 '000 bales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300984"/>
            <a:ext cx="11064240" cy="56692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3383280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Maize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35808" y="3383280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1,243.4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13248" y="3383280"/>
            <a:ext cx="25237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72%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6448" y="3383280"/>
            <a:ext cx="334670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10,054 '000 tonnes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950208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Sugarcane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35808" y="3950208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938.0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13248" y="3950208"/>
            <a:ext cx="25237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71%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8" y="3950208"/>
            <a:ext cx="334670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66,932 '000 tonnes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297680"/>
            <a:ext cx="11064240" cy="13258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4297680"/>
            <a:ext cx="54864" cy="13258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4434840"/>
            <a:ext cx="10652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WHAT IT MEANS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4800600"/>
            <a:ext cx="1065276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Wheat is the volume, cotton and rice the value at risk, sugarcane the highest nutrient demand per hectare.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Punjab's Kissan Card improved cotton fertilizer application - the state is now a channel into the same farmer.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4  ·  SINDH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Sindh: what is grown, ranked by area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Sindh is smaller but more intensive per hectare, and more nitrogen-skewed.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Ministry of National Food Security &amp; Research, Crops Area &amp; Production (District Wise) 2022-23  ·  area and production 2022-23  ·  cotton production in bales, others in tonnes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71016"/>
            <a:ext cx="215798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Crop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35808" y="1271016"/>
            <a:ext cx="215798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Area ('000 ha)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13248" y="1271016"/>
            <a:ext cx="252374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Share of national area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6448" y="1271016"/>
            <a:ext cx="334670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682496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Wheat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1682496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1,238.2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13248" y="1682496"/>
            <a:ext cx="25237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1682496"/>
            <a:ext cx="334670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3,940 '000 tonnes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167128"/>
            <a:ext cx="11064240" cy="56692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249424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5808" y="2249424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603.3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3248" y="2249424"/>
            <a:ext cx="25237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6448" y="2249424"/>
            <a:ext cx="334670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2,012 '000 tonnes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2816352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Cotton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35808" y="2816352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589.8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13248" y="2816352"/>
            <a:ext cx="25237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6448" y="2816352"/>
            <a:ext cx="334670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1,586 '000 bales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300984"/>
            <a:ext cx="11064240" cy="56692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3383280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Sugarcane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35808" y="3383280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289.4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13248" y="3383280"/>
            <a:ext cx="25237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6448" y="3383280"/>
            <a:ext cx="334670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16,172 '000 tonnes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3950208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Maize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35808" y="3950208"/>
            <a:ext cx="21579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3.1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13248" y="3950208"/>
            <a:ext cx="252374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8" y="3950208"/>
            <a:ext cx="334670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3 '000 tonnes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023360"/>
            <a:ext cx="11064240" cy="16002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4023360"/>
            <a:ext cx="54864" cy="16002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4160520"/>
            <a:ext cx="10652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WHAT IT MEANS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4526280"/>
            <a:ext cx="10652760" cy="941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Sindh's rice and sugarcane sit on canal water, so timing is fixed by the canal, not by the farmer.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Maize is effectively absent from Sindh; cotton and wheat carry the season.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Per hectare, Sindh already uses more nutrient than Punjab - the gap is what it uses, not how much.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5  ·  WHERE THE FERTILIZER GOES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Two provinces are the market; price decides the mix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Nitrogen is bought; phosphate is skipped when it is dear. That is the opening for a cheaper phosphate route.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Sources: PBS agriculture tables (data/reference/Agri_Landscape_2026), supplied by the user  ·  Pakistan Economic Survey 2025-26, ch.2 Agriculture (data/reference/Agri_Landscape_2026/2_Agriculture.pdf, the latest chapter, supplied by the user)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43000"/>
            <a:ext cx="11064240" cy="4114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25296"/>
            <a:ext cx="252374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1225296"/>
            <a:ext cx="261518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Punjab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8" y="1225296"/>
            <a:ext cx="252374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Sindh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79407" y="1225296"/>
            <a:ext cx="252374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Pakistan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636776"/>
            <a:ext cx="252374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Nutrient use 2024-25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1636776"/>
            <a:ext cx="261518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2,986.9k tonnes (69.1%)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636776"/>
            <a:ext cx="252374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991.0k tonnes (22.9%)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7" y="1636776"/>
            <a:ext cx="252374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4,324.2k tonnes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212848"/>
            <a:ext cx="11064240" cy="65836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295144"/>
            <a:ext cx="252374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Per cropped hectare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1568" y="2295144"/>
            <a:ext cx="261518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170.5 kg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2295144"/>
            <a:ext cx="252374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254.2 kg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7" y="2295144"/>
            <a:ext cx="252374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175.8 kg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2953511"/>
            <a:ext cx="252374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N : P : 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01568" y="2953511"/>
            <a:ext cx="261518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 : 0.28 : 0.015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8" y="2953511"/>
            <a:ext cx="252374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 : 0.24 : 0.010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79407" y="2953511"/>
            <a:ext cx="252374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1 : 0.27 : 0.013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49039"/>
            <a:ext cx="5486400" cy="1874519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749039"/>
            <a:ext cx="54864" cy="1874519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3886200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WHAT IS MOVING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251959"/>
            <a:ext cx="5074920" cy="12161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Fertilizer nutrient offtake 3,795k tonnes in Jul-Mar FY2026, up 11.4%.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Nitrogen offtake +14.8%, phosphate -1.9% (on high prices), potash +26.2%.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Rs 100 more per 50kg bag puts Rs 20 billion more on farmers.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749039"/>
            <a:ext cx="5303520" cy="1874519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3749039"/>
            <a:ext cx="54864" cy="1874519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3886200"/>
            <a:ext cx="4892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A CAVEAT WORTH STATING IN THE ROOM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251959"/>
            <a:ext cx="4892040" cy="12161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PBS crop-wise fertilizer (Table-11) is a fixed percentage split - wheat 50%, cotton 25%, rice 12% - not measured consumption.</a:t>
            </a:r>
          </a:p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So 'wheat takes half the fertilizer' is an assumption inside the statistics, not a measurement of farmer behaviour.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6  ·  THE IMBALANCE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Pakistan buys nitrogen and skips the rest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Against the balanced ratio, Pakistan applies about half the phosphate and almost no potash. That is the agronomic argument the category has never made.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Sources: PBS agriculture tables (data/reference/Agri_Landscape_2026), supplied by the user  ·  L. Cissé, Balanced fertilization for sustainable use of plant nutrients, in IFA Fertilizer Best Management Practices, 2007  ·  Pakistan Economic Survey 2025-26, ch.2 Agriculture (data/reference/Agri_Landscape_2026/2_Agriculture.pdf, the latest chapter, supplied by the user)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43000"/>
            <a:ext cx="5486400" cy="21031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143000"/>
            <a:ext cx="54864" cy="21031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80160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WHAT PAKISTAN APPLIES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5074920" cy="14447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Pakistan's N:P:K is 1 : 0.27 : 0.013; Punjab 1 : 0.28 : 0.015; Sindh 1 : 0.24 : 0.010 (2024-25).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IFA cites a 'normal or generally accepted balanced ratio' between N, P2O5 and K2O of 1:0.5:0.5.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Against that, phosphate runs at roughly half the balanced level and potash at almost nothing.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83280"/>
            <a:ext cx="5486400" cy="22402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383280"/>
            <a:ext cx="54864" cy="22402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20440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IT IS STRUCTURAL, NOT A BAD 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86200"/>
            <a:ext cx="5074920" cy="1581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Pakistan's ratio was already 1:0.3:0.01 through 1996-2005 - the imbalance is structural, not new.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Nitrogen offtake +14.8%, phosphate -1.9% (on high prices), potash +26.2% - the imbalance widened again this year, on price.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143000"/>
            <a:ext cx="5303520" cy="4480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143000"/>
            <a:ext cx="54864" cy="44805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280160"/>
            <a:ext cx="4892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WHAT THE IMBALANCE COSTS, PER IFA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645920"/>
            <a:ext cx="4892040" cy="3822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Consequences IFA lists: lower fertilizer use efficiency, yield reduction, lower farmer income, soil mining of P and K, falling response ratios, higher nitrogen losses.</a:t>
            </a:r>
          </a:p>
          <a:p>
            <a:pPr algn="l">
              <a:spcAft>
                <a:spcPts val="7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For a brand: every one of those is a farmer-visible loss - lower yield, wasted nitrogen, a soil that gives less each year - and none of it is currently being explained to him by anyone selling him the bag.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7  ·  WHAT IS PRACTISED INTERNATIONALLY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Three practices Pakistan has not adopted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Pakistan is not under-fertilised by accident: it uses less per hectare than its neighbours, and what it uses is the least balanced.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Sources: World Bank, Fertilizer consumption (kg per hectare of arable land), AG.CON.FERT.ZS, 2023, retrieved 16 Sep 2026  ·  IFA, The Global '4R' Nutrient Stewardship Framework, May 2009  ·  European Commission, EU Agricultural Markets Brief No 15, Fertilisers in the EU, June 2019  ·  Fertilizers Europe, Types of fertilizer, retrieved 16 Sep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71016"/>
            <a:ext cx="288950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67328" y="1271016"/>
            <a:ext cx="197510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Where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61888" y="1271016"/>
            <a:ext cx="554126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What it means 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682496"/>
            <a:ext cx="2889504" cy="9235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Higher and balanced application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7328" y="1682496"/>
            <a:ext cx="1975104" cy="9235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Bangladesh 391.9 and China 394.0 kg/ha against Pakistan's 160.3 (2023)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1888" y="1682496"/>
            <a:ext cx="5541264" cy="9235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Pakistan's yield gap is partly a nutrition gap; India at 199.1 is the nearest comparison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651760"/>
            <a:ext cx="11064240" cy="1051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734056"/>
            <a:ext cx="2889504" cy="9235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Nitrate-based nitrogen, not only urea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67328" y="2734056"/>
            <a:ext cx="1975104" cy="9235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AN and CAN are the European norm; urea's share is 'high in Asia... lower in the EU'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61888" y="2734056"/>
            <a:ext cx="5541264" cy="9235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Sarsabz is the only CAN maker at scale in Pakistan - an international norm it already produces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785615"/>
            <a:ext cx="2889504" cy="9235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4R nutrient stewardship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67328" y="3785615"/>
            <a:ext cx="1975104" cy="9235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The global framework since 2009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61888" y="3785615"/>
            <a:ext cx="5541264" cy="9235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'Right source, right rate, right time, right place' is exactly the advice farmers ask for in the comments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617720"/>
            <a:ext cx="11064240" cy="10058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617720"/>
            <a:ext cx="54864" cy="10058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754880"/>
            <a:ext cx="10652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THE HONEST COMPARISON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120640"/>
            <a:ext cx="106527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 i="0">
                <a:solidFill>
                  <a:srgbClr val="1A1A1A"/>
                </a:solidFill>
                <a:latin typeface="Segoe UI"/>
              </a:rPr>
              <a:t>Globally nitrogen is 108m tonnes of nutrient (60%), of which urea is 60m tonnes - so urea's dominance is global, but its dominance of Pakistan's mix is what makes the ratio unbalanced.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9FB4C7"/>
                </a:solidFill>
                <a:latin typeface="Segoe UI"/>
              </a:rPr>
              <a:t>8  ·  THE OPPORTUNITY BY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Where each fertilizer type has a claim, and what it needs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Each opportunity is an argument the category is not making - and three of the four are products Fatima already makes.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Our own reading of the data on the previous slides  ·  Fatima Creative Marketing Brief 2026  ·  product positions from the Case 2 audit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43000"/>
            <a:ext cx="11064240" cy="41148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225296"/>
            <a:ext cx="1883663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61488" y="1225296"/>
            <a:ext cx="298094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Where the opening 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61888" y="1225296"/>
            <a:ext cx="288950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The argument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70848" y="1225296"/>
            <a:ext cx="2432304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What it needs to be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636776"/>
            <a:ext cx="1883663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NP (Nitrophos)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61488" y="1636776"/>
            <a:ext cx="2980944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Phosphate offtake fell 1.9% on price while nitrogen rose 14.8%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1888" y="1636776"/>
            <a:ext cx="2889504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A cheaper route to phosphate than DAP, on the crops where P is being skipped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0848" y="1636776"/>
            <a:ext cx="2432304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Published per-acre comparisons against DAP, by soil and crop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514600"/>
            <a:ext cx="11064240" cy="9601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596896"/>
            <a:ext cx="1883663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CAN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61488" y="2596896"/>
            <a:ext cx="2980944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Sindh's mix is the most nitrogen-skewed (1 : 0.24 : 0.010); canal-timed irrigation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61888" y="2596896"/>
            <a:ext cx="2889504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The nitrate form Europe defaults to, suited to timed splits on irrigated land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0848" y="2596896"/>
            <a:ext cx="2432304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Agronomy in the farmer's language, and a compatibility answer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557015"/>
            <a:ext cx="1883663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Urea / DAP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61488" y="3557015"/>
            <a:ext cx="2980944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The volume market, decided by price and availability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61888" y="3557015"/>
            <a:ext cx="2889504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Availability and authenticity, not persuasion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0848" y="3557015"/>
            <a:ext cx="2432304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Dealer presence and a visible price promise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434840"/>
            <a:ext cx="11064240" cy="9601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4517136"/>
            <a:ext cx="1883663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Potash and micronutrients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61488" y="4517136"/>
            <a:ext cx="2980944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Potash is 1.8 kg per cropped hectare nationally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61888" y="4517136"/>
            <a:ext cx="2889504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The balanced-ratio argument, unclaimed by anyone in the category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70848" y="4517136"/>
            <a:ext cx="2432304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A category-building case Fatima would fund without owning the product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