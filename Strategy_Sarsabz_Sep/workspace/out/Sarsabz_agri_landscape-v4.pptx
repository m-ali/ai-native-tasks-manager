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Punjab</c:v>
                </c:pt>
              </c:strCache>
            </c:strRef>
          </c:tx>
          <c:spPr>
            <a:solidFill>
              <a:srgbClr val="102A43"/>
            </a:solidFill>
          </c:spPr>
          <c:cat>
            <c:strRef>
              <c:f>Sheet1!$A$2:$A$6</c:f>
              <c:strCache>
                <c:ptCount val="5"/>
                <c:pt idx="0">
                  <c:v>Wheat</c:v>
                </c:pt>
                <c:pt idx="1">
                  <c:v>Rice</c:v>
                </c:pt>
                <c:pt idx="2">
                  <c:v>Cotton</c:v>
                </c:pt>
                <c:pt idx="3">
                  <c:v>Maize</c:v>
                </c:pt>
                <c:pt idx="4">
                  <c:v>Sugarcane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6480.5</c:v>
                </c:pt>
                <c:pt idx="1">
                  <c:v>2188.61</c:v>
                </c:pt>
                <c:pt idx="2">
                  <c:v>1485.16</c:v>
                </c:pt>
                <c:pt idx="3">
                  <c:v>1243.4</c:v>
                </c:pt>
                <c:pt idx="4">
                  <c:v>938.04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Sindh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Sheet1!$A$2:$A$6</c:f>
              <c:strCache>
                <c:ptCount val="5"/>
                <c:pt idx="0">
                  <c:v>Wheat</c:v>
                </c:pt>
                <c:pt idx="1">
                  <c:v>Rice</c:v>
                </c:pt>
                <c:pt idx="2">
                  <c:v>Cotton</c:v>
                </c:pt>
                <c:pt idx="3">
                  <c:v>Maize</c:v>
                </c:pt>
                <c:pt idx="4">
                  <c:v>Sugarcane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1238.23</c:v>
                </c:pt>
                <c:pt idx="1">
                  <c:v>603.31</c:v>
                </c:pt>
                <c:pt idx="2">
                  <c:v>589.81</c:v>
                </c:pt>
                <c:pt idx="3">
                  <c:v>3.07</c:v>
                </c:pt>
                <c:pt idx="4">
                  <c:v>289.36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provinces</c:v>
                </c:pt>
              </c:strCache>
            </c:strRef>
          </c:tx>
          <c:spPr>
            <a:solidFill>
              <a:srgbClr val="9FB4C7"/>
            </a:solidFill>
          </c:spPr>
          <c:cat>
            <c:strRef>
              <c:f>Sheet1!$A$2:$A$6</c:f>
              <c:strCache>
                <c:ptCount val="5"/>
                <c:pt idx="0">
                  <c:v>Wheat</c:v>
                </c:pt>
                <c:pt idx="1">
                  <c:v>Rice</c:v>
                </c:pt>
                <c:pt idx="2">
                  <c:v>Cotton</c:v>
                </c:pt>
                <c:pt idx="3">
                  <c:v>Maize</c:v>
                </c:pt>
                <c:pt idx="4">
                  <c:v>Sugarcane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1313.94</c:v>
                </c:pt>
                <c:pt idx="1">
                  <c:v>183.6199999999999</c:v>
                </c:pt>
                <c:pt idx="2">
                  <c:v>68.6400000000001</c:v>
                </c:pt>
                <c:pt idx="3">
                  <c:v>472.95</c:v>
                </c:pt>
                <c:pt idx="4">
                  <c:v>91.43000000000018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kg per hectare of arable land, 2023</c:v>
                </c:pt>
              </c:strCache>
            </c:strRef>
          </c:tx>
          <c:spPr>
            <a:solidFill>
              <a:srgbClr val="102A43"/>
            </a:solidFill>
          </c:spPr>
          <c:cat>
            <c:strRef>
              <c:f>Sheet1!$A$2:$A$8</c:f>
              <c:strCache>
                <c:ptCount val="7"/>
                <c:pt idx="0">
                  <c:v>Egypt</c:v>
                </c:pt>
                <c:pt idx="1">
                  <c:v>Vietnam</c:v>
                </c:pt>
                <c:pt idx="2">
                  <c:v>China</c:v>
                </c:pt>
                <c:pt idx="3">
                  <c:v>Bangladesh</c:v>
                </c:pt>
                <c:pt idx="4">
                  <c:v>India</c:v>
                </c:pt>
                <c:pt idx="5">
                  <c:v>Pakistan</c:v>
                </c:pt>
                <c:pt idx="6">
                  <c:v>USA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532.8</c:v>
                </c:pt>
                <c:pt idx="1">
                  <c:v>419.9</c:v>
                </c:pt>
                <c:pt idx="2">
                  <c:v>394.0</c:v>
                </c:pt>
                <c:pt idx="3">
                  <c:v>391.9</c:v>
                </c:pt>
                <c:pt idx="4">
                  <c:v>199.1</c:v>
                </c:pt>
                <c:pt idx="5">
                  <c:v>160.3</c:v>
                </c:pt>
                <c:pt idx="6">
                  <c:v>127.8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Fatima Fertilizer creative pitch  ·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The agricultural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</a:rPr>
              <a:t>What Pakistan grows, when, where - and where the fertilizer opportunity 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1  The land and the two seasons   ·   2  What Pakistan grows   ·   3  The crop calendar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4  Punjab   ·   5  Sindh   ·   6  Where the fertilizer goes   ·   7  The imbalance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8  What is practised internationally   ·   9  The opportunity by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FB4C7"/>
                </a:solidFill>
                <a:latin typeface="Segoe UI"/>
              </a:rPr>
              <a:t>Built from the PBS tables supplied, the MNFSR district-wise crop publication, the Economic Survey 2025-26, the World Bank, IFA and the European Commission  · 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1  ·  THE LAND AND THE TWO SEASONS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Two seasons, two provinces, and water that decides both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is 71% of the cropped area; Sindh is canal-fed and concentrated. The season, not the campaign, sets when fertilizer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Fatima Creative Marketing Brief 2026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48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48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 crops 24.60m hectares: Punjab 17.52m, Sindh 3.90m, KP 1.73m, Balochistan 1.45m (2024-25).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Punjab irrigates 15.47m ha, over half of it canal-plus-tubewell; Sindh irrigates 1.52m ha, almost all canal.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54864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TWO SEASONS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07492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Rabi runs October-March, Kharif April-September.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Rabi is the wheat season; Kharif carries rice, cotton, sugarcane and maize.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PBS 'crop calendars' (Tables 13-15) are dates for releasing crop estimates, not sowing windows - sowing windows are not in this data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WATER, WHICH DECIDES THE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Kharif 2025 water availability 60.6 MAF; Rabi 2025-26 31.4 MAF, against average system usage of 103.5 MAF.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Canal withdrawals 2024-25: Punjab 31.88 MAF in Kharif and 15.53 in Rabi; Sindh 26.16 and 12.14.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Kharif carries roughly twice the water of Rabi, but Rabi is when wheat - half the country's fertilizer - is grown.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Agriculture grew 2.89% in 2025-26; crops 1.44%; important crops 0.65%.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WHAT PAKISTAN GROWS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Five crops carry the fertilizer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Wheat alone is over half the cropped area of the five majors - and the Rabi season the brand keeps celebrating in December.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(data/reference/Agri_Landscape_2026/2_Agriculture.pdf, the latest chapter, supplied by the user)  ·  Ministry of National Food Security &amp; Research, Crops Area &amp; Production (District Wise) 2022-23, area 2022-23, province totals reconciled against PBS Table-1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179222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27101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National area ('000 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2710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Punjab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7" y="12710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Sindh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682496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682496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Rabi (Oct-Mar)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9,033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1682496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7" y="1682496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249424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249424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 (Apr-Sep)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2,976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249424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2249424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816352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2816352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 (Apr-Sep)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2,144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816352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2816352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383280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3383280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Spring and Kharif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1,719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3383280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7" y="3383280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5020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3950208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Kharif, 12-18 month crop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1,319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950208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3950208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06240"/>
            <a:ext cx="11064240" cy="1417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206240"/>
            <a:ext cx="54864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34340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THIS DATA SET CANNOT TELL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709159"/>
            <a:ext cx="106527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Only these five crops are shown: their province totals reconcile exactly with PBS Table-1. Minor crops (gram, sesame, tobacco, bajra) were dropped because their province attribution could not be validated in the source PDF.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Agriculture is 23.4% of GDP and 33.1% of employment - the sector's weight, but not its fertilizer demand, which follows crop and season.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WHAT PAKISTAN GROWS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The same five crops, by province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holds roughly seven in every ten hectares of each major crop; Sindh's weight is in cotton and 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2022-23, area 2022-23 ('000 hectares)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188720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THE CROP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When each crop is sown and harvested, per the provincial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Wheat sowing runs four months; cotton picking and wheat sowing collide in November.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Crop Reporting Service, Punjab: Crops' Life Calendar and Kharif crop-cut calendar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52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Feb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528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Apr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80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May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556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June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July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908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Aug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584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Sept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Oct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936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Nov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6120" y="1143000"/>
            <a:ext cx="746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B7480"/>
                </a:solidFill>
                <a:latin typeface="Segoe UI"/>
              </a:rPr>
              <a:t>Dec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72184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1417320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16808" y="1417320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3567" y="141732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10327" y="141732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57088" y="141732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3848" y="141732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50608" y="141732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97368" y="141732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4128" y="141732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90888" y="141732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37648" y="141732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84408" y="141732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856231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70048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16808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3567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10327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57088" y="180136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3848" y="180136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3848" y="1865376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50608" y="180136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1865376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97368" y="180136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44128" y="180136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90888" y="180136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37648" y="180136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84408" y="180136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2240280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70048" y="218541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16808" y="218541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63567" y="218541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10327" y="218541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57088" y="218541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3848" y="218541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8" y="2185416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97368" y="218541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44128" y="218541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44128" y="224942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90888" y="218541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90888" y="224942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37648" y="218541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37648" y="224942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84408" y="218541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2624328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70048" y="2569464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16808" y="2569464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63567" y="2569464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10327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5708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384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15060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89736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64412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90888" y="2569464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37648" y="2569464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884408" y="2569464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3008376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Maize (autumn)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70048" y="2953512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16808" y="2953512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63567" y="2953512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910327" y="2953512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657088" y="2953512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3848" y="2953512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50608" y="2953512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97368" y="2953512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644128" y="2953512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90888" y="2953512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137648" y="2953512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884408" y="2953512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3392424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Maize (spring)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70048" y="333756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16808" y="333756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63567" y="3337560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910327" y="333756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657088" y="333756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03848" y="3337560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15060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89736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4412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39088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13764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884408" y="3337560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8640" y="3776472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Gram + masoor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670048" y="372160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416808" y="372160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163567" y="3721608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910327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7088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03848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150608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897368" y="3721608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44128" y="372160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390888" y="372160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37648" y="3721608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884408" y="3721608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48640" y="4160520"/>
            <a:ext cx="1993391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Segoe UI"/>
              </a:rPr>
              <a:t>Potato (autumn)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670048" y="410565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70048" y="416966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16808" y="410565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416808" y="416966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163567" y="4105656"/>
            <a:ext cx="710184" cy="32918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163567" y="4169664"/>
            <a:ext cx="7101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910327" y="410565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657088" y="410565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403848" y="410565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150608" y="4105656"/>
            <a:ext cx="710184" cy="329184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897368" y="410565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44128" y="410565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390888" y="4105656"/>
            <a:ext cx="710184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137648" y="4105656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884408" y="4105656"/>
            <a:ext cx="710184" cy="329184"/>
          </a:xfrm>
          <a:prstGeom prst="rect">
            <a:avLst/>
          </a:prstGeom>
          <a:solidFill>
            <a:srgbClr val="D8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48640" y="4581144"/>
            <a:ext cx="201168" cy="146304"/>
          </a:xfrm>
          <a:prstGeom prst="rect">
            <a:avLst/>
          </a:prstGeom>
          <a:solidFill>
            <a:srgbClr val="C8102E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22959" y="45537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Sowing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965960" y="4581144"/>
            <a:ext cx="201168" cy="146304"/>
          </a:xfrm>
          <a:prstGeom prst="rect">
            <a:avLst/>
          </a:prstGeom>
          <a:solidFill>
            <a:srgbClr val="D8E2EA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240279" y="45537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Growth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83280" y="4581144"/>
            <a:ext cx="201168" cy="146304"/>
          </a:xfrm>
          <a:prstGeom prst="rect">
            <a:avLst/>
          </a:prstGeom>
          <a:solidFill>
            <a:srgbClr val="1F7A3D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657600" y="45537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Harvesting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00600" y="45537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480"/>
                </a:solidFill>
                <a:latin typeface="Segoe UI"/>
              </a:rPr>
              <a:t>t transplanting   ·   p picking   ·   d digging  (the source's own keys)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640" y="489204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crop-cut calendar fixes when yield is measured in the field: rice from 15 September, cotton from 15 July, sugarcane from 1 January, autumn maize from 1 November.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Punjab grid is undated on its face and the crop-cut notification carries a 2020 season; the agricultural survey records sowing shifting earlier - these are the published windows, not a promise about this season.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THE CROP CALENDAR  ·  SINDH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In Sindh the same crop moves by up to a quarter, district to district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 single national campaign date cannot be right for both provinces, or for both ends of Sindh.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Agriculture department, Sindh: district-wise sowing periods and harvest dates for major crops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225296"/>
            <a:ext cx="4215383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North Sindh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1225296"/>
            <a:ext cx="4215383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South Sindh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36776"/>
            <a:ext cx="1975104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1636776"/>
            <a:ext cx="421538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Sowing 7 Nov - 30 Dec; harvest through May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1636776"/>
            <a:ext cx="421538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Sowing 1-20 Nov (late varieties to 15 Dec); harvest through March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11064240" cy="6400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76856"/>
            <a:ext cx="1975104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276856"/>
            <a:ext cx="421538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Nursery late May - 30 June; harvest November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2276856"/>
            <a:ext cx="421538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Nursery 20 Apr - 10 June; harvest September - October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916935"/>
            <a:ext cx="1975104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2916935"/>
            <a:ext cx="421538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Sown June (Sukkur, Khairpur, Ghotki, Dadu); harvest 15 Oct - 15 Dec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2916935"/>
            <a:ext cx="421538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Sown March - May (Badin, Thatta, Mirpurkhas, Hyderabad); harvest 15 Sept - 31 Oct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11064240" cy="6400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57015"/>
            <a:ext cx="1975104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3557015"/>
            <a:ext cx="421538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Spring 10 Feb - 30 Mar; autumn Sept - Oct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3557015"/>
            <a:ext cx="421538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Same, harvested December - February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51960"/>
            <a:ext cx="11064240" cy="1371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51960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8912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PINCH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54880"/>
            <a:ext cx="10652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November and December carry wheat sowing, sugarcane harvest, cotton picking and the autumn maize harvest at once - in both provinces, and across both seasons.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4  ·  PUNJAB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Punjab: what is grown, ranked by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is the fertilizer market: 69% of national nutrient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  ·  area and production 2022-23  ·  cotton production in bales, others in tonnes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Area ('000 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27101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Share of national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271016"/>
            <a:ext cx="33467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6,480.5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682496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82496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21,225 '000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2,188.6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249424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942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5,070 '000 tonnes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1,485.2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816352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3,210 '000 bales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1,243.4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383280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383280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10,054 '000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938.0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950208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950208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66,932 '000 tonnes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1106424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297680"/>
            <a:ext cx="54864" cy="13258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3484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00600"/>
            <a:ext cx="1065276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 is the volume, cotton and rice the value at risk, sugarcane the highest nutrient demand per hectare.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Punjab's Kissan Card improved cotton fertilizer application - the state is now a channel into the same farmer.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5  ·  SINDH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Sindh: what is grown, ranked by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Sindh is smaller but more intensive per hectare, and more nitrogen-skewed.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  ·  area and production 2022-23  ·  cotton production in bales, others in tonnes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Area ('000 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27101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Share of national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271016"/>
            <a:ext cx="33467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1,238.2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682496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82496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3,940 '000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603.3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249424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942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2,012 '000 tonnes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589.8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816352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1,586 '000 bales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289.4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383280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383280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16,172 '000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950208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950208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 '000 tonnes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43400"/>
            <a:ext cx="11064240" cy="1280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343400"/>
            <a:ext cx="54864" cy="12801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8056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106527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Sindh's rice and sugarcane sit on canal water, so timing is fixed by the canal, not by the farmer.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 is effectively absent from Sindh; cotton and wheat carry the season.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Per hectare, Sindh already uses more nutrient than Punjab - the gap is what it uses, not how much.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6  ·  WHERE THE FERTILIZER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Two provinces are the market; price decides the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Nitrogen is bought; phosphate is skipped when it is dear. That is the opening for a cheaper phosphate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22529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Punjab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7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Pakistan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Nutrient use 2024-25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36776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2,986.9k tonnes (69.1%)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991.0k tonnes (22.9%)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4,324.2k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Per cropped hectare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295144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170.5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254.2 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175.8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 : P :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953511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0.28 : 0.015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0.24 : 0.010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0.27 : 0.013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548640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54864" cy="18745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88620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MOVING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251959"/>
            <a:ext cx="507492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Fertilizer nutrient offtake 3,795k tonnes in Jul-Mar FY2026, up 11.4%.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Nitrogen offtake +14.8%, phosphate -1.9% (on high prices), potash +26.2%.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Rs 100 more per 50kg bag puts Rs 20 billion more on farmers.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30352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49039"/>
            <a:ext cx="54864" cy="18745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8620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A CAVEAT WORTH STATING IN THE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51959"/>
            <a:ext cx="489204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PBS crop-wise fertilizer (Table-11) is a fixed percentage split - wheat 50%, cotton 25%, rice 12% - not measured consumption.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So 'wheat takes half the fertilizer' is an assumption inside the statistics, not a measurement of farmer behaviour.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7  ·  THE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Pakistan buys nitrogen and skips the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Against the balanced ratio, Pakistan applies about half the phosphate and almost no potash. That is the agronomic argument the category has never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L. Cissé, Balanced fertilization for sustainable use of plant nutrients, in IFA Fertilizer Best Management Practices, 2007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03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PAKISTAN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Pakistan's N:P:K is 1 : 0.27 : 0.013; Punjab 1 : 0.28 : 0.015; Sindh 1 : 0.24 : 0.010 (2024-25).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IFA cites a 'normal or generally accepted balanced ratio' between N, P2O5 and K2O of 1:0.5:0.5.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Against that, phosphate runs at roughly half the balanced level and potash at almost nothing.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48640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864" cy="2240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IT IS STRUCTURAL, NOT A BAD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07492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Pakistan's ratio was already 1:0.3:0.01 through 1996-2005 - the imbalance is structural, not new.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Nitrogen offtake +14.8%, phosphate -1.9% (on high prices), potash +26.2% - the imbalance widened again this year, on price.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THE IMBALANCE COSTS, PER IFA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Consequences IFA lists: lower fertilizer use efficiency, yield reduction, lower farmer income, soil mining of P and K, falling response ratios, higher nitrogen losses.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For a brand: every one of those is a farmer-visible loss - lower yield, wasted nitrogen, a soil that gives less each year - and none of it is currently being explained to him by anyone selling him the bag.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8  ·  WHAT IS PRACTISED INTERNATIONALLY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practices Pakistan has not adopted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Pakistan is not under-fertilised by accident: it uses less per hectare than its neighbours, and what it uses is the least balanced.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World Bank, Fertilizer consumption (kg per hectare of arable land), AG.CON.FERT.ZS, 2023, retrieved 16 Sep 2026  ·  IFA, The Global '4R' Nutrient Stewardship Framework, May 2009  ·  European Commission, EU Agricultural Markets Brief No 15, Fertilisers in the EU, June 2019  ·  Fertilizers Europe, Types of fertilizer, retrieved 16 Sep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143000"/>
          <a:ext cx="55778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1143000"/>
            <a:ext cx="5303520" cy="3657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4864" cy="3657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OTHER TWO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4892040" cy="2999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Nitrate-based nitrogen, not only urea: Fertilizers Europe: ammonium nitrate and calcium ammonium nitrate are 'well suited to most European soils and climatic conditions', and The EC, citing IFA: 'the market share of urea in the nitrogen-based fertilisers market is high in Asia while it is lower in the EU and in North America'.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4R nutrient stewardship, the global framework since 2009: Fertilizer best practice is 'the application of the right source (or product) at the right rate, right time and right place'.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11064240" cy="685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54864" cy="685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HONEST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652760" cy="27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Globally nitrogen is 108m tonnes of nutrient (60%), of which urea is 60m tonnes - urea's dominance is global; its dominance of Pakistan's mix is what unbalances the ratio.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9  ·  THE OPPORTUNITY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Where each fertilizer type has a claim, and what it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Each opportunity is an argument the category is not making - and three of the four are products Fatima already makes.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reading of the data on the previous slides  ·  Fatima Creative Marketing Brief 2026  ·  product positions from the Case 2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1883663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225296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Where the opening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225296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1225296"/>
            <a:ext cx="2432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needs to be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3677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NP (Nitrophos)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63677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Phosphate offtake fell 1.9% on price while nitrogen rose 14.8%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63677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cheaper route to phosphate than DAP, on the crops where P is being skipped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163677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Published per-acre comparisons against DAP, by soil and crop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10642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59689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Sindh's mix is the most nitrogen-skewed (1 : 0.24 : 0.010); canal-timed irrigation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59689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nitrate form Europe defaults to, suited to timed splits on irrigated 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59689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Agronomy in the farmer's language, and a compatibility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57015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Urea / DAP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3557015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volume market, decided by price and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3557015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Availability and authenticity, not persuasion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557015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Dealer presence and a visible price promise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110642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51713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Potash and micronutrients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51713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Potash is 1.8 kg per cropped hectare nationally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451713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balanced-ratio argument, unclaimed by anyone in the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451713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category-building case Fatima would fund without owning the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