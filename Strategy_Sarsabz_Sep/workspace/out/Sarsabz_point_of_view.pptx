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Our point of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Where the brands go, and how communication earns the farmer's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portfolio   ·   2  Bubber Sher   ·   3  The category in numbers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4  The audience   ·   5  What communication can do   ·   6  Emotion x proof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7  How we would measure it   ·   8  The long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Answering 'What We Expect from the Pitch' (brief p14)  ·  internal working draft,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brand goes,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One house, three jobs: Sarsabz earns the premium, Bubber Sher holds the conventional base, Pakarab CAN supplies the specialist.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PACRA rating report, Fatima Fertilizer Company Ltd, 24 Jul 2026  ·  fatima-group.com, brand and capacity pages, retrieved 16 Sep 2026  ·  Our own analysis: 200 coded competitor uploads, 3,005 farmer comments, 76-upload Salam Kissan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Fatima's own record: 'Sarsabz Urea, Sarsabz DAP, Sarsabz Nitrophos, Sarsabz Calcium Ammonium Nitrate, Bubbersher Urea and Bubbersher DAP'. 'widely recognized for its flagship brands, Sarsabz and Bubbersher'.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is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job we would give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7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that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premium, differentiated range: NP and CAN nobody else makes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Carry the proof: the 10% promise shown on real fields, and the farmer's own voice on Kissan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7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 plot results; put farmers on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3756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Bubber Sher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Conventional urea and DAP; 'one of the oldest in Pakistan and widely recognized and trusted by farmers'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Hold the base on trust and availability, not on emotional advertising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7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Settle the zone question; give it a presence it does not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7200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Pakarab 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 from the carved-out Multan plant: the Multan plant was carved out to Pakarab Fertilizers Ltd with effect from 1 Jan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specialist nitrogen source, sold on agronomy to the farmers who already know 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Decide whether it competes with Sarsabz CAN or complements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BUBBER 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heritage brand with no voice, and a definition that does not 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Before a vision can be written, Fatima has to say which Bubber Sher this is: a North Zone tactical brand, or one of Pakistan's oldest national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Creative Marketing Brief 2026; fatima-group.com, brand and capacity pages, retrieved 16 Sep 2026  ·  fatima-group.com, brand and capacity pages, retrieved 16 Sep 2026  ·  PACRA press release, Fatimafert Ltd, 22 Apr 2020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39496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CONTRADICTION 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brief: 'A regional brand that markets our conventional fertilizer Urea and DAP in North Zone' (p20).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company's own site: one of the oldest brands in Pakistan, 'widely recognized and trusted by farmers', described with no regional limit.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Both cannot brief the same campaign. The answer changes the budget, the media map and the idea.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9496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79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ON THE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urea is made at FatimaFert, Sheikhupura; the plant's nameplate capacity was 445,500 MT.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'one of the oldest in Pakistan and widely recognized and trusted by farmers'; the brand was acquired by buying Bubber Sher (Private) Ltd; its DAP is imported.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has no official YouTube channel; the 'Bubber Sher' Facebook page is a rock band.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3949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VISION WE WOULD TAKE, IF IT IS THE NATIONAL HERITAGE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498348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Bubber Sher does not need emotion; it needs presence where the conventional bag is bought. Its equity is age and trust, and it is being spent down in silence.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Role: the dependable bag - available, genuine, priced as promised. Sarsabz argues yield; Bubber Sher argues certainty.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Communication: dealer-first. Stickered authenticity, a visible price promise, and one campaign a year that says the brand is still made here, at Sheikhupura.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counterfeit angle is real and unowned: farmers raise fake product unprompted in the comments, and no brand answers it.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it is the North Zone tactical brand instead, the same assets shrink to a regional trade programme - and we would say so rather than inflate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CATEGORY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price-led, supply-led category where scale is already decided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Volume is settled by capacity and price. What is not settled is who the farmer believes - and that is where communication still moves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PACRA rating report, Fauji Fertilizer Company Ltd, 31 Jul 2026  ·  PACRA rating report, Fatima Fertilizer Company Ltd, 24 Jul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the numbers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234440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7" y="123444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means for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45920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category is growing on nitrogen, shrinking on phosphate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45920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3,795 thousand nutrient tonnes, +11.4% year on year (Jul-Mar FY2026); nitrogen 3,035k tonnes (+14.8%), phosphate 712k (-1.9%), potash 48k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1645920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DAP demand follows price, not persuasion; NP and CAN are where argument still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3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9747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Price is the farmer's first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9747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Rs 100 more per 50kg bag = Rs 20 billion more on farmers; phosphate offtake fell on high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69747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yield claim has to be worth more than the bag's premium, in his arithmetic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Scale belongs to FFC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74903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FFC urea share 56% and DAP 66% in 1HCY26 (43% and 62% in CY25); FFC capacity 2,599 KT urea and 650 KT DAP, utilisation above 124%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374903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 will not win on share of volume; it can win on share of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0915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0059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structure is an oligopoly exposed to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80059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'a prominent player in Pakistan's oligopolistic fertilizer industry'; demand 'exposed to fluctuations in farm economics, crop prices, government subsidy policies, and volatility in global commodity and gas prices'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480059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preference is the only lever the company fully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sector the country depends on, and the farmer nobody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macro case for the farmer is settled. The relationship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Pakistan Bureau of Statistics, 'Agriculture Sector of Pakistan' (pbs.gov.pk), undated page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AGRICULTURE IS WORTH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Economic Survey 2025-26: 23.4% of GDP, 33.1% of employment, sector growth 2.89% in 2025-26, crops 1.44%.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Bureau of Statistics page says about 24% of GDP and 'half of employed labour force' - it is undated, and it disagrees with the Survey. We use the Survey and show both rather than pick the flattering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CHANGING ON THE 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an input channel, and a competitor for credit for the farmer's success.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limited tractor and machinery availability remains a key constraint.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Floods in 2025 shaped the crop year, and they shaped what farmers wrote to the brand.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FARMER ACTUALLY ASKS (OUR OWN READING)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mixing and compatibility is the largest subject among farmers: 220 of 1,433 comments - the barrier is waste, not disbelief.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asks strangers in comment threads what the maker should be telling him, and suspects the answers are paid for.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wants a per-acre answer for his soil and district, written proof, and someone who replies.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Corpus limits: self-selected commenters, no age or location split - this is what people say, not a market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WHAT COMMUNICATION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jobs communication can do that price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Relationships are built where the farmer already argues: in the thread, at the counter, on his own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Our own analysis: 200 coded competitor uploads, 3,005 farmer comments, 76-upload Salam Kissan archive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Answer the question he asked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The category advertises and does not reply. Engro answers a farmer objection in 58% of its 110 uploads; Sarsabz in 6% of its 90. An answer, signed by the maker, in his language, is the cheapest relationship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Show the result, not the badge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no brand in 200 coded uploads shows a result on a real field beside the old way. Proof on a field like his is the one argument a commodity price cannot copy.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Let him speak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 A brand that hands the farmer the microphone is remembered for it long after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EMOTION x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One system, not two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Salam Kissan earns the right to be believed; the proof campaign spends it. Neither works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analysis: Case 1 (Salam Kissan) and Case 2 (the 10% promise) decks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8016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Emotional storytelling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Product superiority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69164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Salam Kissan: the farmer answers the country's salute, in his own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Dus Feesad Aur: the 10% shown on a field like his, with the recipe published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6032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earns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56032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Standing: the right to be listened to by farmers and by the country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56032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Preference: a reason to change the bag this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When it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42900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December, and the replies collected through the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42900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and harvest, when the decision is actually made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9768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How they hand 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429768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farmer who replies in December is the farmer whose field is measured in March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29768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result published in March becomes the story told in December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HOW WE WOULD MEASURE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measurement frame that can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objective gets one number that can go the wrong way. Anything we cannot measure, we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Needs from Fatima: brand-health attribution of Kissan Day, TikTok results, the 2023 giveaway rules, demo-plot data, dealer offtake by district.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8016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it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Awareness of Salam Kissan and Kissan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9164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Prompted and spontaneous awareness of the day, and who is credited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with an attribution question added - it does not exist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04872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Farmers heard, not just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496312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Replies collected: how many farmers, from how many districts, published each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496312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collection; the number is the movement's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00984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Belief in the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300984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Share of farmers who say they have seen a result on a field like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300984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plus demo-plot and Ki Jeet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14215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105655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Preference and trade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105655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and CAN offtake by district against the districts we showed proof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105655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Fatima's dealer data - the only place the campaign meets the bag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10327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Quality of the relationship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910327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Reply rate and answer time on farmer questions in comments and the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910327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logs; today the honest answer is that most questions go unanswered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THE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stays the same for three years, and what changes every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Consistency is a system, not a promise: one platform, one proof engine, one calendar, one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working model  ·  Fatima Creative Marketing Brief 2026 p14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STAYS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two platforms: the farmer's voice, and the proof.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signature and the sign-off, so seven years of equity keep compounding instead of restarting.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annual published record: replies collected, plots measured, questions answered.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rule that a claim on air points to a named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CHANGES EACH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crop, the district, the soil and the farmer in the film.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question being answered, taken from what farmers actually asked that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creator and partner mix, as the movement widens.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number we publish, which should get bigger or be explained.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HOW QUALITY STAYS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team on both brands, with the agronomy sign-off built into the creative route, not added after.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shared asset library: every farmer story shot once, cut for TV, for a short, for the dealer counter and for the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quarterly evidence review: what we claimed, what the field showed, what we stop saying.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the proof does not arrive, we say so and change the claim - before a regulator or a farmer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