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8"/>
    <p:sldId id="268" r:id="rId19"/>
    <p:sldId id="269" r:id="rId20"/>
    <p:sldId id="270" r:id="rId21"/>
    <p:sldId id="271" r:id="rId22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Sarsabz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9FB4C7"/>
                </a:solidFill>
                <a:latin typeface="Segoe UI"/>
              </a:rPr>
              <a:t>Case 2  ·  Brand audit and the 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1  What farmers say    2  How the category talks    3  The Brand Meaning Ladder    4  The 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FB4C7"/>
                </a:solidFill>
                <a:latin typeface="Segoe UI"/>
              </a:rPr>
              <a:t>Fatima Fertilizer creative agency pitch 2026  ·  Working draft, 15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What farmers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9FB4C7"/>
                </a:solidFill>
                <a:latin typeface="Segoe UI"/>
              </a:rPr>
              <a:t>1,433 comments on independent agronomy channels, every one read.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9FB4C7"/>
                </a:solidFill>
                <a:latin typeface="Segoe UI"/>
              </a:rPr>
              <a:t>The consumer pulse behind the Big Idea.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WHAT FARMERS SAY  ·  THE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farmers are trying to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largest subject in the file is not whether a fertilizer works. It is how to use it without waste.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Source: 1,433 YouTube comments on independent agronomy channels, supplied by the client team; themes matched 775 (54.1%). Counts rank where to read - findings come from reading every comment. Self-selected corpus, not a measure of what most farmers think. Translations labelled.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5720" cy="2377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5394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1A1A1A"/>
                </a:solidFill>
                <a:latin typeface="Segoe UI"/>
              </a:rPr>
              <a:t>“Waqt kasht: 1 bag dap + enrich First pani: 1 bag nitrophas+ 1 bag zabardat urea Second pani: 1 bag nitrophas plus 1 bag can gawara+3kg sulphur Third pani: 25 kg soluble potash+ 20kg can gawara... Ye fertilizer plan kaisa ha?”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480"/>
                </a:solidFill>
                <a:latin typeface="Segoe UI"/>
              </a:rPr>
              <a:t>District Muzaffargarh - a whole season's plan, posted for strangers to approve.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The job is not choosing a brand. It is getting the combination, the timing and the method right, so nothing they paid for is wasted.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2344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WHAT THEY ASK ABOUT  ·  COMMENTS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What mixes with what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645920"/>
            <a:ext cx="2103120" cy="20116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0" y="1600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220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057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Timing and dose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103120"/>
            <a:ext cx="1558220" cy="20116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0" y="2057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163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14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Flood or broadcast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2560320"/>
            <a:ext cx="1424385" cy="20116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0" y="2514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149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Which soil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3017520"/>
            <a:ext cx="630936" cy="20116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2971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29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Yields and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3474720"/>
            <a:ext cx="449302" cy="20116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0" y="3429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886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Price and cost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3931920"/>
            <a:ext cx="334587" cy="20116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0" y="3886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343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Advice for my region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4389120"/>
            <a:ext cx="200752" cy="20116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64240" y="4343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800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Reply to me / your number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4846320"/>
            <a:ext cx="191192" cy="20116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800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257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NP instead of DAP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15400" y="5303520"/>
            <a:ext cx="152954" cy="20116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64240" y="5257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WHAT FARMERS SAY  ·  THE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The fear is waste, not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Nobody questions whether NP and CAN raise yield. They ask whether mixing will waste them - and get contradictory answers, including from Fatima's own field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Source: 1,433 YouTube comments on independent agronomy channels, supplied by the client team; themes matched 775 (54.1%). Counts rank where to read - findings come from reading every comment. Self-selected corpus, not a measure of what most farmers think. Translations labelled.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1148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234440"/>
            <a:ext cx="519379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1A"/>
                </a:solidFill>
                <a:latin typeface="Segoe UI"/>
              </a:rPr>
              <a:t>“Zabrdast urea ma zink ha aur np ma phosphorus ha to akthy dalen gy to zink phosphorus to fix ho jay ge”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30552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Zabardast has zinc, NP has phosphorus - together they lock 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41148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234440"/>
            <a:ext cx="519379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1A"/>
                </a:solidFill>
                <a:latin typeface="Segoe UI"/>
              </a:rPr>
              <a:t>“How many bags of Sarsabz Nitrophos give the same result as one DAP, or can it not replace DAP?”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30552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Translated from Urdu - the switching question, asked outright.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15768"/>
            <a:ext cx="41148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15768"/>
            <a:ext cx="519379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1A"/>
                </a:solidFill>
                <a:latin typeface="Segoe UI"/>
              </a:rPr>
              <a:t>“Fatima fertilizer walon ne NP+CAN+ZINC SULFATE mila ke chatta kiya hai result bhe behar hai aor aap bol rahai in ko aapus main na milaain”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611880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Fatima's own field practice, against the creator the farmer is watching.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15768"/>
            <a:ext cx="41148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715768"/>
            <a:ext cx="519379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1A"/>
                </a:solidFill>
                <a:latin typeface="Segoe UI"/>
              </a:rPr>
              <a:t>“Can gawara say paidawar mien izafa hota hy kia”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611880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The only yield question in the file: does CAN raise yield at all?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97096"/>
            <a:ext cx="41148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197096"/>
            <a:ext cx="519379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1A"/>
                </a:solidFill>
                <a:latin typeface="Segoe UI"/>
              </a:rPr>
              <a:t>“app ne old videos me bataya hy k pehly pani pher can gawara dy do aur neche DAP khaad hota hy ,ab keh rhy ho k in dono ko mix na karo”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93208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One rule in the old videos, the opposite now.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197096"/>
            <a:ext cx="41148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197096"/>
            <a:ext cx="519379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1A"/>
                </a:solidFill>
                <a:latin typeface="Segoe UI"/>
              </a:rPr>
              <a:t>“Medicine mafia se paise lekar video banner rehta”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093208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Farmers suspect creators take company money.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WHAT FARMERS SAY  ·  THE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Farmers name the product, not the 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Sarsabz makes the products farmers discuss most, and is almost never named. Engro shows a fertilizer brand can be asked for by name.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Source: 1,433 YouTube comments on independent agronomy channels, supplied by the client team; themes matched 775 (54.1%). Counts rank where to read - findings come from reading every comment. Self-selected corpus, not a measure of what most farmers think. Translations labelled.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COMMENTS NAMING EACH PRODUCT OR 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Urea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645920"/>
            <a:ext cx="3291840" cy="21945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600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230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7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CAN (gawara)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075687"/>
            <a:ext cx="2762283" cy="21945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02996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193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5973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NP (Nitrophos)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505455"/>
            <a:ext cx="2103915" cy="21945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459735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147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89503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DAP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2935223"/>
            <a:ext cx="1946479" cy="21945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88950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136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19271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Engro Zabardast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364991"/>
            <a:ext cx="1273798" cy="219456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319271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FFC Sona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3794759"/>
            <a:ext cx="286246" cy="219456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374903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78807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Segoe UI"/>
              </a:rPr>
              <a:t>Sarsabz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4224527"/>
            <a:ext cx="214685" cy="2194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417880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Segoe UI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0857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Fatima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4654295"/>
            <a:ext cx="57249" cy="219456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4608575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38343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Pak Arab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5084063"/>
            <a:ext cx="45720" cy="219456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503834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4864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7480"/>
                </a:solidFill>
                <a:latin typeface="Segoe UI"/>
              </a:rPr>
              <a:t>Grey = products  ·  Navy = brands  ·  Red = Sarsabz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1234440"/>
            <a:ext cx="4846320" cy="4389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14173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WHAT IT MEANS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178308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Segoe UI"/>
              </a:rPr>
              <a:t>CAN 193 and NP 147 mentions - Sarsabz 15. Farmers buy Fatima's products as generics.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Segoe UI"/>
              </a:rPr>
              <a:t>Engro Zabardast (89) is the only fertilizer brand named routinely - and people explain it: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2461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1A"/>
                </a:solidFill>
                <a:latin typeface="Segoe UI"/>
              </a:rPr>
              <a:t>“Zabardast Urea me mojood zinc bio active form me hoti hai”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3977639"/>
            <a:ext cx="41148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3977639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1A1A1A"/>
                </a:solidFill>
                <a:latin typeface="Segoe UI"/>
              </a:rPr>
              <a:t>“fawara khad kis company ki achi ha SAR sbz ya Fatima wali”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4526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Which is better - Sarsabz or the Fatima one? They are the same company.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WHAT FARMERS SAY  ·  WHAT THEY SEEK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farmers want, and what it means for Sarsabz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Everything farmers seek is proof and instruction. None of it is a salute.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Source: 1,433 YouTube comments on independent agronomy channels, supplied by the client team; themes matched 775 (54.1%). Counts rank where to read - findings come from reading every comment. Self-selected corpus, not a measure of what most farmers think. Translations labelled.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FARMERS SEEK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1887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WHAT IT MEANS FOR SARSABZ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39"/>
            <a:ext cx="11064240" cy="822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81912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A straight answer on what mixes with 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58191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One NP and CAN compatibility and timing guide, signed by the maker - today field staff and creators contradict each other.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04872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A plan for their own soil, crop and district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0487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Proof and advice by soil and region. A national claim does not answer 'my land is sandy'.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27832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Evidence, not opinion (translated: 'is there any written proof?')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2783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Farmers ask for proof unprompted. Sarsabz holds 500+ demo plots and shows none on screen.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50791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Someone who replies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50791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Farmers ask creators for replies and WhatsApp numbers - an audience waiting for the Sarsabz Pakistan App.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73752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Advice that is not paid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87375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Sponsored creator content starts with a credibility deficit: disclose every partnership and attach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How the category talks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9FB4C7"/>
                </a:solidFill>
                <a:latin typeface="Segoe UI"/>
              </a:rPr>
              <a:t>A brand-by-brand communications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4C7"/>
                </a:solidFill>
                <a:latin typeface="Segoe UI"/>
              </a:rPr>
              <a:t>200 posts  ·  2 brands  ·  collected 2026-09-15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4C7"/>
                </a:solidFill>
                <a:latin typeface="Segoe UI"/>
              </a:rPr>
              <a:t>Sarsabz - Case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What we looked 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94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Every YouTube upload from Sarsabz and Engro Fertilizers between 15 Sep 2024 and 15 Sep 2026 - 200 in all.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Coded on a fixed nine-dimension schema from each thumbnail, title and description. Videos were not watched end to end.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Contact sheets show each brand's 25 most-viewed uploads - where it put its media weight.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FFC Sona, Bubber Sher and Agritech have no official channel. Recorded as absences, not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80160"/>
            <a:ext cx="530352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303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A limit worth stating first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View counts on brand channels are mostly bought. They show where each brand spends - never share of voice or organic interest.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Owned YouTube only. Paid TV, press and Facebook ads are not captured; the Meta Ad Library is the next source.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How the category talks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6974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02A43"/>
                </a:solidFill>
                <a:latin typeface="Segoe UI"/>
              </a:rPr>
              <a:t>45%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of ads prove nothing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90 of 200. No statistic, rating, testimonial or guarantee.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371600"/>
            <a:ext cx="26974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6459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02A43"/>
                </a:solidFill>
                <a:latin typeface="Segoe UI"/>
              </a:rPr>
              <a:t>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514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is brand-building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20040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10 of 200. The rest is promotion, PR, calendar and recruitment.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371600"/>
            <a:ext cx="26974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6459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02A43"/>
                </a:solidFill>
                <a:latin typeface="Segoe UI"/>
              </a:rPr>
              <a:t>16%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514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drives to an owned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320040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33 of 200 exist to move people into an ecosystem.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7424" y="1371600"/>
            <a:ext cx="26974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424" y="16459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02A43"/>
                </a:solidFill>
                <a:latin typeface="Segoe UI"/>
              </a:rPr>
              <a:t>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2514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answer the core objection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320040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69 of 200 tackle the buyer's main reason not to buy.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A1A1A"/>
                </a:solidFill>
                <a:latin typeface="Segoe UI"/>
              </a:rPr>
              <a:t>Two brands advertise to farmers on owned video. They stand at opposite ends.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Sarsabz asserts: a yield claim in 15 uploads, proven in 5. Engro advises: 44 advisory uploads, 31 named agronomists, and no yield claim at all.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Nobody shows a result on a real field beside the old 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What a message map cannot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Segoe UI"/>
              </a:rPr>
              <a:t>Converging on an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output driving to an owned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Engro Fertilizers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77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28/110  ·  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Sarsabz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614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5/90  ·  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28016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8132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Segoe UI"/>
              </a:rPr>
              <a:t>Brand-building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0195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everything else is promotion, PR, calendar, recruitment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Engro Fertilizers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77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10/110  ·  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614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Sarsabz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614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0/90  ·  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28016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48132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Segoe UI"/>
              </a:rPr>
              <a:t>Talking to customers, not itself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90195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ads with a customer in 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774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Sarsabz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2377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46/90  ·  51%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614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Engro Fertilizers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27614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19/110  ·  17%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Engro converges on service - app, retail centre, soil testing. Sarsabz puts a customer in frame more often (46 of 90 vs 19 of 110), but Engro fills its frame with 31 named experts, and Sarsabz with 24 celebrity appearances.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Why the two brands talk so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2A43"/>
                </a:solidFill>
                <a:latin typeface="Segoe UI"/>
              </a:rPr>
              <a:t>The pattern is structural. Each brand's advertising follows from what it sells and who it has to beat.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6424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9514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A43"/>
                </a:solidFill>
                <a:latin typeface="Segoe UI"/>
              </a:rPr>
              <a:t>Commodity vs owned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295144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Urea and DAP are near-commodities, so Engro competes on what comes with the bag. Fatima makes the only CAN and 93% of NP (CCP Table 11, NFDC 2022-23), so Sarsabz has had almost no one to argue with on its own products.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81528"/>
            <a:ext cx="1106424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278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A43"/>
                </a:solidFill>
                <a:latin typeface="Segoe UI"/>
              </a:rPr>
              <a:t>The leader stays silent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227832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FFC holds 44% of urea and 61% of DAP, yet has 71K followers on Facebook and no official YouTube channel. A leader of a commodity market does not need to argue on owned channels.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14216"/>
            <a:ext cx="1106424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A43"/>
                </a:solidFill>
                <a:latin typeface="Segoe UI"/>
              </a:rPr>
              <a:t>Engro is moving into Fatima's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16052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Engro NP+ (Feb 2025) and imported TSP, a phosphate alternative to DAP (Oct 2025), both launched inside the window.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46904"/>
            <a:ext cx="1106424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0932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A43"/>
                </a:solidFill>
                <a:latin typeface="Segoe UI"/>
              </a:rPr>
              <a:t>The farmer's question is how, not whether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09320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220 of 1,433 farmer comments ask what can be mixed with what. Engro's advice answers that demand; Sarsabz's badge does 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Engro solves a commodity problem with service. Sarsabz has a proof problem it has not recognised - and the proof is already in its own plots.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480"/>
                </a:solidFill>
                <a:latin typeface="Segoe UI"/>
              </a:rPr>
              <a:t>Sources: 200 coded owned-YouTube uploads (scan/scan_findings.md); CCP Competition Assessment, DRAFT, Jul 2025, Table 11; presence sweep 15 Sep 2026; 1,433 farmer comments (comments/analysis.md).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Where each brand's audience actually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Segoe UI"/>
              </a:rPr>
              <a:t>Owned-channel followers, logged-out sweep, 15 September 2026. Reach is not Sarsabz's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7480"/>
                </a:solidFill>
                <a:latin typeface="Segoe UI"/>
              </a:rPr>
              <a:t>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83080"/>
            <a:ext cx="277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TikTok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65520" y="1783080"/>
            <a:ext cx="277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YouTube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9200" y="1783080"/>
            <a:ext cx="277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Facebook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93976"/>
            <a:ext cx="11064240" cy="1828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11064240" cy="34747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03704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Sarsabz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03704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1.2M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5520" y="2203704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396K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9200" y="2203704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274K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5117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Engro Fertilizers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551176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156.7K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5520" y="2551176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81.2K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9200" y="2551176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152K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71216"/>
            <a:ext cx="11064240" cy="34747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98648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Engro Zabardast Urea (page)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898648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n/v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5520" y="2898648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n/v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9200" y="2898648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4.1K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FFC (Sona)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246120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n/v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5520" y="3246120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none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9200" y="3246120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71K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66160"/>
            <a:ext cx="11064240" cy="34747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5935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Agritech (Tara)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593592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n/v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5520" y="3593592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9200" y="3593592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1.8K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941064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Bubber Sher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941064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n/v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65520" y="3941064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none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9200" y="3941064"/>
            <a:ext cx="2773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480"/>
                </a:solidFill>
                <a:latin typeface="Segoe UI"/>
              </a:rPr>
              <a:t>none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943600"/>
            <a:ext cx="11064240" cy="71323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062472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Sarsabz has the largest owned audience in the category. FFC, Agritech and Bubber Sher barely compete on owned channels at all.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71169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480"/>
                </a:solidFill>
                <a:latin typeface="Segoe UI"/>
              </a:rPr>
              <a:t>n/v = not verified; none = searched, no official account found. The 'Bubber Sher' Facebook page is a rock band and is excluded. Followers are reach, not engagement.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Claims only one brand makes - and the one nobody makes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Segoe UI"/>
              </a:rPr>
              <a:t>Only Sarsabz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8102E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yield-claim uploads. Engro makes none.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Yield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004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National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566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Multan Sultans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9319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Women in farming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2976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28016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481328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Segoe UI"/>
              </a:rPr>
              <a:t>Only Engro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8102E"/>
                </a:solidFill>
                <a:latin typeface="Segoe UI"/>
              </a:rPr>
              <a:t>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0604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advisory uploads. Sarsabz makes 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004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Advisory uploads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2004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5661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Named agronomist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566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319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Cost-saving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9319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2976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Authenticity 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2976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128016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481328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Segoe UI"/>
              </a:rPr>
              <a:t>Nobody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92024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8102E"/>
                </a:solidFill>
                <a:latin typeface="Segoe U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60604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uploads showing a yield result beside the old way - in titles, thumbnails or descriptions.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2004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Side-by-side field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32004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5661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Published demo plot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3566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9319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NP vs DAP price gap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39319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Segoe UI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Segoe UI"/>
              </a:rPr>
              <a:t>The open ground is proof: a result on a real field, beside DAP and urea.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Sarsabz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@Sarsabz   ·   CLIENT   ·   396K YouTube followers   ·   90 ads coded</a:t>
            </a:r>
          </a:p>
        </p:txBody>
      </p:sp>
      <p:pic>
        <p:nvPicPr>
          <p:cNvPr id="5" name="Picture 4" descr="Sarsab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38796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Talks at values, and proves almost nothing it claims.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10 of 11 '10% se bhi ziyada izaafi paidawaar' films show nothing but the badge - one walking-farmer template re-cut for wheat, maize, sugarcane, cotton and rice.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'Jeet' means three things: Sarsabz Ki Jeet (a competition win), 'Nitrophos ko laga aur jeeta ja' (a lucky draw), 'Jeet ka naam, Sarsabz Ke Sultan' (cricket).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22 Multan Sultans uploads and 17 Dil Se Dekho contest posts - 43% of output, cast young, with no farmer and no product.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 proof it does have is strong: Ki Jeet names winners and yields - '69 man 38 kilo fi-acre', '40 mein se 34 azlaa'.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The largest owned audience in the category puts its media weight on a yield promise it proves in 5 of 15 uploads, and its volume on content that says nothing about the bag.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6355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8102E"/>
                </a:solidFill>
                <a:latin typeface="Segoe UI"/>
              </a:rPr>
              <a:t>WHY:  with the only CAN and 93% of NP, Sarsabz has had almost no one to argue with on its own products.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54/90 no proof device   ·   5/90 address the core objection   ·   0/90 brand-building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Engro Fertilizers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@engrofertilizerbrands   ·   DIRECT COMPETITOR   ·   81.2K YouTube followers   ·   110 ads coded</a:t>
            </a:r>
          </a:p>
        </p:txBody>
      </p:sp>
      <p:pic>
        <p:nvPicPr>
          <p:cNvPr id="5" name="Picture 4" descr="engrofertilizerbra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38796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Owns advice - and answers the farmer's question in 58% of uploads.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Engro Kahanian: a named agronomist solving one crop problem per film - 'Pani Ki Kami Ka Hal', 'Soil Testing Ki Ehmiyat'.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'Kam Kharch, Zyada Paidawar!' - an 89-minute podcast on saving and profit in maize and rice.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Zinc explained with arithmetic; 'DAP Bharosa Seal - Chamkay Toh Asal, Na Chamkay Toh Naqal', verified by SMS.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Engro Markaz and Mitti Mahir - retail centre, app and soil test: 28 of 110 uploads drive to an owned service.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Engro sells near-commodity urea and DAP, so it competes on everything around the bag. It has built the most complete farmer-facing service story in the category - and now sells NP+ and imported TSP, inside Fatima's categories.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6355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8102E"/>
                </a:solidFill>
                <a:latin typeface="Segoe UI"/>
              </a:rPr>
              <a:t>WHY:  commodity product, differentiated service - the advice is the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36/110 no proof device   ·   64/110 address the core objection   ·   10/110 brand-building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The vacant territory is proof on a real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Engro owns advice. Sarsabz owns the loudest promise. Nobody shows the result beside the old way.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Sarsabz is the only brand that can: the only CAN, 93% of NP, 500+ demo plots, and Ki Jeet winners in 34 of 40 districts.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The Brand Meaning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9FB4C7"/>
                </a:solidFill>
                <a:latin typeface="Segoe UI"/>
              </a:rPr>
              <a:t>A simple way to understand how farmers see a brand - from what it is and does, to what it means to them.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9FB4C7"/>
                </a:solidFill>
                <a:latin typeface="Segoe U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9FB4C7"/>
                </a:solidFill>
                <a:latin typeface="Segoe UI"/>
              </a:rPr>
              <a:t>From functional benefits → to emotions → to values and purpose.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Levels of branding: where the category is, and where Sarsabz is talking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Each brand sits on the level most of its coded posts occupy (mean in brackets). Computed from 200 coded uploads - 90 Sarsabz, 110 Engro - not asserted.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BRANDS AT THIS LEVEL (MEAN LEVEL)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4173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Sarsabz talks at the level of values while Engro occupies benefits - and farmers judge at benefits and below. The ladder does not let a brand skip.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Ladder. Placement = modal level across each brand's coded uploads, mean in brackets (ladder_levels.csv, levels.csv). Window 15 Sep 2024 - 15 Sep 2026, owned YouTube only. Sarsabz is flagged split: modal L5, mean 3.2.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28216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Mission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change things you would like to"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755648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Nobody in this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77440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41448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Human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think like you do"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468880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Sarsabz (3.2, split) - 30 of 90 uploads - Dil Se Dekho, Tabeer, national days.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68880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WHERE SARSABZ IS TALKING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90672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154679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 territory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am like you; you are like me"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82112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Salam Kissan sits here - 12 uploads, and the only rung Sarsabz genuinely owns.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182112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THE ASSET SARSABZ OWNS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03904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67912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Product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"Here is what I can do for you"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895344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Engro (2.4) - 50 of 110 uploads - expert crop advice, soil testing, cost per acre. Sarsabz: 18.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895344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WHERE THE CATEGORY SITS - AND WHERE SARSABZ MUST EARN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17136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581144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Product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"Reason to buy me"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608576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Engro 35 uploads: bio-active zinc, blends, the DAP Bharosa seal. Sarsabz: 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608576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WHERE SARSABZ MUST PROVE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294376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Product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am here"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321808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Sarsabz 25 uploads: Multan Sultans, Ramzan, corporate. Engro: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The Brand Meaning Ladder for fertilizer: the factors at each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Current = seen in the 200 coded uploads.  Potential = relevant to fertilizer, not yet claimed.  Unsupported = little link to the category.  † = added for this category from farmer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4173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POTENTIAL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141732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UNSUPPORTED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Current factors cluster at levels 1-3 and at 5. The gap is level 2-3 proof - and higher is not better: a factor is only worth owning if it is relevant, credible, distinctive and defensible.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 - factor lists per level. Current factors: 200 coded uploads (codes_window.csv, Sarsabz + Engro). † additions: 1,433 farmer comments (comments/analysis.md) and the category read.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1664208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728216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Purpose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change do you want to create?"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728216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No brand states a purpose in 200 uploads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728216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National food security  ·  A farming livelihood that pays  ·  Restoring the soil for the next generation  ·  Closing the yield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1728216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Climate leadership without a farm-level mechanism  ·  Global development language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2377440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441448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Human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believe?"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441448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National identity (Sarsabz 22)  ·  Women in farming (Sarsabz 8)  ·  Food security framing (Engro corporate)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441448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Straight dealing with the farmer †  ·  Knowledge shared, not sold †  ·  Progress you can 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4144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Sustainability language with no farm proof  ·  Urban lifestyle 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3090672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154679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 associations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choosing you say about me?"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154679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The farmer as someone worth saluting (Salam Kissan 12)  ·  The winning farmer (Ki Jeet)  ·  Cricket fandom (Multan Sultans 22)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154679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The progressive farmer others copy †  ·  The farmer who tests rather than guesses †  ·  Respected by the company he buys from 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154679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Luxury or status display  ·  Urban aspiration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0" y="3803904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867912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Product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it do for me?"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867912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More yield (Sarsabz 15)  ·  Expert crop advice (Engro 44)  ·  Less cost, more profit (Engro 6)  ·  Soil tested, not guessed (Engro Mitti Mahir)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867912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Switching without waste: what replaces DAP, mixed with what †  ·  A cheaper bag that yields more †  ·  An answer when you ask 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867912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Convenience claims with no delivery  ·  Time saving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0" y="4517136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581144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Product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have?"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4581144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Bio-active zinc coating (Engro)  ·  Blends and micronutrients (Engro Zarkhez)  ·  Anti-counterfeit seal (Engro DAP)  ·  Prize draws (both)  ·  Nitrate + calcium (Sarsabz CAN)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581144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The 500+ demo plots, published †  ·  The NP-to-DAP price gap, stated †  ·  Sarsabz's own authenticity sticker, revived †  ·  Compatibility: what NP and CAN can be mixed with 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4581144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Packaging design  ·  Plant capacity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0" y="5230368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294376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Product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"Who are you?"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5294376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Brand name and bag  ·  Heritage and national days  ·  Sponsorship (Multan Sultans)  ·  Festive films (Ramzan)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294376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 as the name on NP and CAN †  ·  Recall: farmers say 'Nitrophos', not 'Sarsabz' 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94376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Corporate plant imagery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How the Brand Meaning Ladder works in fertilizer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What brands publish (200 coded uploads) against what farmers judge on (1,433 comments on independent agronomy channels). Levels are depth of meaning, not stages: higher is not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41732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WHAT BRANDS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WHAT CUSTOMERS JUDGE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4173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OPEN - NOBODY CLAIMS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Farmers judge at levels 2 and 3. Engro is there with 50 benefit uploads and 31 named experts. Sarsabz is at level 5 with 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Ladder. Counts = uploads whose main claim is that factor, of 200 coded (codes_window.csv); a claim can sit at more than one level, so counts show where factors appear, not per-level totals. Farmer evidence: 1,433 comments, self-selected corpus, not research.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6840" y="1664208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728216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Purpose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change do you want to create?"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728216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No brand states a purpose. Food security appears in corporate webinars, not in farmer-facing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28216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Not raised. Farmers talk about this season's crop, not the nation's food supply.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728216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National food security made personal: the yield gap on this farm, closed.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2377440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441448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believe?"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441448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Sarsabz: national identity (22 uploads) and women in farming (8). Engro: 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41448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Fairness and straight dealing, named by its absence: creators are suspected of taking company money; farmers ask for written proof.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441448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Knowledge shared rather than sold; straight dealing with the farmer.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3090672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154679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choosing you say about me?"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3154679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 owns the salute to the farmer (Salam Kissan, 12 uploads, Kissan Day now official). Engro: the shaandar kissan, named, 6 uploads.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54679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Farmers post their own plans and yields for peer judgement - 63-68 maunds stated with inputs. Identity is earned by results, not by being saluted.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154679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The farmer others copy because his field proves 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3803904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867912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it do for me?"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3867912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Engro: expert crop advice (44), cost saving (6), soil testing. Sarsabz: yield (15), advisory (3).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67912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This is where farmers live: 220 comments on what can be mixed with what, 163 on timing and dose, 149 on flood vs broadcast.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867912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Switching without waste: what replaces DAP, in what quantity, mixed with what, on which irrigation.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40" y="4517136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581144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have?"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4581144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Engro: bio-active zinc, blends, the DAP Bharosa seal, 35 uploads. Sarsabz: 5, mostly prize draws.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81144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Counterfeit DAP, the price per bag, whether NP works in sandy soil. No comment mentions the 10% promise; one asks whether CAN raises yield at all.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581144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The demo-plot data published; the NP-to-DAP price gap stated; Sarsabz's own sticker used to verify, not to enter a draw.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06840" y="5230368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294376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"Who are you?"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5294376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Sarsabz: 25 uploads - cricket, Ramzan, corporate. Largest owned audience in the category: 1.2M TikTok, 396K YouTube.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294376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Farmers name the product, not the brand: CAN 193 mentions, NP 147, Sarsabz 15. Engro Zabardast is named 89 times.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5294376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Putting the Sarsabz name on the products farmers already discuss.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Sarsabz's Brand Meaning Ladder: the category's factors, and where to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Sarsabz says = its 90 coded uploads by level (modal L5, mean 3.2, flagged split). Farmers say = 1,433 comments. Higher is not better - the target is the deepest level Sarsabz can 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417320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FACTORS IN THE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41732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SARSABZ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1417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PLACEMENT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Place Sarsabz at Level 3, on proof rather than advice: the 10% shown on a farmer's own field, beside a cheaper bag. Engro owns advice; no brand shows a yield result side by side on a farm. Levels 4 and 5 are earned from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Ladder. Sarsabz levels: levels.csv, classified from codes_window.csv (90 uploads). Farmer evidence: comments/analysis.md - 1,433 comments, self-selected, not a satisfaction measure. Competitor placement: Engro only; FFC Sona, Bubber Sher and Agritech have no official channel.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728216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Purpose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change do you want to create?"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728216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None - no brand states a purpose in 200 uploads.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National food security, made personal.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728216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0 posts.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NOT RAISED BY FARMERS.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75564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NOT NOW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no permission yet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441448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believe?"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441448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National identity (22), women in farming (8).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Straight dealing; knowledge shared, not sold.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441448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30 posts - Dil Se Dekho, Tabeer, national days - the largest block at any level.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Not established - farmers name Sarsabz 15 times in 1,433 comments.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2468880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LATER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over-claimed today; earn it from level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154679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choosing you say about me?"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154679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Salam Kissan (12); Ki Jeet's winning farmer; cricket (22).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The farmer others copy because his field proves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154679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12 posts - Salam Kissan, 15.7M views; Kissan Day is now official.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Real but generic - farmers respect results, not salutes.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182112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HOLD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Salam Kissan is genuinely owned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803904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867912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it do for me?"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867912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Yield (Sarsabz 15); expert advice and cost saving (Engro 50).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Switching without waste: what replaces DAP, mixed with what, on which irrigation.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867912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18 posts - 10 of 11 yield films offer no proof beyond the badge.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Strong demand - 220 mixing comments, 163 on timing, 16 on NP vs DAP.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895344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PLACE SARSABZ HERE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proof on the farmer's own field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581144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have?"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581144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Bio-active zinc, blends, anti-counterfeit seal (Engro 35); prize draws.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The 500+ demo plots published; the NP-to-DAP price gap; the sticker used to verify.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581144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5 posts - mostly the Nitrophos prize scheme.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Mixed - counterfeit fear attaches to DAP; NP doubted in sandy soil.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608576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PROVE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publish the plots and the price gap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94376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"Who are you?"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294376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Name, bag, heritage, cricket, Ramzan.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Put the Sarsabz name on the products farmers already discuss.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294376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25 posts - cricket, Ramzan, corporate; 1.2M TikTok followers, the category's largest.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Weak for the brand, strong for the product - CAN 193, NP 147, Sarsabz 15.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32180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HOLD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reach is not the problem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FB4C7"/>
                </a:solidFill>
                <a:latin typeface="Segoe UI"/>
              </a:rPr>
              <a:t>Consumer insight  +  Category insight  +  Brand insight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FB4C7"/>
                </a:solidFill>
                <a:latin typeface="Segoe UI"/>
              </a:rPr>
              <a:t>Three single lines, combined into one organising thought.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1  ·  CONSUMER INSIGHT  ·  FROM THE FARMER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farmers feel, that the category ignores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600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A43"/>
                </a:solidFill>
                <a:latin typeface="Segoe UI"/>
              </a:rPr>
              <a:t>“Farmers don't doubt that Nitrophos and CAN work, but they won't bet a season on a switch nobody has shown them how to make without waste.”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63093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Mixing is the largest subject in the file: 220 of 1,433 comments, 83 about NP or CAN, 33 putting Nitrophos beside Engro Zabardast.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"Zabrdast urea ma zink ha aur np ma phosphorus ha to akthy dalen gy to zink phosphorus to fix ho jay ge" (together they lock up).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Translated from Urdu: "How many bags of Sarsabz Nitrophos give the same result as one DAP, or can it not replace DAP?"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"Fatima fertilizer walon ne NP+CAN+ZINC SULFATE mila ke chatta kiya hai... aap bol rahai in ko aapus main na milaain" (Fatima mixed them; you say don't).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3108960"/>
            <a:ext cx="438912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32461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WHAT THE LANGUAGE TELLS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566160"/>
            <a:ext cx="3977639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The fear is waste, not failure. Nobody questions whether NP and CAN raise yield; they ask whether mixing will lock it up.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No comment mentions the 10% promise. One asks whether CAN raises yield at all.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Farmers are getting contradictory advice - including Fatima's own field practice against the creators they watch.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480"/>
                </a:solidFill>
                <a:latin typeface="Segoe UI"/>
              </a:rPr>
              <a:t>Source: 1,433 YouTube comments on independent agronomy channels (comments/analysis.md). Self-selected corpus, channels not supplied - not a measure of what most farmers think. Translations labelled.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2  ·  CATEGORY INSIGHT  ·  FROM COMPETITORS' OWNED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everyone else does, and what it leaves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600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A43"/>
                </a:solidFill>
                <a:latin typeface="Segoe UI"/>
              </a:rPr>
              <a:t>“Engro has made itself the farmer's adviser and Sarsabz makes the loudest yield promise, but no brand shows the result on a real field beside the old way.”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63093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Engro answers a farmer objection in 58% of its 110 uploads; Sarsabz in 6% of its 90.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Engro: 44 advisory uploads, 31 with a named agronomist, soil testing, a cost-per-acre podcast, retail centres and an app.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Sarsabz makes the yield claim 15 times, Engro 0 - and 10 of Sarsabz's 11 '10%' films offer nothing but the badge.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FFC Sona, Bubber Sher and Agritech Tara have no official YouTube channel.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3108960"/>
            <a:ext cx="438912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32461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WHY THE CATEGORY BEHAVES THIS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566160"/>
            <a:ext cx="3977639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Urea and DAP are near-commodities, so Engro competes on what comes with the bag: a zinc coating, advice, a service.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Sarsabz sells products no rival makes at scale - the only CAN and 93% of NP - so proof is its natural ground, and the one it is not using.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The space is not empty because it failed: Ki Jeet, the closest thing to field proof, carries Sarsabz's biggest product films (8.2M, 7.5M views).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480"/>
                </a:solidFill>
                <a:latin typeface="Segoe UI"/>
              </a:rPr>
              <a:t>Source: 200 owned YouTube uploads coded on the same schema, 15 Sep 2024 - 15 Sep 2026 (scan/scan_findings.md); presence sweep 15 Sep 2026. Views are bought media weight, not share of voice.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3  ·  BRAND INSIGHT  ·  FROM THE BRIEF AND 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Sarsabz has, and what it 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600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A43"/>
                </a:solidFill>
                <a:latin typeface="Segoe UI"/>
              </a:rPr>
              <a:t>“Sarsabz holds proof no rival can produce - the only CAN and 93% of NP in Pakistan, 500+ demo plots, Ki Jeet winners in 34 districts - but keeps it off screen, so farmers know the product and forget the name.”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6960" y="960120"/>
            <a:ext cx="1645920" cy="23774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9875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PROVISIONAL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63093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The asset: Fatima Group holds 93% of NP and is the sole CAN producer; Engro holds 6% of NP (CCP Table 11, NFDC 2022-23).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The proof exists: the promise is "documented by... 500+ demo plots" (brief p5); Ki Jeet wins in 34 of 40 districts. No plot appears in 90 uploads.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·  The name is missing: farmers mention CAN 193 times and NP 147 times, Sarsabz 15 times.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3108960"/>
            <a:ext cx="4389120" cy="3108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324612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WHERE THE BRIEF AND THE EVIDENCE DISAGREE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566160"/>
            <a:ext cx="3977639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Brief: the brand "evolved from being a product-focused brand to a farmer-centric brand" (p13). Evidence: farmers judge at product level, and Engro is winning there.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Brief: 22% top-of-mind "exceeded competition's TOM awareness by 6%" (p29). Chart: true against Competitor 2 only - Competitor 1 is at 62%.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02A43"/>
                </a:solidFill>
                <a:latin typeface="Segoe UI"/>
              </a:rPr>
              <a:t>The brief's own pillar is "Experts" (p5). On screen, Sarsabz shows 0 named agronomists; Engro shows 31.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480"/>
                </a:solidFill>
                <a:latin typeface="Segoe UI"/>
              </a:rPr>
              <a:t>Source: Fatima Creative Marketing Brief 2026 (pp.5, 13, 29); CCP Competition Assessment, DRAFT, Jul 2025. PROVISIONAL: demo-plot data, current product share and the brand-health study method were not supplied.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STEP 4  ·  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Three insights, one organising thought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CONSUMER INSIGHT  ·  Relevant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Farmers won't bet a season on a switch nobody has shown them how to make without waste.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23444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417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CATEGORY INSIGHT  ·  Distinctive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17373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Engro advises and Sarsabz asserts, but nobody shows the result beside the old 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234440"/>
            <a:ext cx="35661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417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BRAND INSIGHT  ·  Ownable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17373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Sarsabz holds proof no rival can produce, but keeps it off screen - farmers know the product and forget the name.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11064240" cy="14173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THE BIG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Sarsabz proves itself on a field like yours.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The 10% stops being a badge and becomes a result a farmer can see on a field like his - with the recipe that produced it: what replaced DAP, what it was mixed with, on which irrigation, on what soil.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6B7480"/>
                </a:solidFill>
                <a:latin typeface="Segoe UI"/>
              </a:rPr>
              <a:t>Test:  </a:t>
            </a:r>
            <a:r>
              <a:rPr sz="1050" b="0" i="0">
                <a:solidFill>
                  <a:srgbClr val="6B7480"/>
                </a:solidFill>
                <a:latin typeface="Segoe UI"/>
              </a:rPr>
              <a:t>remove any one insight and the idea fails - without the farmer it is demo-plot PR nobody asked for, without the category it is Engro's advice, without the brand anyone could promise a demo, but only Sarsabz makes the NP and CAN on the winning side of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FROM IDEA TO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Strategy statement and comms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583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Re-frame Sarsabz from a yield promise farmers take on trust to the proof they can see and copy, by putting its demo plots and winning farmers side by side with DAP + urea on fields like theirs, and publishing the recipe behind every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6583680" cy="1188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9300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COMMS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67328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102E"/>
                </a:solidFill>
                <a:latin typeface="Segoe UI"/>
              </a:rPr>
              <a:t>Position Sarsabz as  </a:t>
            </a:r>
            <a:r>
              <a:rPr sz="1900" b="1" i="0">
                <a:solidFill>
                  <a:srgbClr val="C8102E"/>
                </a:solidFill>
                <a:latin typeface="Segoe UI"/>
              </a:rPr>
              <a:t>THE PROOF, NOT THE PROMISE.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WHY IT 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A1A1A"/>
                </a:solidFill>
                <a:latin typeface="Segoe UI"/>
              </a:rPr>
              <a:t>Relevant:  </a:t>
            </a:r>
            <a:r>
              <a:rPr sz="1100" b="0" i="0">
                <a:solidFill>
                  <a:srgbClr val="1A1A1A"/>
                </a:solidFill>
                <a:latin typeface="Segoe UI"/>
              </a:rPr>
              <a:t>answers the largest subject in the farmer conversation - how to switch without waste.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A1A1A"/>
                </a:solidFill>
                <a:latin typeface="Segoe UI"/>
              </a:rPr>
              <a:t>Distinctive:  </a:t>
            </a:r>
            <a:r>
              <a:rPr sz="1100" b="0" i="0">
                <a:solidFill>
                  <a:srgbClr val="1A1A1A"/>
                </a:solidFill>
                <a:latin typeface="Segoe UI"/>
              </a:rPr>
              <a:t>Engro advises, Sarsabz asserts, and nobody in 200 uploads shows a result beside the old way.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A1A1A"/>
                </a:solidFill>
                <a:latin typeface="Segoe UI"/>
              </a:rPr>
              <a:t>Ownable:  </a:t>
            </a:r>
            <a:r>
              <a:rPr sz="1100" b="0" i="0">
                <a:solidFill>
                  <a:srgbClr val="1A1A1A"/>
                </a:solidFill>
                <a:latin typeface="Segoe UI"/>
              </a:rPr>
              <a:t>only the maker of 93% of NP and all of CAN can put those products on the winning side of the comparison.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234440"/>
            <a:ext cx="4114800" cy="53035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37160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ALTERNATIVES CONSIDERED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691640"/>
            <a:ext cx="37033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Recommended - A. Sarsabz proves itself on a field like yours.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Built on all three insights. Needs Fatima to publish plot results - including the ones that fell short.</a:t>
            </a:r>
          </a:p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B. The farmer's trusted adviser.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Engro's territory: 44 advisory uploads, 31 named experts. Sarsabz would arrive second in a space Engro already owns.</a:t>
            </a:r>
          </a:p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C. Saluting the farmer - Sarsabz Pakistan.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Where the brand talks today (30 of 90 uploads) and right for Salam Kissan. But farmers name Sarsabz 15 times in 1,433 comments; a salute does not sell a switch.</a:t>
            </a:r>
          </a:p>
          <a:p>
            <a:pPr algn="l">
              <a:spcAft>
                <a:spcPts val="900"/>
              </a:spcAft>
            </a:pPr>
            <a:r>
              <a:rPr sz="1050" b="1" i="0">
                <a:solidFill>
                  <a:srgbClr val="102A43"/>
                </a:solidFill>
                <a:latin typeface="Segoe UI"/>
              </a:rPr>
              <a:t>Swap test:  </a:t>
            </a:r>
            <a:r>
              <a:rPr sz="1050" b="0" i="0">
                <a:solidFill>
                  <a:srgbClr val="102A43"/>
                </a:solidFill>
                <a:latin typeface="Segoe UI"/>
              </a:rPr>
              <a:t>Engro could film a demo plot. It cannot put NP and CAN on the winning side - it has 6% of NP and no CAN. Lead with that.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THE PRICE OF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it asks of Fatima, and how it lives in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WHAT FATIMA MUST COMMIT TO - BEFORE ANY LINE IS WRITTEN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18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1  Publish the plots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Demo-plot results by crop, district and soil - including those under 10%.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2  Correct Ki Jeet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State winners' yields and inputs; drop 'proved 10%'; verify before saying 'all winners'.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9544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3  One mixing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958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An official NP and CAN compatibility and timing guide, so field staff and creators agree.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14215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32503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4  Name the recipe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34255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Every proof film names the farmer, district, soil, inputs and maunds.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18888"/>
            <a:ext cx="45720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37175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5  Answer in the thread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7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Agronomists staffing the Sarsabz Pakistan App and comment replies.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234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7480"/>
                </a:solidFill>
                <a:latin typeface="Segoe UI"/>
              </a:rPr>
              <a:t>MEDIA PRINCIPLES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1">
                <a:solidFill>
                  <a:srgbClr val="102A43"/>
                </a:solidFill>
                <a:latin typeface="Segoe UI"/>
              </a:rPr>
              <a:t>“The switch is decided in agronomy creators' comment threads, where farmers ask strangers what the maker should be telling them - and suspect the answers are paid.”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23160"/>
            <a:ext cx="5212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Show the field, not the badge.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Every yield claim points to a named plot or farmer.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Short points to long.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The 15-second cut carries the result; the funded long cut carries the recipe.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Be in the creator thread, disclosed.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Farmers suspect paid advice - label every partnership.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Use the reach for proof.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1.2M on TikTok and 396K on YouTube - proof clips, not prizes.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1A1A1A"/>
                </a:solidFill>
                <a:latin typeface="Segoe UI"/>
              </a:rPr>
              <a:t>The dealer is the last field.  </a:t>
            </a:r>
            <a:r>
              <a:rPr sz="1150" b="0" i="0">
                <a:solidFill>
                  <a:srgbClr val="1A1A1A"/>
                </a:solidFill>
                <a:latin typeface="Segoe UI"/>
              </a:rPr>
              <a:t>AgriMart and dealers carry the side-by-side at the point of sale.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91616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If Fatima will not publish plot results, the idea becomes an assertion again. Run Ki Jeet winner stories with corrected claims instead, and state the trade-off.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