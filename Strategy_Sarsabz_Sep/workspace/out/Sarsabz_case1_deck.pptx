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1463040"/>
            <a:ext cx="1463040" cy="5486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57200"/>
          </a:xfrm>
          <a:prstGeom prst="rect">
            <a:avLst/>
          </a:prstGeom>
          <a:noFill/>
        </p:spPr>
        <p:txBody>
          <a:bodyPr wrap="square" lIns="0" rIns="0" tIns="0" bIns="0">
            <a:spAutoFit/>
          </a:bodyPr>
          <a:lstStyle/>
          <a:p>
            <a:pPr algn="l">
              <a:spcAft>
                <a:spcPts val="600"/>
              </a:spcAft>
            </a:pPr>
            <a:r>
              <a:rPr sz="1800" b="0" i="0">
                <a:solidFill>
                  <a:srgbClr val="9FB4C7"/>
                </a:solidFill>
                <a:latin typeface="Segoe UI"/>
              </a:rPr>
              <a:t>Fatima Fertilizer creative pitch  ·  Case 1</a:t>
            </a:r>
          </a:p>
        </p:txBody>
      </p:sp>
      <p:sp>
        <p:nvSpPr>
          <p:cNvPr id="5" name="TextBox 4"/>
          <p:cNvSpPr txBox="1"/>
          <p:nvPr/>
        </p:nvSpPr>
        <p:spPr>
          <a:xfrm>
            <a:off x="822960" y="2194560"/>
            <a:ext cx="10607040" cy="914400"/>
          </a:xfrm>
          <a:prstGeom prst="rect">
            <a:avLst/>
          </a:prstGeom>
          <a:noFill/>
        </p:spPr>
        <p:txBody>
          <a:bodyPr wrap="square" lIns="0" rIns="0" tIns="0" bIns="0">
            <a:spAutoFit/>
          </a:bodyPr>
          <a:lstStyle/>
          <a:p>
            <a:pPr algn="l">
              <a:spcAft>
                <a:spcPts val="600"/>
              </a:spcAft>
            </a:pPr>
            <a:r>
              <a:rPr sz="4800" b="1" i="0">
                <a:solidFill>
                  <a:srgbClr val="FFFFFF"/>
                </a:solidFill>
                <a:latin typeface="Segoe UI"/>
              </a:rPr>
              <a:t>Salam Kissan 2026</a:t>
            </a:r>
          </a:p>
        </p:txBody>
      </p:sp>
      <p:sp>
        <p:nvSpPr>
          <p:cNvPr id="6" name="TextBox 5"/>
          <p:cNvSpPr txBox="1"/>
          <p:nvPr/>
        </p:nvSpPr>
        <p:spPr>
          <a:xfrm>
            <a:off x="822960" y="3154680"/>
            <a:ext cx="10424160" cy="822960"/>
          </a:xfrm>
          <a:prstGeom prst="rect">
            <a:avLst/>
          </a:prstGeom>
          <a:noFill/>
        </p:spPr>
        <p:txBody>
          <a:bodyPr wrap="square" lIns="0" rIns="0" tIns="0" bIns="0">
            <a:spAutoFit/>
          </a:bodyPr>
          <a:lstStyle/>
          <a:p>
            <a:pPr algn="l">
              <a:spcAft>
                <a:spcPts val="600"/>
              </a:spcAft>
            </a:pPr>
            <a:r>
              <a:rPr sz="2600" b="0" i="1">
                <a:solidFill>
                  <a:srgbClr val="FFFFFF"/>
                </a:solidFill>
                <a:latin typeface="Segoe UI"/>
              </a:rPr>
              <a:t>The farmer answers the salute.</a:t>
            </a:r>
          </a:p>
        </p:txBody>
      </p:sp>
      <p:sp>
        <p:nvSpPr>
          <p:cNvPr id="7" name="TextBox 6"/>
          <p:cNvSpPr txBox="1"/>
          <p:nvPr/>
        </p:nvSpPr>
        <p:spPr>
          <a:xfrm>
            <a:off x="822960" y="4206240"/>
            <a:ext cx="10424160" cy="1280160"/>
          </a:xfrm>
          <a:prstGeom prst="rect">
            <a:avLst/>
          </a:prstGeom>
          <a:noFill/>
        </p:spPr>
        <p:txBody>
          <a:bodyPr wrap="square" lIns="0" rIns="0" tIns="0" bIns="0">
            <a:spAutoFit/>
          </a:bodyPr>
          <a:lstStyle/>
          <a:p>
            <a:pPr algn="l">
              <a:spcAft>
                <a:spcPts val="600"/>
              </a:spcAft>
            </a:pPr>
            <a:r>
              <a:rPr sz="1400" b="0" i="0">
                <a:solidFill>
                  <a:srgbClr val="9FB4C7"/>
                </a:solidFill>
                <a:latin typeface="Segoe UI"/>
              </a:rPr>
              <a:t>1  The brief   ·   2  Seven years on YouTube   ·   3  What commenters say</a:t>
            </a:r>
          </a:p>
          <a:p>
            <a:pPr algn="l">
              <a:spcAft>
                <a:spcPts val="600"/>
              </a:spcAft>
            </a:pPr>
            <a:r>
              <a:rPr sz="1400" b="0" i="0">
                <a:solidFill>
                  <a:srgbClr val="9FB4C7"/>
                </a:solidFill>
                <a:latin typeface="Segoe UI"/>
              </a:rPr>
              <a:t>4  Who else marks the day   ·   5  The Big Idea   ·   6  The campaign</a:t>
            </a:r>
          </a:p>
        </p:txBody>
      </p:sp>
      <p:sp>
        <p:nvSpPr>
          <p:cNvPr id="8" name="TextBox 7"/>
          <p:cNvSpPr txBox="1"/>
          <p:nvPr/>
        </p:nvSpPr>
        <p:spPr>
          <a:xfrm>
            <a:off x="822960" y="5943600"/>
            <a:ext cx="10607040" cy="365760"/>
          </a:xfrm>
          <a:prstGeom prst="rect">
            <a:avLst/>
          </a:prstGeom>
          <a:noFill/>
        </p:spPr>
        <p:txBody>
          <a:bodyPr wrap="square" lIns="0" rIns="0" tIns="0" bIns="0">
            <a:spAutoFit/>
          </a:bodyPr>
          <a:lstStyle/>
          <a:p>
            <a:pPr algn="l">
              <a:spcAft>
                <a:spcPts val="600"/>
              </a:spcAft>
            </a:pPr>
            <a:r>
              <a:rPr sz="1100" b="0" i="0">
                <a:solidFill>
                  <a:srgbClr val="9FB4C7"/>
                </a:solidFill>
                <a:latin typeface="Segoe UI"/>
              </a:rPr>
              <a:t>Internal working draft  ·  16 September 2026  ·  verified evidence only; translations labelled; brand insight provisional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64240" cy="274320"/>
          </a:xfrm>
          <a:prstGeom prst="rect">
            <a:avLst/>
          </a:prstGeom>
          <a:noFill/>
        </p:spPr>
        <p:txBody>
          <a:bodyPr wrap="square" lIns="0" rIns="0" tIns="0" bIns="0">
            <a:spAutoFit/>
          </a:bodyPr>
          <a:lstStyle/>
          <a:p>
            <a:pPr algn="l">
              <a:spcAft>
                <a:spcPts val="0"/>
              </a:spcAft>
            </a:pPr>
            <a:r>
              <a:rPr sz="1000" b="1" i="0">
                <a:solidFill>
                  <a:srgbClr val="9FB4C7"/>
                </a:solidFill>
                <a:latin typeface="Segoe UI"/>
              </a:rPr>
              <a:t>1  ·  THE BRIEF  ·  PAGE 12</a:t>
            </a:r>
          </a:p>
        </p:txBody>
      </p:sp>
      <p:sp>
        <p:nvSpPr>
          <p:cNvPr id="4" name="TextBox 3"/>
          <p:cNvSpPr txBox="1"/>
          <p:nvPr/>
        </p:nvSpPr>
        <p:spPr>
          <a:xfrm>
            <a:off x="548640" y="384048"/>
            <a:ext cx="11064240" cy="457200"/>
          </a:xfrm>
          <a:prstGeom prst="rect">
            <a:avLst/>
          </a:prstGeom>
          <a:noFill/>
        </p:spPr>
        <p:txBody>
          <a:bodyPr wrap="square" lIns="0" rIns="0" tIns="0" bIns="0">
            <a:spAutoFit/>
          </a:bodyPr>
          <a:lstStyle/>
          <a:p>
            <a:pPr algn="l">
              <a:spcAft>
                <a:spcPts val="0"/>
              </a:spcAft>
            </a:pPr>
            <a:r>
              <a:rPr sz="2200" b="1" i="0">
                <a:solidFill>
                  <a:srgbClr val="FFFFFF"/>
                </a:solidFill>
                <a:latin typeface="Segoe UI"/>
              </a:rPr>
              <a:t>What Fatima is asking for</a:t>
            </a:r>
          </a:p>
        </p:txBody>
      </p:sp>
      <p:sp>
        <p:nvSpPr>
          <p:cNvPr id="5" name="Rectangle 4"/>
          <p:cNvSpPr/>
          <p:nvPr/>
        </p:nvSpPr>
        <p:spPr>
          <a:xfrm>
            <a:off x="548640" y="5806440"/>
            <a:ext cx="11064240" cy="566928"/>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5897880"/>
            <a:ext cx="10607040" cy="457200"/>
          </a:xfrm>
          <a:prstGeom prst="rect">
            <a:avLst/>
          </a:prstGeom>
          <a:noFill/>
        </p:spPr>
        <p:txBody>
          <a:bodyPr wrap="square" lIns="0" rIns="0" tIns="0" bIns="0">
            <a:spAutoFit/>
          </a:bodyPr>
          <a:lstStyle/>
          <a:p>
            <a:pPr algn="l">
              <a:spcAft>
                <a:spcPts val="0"/>
              </a:spcAft>
            </a:pPr>
            <a:r>
              <a:rPr sz="1200" b="1" i="0">
                <a:solidFill>
                  <a:srgbClr val="FFFFFF"/>
                </a:solidFill>
                <a:latin typeface="Segoe UI"/>
              </a:rPr>
              <a:t>The ask in the client's words: “strengthening our ownership of the cause”, beyond a single day, rural and urban, especially the young.</a:t>
            </a:r>
          </a:p>
        </p:txBody>
      </p:sp>
      <p:sp>
        <p:nvSpPr>
          <p:cNvPr id="7" name="TextBox 6"/>
          <p:cNvSpPr txBox="1"/>
          <p:nvPr/>
        </p:nvSpPr>
        <p:spPr>
          <a:xfrm>
            <a:off x="548640" y="6446520"/>
            <a:ext cx="11064240" cy="320040"/>
          </a:xfrm>
          <a:prstGeom prst="rect">
            <a:avLst/>
          </a:prstGeom>
          <a:noFill/>
        </p:spPr>
        <p:txBody>
          <a:bodyPr wrap="square" lIns="0" rIns="0" tIns="0" bIns="0">
            <a:spAutoFit/>
          </a:bodyPr>
          <a:lstStyle/>
          <a:p>
            <a:pPr algn="l">
              <a:spcAft>
                <a:spcPts val="0"/>
              </a:spcAft>
            </a:pPr>
            <a:r>
              <a:rPr sz="800" b="0" i="0">
                <a:solidFill>
                  <a:srgbClr val="6B7480"/>
                </a:solidFill>
                <a:latin typeface="Segoe UI"/>
              </a:rPr>
              <a:t>Source: Fatima Creative Marketing Brief 2026, p12 (src/sarsabz_pitch/brief.py, page-traced).</a:t>
            </a:r>
          </a:p>
        </p:txBody>
      </p:sp>
      <p:sp>
        <p:nvSpPr>
          <p:cNvPr id="8" name="TextBox 7"/>
          <p:cNvSpPr txBox="1"/>
          <p:nvPr/>
        </p:nvSpPr>
        <p:spPr>
          <a:xfrm>
            <a:off x="548640" y="1188720"/>
            <a:ext cx="5486400" cy="320040"/>
          </a:xfrm>
          <a:prstGeom prst="rect">
            <a:avLst/>
          </a:prstGeom>
          <a:noFill/>
        </p:spPr>
        <p:txBody>
          <a:bodyPr wrap="square" lIns="0" rIns="0" tIns="0" bIns="0">
            <a:spAutoFit/>
          </a:bodyPr>
          <a:lstStyle/>
          <a:p>
            <a:pPr algn="l">
              <a:spcAft>
                <a:spcPts val="0"/>
              </a:spcAft>
            </a:pPr>
            <a:r>
              <a:rPr sz="1100" b="1" i="0">
                <a:solidFill>
                  <a:srgbClr val="C8102E"/>
                </a:solidFill>
                <a:latin typeface="Segoe UI"/>
              </a:rPr>
              <a:t>THE CONCEPT AND 360° CAMPAIGN MUST</a:t>
            </a:r>
          </a:p>
        </p:txBody>
      </p:sp>
      <p:sp>
        <p:nvSpPr>
          <p:cNvPr id="9" name="TextBox 8"/>
          <p:cNvSpPr txBox="1"/>
          <p:nvPr/>
        </p:nvSpPr>
        <p:spPr>
          <a:xfrm>
            <a:off x="548640" y="1600200"/>
            <a:ext cx="5486400" cy="2743200"/>
          </a:xfrm>
          <a:prstGeom prst="rect">
            <a:avLst/>
          </a:prstGeom>
          <a:noFill/>
        </p:spPr>
        <p:txBody>
          <a:bodyPr wrap="square" lIns="0" rIns="0" tIns="0" bIns="0">
            <a:spAutoFit/>
          </a:bodyPr>
          <a:lstStyle/>
          <a:p>
            <a:pPr algn="l">
              <a:spcAft>
                <a:spcPts val="1000"/>
              </a:spcAft>
            </a:pPr>
            <a:r>
              <a:rPr sz="1300" b="0" i="0">
                <a:solidFill>
                  <a:srgbClr val="1A1A1A"/>
                </a:solidFill>
                <a:latin typeface="Segoe UI"/>
              </a:rPr>
              <a:t>1.  Celebrate Pakistan's farmers and their contribution towards the country</a:t>
            </a:r>
          </a:p>
          <a:p>
            <a:pPr algn="l">
              <a:spcAft>
                <a:spcPts val="1000"/>
              </a:spcAft>
            </a:pPr>
            <a:r>
              <a:rPr sz="1300" b="0" i="0">
                <a:solidFill>
                  <a:srgbClr val="1A1A1A"/>
                </a:solidFill>
                <a:latin typeface="Segoe UI"/>
              </a:rPr>
              <a:t>2.  Strengthen Sarsabz's position as the pioneer and champion of the Salam Kissan movement</a:t>
            </a:r>
          </a:p>
          <a:p>
            <a:pPr algn="l">
              <a:spcAft>
                <a:spcPts val="1000"/>
              </a:spcAft>
            </a:pPr>
            <a:r>
              <a:rPr sz="1300" b="0" i="0">
                <a:solidFill>
                  <a:srgbClr val="1A1A1A"/>
                </a:solidFill>
                <a:latin typeface="Segoe UI"/>
              </a:rPr>
              <a:t>3.  Connect with both rural and urban audiences, especially the younger generation</a:t>
            </a:r>
          </a:p>
          <a:p>
            <a:pPr algn="l">
              <a:spcAft>
                <a:spcPts val="1000"/>
              </a:spcAft>
            </a:pPr>
            <a:r>
              <a:rPr sz="1300" b="0" i="0">
                <a:solidFill>
                  <a:srgbClr val="1A1A1A"/>
                </a:solidFill>
                <a:latin typeface="Segoe UI"/>
              </a:rPr>
              <a:t>4.  Create relevance beyond a single day and transform Salam Kissan into a nationwide movement</a:t>
            </a:r>
          </a:p>
        </p:txBody>
      </p:sp>
      <p:sp>
        <p:nvSpPr>
          <p:cNvPr id="10" name="TextBox 9"/>
          <p:cNvSpPr txBox="1"/>
          <p:nvPr/>
        </p:nvSpPr>
        <p:spPr>
          <a:xfrm>
            <a:off x="6400800" y="1188720"/>
            <a:ext cx="5212080" cy="320040"/>
          </a:xfrm>
          <a:prstGeom prst="rect">
            <a:avLst/>
          </a:prstGeom>
          <a:noFill/>
        </p:spPr>
        <p:txBody>
          <a:bodyPr wrap="square" lIns="0" rIns="0" tIns="0" bIns="0">
            <a:spAutoFit/>
          </a:bodyPr>
          <a:lstStyle/>
          <a:p>
            <a:pPr algn="l">
              <a:spcAft>
                <a:spcPts val="0"/>
              </a:spcAft>
            </a:pPr>
            <a:r>
              <a:rPr sz="1100" b="1" i="0">
                <a:solidFill>
                  <a:srgbClr val="C8102E"/>
                </a:solidFill>
                <a:latin typeface="Segoe UI"/>
              </a:rPr>
              <a:t>GOAL: MAKE RURAL AND URBAN AUDIENCES UNDERSTAND</a:t>
            </a:r>
          </a:p>
        </p:txBody>
      </p:sp>
      <p:sp>
        <p:nvSpPr>
          <p:cNvPr id="11" name="TextBox 10"/>
          <p:cNvSpPr txBox="1"/>
          <p:nvPr/>
        </p:nvSpPr>
        <p:spPr>
          <a:xfrm>
            <a:off x="6400800" y="1600200"/>
            <a:ext cx="5212080" cy="2011680"/>
          </a:xfrm>
          <a:prstGeom prst="rect">
            <a:avLst/>
          </a:prstGeom>
          <a:noFill/>
        </p:spPr>
        <p:txBody>
          <a:bodyPr wrap="square" lIns="0" rIns="0" tIns="0" bIns="0">
            <a:spAutoFit/>
          </a:bodyPr>
          <a:lstStyle/>
          <a:p>
            <a:pPr algn="l">
              <a:spcAft>
                <a:spcPts val="1000"/>
              </a:spcAft>
            </a:pPr>
            <a:r>
              <a:rPr sz="1300" b="0" i="0">
                <a:solidFill>
                  <a:srgbClr val="1A1A1A"/>
                </a:solidFill>
                <a:latin typeface="Segoe UI"/>
              </a:rPr>
              <a:t>1.  The importance of farmers in our daily lives</a:t>
            </a:r>
          </a:p>
          <a:p>
            <a:pPr algn="l">
              <a:spcAft>
                <a:spcPts val="1000"/>
              </a:spcAft>
            </a:pPr>
            <a:r>
              <a:rPr sz="1300" b="0" i="0">
                <a:solidFill>
                  <a:srgbClr val="1A1A1A"/>
                </a:solidFill>
                <a:latin typeface="Segoe UI"/>
              </a:rPr>
              <a:t>2.  The contribution of agriculture towards Pakistan's economy</a:t>
            </a:r>
          </a:p>
          <a:p>
            <a:pPr algn="l">
              <a:spcAft>
                <a:spcPts val="1000"/>
              </a:spcAft>
            </a:pPr>
            <a:r>
              <a:rPr sz="1300" b="0" i="0">
                <a:solidFill>
                  <a:srgbClr val="1A1A1A"/>
                </a:solidFill>
                <a:latin typeface="Segoe UI"/>
              </a:rPr>
              <a:t>3.  The role played by Sarsabz in celebrating and empowering the farming community</a:t>
            </a:r>
          </a:p>
        </p:txBody>
      </p:sp>
      <p:sp>
        <p:nvSpPr>
          <p:cNvPr id="12" name="Rectangle 11"/>
          <p:cNvSpPr/>
          <p:nvPr/>
        </p:nvSpPr>
        <p:spPr>
          <a:xfrm>
            <a:off x="6400800" y="3749039"/>
            <a:ext cx="5212080" cy="173736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400800" y="3749039"/>
            <a:ext cx="54864" cy="173736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29400" y="3886200"/>
            <a:ext cx="4846320" cy="320040"/>
          </a:xfrm>
          <a:prstGeom prst="rect">
            <a:avLst/>
          </a:prstGeom>
          <a:noFill/>
        </p:spPr>
        <p:txBody>
          <a:bodyPr wrap="square" lIns="0" rIns="0" tIns="0" bIns="0">
            <a:spAutoFit/>
          </a:bodyPr>
          <a:lstStyle/>
          <a:p>
            <a:pPr algn="l">
              <a:spcAft>
                <a:spcPts val="0"/>
              </a:spcAft>
            </a:pPr>
            <a:r>
              <a:rPr sz="1000" b="1" i="0">
                <a:solidFill>
                  <a:srgbClr val="C8102E"/>
                </a:solidFill>
                <a:latin typeface="Segoe UI"/>
              </a:rPr>
              <a:t>TOUCHPOINTS THE BRIEF NAMES</a:t>
            </a:r>
          </a:p>
        </p:txBody>
      </p:sp>
      <p:sp>
        <p:nvSpPr>
          <p:cNvPr id="15" name="TextBox 14"/>
          <p:cNvSpPr txBox="1"/>
          <p:nvPr/>
        </p:nvSpPr>
        <p:spPr>
          <a:xfrm>
            <a:off x="6629400" y="4251959"/>
            <a:ext cx="4846320" cy="1097280"/>
          </a:xfrm>
          <a:prstGeom prst="rect">
            <a:avLst/>
          </a:prstGeom>
          <a:noFill/>
        </p:spPr>
        <p:txBody>
          <a:bodyPr wrap="square" lIns="0" rIns="0" tIns="0" bIns="0">
            <a:spAutoFit/>
          </a:bodyPr>
          <a:lstStyle/>
          <a:p>
            <a:pPr algn="l">
              <a:spcAft>
                <a:spcPts val="700"/>
              </a:spcAft>
            </a:pPr>
            <a:r>
              <a:rPr sz="1100" b="0" i="0">
                <a:solidFill>
                  <a:srgbClr val="1A1A1A"/>
                </a:solidFill>
                <a:latin typeface="Segoe UI"/>
              </a:rPr>
              <a:t>ATL, BTL, PR, Events, On-Ground Activations</a:t>
            </a:r>
          </a:p>
          <a:p>
            <a:pPr algn="l">
              <a:spcAft>
                <a:spcPts val="700"/>
              </a:spcAft>
            </a:pPr>
            <a:r>
              <a:rPr sz="1100" b="0" i="0">
                <a:solidFill>
                  <a:srgbClr val="1A1A1A"/>
                </a:solidFill>
                <a:latin typeface="Segoe UI"/>
              </a:rPr>
              <a:t>Background: Salam Kissan began in 2019; celebrated on 18 December with a 360° campaign (p12).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64240" cy="274320"/>
          </a:xfrm>
          <a:prstGeom prst="rect">
            <a:avLst/>
          </a:prstGeom>
          <a:noFill/>
        </p:spPr>
        <p:txBody>
          <a:bodyPr wrap="square" lIns="0" rIns="0" tIns="0" bIns="0">
            <a:spAutoFit/>
          </a:bodyPr>
          <a:lstStyle/>
          <a:p>
            <a:pPr algn="l">
              <a:spcAft>
                <a:spcPts val="0"/>
              </a:spcAft>
            </a:pPr>
            <a:r>
              <a:rPr sz="1000" b="1" i="0">
                <a:solidFill>
                  <a:srgbClr val="9FB4C7"/>
                </a:solidFill>
                <a:latin typeface="Segoe UI"/>
              </a:rPr>
              <a:t>2  ·  SEVEN YEARS ON YOUTUBE</a:t>
            </a:r>
          </a:p>
        </p:txBody>
      </p:sp>
      <p:sp>
        <p:nvSpPr>
          <p:cNvPr id="4" name="TextBox 3"/>
          <p:cNvSpPr txBox="1"/>
          <p:nvPr/>
        </p:nvSpPr>
        <p:spPr>
          <a:xfrm>
            <a:off x="548640" y="384048"/>
            <a:ext cx="11064240" cy="457200"/>
          </a:xfrm>
          <a:prstGeom prst="rect">
            <a:avLst/>
          </a:prstGeom>
          <a:noFill/>
        </p:spPr>
        <p:txBody>
          <a:bodyPr wrap="square" lIns="0" rIns="0" tIns="0" bIns="0">
            <a:spAutoFit/>
          </a:bodyPr>
          <a:lstStyle/>
          <a:p>
            <a:pPr algn="l">
              <a:spcAft>
                <a:spcPts val="0"/>
              </a:spcAft>
            </a:pPr>
            <a:r>
              <a:rPr sz="2200" b="1" i="0">
                <a:solidFill>
                  <a:srgbClr val="FFFFFF"/>
                </a:solidFill>
                <a:latin typeface="Segoe UI"/>
              </a:rPr>
              <a:t>Salam Kissan lives on one day, and the farmer rarely speaks</a:t>
            </a:r>
          </a:p>
        </p:txBody>
      </p:sp>
      <p:sp>
        <p:nvSpPr>
          <p:cNvPr id="5" name="Rectangle 4"/>
          <p:cNvSpPr/>
          <p:nvPr/>
        </p:nvSpPr>
        <p:spPr>
          <a:xfrm>
            <a:off x="548640" y="5806440"/>
            <a:ext cx="11064240" cy="566928"/>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5897880"/>
            <a:ext cx="10607040" cy="457200"/>
          </a:xfrm>
          <a:prstGeom prst="rect">
            <a:avLst/>
          </a:prstGeom>
          <a:noFill/>
        </p:spPr>
        <p:txBody>
          <a:bodyPr wrap="square" lIns="0" rIns="0" tIns="0" bIns="0">
            <a:spAutoFit/>
          </a:bodyPr>
          <a:lstStyle/>
          <a:p>
            <a:pPr algn="l">
              <a:spcAft>
                <a:spcPts val="0"/>
              </a:spcAft>
            </a:pPr>
            <a:r>
              <a:rPr sz="1200" b="1" i="0">
                <a:solidFill>
                  <a:srgbClr val="FFFFFF"/>
                </a:solidFill>
                <a:latin typeface="Segoe UI"/>
              </a:rPr>
              <a:t>60 of 76 uploads (79%) sit between 1 Dec and 15 Jan. A farmer speaks in 9; celebrities and politicians in 30.</a:t>
            </a:r>
          </a:p>
        </p:txBody>
      </p:sp>
      <p:sp>
        <p:nvSpPr>
          <p:cNvPr id="7" name="TextBox 6"/>
          <p:cNvSpPr txBox="1"/>
          <p:nvPr/>
        </p:nvSpPr>
        <p:spPr>
          <a:xfrm>
            <a:off x="548640" y="6446520"/>
            <a:ext cx="11064240" cy="320040"/>
          </a:xfrm>
          <a:prstGeom prst="rect">
            <a:avLst/>
          </a:prstGeom>
          <a:noFill/>
        </p:spPr>
        <p:txBody>
          <a:bodyPr wrap="square" lIns="0" rIns="0" tIns="0" bIns="0">
            <a:spAutoFit/>
          </a:bodyPr>
          <a:lstStyle/>
          <a:p>
            <a:pPr algn="l">
              <a:spcAft>
                <a:spcPts val="0"/>
              </a:spcAft>
            </a:pPr>
            <a:r>
              <a:rPr sz="800" b="0" i="0">
                <a:solidFill>
                  <a:srgbClr val="6B7480"/>
                </a:solidFill>
                <a:latin typeface="Segoe UI"/>
              </a:rPr>
              <a:t>Source: all 76 Salam Kissan / Kissan Day uploads on @Sarsabz, 2019-2025, coded from thumbnails, titles and descriptions, not watched end to end (archive/). Views on a brand channel are mostly paid weight.</a:t>
            </a:r>
          </a:p>
        </p:txBody>
      </p:sp>
      <p:sp>
        <p:nvSpPr>
          <p:cNvPr id="8" name="Rectangle 7"/>
          <p:cNvSpPr/>
          <p:nvPr/>
        </p:nvSpPr>
        <p:spPr>
          <a:xfrm>
            <a:off x="548640" y="1188720"/>
            <a:ext cx="7132320" cy="475488"/>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252728"/>
            <a:ext cx="640080" cy="384048"/>
          </a:xfrm>
          <a:prstGeom prst="rect">
            <a:avLst/>
          </a:prstGeom>
          <a:noFill/>
        </p:spPr>
        <p:txBody>
          <a:bodyPr wrap="square" lIns="0" rIns="0" tIns="0" bIns="0">
            <a:spAutoFit/>
          </a:bodyPr>
          <a:lstStyle/>
          <a:p>
            <a:pPr algn="l">
              <a:spcAft>
                <a:spcPts val="0"/>
              </a:spcAft>
            </a:pPr>
            <a:r>
              <a:rPr sz="1050" b="1" i="0">
                <a:solidFill>
                  <a:srgbClr val="FFFFFF"/>
                </a:solidFill>
                <a:latin typeface="Segoe UI"/>
              </a:rPr>
              <a:t>Year</a:t>
            </a:r>
          </a:p>
        </p:txBody>
      </p:sp>
      <p:sp>
        <p:nvSpPr>
          <p:cNvPr id="10" name="TextBox 9"/>
          <p:cNvSpPr txBox="1"/>
          <p:nvPr/>
        </p:nvSpPr>
        <p:spPr>
          <a:xfrm>
            <a:off x="1463040" y="1252728"/>
            <a:ext cx="731520" cy="384048"/>
          </a:xfrm>
          <a:prstGeom prst="rect">
            <a:avLst/>
          </a:prstGeom>
          <a:noFill/>
        </p:spPr>
        <p:txBody>
          <a:bodyPr wrap="square" lIns="0" rIns="0" tIns="0" bIns="0">
            <a:spAutoFit/>
          </a:bodyPr>
          <a:lstStyle/>
          <a:p>
            <a:pPr algn="l">
              <a:spcAft>
                <a:spcPts val="0"/>
              </a:spcAft>
            </a:pPr>
            <a:r>
              <a:rPr sz="1050" b="1" i="0">
                <a:solidFill>
                  <a:srgbClr val="FFFFFF"/>
                </a:solidFill>
                <a:latin typeface="Segoe UI"/>
              </a:rPr>
              <a:t>Uploads</a:t>
            </a:r>
          </a:p>
        </p:txBody>
      </p:sp>
      <p:sp>
        <p:nvSpPr>
          <p:cNvPr id="11" name="TextBox 10"/>
          <p:cNvSpPr txBox="1"/>
          <p:nvPr/>
        </p:nvSpPr>
        <p:spPr>
          <a:xfrm>
            <a:off x="2377440" y="1252728"/>
            <a:ext cx="731520" cy="384048"/>
          </a:xfrm>
          <a:prstGeom prst="rect">
            <a:avLst/>
          </a:prstGeom>
          <a:noFill/>
        </p:spPr>
        <p:txBody>
          <a:bodyPr wrap="square" lIns="0" rIns="0" tIns="0" bIns="0">
            <a:spAutoFit/>
          </a:bodyPr>
          <a:lstStyle/>
          <a:p>
            <a:pPr algn="l">
              <a:spcAft>
                <a:spcPts val="0"/>
              </a:spcAft>
            </a:pPr>
            <a:r>
              <a:rPr sz="1050" b="1" i="0">
                <a:solidFill>
                  <a:srgbClr val="FFFFFF"/>
                </a:solidFill>
                <a:latin typeface="Segoe UI"/>
              </a:rPr>
              <a:t>Views</a:t>
            </a:r>
          </a:p>
        </p:txBody>
      </p:sp>
      <p:sp>
        <p:nvSpPr>
          <p:cNvPr id="12" name="TextBox 11"/>
          <p:cNvSpPr txBox="1"/>
          <p:nvPr/>
        </p:nvSpPr>
        <p:spPr>
          <a:xfrm>
            <a:off x="3291840" y="1252728"/>
            <a:ext cx="4297680" cy="384048"/>
          </a:xfrm>
          <a:prstGeom prst="rect">
            <a:avLst/>
          </a:prstGeom>
          <a:noFill/>
        </p:spPr>
        <p:txBody>
          <a:bodyPr wrap="square" lIns="0" rIns="0" tIns="0" bIns="0">
            <a:spAutoFit/>
          </a:bodyPr>
          <a:lstStyle/>
          <a:p>
            <a:pPr algn="l">
              <a:spcAft>
                <a:spcPts val="0"/>
              </a:spcAft>
            </a:pPr>
            <a:r>
              <a:rPr sz="1050" b="1" i="0">
                <a:solidFill>
                  <a:srgbClr val="FFFFFF"/>
                </a:solidFill>
                <a:latin typeface="Segoe UI"/>
              </a:rPr>
              <a:t>Biggest upload</a:t>
            </a:r>
          </a:p>
        </p:txBody>
      </p:sp>
      <p:sp>
        <p:nvSpPr>
          <p:cNvPr id="13" name="TextBox 12"/>
          <p:cNvSpPr txBox="1"/>
          <p:nvPr/>
        </p:nvSpPr>
        <p:spPr>
          <a:xfrm>
            <a:off x="640080" y="1728216"/>
            <a:ext cx="640080" cy="384048"/>
          </a:xfrm>
          <a:prstGeom prst="rect">
            <a:avLst/>
          </a:prstGeom>
          <a:noFill/>
        </p:spPr>
        <p:txBody>
          <a:bodyPr wrap="square" lIns="0" rIns="0" tIns="0" bIns="0">
            <a:spAutoFit/>
          </a:bodyPr>
          <a:lstStyle/>
          <a:p>
            <a:pPr algn="l">
              <a:spcAft>
                <a:spcPts val="0"/>
              </a:spcAft>
            </a:pPr>
            <a:r>
              <a:rPr sz="1050" b="0" i="0">
                <a:solidFill>
                  <a:srgbClr val="1A1A1A"/>
                </a:solidFill>
                <a:latin typeface="Segoe UI"/>
              </a:rPr>
              <a:t>2019</a:t>
            </a:r>
          </a:p>
        </p:txBody>
      </p:sp>
      <p:sp>
        <p:nvSpPr>
          <p:cNvPr id="14" name="TextBox 13"/>
          <p:cNvSpPr txBox="1"/>
          <p:nvPr/>
        </p:nvSpPr>
        <p:spPr>
          <a:xfrm>
            <a:off x="1463040" y="1728216"/>
            <a:ext cx="731520" cy="384048"/>
          </a:xfrm>
          <a:prstGeom prst="rect">
            <a:avLst/>
          </a:prstGeom>
          <a:noFill/>
        </p:spPr>
        <p:txBody>
          <a:bodyPr wrap="square" lIns="0" rIns="0" tIns="0" bIns="0">
            <a:spAutoFit/>
          </a:bodyPr>
          <a:lstStyle/>
          <a:p>
            <a:pPr algn="l">
              <a:spcAft>
                <a:spcPts val="0"/>
              </a:spcAft>
            </a:pPr>
            <a:r>
              <a:rPr sz="1050" b="0" i="0">
                <a:solidFill>
                  <a:srgbClr val="1A1A1A"/>
                </a:solidFill>
                <a:latin typeface="Segoe UI"/>
              </a:rPr>
              <a:t>19</a:t>
            </a:r>
          </a:p>
        </p:txBody>
      </p:sp>
      <p:sp>
        <p:nvSpPr>
          <p:cNvPr id="15" name="TextBox 14"/>
          <p:cNvSpPr txBox="1"/>
          <p:nvPr/>
        </p:nvSpPr>
        <p:spPr>
          <a:xfrm>
            <a:off x="2377440" y="1728216"/>
            <a:ext cx="731520" cy="384048"/>
          </a:xfrm>
          <a:prstGeom prst="rect">
            <a:avLst/>
          </a:prstGeom>
          <a:noFill/>
        </p:spPr>
        <p:txBody>
          <a:bodyPr wrap="square" lIns="0" rIns="0" tIns="0" bIns="0">
            <a:spAutoFit/>
          </a:bodyPr>
          <a:lstStyle/>
          <a:p>
            <a:pPr algn="l">
              <a:spcAft>
                <a:spcPts val="0"/>
              </a:spcAft>
            </a:pPr>
            <a:r>
              <a:rPr sz="1050" b="0" i="0">
                <a:solidFill>
                  <a:srgbClr val="1A1A1A"/>
                </a:solidFill>
                <a:latin typeface="Segoe UI"/>
              </a:rPr>
              <a:t>2.2M</a:t>
            </a:r>
          </a:p>
        </p:txBody>
      </p:sp>
      <p:sp>
        <p:nvSpPr>
          <p:cNvPr id="16" name="TextBox 15"/>
          <p:cNvSpPr txBox="1"/>
          <p:nvPr/>
        </p:nvSpPr>
        <p:spPr>
          <a:xfrm>
            <a:off x="3291840" y="1728216"/>
            <a:ext cx="4297680" cy="384048"/>
          </a:xfrm>
          <a:prstGeom prst="rect">
            <a:avLst/>
          </a:prstGeom>
          <a:noFill/>
        </p:spPr>
        <p:txBody>
          <a:bodyPr wrap="square" lIns="0" rIns="0" tIns="0" bIns="0">
            <a:spAutoFit/>
          </a:bodyPr>
          <a:lstStyle/>
          <a:p>
            <a:pPr algn="l">
              <a:spcAft>
                <a:spcPts val="0"/>
              </a:spcAft>
            </a:pPr>
            <a:r>
              <a:rPr sz="1050" b="0" i="0">
                <a:solidFill>
                  <a:srgbClr val="1A1A1A"/>
                </a:solidFill>
                <a:latin typeface="Segoe UI"/>
              </a:rPr>
              <a:t>Salam Kissan | A Tribute to Farmers of the World by  (2.1M)</a:t>
            </a:r>
          </a:p>
        </p:txBody>
      </p:sp>
      <p:sp>
        <p:nvSpPr>
          <p:cNvPr id="17" name="Rectangle 16"/>
          <p:cNvSpPr/>
          <p:nvPr/>
        </p:nvSpPr>
        <p:spPr>
          <a:xfrm>
            <a:off x="548640" y="2139696"/>
            <a:ext cx="7132320" cy="475488"/>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2203703"/>
            <a:ext cx="640080" cy="384048"/>
          </a:xfrm>
          <a:prstGeom prst="rect">
            <a:avLst/>
          </a:prstGeom>
          <a:noFill/>
        </p:spPr>
        <p:txBody>
          <a:bodyPr wrap="square" lIns="0" rIns="0" tIns="0" bIns="0">
            <a:spAutoFit/>
          </a:bodyPr>
          <a:lstStyle/>
          <a:p>
            <a:pPr algn="l">
              <a:spcAft>
                <a:spcPts val="0"/>
              </a:spcAft>
            </a:pPr>
            <a:r>
              <a:rPr sz="1050" b="0" i="0">
                <a:solidFill>
                  <a:srgbClr val="1A1A1A"/>
                </a:solidFill>
                <a:latin typeface="Segoe UI"/>
              </a:rPr>
              <a:t>2020</a:t>
            </a:r>
          </a:p>
        </p:txBody>
      </p:sp>
      <p:sp>
        <p:nvSpPr>
          <p:cNvPr id="19" name="TextBox 18"/>
          <p:cNvSpPr txBox="1"/>
          <p:nvPr/>
        </p:nvSpPr>
        <p:spPr>
          <a:xfrm>
            <a:off x="1463040" y="2203703"/>
            <a:ext cx="731520" cy="384048"/>
          </a:xfrm>
          <a:prstGeom prst="rect">
            <a:avLst/>
          </a:prstGeom>
          <a:noFill/>
        </p:spPr>
        <p:txBody>
          <a:bodyPr wrap="square" lIns="0" rIns="0" tIns="0" bIns="0">
            <a:spAutoFit/>
          </a:bodyPr>
          <a:lstStyle/>
          <a:p>
            <a:pPr algn="l">
              <a:spcAft>
                <a:spcPts val="0"/>
              </a:spcAft>
            </a:pPr>
            <a:r>
              <a:rPr sz="1050" b="0" i="0">
                <a:solidFill>
                  <a:srgbClr val="1A1A1A"/>
                </a:solidFill>
                <a:latin typeface="Segoe UI"/>
              </a:rPr>
              <a:t>26</a:t>
            </a:r>
          </a:p>
        </p:txBody>
      </p:sp>
      <p:sp>
        <p:nvSpPr>
          <p:cNvPr id="20" name="TextBox 19"/>
          <p:cNvSpPr txBox="1"/>
          <p:nvPr/>
        </p:nvSpPr>
        <p:spPr>
          <a:xfrm>
            <a:off x="2377440" y="2203703"/>
            <a:ext cx="731520" cy="384048"/>
          </a:xfrm>
          <a:prstGeom prst="rect">
            <a:avLst/>
          </a:prstGeom>
          <a:noFill/>
        </p:spPr>
        <p:txBody>
          <a:bodyPr wrap="square" lIns="0" rIns="0" tIns="0" bIns="0">
            <a:spAutoFit/>
          </a:bodyPr>
          <a:lstStyle/>
          <a:p>
            <a:pPr algn="l">
              <a:spcAft>
                <a:spcPts val="0"/>
              </a:spcAft>
            </a:pPr>
            <a:r>
              <a:rPr sz="1050" b="0" i="0">
                <a:solidFill>
                  <a:srgbClr val="1A1A1A"/>
                </a:solidFill>
                <a:latin typeface="Segoe UI"/>
              </a:rPr>
              <a:t>2.5M</a:t>
            </a:r>
          </a:p>
        </p:txBody>
      </p:sp>
      <p:sp>
        <p:nvSpPr>
          <p:cNvPr id="21" name="TextBox 20"/>
          <p:cNvSpPr txBox="1"/>
          <p:nvPr/>
        </p:nvSpPr>
        <p:spPr>
          <a:xfrm>
            <a:off x="3291840" y="2203703"/>
            <a:ext cx="4297680" cy="384048"/>
          </a:xfrm>
          <a:prstGeom prst="rect">
            <a:avLst/>
          </a:prstGeom>
          <a:noFill/>
        </p:spPr>
        <p:txBody>
          <a:bodyPr wrap="square" lIns="0" rIns="0" tIns="0" bIns="0">
            <a:spAutoFit/>
          </a:bodyPr>
          <a:lstStyle/>
          <a:p>
            <a:pPr algn="l">
              <a:spcAft>
                <a:spcPts val="0"/>
              </a:spcAft>
            </a:pPr>
            <a:r>
              <a:rPr sz="1050" b="0" i="0">
                <a:solidFill>
                  <a:srgbClr val="1A1A1A"/>
                </a:solidFill>
                <a:latin typeface="Segoe UI"/>
              </a:rPr>
              <a:t>Time to Appreciate the Unsung Heroes, Kissan! | Sala (479K)</a:t>
            </a:r>
          </a:p>
        </p:txBody>
      </p:sp>
      <p:sp>
        <p:nvSpPr>
          <p:cNvPr id="22" name="TextBox 21"/>
          <p:cNvSpPr txBox="1"/>
          <p:nvPr/>
        </p:nvSpPr>
        <p:spPr>
          <a:xfrm>
            <a:off x="640080" y="2679191"/>
            <a:ext cx="640080" cy="384048"/>
          </a:xfrm>
          <a:prstGeom prst="rect">
            <a:avLst/>
          </a:prstGeom>
          <a:noFill/>
        </p:spPr>
        <p:txBody>
          <a:bodyPr wrap="square" lIns="0" rIns="0" tIns="0" bIns="0">
            <a:spAutoFit/>
          </a:bodyPr>
          <a:lstStyle/>
          <a:p>
            <a:pPr algn="l">
              <a:spcAft>
                <a:spcPts val="0"/>
              </a:spcAft>
            </a:pPr>
            <a:r>
              <a:rPr sz="1050" b="0" i="0">
                <a:solidFill>
                  <a:srgbClr val="1A1A1A"/>
                </a:solidFill>
                <a:latin typeface="Segoe UI"/>
              </a:rPr>
              <a:t>2021</a:t>
            </a:r>
          </a:p>
        </p:txBody>
      </p:sp>
      <p:sp>
        <p:nvSpPr>
          <p:cNvPr id="23" name="TextBox 22"/>
          <p:cNvSpPr txBox="1"/>
          <p:nvPr/>
        </p:nvSpPr>
        <p:spPr>
          <a:xfrm>
            <a:off x="1463040" y="2679191"/>
            <a:ext cx="731520" cy="384048"/>
          </a:xfrm>
          <a:prstGeom prst="rect">
            <a:avLst/>
          </a:prstGeom>
          <a:noFill/>
        </p:spPr>
        <p:txBody>
          <a:bodyPr wrap="square" lIns="0" rIns="0" tIns="0" bIns="0">
            <a:spAutoFit/>
          </a:bodyPr>
          <a:lstStyle/>
          <a:p>
            <a:pPr algn="l">
              <a:spcAft>
                <a:spcPts val="0"/>
              </a:spcAft>
            </a:pPr>
            <a:r>
              <a:rPr sz="1050" b="0" i="0">
                <a:solidFill>
                  <a:srgbClr val="1A1A1A"/>
                </a:solidFill>
                <a:latin typeface="Segoe UI"/>
              </a:rPr>
              <a:t>6</a:t>
            </a:r>
          </a:p>
        </p:txBody>
      </p:sp>
      <p:sp>
        <p:nvSpPr>
          <p:cNvPr id="24" name="TextBox 23"/>
          <p:cNvSpPr txBox="1"/>
          <p:nvPr/>
        </p:nvSpPr>
        <p:spPr>
          <a:xfrm>
            <a:off x="2377440" y="2679191"/>
            <a:ext cx="731520" cy="384048"/>
          </a:xfrm>
          <a:prstGeom prst="rect">
            <a:avLst/>
          </a:prstGeom>
          <a:noFill/>
        </p:spPr>
        <p:txBody>
          <a:bodyPr wrap="square" lIns="0" rIns="0" tIns="0" bIns="0">
            <a:spAutoFit/>
          </a:bodyPr>
          <a:lstStyle/>
          <a:p>
            <a:pPr algn="l">
              <a:spcAft>
                <a:spcPts val="0"/>
              </a:spcAft>
            </a:pPr>
            <a:r>
              <a:rPr sz="1050" b="0" i="0">
                <a:solidFill>
                  <a:srgbClr val="1A1A1A"/>
                </a:solidFill>
                <a:latin typeface="Segoe UI"/>
              </a:rPr>
              <a:t>14.2M</a:t>
            </a:r>
          </a:p>
        </p:txBody>
      </p:sp>
      <p:sp>
        <p:nvSpPr>
          <p:cNvPr id="25" name="TextBox 24"/>
          <p:cNvSpPr txBox="1"/>
          <p:nvPr/>
        </p:nvSpPr>
        <p:spPr>
          <a:xfrm>
            <a:off x="3291840" y="2679191"/>
            <a:ext cx="4297680" cy="384048"/>
          </a:xfrm>
          <a:prstGeom prst="rect">
            <a:avLst/>
          </a:prstGeom>
          <a:noFill/>
        </p:spPr>
        <p:txBody>
          <a:bodyPr wrap="square" lIns="0" rIns="0" tIns="0" bIns="0">
            <a:spAutoFit/>
          </a:bodyPr>
          <a:lstStyle/>
          <a:p>
            <a:pPr algn="l">
              <a:spcAft>
                <a:spcPts val="0"/>
              </a:spcAft>
            </a:pPr>
            <a:r>
              <a:rPr sz="1050" b="0" i="0">
                <a:solidFill>
                  <a:srgbClr val="1A1A1A"/>
                </a:solidFill>
                <a:latin typeface="Segoe UI"/>
              </a:rPr>
              <a:t>Salam Kissan 2021 | Kissan Day | A Tribute to Farmer (13.1M)</a:t>
            </a:r>
          </a:p>
        </p:txBody>
      </p:sp>
      <p:sp>
        <p:nvSpPr>
          <p:cNvPr id="26" name="Rectangle 25"/>
          <p:cNvSpPr/>
          <p:nvPr/>
        </p:nvSpPr>
        <p:spPr>
          <a:xfrm>
            <a:off x="548640" y="3090672"/>
            <a:ext cx="7132320" cy="475488"/>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080" y="3154679"/>
            <a:ext cx="640080" cy="384048"/>
          </a:xfrm>
          <a:prstGeom prst="rect">
            <a:avLst/>
          </a:prstGeom>
          <a:noFill/>
        </p:spPr>
        <p:txBody>
          <a:bodyPr wrap="square" lIns="0" rIns="0" tIns="0" bIns="0">
            <a:spAutoFit/>
          </a:bodyPr>
          <a:lstStyle/>
          <a:p>
            <a:pPr algn="l">
              <a:spcAft>
                <a:spcPts val="0"/>
              </a:spcAft>
            </a:pPr>
            <a:r>
              <a:rPr sz="1050" b="0" i="0">
                <a:solidFill>
                  <a:srgbClr val="1A1A1A"/>
                </a:solidFill>
                <a:latin typeface="Segoe UI"/>
              </a:rPr>
              <a:t>2022</a:t>
            </a:r>
          </a:p>
        </p:txBody>
      </p:sp>
      <p:sp>
        <p:nvSpPr>
          <p:cNvPr id="28" name="TextBox 27"/>
          <p:cNvSpPr txBox="1"/>
          <p:nvPr/>
        </p:nvSpPr>
        <p:spPr>
          <a:xfrm>
            <a:off x="1463040" y="3154679"/>
            <a:ext cx="731520" cy="384048"/>
          </a:xfrm>
          <a:prstGeom prst="rect">
            <a:avLst/>
          </a:prstGeom>
          <a:noFill/>
        </p:spPr>
        <p:txBody>
          <a:bodyPr wrap="square" lIns="0" rIns="0" tIns="0" bIns="0">
            <a:spAutoFit/>
          </a:bodyPr>
          <a:lstStyle/>
          <a:p>
            <a:pPr algn="l">
              <a:spcAft>
                <a:spcPts val="0"/>
              </a:spcAft>
            </a:pPr>
            <a:r>
              <a:rPr sz="1050" b="0" i="0">
                <a:solidFill>
                  <a:srgbClr val="1A1A1A"/>
                </a:solidFill>
                <a:latin typeface="Segoe UI"/>
              </a:rPr>
              <a:t>4</a:t>
            </a:r>
          </a:p>
        </p:txBody>
      </p:sp>
      <p:sp>
        <p:nvSpPr>
          <p:cNvPr id="29" name="TextBox 28"/>
          <p:cNvSpPr txBox="1"/>
          <p:nvPr/>
        </p:nvSpPr>
        <p:spPr>
          <a:xfrm>
            <a:off x="2377440" y="3154679"/>
            <a:ext cx="731520" cy="384048"/>
          </a:xfrm>
          <a:prstGeom prst="rect">
            <a:avLst/>
          </a:prstGeom>
          <a:noFill/>
        </p:spPr>
        <p:txBody>
          <a:bodyPr wrap="square" lIns="0" rIns="0" tIns="0" bIns="0">
            <a:spAutoFit/>
          </a:bodyPr>
          <a:lstStyle/>
          <a:p>
            <a:pPr algn="l">
              <a:spcAft>
                <a:spcPts val="0"/>
              </a:spcAft>
            </a:pPr>
            <a:r>
              <a:rPr sz="1050" b="0" i="0">
                <a:solidFill>
                  <a:srgbClr val="1A1A1A"/>
                </a:solidFill>
                <a:latin typeface="Segoe UI"/>
              </a:rPr>
              <a:t>6.5M</a:t>
            </a:r>
          </a:p>
        </p:txBody>
      </p:sp>
      <p:sp>
        <p:nvSpPr>
          <p:cNvPr id="30" name="TextBox 29"/>
          <p:cNvSpPr txBox="1"/>
          <p:nvPr/>
        </p:nvSpPr>
        <p:spPr>
          <a:xfrm>
            <a:off x="3291840" y="3154679"/>
            <a:ext cx="4297680" cy="384048"/>
          </a:xfrm>
          <a:prstGeom prst="rect">
            <a:avLst/>
          </a:prstGeom>
          <a:noFill/>
        </p:spPr>
        <p:txBody>
          <a:bodyPr wrap="square" lIns="0" rIns="0" tIns="0" bIns="0">
            <a:spAutoFit/>
          </a:bodyPr>
          <a:lstStyle/>
          <a:p>
            <a:pPr algn="l">
              <a:spcAft>
                <a:spcPts val="0"/>
              </a:spcAft>
            </a:pPr>
            <a:r>
              <a:rPr sz="1050" b="0" i="0">
                <a:solidFill>
                  <a:srgbClr val="1A1A1A"/>
                </a:solidFill>
                <a:latin typeface="Segoe UI"/>
              </a:rPr>
              <a:t>Salam Kissan 2022 | Kissan Day 18th Dec | A Tribute  (6.5M)</a:t>
            </a:r>
          </a:p>
        </p:txBody>
      </p:sp>
      <p:sp>
        <p:nvSpPr>
          <p:cNvPr id="31" name="TextBox 30"/>
          <p:cNvSpPr txBox="1"/>
          <p:nvPr/>
        </p:nvSpPr>
        <p:spPr>
          <a:xfrm>
            <a:off x="640080" y="3630168"/>
            <a:ext cx="640080" cy="384048"/>
          </a:xfrm>
          <a:prstGeom prst="rect">
            <a:avLst/>
          </a:prstGeom>
          <a:noFill/>
        </p:spPr>
        <p:txBody>
          <a:bodyPr wrap="square" lIns="0" rIns="0" tIns="0" bIns="0">
            <a:spAutoFit/>
          </a:bodyPr>
          <a:lstStyle/>
          <a:p>
            <a:pPr algn="l">
              <a:spcAft>
                <a:spcPts val="0"/>
              </a:spcAft>
            </a:pPr>
            <a:r>
              <a:rPr sz="1050" b="0" i="0">
                <a:solidFill>
                  <a:srgbClr val="1A1A1A"/>
                </a:solidFill>
                <a:latin typeface="Segoe UI"/>
              </a:rPr>
              <a:t>2023</a:t>
            </a:r>
          </a:p>
        </p:txBody>
      </p:sp>
      <p:sp>
        <p:nvSpPr>
          <p:cNvPr id="32" name="TextBox 31"/>
          <p:cNvSpPr txBox="1"/>
          <p:nvPr/>
        </p:nvSpPr>
        <p:spPr>
          <a:xfrm>
            <a:off x="1463040" y="3630168"/>
            <a:ext cx="731520" cy="384048"/>
          </a:xfrm>
          <a:prstGeom prst="rect">
            <a:avLst/>
          </a:prstGeom>
          <a:noFill/>
        </p:spPr>
        <p:txBody>
          <a:bodyPr wrap="square" lIns="0" rIns="0" tIns="0" bIns="0">
            <a:spAutoFit/>
          </a:bodyPr>
          <a:lstStyle/>
          <a:p>
            <a:pPr algn="l">
              <a:spcAft>
                <a:spcPts val="0"/>
              </a:spcAft>
            </a:pPr>
            <a:r>
              <a:rPr sz="1050" b="0" i="0">
                <a:solidFill>
                  <a:srgbClr val="1A1A1A"/>
                </a:solidFill>
                <a:latin typeface="Segoe UI"/>
              </a:rPr>
              <a:t>7</a:t>
            </a:r>
          </a:p>
        </p:txBody>
      </p:sp>
      <p:sp>
        <p:nvSpPr>
          <p:cNvPr id="33" name="TextBox 32"/>
          <p:cNvSpPr txBox="1"/>
          <p:nvPr/>
        </p:nvSpPr>
        <p:spPr>
          <a:xfrm>
            <a:off x="2377440" y="3630168"/>
            <a:ext cx="731520" cy="384048"/>
          </a:xfrm>
          <a:prstGeom prst="rect">
            <a:avLst/>
          </a:prstGeom>
          <a:noFill/>
        </p:spPr>
        <p:txBody>
          <a:bodyPr wrap="square" lIns="0" rIns="0" tIns="0" bIns="0">
            <a:spAutoFit/>
          </a:bodyPr>
          <a:lstStyle/>
          <a:p>
            <a:pPr algn="l">
              <a:spcAft>
                <a:spcPts val="0"/>
              </a:spcAft>
            </a:pPr>
            <a:r>
              <a:rPr sz="1050" b="0" i="0">
                <a:solidFill>
                  <a:srgbClr val="1A1A1A"/>
                </a:solidFill>
                <a:latin typeface="Segoe UI"/>
              </a:rPr>
              <a:t>23.6M</a:t>
            </a:r>
          </a:p>
        </p:txBody>
      </p:sp>
      <p:sp>
        <p:nvSpPr>
          <p:cNvPr id="34" name="TextBox 33"/>
          <p:cNvSpPr txBox="1"/>
          <p:nvPr/>
        </p:nvSpPr>
        <p:spPr>
          <a:xfrm>
            <a:off x="3291840" y="3630168"/>
            <a:ext cx="4297680" cy="384048"/>
          </a:xfrm>
          <a:prstGeom prst="rect">
            <a:avLst/>
          </a:prstGeom>
          <a:noFill/>
        </p:spPr>
        <p:txBody>
          <a:bodyPr wrap="square" lIns="0" rIns="0" tIns="0" bIns="0">
            <a:spAutoFit/>
          </a:bodyPr>
          <a:lstStyle/>
          <a:p>
            <a:pPr algn="l">
              <a:spcAft>
                <a:spcPts val="0"/>
              </a:spcAft>
            </a:pPr>
            <a:r>
              <a:rPr sz="1050" b="0" i="0">
                <a:solidFill>
                  <a:srgbClr val="1A1A1A"/>
                </a:solidFill>
                <a:latin typeface="Segoe UI"/>
              </a:rPr>
              <a:t>Salam Kissan | Kissan Day 18th Dec | A Tribute to Fa (22.6M)</a:t>
            </a:r>
          </a:p>
        </p:txBody>
      </p:sp>
      <p:sp>
        <p:nvSpPr>
          <p:cNvPr id="35" name="Rectangle 34"/>
          <p:cNvSpPr/>
          <p:nvPr/>
        </p:nvSpPr>
        <p:spPr>
          <a:xfrm>
            <a:off x="548640" y="4041648"/>
            <a:ext cx="7132320" cy="475488"/>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0080" y="4105656"/>
            <a:ext cx="640080" cy="384048"/>
          </a:xfrm>
          <a:prstGeom prst="rect">
            <a:avLst/>
          </a:prstGeom>
          <a:noFill/>
        </p:spPr>
        <p:txBody>
          <a:bodyPr wrap="square" lIns="0" rIns="0" tIns="0" bIns="0">
            <a:spAutoFit/>
          </a:bodyPr>
          <a:lstStyle/>
          <a:p>
            <a:pPr algn="l">
              <a:spcAft>
                <a:spcPts val="0"/>
              </a:spcAft>
            </a:pPr>
            <a:r>
              <a:rPr sz="1050" b="0" i="0">
                <a:solidFill>
                  <a:srgbClr val="1A1A1A"/>
                </a:solidFill>
                <a:latin typeface="Segoe UI"/>
              </a:rPr>
              <a:t>2024</a:t>
            </a:r>
          </a:p>
        </p:txBody>
      </p:sp>
      <p:sp>
        <p:nvSpPr>
          <p:cNvPr id="37" name="TextBox 36"/>
          <p:cNvSpPr txBox="1"/>
          <p:nvPr/>
        </p:nvSpPr>
        <p:spPr>
          <a:xfrm>
            <a:off x="1463040" y="4105656"/>
            <a:ext cx="731520" cy="384048"/>
          </a:xfrm>
          <a:prstGeom prst="rect">
            <a:avLst/>
          </a:prstGeom>
          <a:noFill/>
        </p:spPr>
        <p:txBody>
          <a:bodyPr wrap="square" lIns="0" rIns="0" tIns="0" bIns="0">
            <a:spAutoFit/>
          </a:bodyPr>
          <a:lstStyle/>
          <a:p>
            <a:pPr algn="l">
              <a:spcAft>
                <a:spcPts val="0"/>
              </a:spcAft>
            </a:pPr>
            <a:r>
              <a:rPr sz="1050" b="0" i="0">
                <a:solidFill>
                  <a:srgbClr val="1A1A1A"/>
                </a:solidFill>
                <a:latin typeface="Segoe UI"/>
              </a:rPr>
              <a:t>3</a:t>
            </a:r>
          </a:p>
        </p:txBody>
      </p:sp>
      <p:sp>
        <p:nvSpPr>
          <p:cNvPr id="38" name="TextBox 37"/>
          <p:cNvSpPr txBox="1"/>
          <p:nvPr/>
        </p:nvSpPr>
        <p:spPr>
          <a:xfrm>
            <a:off x="2377440" y="4105656"/>
            <a:ext cx="731520" cy="384048"/>
          </a:xfrm>
          <a:prstGeom prst="rect">
            <a:avLst/>
          </a:prstGeom>
          <a:noFill/>
        </p:spPr>
        <p:txBody>
          <a:bodyPr wrap="square" lIns="0" rIns="0" tIns="0" bIns="0">
            <a:spAutoFit/>
          </a:bodyPr>
          <a:lstStyle/>
          <a:p>
            <a:pPr algn="l">
              <a:spcAft>
                <a:spcPts val="0"/>
              </a:spcAft>
            </a:pPr>
            <a:r>
              <a:rPr sz="1050" b="0" i="0">
                <a:solidFill>
                  <a:srgbClr val="1A1A1A"/>
                </a:solidFill>
                <a:latin typeface="Segoe UI"/>
              </a:rPr>
              <a:t>13.7M</a:t>
            </a:r>
          </a:p>
        </p:txBody>
      </p:sp>
      <p:sp>
        <p:nvSpPr>
          <p:cNvPr id="39" name="TextBox 38"/>
          <p:cNvSpPr txBox="1"/>
          <p:nvPr/>
        </p:nvSpPr>
        <p:spPr>
          <a:xfrm>
            <a:off x="3291840" y="4105656"/>
            <a:ext cx="4297680" cy="384048"/>
          </a:xfrm>
          <a:prstGeom prst="rect">
            <a:avLst/>
          </a:prstGeom>
          <a:noFill/>
        </p:spPr>
        <p:txBody>
          <a:bodyPr wrap="square" lIns="0" rIns="0" tIns="0" bIns="0">
            <a:spAutoFit/>
          </a:bodyPr>
          <a:lstStyle/>
          <a:p>
            <a:pPr algn="l">
              <a:spcAft>
                <a:spcPts val="0"/>
              </a:spcAft>
            </a:pPr>
            <a:r>
              <a:rPr sz="1050" b="0" i="0">
                <a:solidFill>
                  <a:srgbClr val="1A1A1A"/>
                </a:solidFill>
                <a:latin typeface="Segoe UI"/>
              </a:rPr>
              <a:t>Leading Sustainable Change for Pakistan | Fatima Fer (13.7M)</a:t>
            </a:r>
          </a:p>
        </p:txBody>
      </p:sp>
      <p:sp>
        <p:nvSpPr>
          <p:cNvPr id="40" name="TextBox 39"/>
          <p:cNvSpPr txBox="1"/>
          <p:nvPr/>
        </p:nvSpPr>
        <p:spPr>
          <a:xfrm>
            <a:off x="640080" y="4581144"/>
            <a:ext cx="640080" cy="384048"/>
          </a:xfrm>
          <a:prstGeom prst="rect">
            <a:avLst/>
          </a:prstGeom>
          <a:noFill/>
        </p:spPr>
        <p:txBody>
          <a:bodyPr wrap="square" lIns="0" rIns="0" tIns="0" bIns="0">
            <a:spAutoFit/>
          </a:bodyPr>
          <a:lstStyle/>
          <a:p>
            <a:pPr algn="l">
              <a:spcAft>
                <a:spcPts val="0"/>
              </a:spcAft>
            </a:pPr>
            <a:r>
              <a:rPr sz="1050" b="0" i="0">
                <a:solidFill>
                  <a:srgbClr val="1A1A1A"/>
                </a:solidFill>
                <a:latin typeface="Segoe UI"/>
              </a:rPr>
              <a:t>2025</a:t>
            </a:r>
          </a:p>
        </p:txBody>
      </p:sp>
      <p:sp>
        <p:nvSpPr>
          <p:cNvPr id="41" name="TextBox 40"/>
          <p:cNvSpPr txBox="1"/>
          <p:nvPr/>
        </p:nvSpPr>
        <p:spPr>
          <a:xfrm>
            <a:off x="1463040" y="4581144"/>
            <a:ext cx="731520" cy="384048"/>
          </a:xfrm>
          <a:prstGeom prst="rect">
            <a:avLst/>
          </a:prstGeom>
          <a:noFill/>
        </p:spPr>
        <p:txBody>
          <a:bodyPr wrap="square" lIns="0" rIns="0" tIns="0" bIns="0">
            <a:spAutoFit/>
          </a:bodyPr>
          <a:lstStyle/>
          <a:p>
            <a:pPr algn="l">
              <a:spcAft>
                <a:spcPts val="0"/>
              </a:spcAft>
            </a:pPr>
            <a:r>
              <a:rPr sz="1050" b="0" i="0">
                <a:solidFill>
                  <a:srgbClr val="1A1A1A"/>
                </a:solidFill>
                <a:latin typeface="Segoe UI"/>
              </a:rPr>
              <a:t>11</a:t>
            </a:r>
          </a:p>
        </p:txBody>
      </p:sp>
      <p:sp>
        <p:nvSpPr>
          <p:cNvPr id="42" name="TextBox 41"/>
          <p:cNvSpPr txBox="1"/>
          <p:nvPr/>
        </p:nvSpPr>
        <p:spPr>
          <a:xfrm>
            <a:off x="2377440" y="4581144"/>
            <a:ext cx="731520" cy="384048"/>
          </a:xfrm>
          <a:prstGeom prst="rect">
            <a:avLst/>
          </a:prstGeom>
          <a:noFill/>
        </p:spPr>
        <p:txBody>
          <a:bodyPr wrap="square" lIns="0" rIns="0" tIns="0" bIns="0">
            <a:spAutoFit/>
          </a:bodyPr>
          <a:lstStyle/>
          <a:p>
            <a:pPr algn="l">
              <a:spcAft>
                <a:spcPts val="0"/>
              </a:spcAft>
            </a:pPr>
            <a:r>
              <a:rPr sz="1050" b="0" i="0">
                <a:solidFill>
                  <a:srgbClr val="1A1A1A"/>
                </a:solidFill>
                <a:latin typeface="Segoe UI"/>
              </a:rPr>
              <a:t>15.7M</a:t>
            </a:r>
          </a:p>
        </p:txBody>
      </p:sp>
      <p:sp>
        <p:nvSpPr>
          <p:cNvPr id="43" name="TextBox 42"/>
          <p:cNvSpPr txBox="1"/>
          <p:nvPr/>
        </p:nvSpPr>
        <p:spPr>
          <a:xfrm>
            <a:off x="3291840" y="4581144"/>
            <a:ext cx="4297680" cy="384048"/>
          </a:xfrm>
          <a:prstGeom prst="rect">
            <a:avLst/>
          </a:prstGeom>
          <a:noFill/>
        </p:spPr>
        <p:txBody>
          <a:bodyPr wrap="square" lIns="0" rIns="0" tIns="0" bIns="0">
            <a:spAutoFit/>
          </a:bodyPr>
          <a:lstStyle/>
          <a:p>
            <a:pPr algn="l">
              <a:spcAft>
                <a:spcPts val="0"/>
              </a:spcAft>
            </a:pPr>
            <a:r>
              <a:rPr sz="1050" b="0" i="0">
                <a:solidFill>
                  <a:srgbClr val="1A1A1A"/>
                </a:solidFill>
                <a:latin typeface="Segoe UI"/>
              </a:rPr>
              <a:t>Salam Kissan 2025 | Kissan Day 18th Dec | A Tribute  (5.4M)</a:t>
            </a:r>
          </a:p>
        </p:txBody>
      </p:sp>
      <p:sp>
        <p:nvSpPr>
          <p:cNvPr id="44" name="Rectangle 43"/>
          <p:cNvSpPr/>
          <p:nvPr/>
        </p:nvSpPr>
        <p:spPr>
          <a:xfrm>
            <a:off x="8046720" y="1188720"/>
            <a:ext cx="3566160" cy="438912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8046720" y="1188720"/>
            <a:ext cx="54864" cy="43891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275320" y="1325880"/>
            <a:ext cx="3200400" cy="320040"/>
          </a:xfrm>
          <a:prstGeom prst="rect">
            <a:avLst/>
          </a:prstGeom>
          <a:noFill/>
        </p:spPr>
        <p:txBody>
          <a:bodyPr wrap="square" lIns="0" rIns="0" tIns="0" bIns="0">
            <a:spAutoFit/>
          </a:bodyPr>
          <a:lstStyle/>
          <a:p>
            <a:pPr algn="l">
              <a:spcAft>
                <a:spcPts val="0"/>
              </a:spcAft>
            </a:pPr>
            <a:r>
              <a:rPr sz="1000" b="1" i="0">
                <a:solidFill>
                  <a:srgbClr val="C8102E"/>
                </a:solidFill>
                <a:latin typeface="Segoe UI"/>
              </a:rPr>
              <a:t>WHO SPEAKS, OF 76 UPLOADS</a:t>
            </a:r>
          </a:p>
        </p:txBody>
      </p:sp>
      <p:sp>
        <p:nvSpPr>
          <p:cNvPr id="47" name="TextBox 46"/>
          <p:cNvSpPr txBox="1"/>
          <p:nvPr/>
        </p:nvSpPr>
        <p:spPr>
          <a:xfrm>
            <a:off x="8275320" y="1691640"/>
            <a:ext cx="3200400" cy="3749039"/>
          </a:xfrm>
          <a:prstGeom prst="rect">
            <a:avLst/>
          </a:prstGeom>
          <a:noFill/>
        </p:spPr>
        <p:txBody>
          <a:bodyPr wrap="square" lIns="0" rIns="0" tIns="0" bIns="0">
            <a:spAutoFit/>
          </a:bodyPr>
          <a:lstStyle/>
          <a:p>
            <a:pPr algn="l">
              <a:spcAft>
                <a:spcPts val="700"/>
              </a:spcAft>
            </a:pPr>
            <a:r>
              <a:rPr sz="1100" b="0" i="0">
                <a:solidFill>
                  <a:srgbClr val="1A1A1A"/>
                </a:solidFill>
                <a:latin typeface="Segoe UI"/>
              </a:rPr>
              <a:t>Nobody spoken (anthems, shorts): 17</a:t>
            </a:r>
          </a:p>
          <a:p>
            <a:pPr algn="l">
              <a:spcAft>
                <a:spcPts val="700"/>
              </a:spcAft>
            </a:pPr>
            <a:r>
              <a:rPr sz="1100" b="0" i="0">
                <a:solidFill>
                  <a:srgbClr val="1A1A1A"/>
                </a:solidFill>
                <a:latin typeface="Segoe UI"/>
              </a:rPr>
              <a:t>Celebrities: 21   ·   Politicians: 9</a:t>
            </a:r>
          </a:p>
          <a:p>
            <a:pPr algn="l">
              <a:spcAft>
                <a:spcPts val="700"/>
              </a:spcAft>
            </a:pPr>
            <a:r>
              <a:rPr sz="1100" b="0" i="0">
                <a:solidFill>
                  <a:srgbClr val="1A1A1A"/>
                </a:solidFill>
                <a:latin typeface="Segoe UI"/>
              </a:rPr>
              <a:t>Farmers: 16, of which 7 are product testimonials</a:t>
            </a:r>
          </a:p>
          <a:p>
            <a:pPr algn="l">
              <a:spcAft>
                <a:spcPts val="700"/>
              </a:spcAft>
            </a:pPr>
            <a:r>
              <a:rPr sz="1100" b="0" i="0">
                <a:solidFill>
                  <a:srgbClr val="1A1A1A"/>
                </a:solidFill>
                <a:latin typeface="Segoe UI"/>
              </a:rPr>
              <a:t>2020: 10 celebrities and 5 ministers celebrating Kissan Day.</a:t>
            </a:r>
          </a:p>
          <a:p>
            <a:pPr algn="l">
              <a:spcAft>
                <a:spcPts val="700"/>
              </a:spcAft>
            </a:pPr>
            <a:r>
              <a:rPr sz="1100" b="0" i="0">
                <a:solidFill>
                  <a:srgbClr val="1A1A1A"/>
                </a:solidFill>
                <a:latin typeface="Segoe UI"/>
              </a:rPr>
              <a:t>2024: no anthem-length film. 2025: 5 3D/AI-animated farmer shorts.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64240" cy="274320"/>
          </a:xfrm>
          <a:prstGeom prst="rect">
            <a:avLst/>
          </a:prstGeom>
          <a:noFill/>
        </p:spPr>
        <p:txBody>
          <a:bodyPr wrap="square" lIns="0" rIns="0" tIns="0" bIns="0">
            <a:spAutoFit/>
          </a:bodyPr>
          <a:lstStyle/>
          <a:p>
            <a:pPr algn="l">
              <a:spcAft>
                <a:spcPts val="0"/>
              </a:spcAft>
            </a:pPr>
            <a:r>
              <a:rPr sz="1000" b="1" i="0">
                <a:solidFill>
                  <a:srgbClr val="9FB4C7"/>
                </a:solidFill>
                <a:latin typeface="Segoe UI"/>
              </a:rPr>
              <a:t>3  ·  WHAT COMMENTERS SAY</a:t>
            </a:r>
          </a:p>
        </p:txBody>
      </p:sp>
      <p:sp>
        <p:nvSpPr>
          <p:cNvPr id="4" name="TextBox 3"/>
          <p:cNvSpPr txBox="1"/>
          <p:nvPr/>
        </p:nvSpPr>
        <p:spPr>
          <a:xfrm>
            <a:off x="548640" y="384048"/>
            <a:ext cx="11064240" cy="457200"/>
          </a:xfrm>
          <a:prstGeom prst="rect">
            <a:avLst/>
          </a:prstGeom>
          <a:noFill/>
        </p:spPr>
        <p:txBody>
          <a:bodyPr wrap="square" lIns="0" rIns="0" tIns="0" bIns="0">
            <a:spAutoFit/>
          </a:bodyPr>
          <a:lstStyle/>
          <a:p>
            <a:pPr algn="l">
              <a:spcAft>
                <a:spcPts val="0"/>
              </a:spcAft>
            </a:pPr>
            <a:r>
              <a:rPr sz="2200" b="1" i="0">
                <a:solidFill>
                  <a:srgbClr val="FFFFFF"/>
                </a:solidFill>
                <a:latin typeface="Segoe UI"/>
              </a:rPr>
              <a:t>Pride in family, response to the music, few but pointed complaints</a:t>
            </a:r>
          </a:p>
        </p:txBody>
      </p:sp>
      <p:sp>
        <p:nvSpPr>
          <p:cNvPr id="5" name="Rectangle 4"/>
          <p:cNvSpPr/>
          <p:nvPr/>
        </p:nvSpPr>
        <p:spPr>
          <a:xfrm>
            <a:off x="548640" y="5806440"/>
            <a:ext cx="11064240" cy="566928"/>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5897880"/>
            <a:ext cx="10607040" cy="457200"/>
          </a:xfrm>
          <a:prstGeom prst="rect">
            <a:avLst/>
          </a:prstGeom>
          <a:noFill/>
        </p:spPr>
        <p:txBody>
          <a:bodyPr wrap="square" lIns="0" rIns="0" tIns="0" bIns="0">
            <a:spAutoFit/>
          </a:bodyPr>
          <a:lstStyle/>
          <a:p>
            <a:pPr algn="l">
              <a:spcAft>
                <a:spcPts val="0"/>
              </a:spcAft>
            </a:pPr>
            <a:r>
              <a:rPr sz="1200" b="1" i="0">
                <a:solidFill>
                  <a:srgbClr val="FFFFFF"/>
                </a:solidFill>
                <a:latin typeface="Segoe UI"/>
              </a:rPr>
              <a:t>The people who write back talk about their own father, not about farmers in general.</a:t>
            </a:r>
          </a:p>
        </p:txBody>
      </p:sp>
      <p:sp>
        <p:nvSpPr>
          <p:cNvPr id="7" name="TextBox 6"/>
          <p:cNvSpPr txBox="1"/>
          <p:nvPr/>
        </p:nvSpPr>
        <p:spPr>
          <a:xfrm>
            <a:off x="548640" y="6446520"/>
            <a:ext cx="11064240" cy="320040"/>
          </a:xfrm>
          <a:prstGeom prst="rect">
            <a:avLst/>
          </a:prstGeom>
          <a:noFill/>
        </p:spPr>
        <p:txBody>
          <a:bodyPr wrap="square" lIns="0" rIns="0" tIns="0" bIns="0">
            <a:spAutoFit/>
          </a:bodyPr>
          <a:lstStyle/>
          <a:p>
            <a:pPr algn="l">
              <a:spcAft>
                <a:spcPts val="0"/>
              </a:spcAft>
            </a:pPr>
            <a:r>
              <a:rPr sz="800" b="0" i="0">
                <a:solidFill>
                  <a:srgbClr val="6B7480"/>
                </a:solidFill>
                <a:latin typeface="Segoe UI"/>
              </a:rPr>
              <a:t>Source: 1,572 comments on the 18 largest Salam Kissan uploads (1,516 from the audience), all read (comments/comment_findings.md, analyse.py). Self-selected; quotes are signal, not a measure. Translations labelled.</a:t>
            </a:r>
          </a:p>
        </p:txBody>
      </p:sp>
      <p:sp>
        <p:nvSpPr>
          <p:cNvPr id="8" name="Rectangle 7"/>
          <p:cNvSpPr/>
          <p:nvPr/>
        </p:nvSpPr>
        <p:spPr>
          <a:xfrm>
            <a:off x="548640" y="1188720"/>
            <a:ext cx="3566160" cy="443484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188720"/>
            <a:ext cx="54864" cy="443484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325880"/>
            <a:ext cx="3200400" cy="320040"/>
          </a:xfrm>
          <a:prstGeom prst="rect">
            <a:avLst/>
          </a:prstGeom>
          <a:noFill/>
        </p:spPr>
        <p:txBody>
          <a:bodyPr wrap="square" lIns="0" rIns="0" tIns="0" bIns="0">
            <a:spAutoFit/>
          </a:bodyPr>
          <a:lstStyle/>
          <a:p>
            <a:pPr algn="l">
              <a:spcAft>
                <a:spcPts val="0"/>
              </a:spcAft>
            </a:pPr>
            <a:r>
              <a:rPr sz="1000" b="1" i="0">
                <a:solidFill>
                  <a:srgbClr val="C8102E"/>
                </a:solidFill>
                <a:latin typeface="Segoe UI"/>
              </a:rPr>
              <a:t>PRIDE IN FAMILY</a:t>
            </a:r>
          </a:p>
        </p:txBody>
      </p:sp>
      <p:sp>
        <p:nvSpPr>
          <p:cNvPr id="11" name="TextBox 10"/>
          <p:cNvSpPr txBox="1"/>
          <p:nvPr/>
        </p:nvSpPr>
        <p:spPr>
          <a:xfrm>
            <a:off x="777240" y="1691640"/>
            <a:ext cx="3200400" cy="3794759"/>
          </a:xfrm>
          <a:prstGeom prst="rect">
            <a:avLst/>
          </a:prstGeom>
          <a:noFill/>
        </p:spPr>
        <p:txBody>
          <a:bodyPr wrap="square" lIns="0" rIns="0" tIns="0" bIns="0">
            <a:spAutoFit/>
          </a:bodyPr>
          <a:lstStyle/>
          <a:p>
            <a:pPr algn="l">
              <a:spcAft>
                <a:spcPts val="700"/>
              </a:spcAft>
            </a:pPr>
            <a:r>
              <a:rPr sz="1100" b="0" i="0">
                <a:solidFill>
                  <a:srgbClr val="1A1A1A"/>
                </a:solidFill>
                <a:latin typeface="Segoe UI"/>
              </a:rPr>
              <a:t>“I feel proud because my  father is farmer.”  2019, 123 likes</a:t>
            </a:r>
          </a:p>
          <a:p>
            <a:pPr algn="l">
              <a:spcAft>
                <a:spcPts val="700"/>
              </a:spcAft>
            </a:pPr>
            <a:r>
              <a:rPr sz="1100" b="0" i="0">
                <a:solidFill>
                  <a:srgbClr val="1A1A1A"/>
                </a:solidFill>
                <a:latin typeface="Segoe UI"/>
              </a:rPr>
              <a:t>“I'm daughter of farmer. My grandfather was a farmer. And I'm proud of it.”  2019</a:t>
            </a:r>
          </a:p>
          <a:p>
            <a:pPr algn="l">
              <a:spcAft>
                <a:spcPts val="700"/>
              </a:spcAft>
            </a:pPr>
            <a:r>
              <a:rPr sz="1100" b="0" i="0">
                <a:solidFill>
                  <a:srgbClr val="1A1A1A"/>
                </a:solidFill>
                <a:latin typeface="Segoe UI"/>
              </a:rPr>
              <a:t>“Although I am not a farmers but every Sarsabz ad is mind blowing!”  2021, 18 likes</a:t>
            </a:r>
          </a:p>
        </p:txBody>
      </p:sp>
      <p:sp>
        <p:nvSpPr>
          <p:cNvPr id="12" name="Rectangle 11"/>
          <p:cNvSpPr/>
          <p:nvPr/>
        </p:nvSpPr>
        <p:spPr>
          <a:xfrm>
            <a:off x="4297679" y="1188720"/>
            <a:ext cx="3566160" cy="443484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97679" y="1188720"/>
            <a:ext cx="54864" cy="443484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26279" y="1325880"/>
            <a:ext cx="3200400" cy="320040"/>
          </a:xfrm>
          <a:prstGeom prst="rect">
            <a:avLst/>
          </a:prstGeom>
          <a:noFill/>
        </p:spPr>
        <p:txBody>
          <a:bodyPr wrap="square" lIns="0" rIns="0" tIns="0" bIns="0">
            <a:spAutoFit/>
          </a:bodyPr>
          <a:lstStyle/>
          <a:p>
            <a:pPr algn="l">
              <a:spcAft>
                <a:spcPts val="0"/>
              </a:spcAft>
            </a:pPr>
            <a:r>
              <a:rPr sz="1000" b="1" i="0">
                <a:solidFill>
                  <a:srgbClr val="C8102E"/>
                </a:solidFill>
                <a:latin typeface="Segoe UI"/>
              </a:rPr>
              <a:t>THE MUSIC  ·  103 COMMENTS</a:t>
            </a:r>
          </a:p>
        </p:txBody>
      </p:sp>
      <p:sp>
        <p:nvSpPr>
          <p:cNvPr id="15" name="TextBox 14"/>
          <p:cNvSpPr txBox="1"/>
          <p:nvPr/>
        </p:nvSpPr>
        <p:spPr>
          <a:xfrm>
            <a:off x="4526279" y="1691640"/>
            <a:ext cx="3200400" cy="3794759"/>
          </a:xfrm>
          <a:prstGeom prst="rect">
            <a:avLst/>
          </a:prstGeom>
          <a:noFill/>
        </p:spPr>
        <p:txBody>
          <a:bodyPr wrap="square" lIns="0" rIns="0" tIns="0" bIns="0">
            <a:spAutoFit/>
          </a:bodyPr>
          <a:lstStyle/>
          <a:p>
            <a:pPr algn="l">
              <a:spcAft>
                <a:spcPts val="700"/>
              </a:spcAft>
            </a:pPr>
            <a:r>
              <a:rPr sz="1100" b="0" i="0">
                <a:solidFill>
                  <a:srgbClr val="1A1A1A"/>
                </a:solidFill>
                <a:latin typeface="Segoe UI"/>
              </a:rPr>
              <a:t>“Heart touching lyrics, and a very emotional tune.”  2019, 39 likes</a:t>
            </a:r>
          </a:p>
          <a:p>
            <a:pPr algn="l">
              <a:spcAft>
                <a:spcPts val="700"/>
              </a:spcAft>
            </a:pPr>
            <a:r>
              <a:rPr sz="1100" b="0" i="0">
                <a:solidFill>
                  <a:srgbClr val="1A1A1A"/>
                </a:solidFill>
                <a:latin typeface="Segoe UI"/>
              </a:rPr>
              <a:t>“magical background voice of Mai Dhaii”  2021, 15 likes</a:t>
            </a:r>
          </a:p>
          <a:p>
            <a:pPr algn="l">
              <a:spcAft>
                <a:spcPts val="700"/>
              </a:spcAft>
            </a:pPr>
            <a:r>
              <a:rPr sz="1100" b="0" i="0">
                <a:solidFill>
                  <a:srgbClr val="1A1A1A"/>
                </a:solidFill>
                <a:latin typeface="Segoe UI"/>
              </a:rPr>
              <a:t>“We need to make this permanent not temporary.”  2019, 87 likes</a:t>
            </a:r>
          </a:p>
        </p:txBody>
      </p:sp>
      <p:sp>
        <p:nvSpPr>
          <p:cNvPr id="16" name="Rectangle 15"/>
          <p:cNvSpPr/>
          <p:nvPr/>
        </p:nvSpPr>
        <p:spPr>
          <a:xfrm>
            <a:off x="8046719" y="1188720"/>
            <a:ext cx="3566160" cy="443484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46719" y="1188720"/>
            <a:ext cx="54864" cy="443484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75319" y="1325880"/>
            <a:ext cx="3200400" cy="320040"/>
          </a:xfrm>
          <a:prstGeom prst="rect">
            <a:avLst/>
          </a:prstGeom>
          <a:noFill/>
        </p:spPr>
        <p:txBody>
          <a:bodyPr wrap="square" lIns="0" rIns="0" tIns="0" bIns="0">
            <a:spAutoFit/>
          </a:bodyPr>
          <a:lstStyle/>
          <a:p>
            <a:pPr algn="l">
              <a:spcAft>
                <a:spcPts val="0"/>
              </a:spcAft>
            </a:pPr>
            <a:r>
              <a:rPr sz="1000" b="1" i="0">
                <a:solidFill>
                  <a:srgbClr val="C8102E"/>
                </a:solidFill>
                <a:latin typeface="Segoe UI"/>
              </a:rPr>
              <a:t>COMPLAINTS  ·  19 OF 1,516</a:t>
            </a:r>
          </a:p>
        </p:txBody>
      </p:sp>
      <p:sp>
        <p:nvSpPr>
          <p:cNvPr id="19" name="TextBox 18"/>
          <p:cNvSpPr txBox="1"/>
          <p:nvPr/>
        </p:nvSpPr>
        <p:spPr>
          <a:xfrm>
            <a:off x="8275319" y="1691640"/>
            <a:ext cx="3200400" cy="3794759"/>
          </a:xfrm>
          <a:prstGeom prst="rect">
            <a:avLst/>
          </a:prstGeom>
          <a:noFill/>
        </p:spPr>
        <p:txBody>
          <a:bodyPr wrap="square" lIns="0" rIns="0" tIns="0" bIns="0">
            <a:spAutoFit/>
          </a:bodyPr>
          <a:lstStyle/>
          <a:p>
            <a:pPr algn="l">
              <a:spcAft>
                <a:spcPts val="700"/>
              </a:spcAft>
            </a:pPr>
            <a:r>
              <a:rPr sz="1100" b="0" i="0">
                <a:solidFill>
                  <a:srgbClr val="1A1A1A"/>
                </a:solidFill>
                <a:latin typeface="Segoe UI"/>
              </a:rPr>
              <a:t>“کسانوں کو کھاد نہیں مل رہی”  2023  (our translation: farmers aren't getting fertilizer)</a:t>
            </a:r>
          </a:p>
          <a:p>
            <a:pPr algn="l">
              <a:spcAft>
                <a:spcPts val="700"/>
              </a:spcAft>
            </a:pPr>
            <a:r>
              <a:rPr sz="1100" b="0" i="0">
                <a:solidFill>
                  <a:srgbClr val="1A1A1A"/>
                </a:solidFill>
                <a:latin typeface="Segoe UI"/>
              </a:rPr>
              <a:t>“کاش اس ملک میں کسان کی قدر ہوتی”  2022, 38 likes  (our translation: if only farmers were valued in this country)</a:t>
            </a:r>
          </a:p>
          <a:p>
            <a:pPr algn="l">
              <a:spcAft>
                <a:spcPts val="700"/>
              </a:spcAft>
            </a:pPr>
            <a:r>
              <a:rPr sz="1100" b="0" i="0">
                <a:solidFill>
                  <a:srgbClr val="1A1A1A"/>
                </a:solidFill>
                <a:latin typeface="Segoe UI"/>
              </a:rPr>
              <a:t>“khaad nayaab ho cuki hy”  2022  (our translation: fertilizer has become unavailable)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64240" cy="274320"/>
          </a:xfrm>
          <a:prstGeom prst="rect">
            <a:avLst/>
          </a:prstGeom>
          <a:noFill/>
        </p:spPr>
        <p:txBody>
          <a:bodyPr wrap="square" lIns="0" rIns="0" tIns="0" bIns="0">
            <a:spAutoFit/>
          </a:bodyPr>
          <a:lstStyle/>
          <a:p>
            <a:pPr algn="l">
              <a:spcAft>
                <a:spcPts val="0"/>
              </a:spcAft>
            </a:pPr>
            <a:r>
              <a:rPr sz="1000" b="1" i="0">
                <a:solidFill>
                  <a:srgbClr val="9FB4C7"/>
                </a:solidFill>
                <a:latin typeface="Segoe UI"/>
              </a:rPr>
              <a:t>3  ·  WHAT COMMENTERS SAY</a:t>
            </a:r>
          </a:p>
        </p:txBody>
      </p:sp>
      <p:sp>
        <p:nvSpPr>
          <p:cNvPr id="4" name="TextBox 3"/>
          <p:cNvSpPr txBox="1"/>
          <p:nvPr/>
        </p:nvSpPr>
        <p:spPr>
          <a:xfrm>
            <a:off x="548640" y="384048"/>
            <a:ext cx="11064240" cy="457200"/>
          </a:xfrm>
          <a:prstGeom prst="rect">
            <a:avLst/>
          </a:prstGeom>
          <a:noFill/>
        </p:spPr>
        <p:txBody>
          <a:bodyPr wrap="square" lIns="0" rIns="0" tIns="0" bIns="0">
            <a:spAutoFit/>
          </a:bodyPr>
          <a:lstStyle/>
          <a:p>
            <a:pPr algn="l">
              <a:spcAft>
                <a:spcPts val="0"/>
              </a:spcAft>
            </a:pPr>
            <a:r>
              <a:rPr sz="2200" b="1" i="0">
                <a:solidFill>
                  <a:srgbClr val="FFFFFF"/>
                </a:solidFill>
                <a:latin typeface="Segoe UI"/>
              </a:rPr>
              <a:t>Where the comments are, and what inflates them</a:t>
            </a:r>
          </a:p>
        </p:txBody>
      </p:sp>
      <p:sp>
        <p:nvSpPr>
          <p:cNvPr id="5" name="Rectangle 4"/>
          <p:cNvSpPr/>
          <p:nvPr/>
        </p:nvSpPr>
        <p:spPr>
          <a:xfrm>
            <a:off x="548640" y="5806440"/>
            <a:ext cx="11064240" cy="566928"/>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5897880"/>
            <a:ext cx="10607040" cy="457200"/>
          </a:xfrm>
          <a:prstGeom prst="rect">
            <a:avLst/>
          </a:prstGeom>
          <a:noFill/>
        </p:spPr>
        <p:txBody>
          <a:bodyPr wrap="square" lIns="0" rIns="0" tIns="0" bIns="0">
            <a:spAutoFit/>
          </a:bodyPr>
          <a:lstStyle/>
          <a:p>
            <a:pPr algn="l">
              <a:spcAft>
                <a:spcPts val="0"/>
              </a:spcAft>
            </a:pPr>
            <a:r>
              <a:rPr sz="1200" b="1" i="0">
                <a:solidFill>
                  <a:srgbClr val="FFFFFF"/>
                </a:solidFill>
                <a:latin typeface="Segoe UI"/>
              </a:rPr>
              <a:t>The four anthems hold 1,422 of 1,572 comments. The 2023 thread was driven by a giveaway and creator referrals as well as the film.</a:t>
            </a:r>
          </a:p>
        </p:txBody>
      </p:sp>
      <p:sp>
        <p:nvSpPr>
          <p:cNvPr id="7" name="TextBox 6"/>
          <p:cNvSpPr txBox="1"/>
          <p:nvPr/>
        </p:nvSpPr>
        <p:spPr>
          <a:xfrm>
            <a:off x="548640" y="6446520"/>
            <a:ext cx="11064240" cy="320040"/>
          </a:xfrm>
          <a:prstGeom prst="rect">
            <a:avLst/>
          </a:prstGeom>
          <a:noFill/>
        </p:spPr>
        <p:txBody>
          <a:bodyPr wrap="square" lIns="0" rIns="0" tIns="0" bIns="0">
            <a:spAutoFit/>
          </a:bodyPr>
          <a:lstStyle/>
          <a:p>
            <a:pPr algn="l">
              <a:spcAft>
                <a:spcPts val="0"/>
              </a:spcAft>
            </a:pPr>
            <a:r>
              <a:rPr sz="800" b="0" i="0">
                <a:solidFill>
                  <a:srgbClr val="6B7480"/>
                </a:solidFill>
                <a:latin typeface="Segoe UI"/>
              </a:rPr>
              <a:t>Source: comments/comment_codes.csv. Contest rules and whether creator mentions were paid: not in the data, questions for the client.</a:t>
            </a:r>
          </a:p>
        </p:txBody>
      </p:sp>
      <p:sp>
        <p:nvSpPr>
          <p:cNvPr id="8" name="Rectangle 7"/>
          <p:cNvSpPr/>
          <p:nvPr/>
        </p:nvSpPr>
        <p:spPr>
          <a:xfrm>
            <a:off x="548640" y="1188720"/>
            <a:ext cx="4572000" cy="50292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252728"/>
            <a:ext cx="3108960" cy="411480"/>
          </a:xfrm>
          <a:prstGeom prst="rect">
            <a:avLst/>
          </a:prstGeom>
          <a:noFill/>
        </p:spPr>
        <p:txBody>
          <a:bodyPr wrap="square" lIns="0" rIns="0" tIns="0" bIns="0">
            <a:spAutoFit/>
          </a:bodyPr>
          <a:lstStyle/>
          <a:p>
            <a:pPr algn="l">
              <a:spcAft>
                <a:spcPts val="0"/>
              </a:spcAft>
            </a:pPr>
            <a:r>
              <a:rPr sz="1200" b="1" i="0">
                <a:solidFill>
                  <a:srgbClr val="FFFFFF"/>
                </a:solidFill>
                <a:latin typeface="Segoe UI"/>
              </a:rPr>
              <a:t>Upload</a:t>
            </a:r>
          </a:p>
        </p:txBody>
      </p:sp>
      <p:sp>
        <p:nvSpPr>
          <p:cNvPr id="10" name="TextBox 9"/>
          <p:cNvSpPr txBox="1"/>
          <p:nvPr/>
        </p:nvSpPr>
        <p:spPr>
          <a:xfrm>
            <a:off x="3931920" y="1252728"/>
            <a:ext cx="1097280" cy="411480"/>
          </a:xfrm>
          <a:prstGeom prst="rect">
            <a:avLst/>
          </a:prstGeom>
          <a:noFill/>
        </p:spPr>
        <p:txBody>
          <a:bodyPr wrap="square" lIns="0" rIns="0" tIns="0" bIns="0">
            <a:spAutoFit/>
          </a:bodyPr>
          <a:lstStyle/>
          <a:p>
            <a:pPr algn="l">
              <a:spcAft>
                <a:spcPts val="0"/>
              </a:spcAft>
            </a:pPr>
            <a:r>
              <a:rPr sz="1200" b="1" i="0">
                <a:solidFill>
                  <a:srgbClr val="FFFFFF"/>
                </a:solidFill>
                <a:latin typeface="Segoe UI"/>
              </a:rPr>
              <a:t>Comments</a:t>
            </a:r>
          </a:p>
        </p:txBody>
      </p:sp>
      <p:sp>
        <p:nvSpPr>
          <p:cNvPr id="11" name="TextBox 10"/>
          <p:cNvSpPr txBox="1"/>
          <p:nvPr/>
        </p:nvSpPr>
        <p:spPr>
          <a:xfrm>
            <a:off x="640080" y="1755648"/>
            <a:ext cx="3108960" cy="411480"/>
          </a:xfrm>
          <a:prstGeom prst="rect">
            <a:avLst/>
          </a:prstGeom>
          <a:noFill/>
        </p:spPr>
        <p:txBody>
          <a:bodyPr wrap="square" lIns="0" rIns="0" tIns="0" bIns="0">
            <a:spAutoFit/>
          </a:bodyPr>
          <a:lstStyle/>
          <a:p>
            <a:pPr algn="l">
              <a:spcAft>
                <a:spcPts val="0"/>
              </a:spcAft>
            </a:pPr>
            <a:r>
              <a:rPr sz="1200" b="0" i="0">
                <a:solidFill>
                  <a:srgbClr val="1A1A1A"/>
                </a:solidFill>
                <a:latin typeface="Segoe UI"/>
              </a:rPr>
              <a:t>2019 anthem</a:t>
            </a:r>
          </a:p>
        </p:txBody>
      </p:sp>
      <p:sp>
        <p:nvSpPr>
          <p:cNvPr id="12" name="TextBox 11"/>
          <p:cNvSpPr txBox="1"/>
          <p:nvPr/>
        </p:nvSpPr>
        <p:spPr>
          <a:xfrm>
            <a:off x="3931920" y="1755648"/>
            <a:ext cx="1097280" cy="411480"/>
          </a:xfrm>
          <a:prstGeom prst="rect">
            <a:avLst/>
          </a:prstGeom>
          <a:noFill/>
        </p:spPr>
        <p:txBody>
          <a:bodyPr wrap="square" lIns="0" rIns="0" tIns="0" bIns="0">
            <a:spAutoFit/>
          </a:bodyPr>
          <a:lstStyle/>
          <a:p>
            <a:pPr algn="l">
              <a:spcAft>
                <a:spcPts val="0"/>
              </a:spcAft>
            </a:pPr>
            <a:r>
              <a:rPr sz="1200" b="0" i="0">
                <a:solidFill>
                  <a:srgbClr val="1A1A1A"/>
                </a:solidFill>
                <a:latin typeface="Segoe UI"/>
              </a:rPr>
              <a:t>300</a:t>
            </a:r>
          </a:p>
        </p:txBody>
      </p:sp>
      <p:sp>
        <p:nvSpPr>
          <p:cNvPr id="13" name="Rectangle 12"/>
          <p:cNvSpPr/>
          <p:nvPr/>
        </p:nvSpPr>
        <p:spPr>
          <a:xfrm>
            <a:off x="548640" y="2194560"/>
            <a:ext cx="4572000" cy="50292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2258568"/>
            <a:ext cx="3108960" cy="411480"/>
          </a:xfrm>
          <a:prstGeom prst="rect">
            <a:avLst/>
          </a:prstGeom>
          <a:noFill/>
        </p:spPr>
        <p:txBody>
          <a:bodyPr wrap="square" lIns="0" rIns="0" tIns="0" bIns="0">
            <a:spAutoFit/>
          </a:bodyPr>
          <a:lstStyle/>
          <a:p>
            <a:pPr algn="l">
              <a:spcAft>
                <a:spcPts val="0"/>
              </a:spcAft>
            </a:pPr>
            <a:r>
              <a:rPr sz="1200" b="0" i="0">
                <a:solidFill>
                  <a:srgbClr val="1A1A1A"/>
                </a:solidFill>
                <a:latin typeface="Segoe UI"/>
              </a:rPr>
              <a:t>2021 anthem</a:t>
            </a:r>
          </a:p>
        </p:txBody>
      </p:sp>
      <p:sp>
        <p:nvSpPr>
          <p:cNvPr id="15" name="TextBox 14"/>
          <p:cNvSpPr txBox="1"/>
          <p:nvPr/>
        </p:nvSpPr>
        <p:spPr>
          <a:xfrm>
            <a:off x="3931920" y="2258568"/>
            <a:ext cx="1097280" cy="411480"/>
          </a:xfrm>
          <a:prstGeom prst="rect">
            <a:avLst/>
          </a:prstGeom>
          <a:noFill/>
        </p:spPr>
        <p:txBody>
          <a:bodyPr wrap="square" lIns="0" rIns="0" tIns="0" bIns="0">
            <a:spAutoFit/>
          </a:bodyPr>
          <a:lstStyle/>
          <a:p>
            <a:pPr algn="l">
              <a:spcAft>
                <a:spcPts val="0"/>
              </a:spcAft>
            </a:pPr>
            <a:r>
              <a:rPr sz="1200" b="0" i="0">
                <a:solidFill>
                  <a:srgbClr val="1A1A1A"/>
                </a:solidFill>
                <a:latin typeface="Segoe UI"/>
              </a:rPr>
              <a:t>177</a:t>
            </a:r>
          </a:p>
        </p:txBody>
      </p:sp>
      <p:sp>
        <p:nvSpPr>
          <p:cNvPr id="16" name="TextBox 15"/>
          <p:cNvSpPr txBox="1"/>
          <p:nvPr/>
        </p:nvSpPr>
        <p:spPr>
          <a:xfrm>
            <a:off x="640080" y="2761488"/>
            <a:ext cx="3108960" cy="411480"/>
          </a:xfrm>
          <a:prstGeom prst="rect">
            <a:avLst/>
          </a:prstGeom>
          <a:noFill/>
        </p:spPr>
        <p:txBody>
          <a:bodyPr wrap="square" lIns="0" rIns="0" tIns="0" bIns="0">
            <a:spAutoFit/>
          </a:bodyPr>
          <a:lstStyle/>
          <a:p>
            <a:pPr algn="l">
              <a:spcAft>
                <a:spcPts val="0"/>
              </a:spcAft>
            </a:pPr>
            <a:r>
              <a:rPr sz="1200" b="0" i="0">
                <a:solidFill>
                  <a:srgbClr val="1A1A1A"/>
                </a:solidFill>
                <a:latin typeface="Segoe UI"/>
              </a:rPr>
              <a:t>2022 anthem</a:t>
            </a:r>
          </a:p>
        </p:txBody>
      </p:sp>
      <p:sp>
        <p:nvSpPr>
          <p:cNvPr id="17" name="TextBox 16"/>
          <p:cNvSpPr txBox="1"/>
          <p:nvPr/>
        </p:nvSpPr>
        <p:spPr>
          <a:xfrm>
            <a:off x="3931920" y="2761488"/>
            <a:ext cx="1097280" cy="411480"/>
          </a:xfrm>
          <a:prstGeom prst="rect">
            <a:avLst/>
          </a:prstGeom>
          <a:noFill/>
        </p:spPr>
        <p:txBody>
          <a:bodyPr wrap="square" lIns="0" rIns="0" tIns="0" bIns="0">
            <a:spAutoFit/>
          </a:bodyPr>
          <a:lstStyle/>
          <a:p>
            <a:pPr algn="l">
              <a:spcAft>
                <a:spcPts val="0"/>
              </a:spcAft>
            </a:pPr>
            <a:r>
              <a:rPr sz="1200" b="0" i="0">
                <a:solidFill>
                  <a:srgbClr val="1A1A1A"/>
                </a:solidFill>
                <a:latin typeface="Segoe UI"/>
              </a:rPr>
              <a:t>116</a:t>
            </a:r>
          </a:p>
        </p:txBody>
      </p:sp>
      <p:sp>
        <p:nvSpPr>
          <p:cNvPr id="18" name="Rectangle 17"/>
          <p:cNvSpPr/>
          <p:nvPr/>
        </p:nvSpPr>
        <p:spPr>
          <a:xfrm>
            <a:off x="548640" y="3200400"/>
            <a:ext cx="4572000" cy="50292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3264408"/>
            <a:ext cx="3108960" cy="411480"/>
          </a:xfrm>
          <a:prstGeom prst="rect">
            <a:avLst/>
          </a:prstGeom>
          <a:noFill/>
        </p:spPr>
        <p:txBody>
          <a:bodyPr wrap="square" lIns="0" rIns="0" tIns="0" bIns="0">
            <a:spAutoFit/>
          </a:bodyPr>
          <a:lstStyle/>
          <a:p>
            <a:pPr algn="l">
              <a:spcAft>
                <a:spcPts val="0"/>
              </a:spcAft>
            </a:pPr>
            <a:r>
              <a:rPr sz="1200" b="0" i="0">
                <a:solidFill>
                  <a:srgbClr val="1A1A1A"/>
                </a:solidFill>
                <a:latin typeface="Segoe UI"/>
              </a:rPr>
              <a:t>2023 anthem</a:t>
            </a:r>
          </a:p>
        </p:txBody>
      </p:sp>
      <p:sp>
        <p:nvSpPr>
          <p:cNvPr id="20" name="TextBox 19"/>
          <p:cNvSpPr txBox="1"/>
          <p:nvPr/>
        </p:nvSpPr>
        <p:spPr>
          <a:xfrm>
            <a:off x="3931920" y="3264408"/>
            <a:ext cx="1097280" cy="411480"/>
          </a:xfrm>
          <a:prstGeom prst="rect">
            <a:avLst/>
          </a:prstGeom>
          <a:noFill/>
        </p:spPr>
        <p:txBody>
          <a:bodyPr wrap="square" lIns="0" rIns="0" tIns="0" bIns="0">
            <a:spAutoFit/>
          </a:bodyPr>
          <a:lstStyle/>
          <a:p>
            <a:pPr algn="l">
              <a:spcAft>
                <a:spcPts val="0"/>
              </a:spcAft>
            </a:pPr>
            <a:r>
              <a:rPr sz="1200" b="0" i="0">
                <a:solidFill>
                  <a:srgbClr val="1A1A1A"/>
                </a:solidFill>
                <a:latin typeface="Segoe UI"/>
              </a:rPr>
              <a:t>829</a:t>
            </a:r>
          </a:p>
        </p:txBody>
      </p:sp>
      <p:sp>
        <p:nvSpPr>
          <p:cNvPr id="21" name="TextBox 20"/>
          <p:cNvSpPr txBox="1"/>
          <p:nvPr/>
        </p:nvSpPr>
        <p:spPr>
          <a:xfrm>
            <a:off x="640080" y="3767328"/>
            <a:ext cx="3108960" cy="411480"/>
          </a:xfrm>
          <a:prstGeom prst="rect">
            <a:avLst/>
          </a:prstGeom>
          <a:noFill/>
        </p:spPr>
        <p:txBody>
          <a:bodyPr wrap="square" lIns="0" rIns="0" tIns="0" bIns="0">
            <a:spAutoFit/>
          </a:bodyPr>
          <a:lstStyle/>
          <a:p>
            <a:pPr algn="l">
              <a:spcAft>
                <a:spcPts val="0"/>
              </a:spcAft>
            </a:pPr>
            <a:r>
              <a:rPr sz="1200" b="0" i="0">
                <a:solidFill>
                  <a:srgbClr val="1A1A1A"/>
                </a:solidFill>
                <a:latin typeface="Segoe UI"/>
              </a:rPr>
              <a:t>Eight 2025 uploads (audience)</a:t>
            </a:r>
          </a:p>
        </p:txBody>
      </p:sp>
      <p:sp>
        <p:nvSpPr>
          <p:cNvPr id="22" name="TextBox 21"/>
          <p:cNvSpPr txBox="1"/>
          <p:nvPr/>
        </p:nvSpPr>
        <p:spPr>
          <a:xfrm>
            <a:off x="3931920" y="3767328"/>
            <a:ext cx="1097280" cy="411480"/>
          </a:xfrm>
          <a:prstGeom prst="rect">
            <a:avLst/>
          </a:prstGeom>
          <a:noFill/>
        </p:spPr>
        <p:txBody>
          <a:bodyPr wrap="square" lIns="0" rIns="0" tIns="0" bIns="0">
            <a:spAutoFit/>
          </a:bodyPr>
          <a:lstStyle/>
          <a:p>
            <a:pPr algn="l">
              <a:spcAft>
                <a:spcPts val="0"/>
              </a:spcAft>
            </a:pPr>
            <a:r>
              <a:rPr sz="1200" b="0" i="0">
                <a:solidFill>
                  <a:srgbClr val="1A1A1A"/>
                </a:solidFill>
                <a:latin typeface="Segoe UI"/>
              </a:rPr>
              <a:t>61</a:t>
            </a:r>
          </a:p>
        </p:txBody>
      </p:sp>
      <p:sp>
        <p:nvSpPr>
          <p:cNvPr id="23" name="Rectangle 22"/>
          <p:cNvSpPr/>
          <p:nvPr/>
        </p:nvSpPr>
        <p:spPr>
          <a:xfrm>
            <a:off x="5486400" y="1188720"/>
            <a:ext cx="6126480" cy="443484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486400" y="1188720"/>
            <a:ext cx="54864" cy="443484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715000" y="1325880"/>
            <a:ext cx="5760720" cy="320040"/>
          </a:xfrm>
          <a:prstGeom prst="rect">
            <a:avLst/>
          </a:prstGeom>
          <a:noFill/>
        </p:spPr>
        <p:txBody>
          <a:bodyPr wrap="square" lIns="0" rIns="0" tIns="0" bIns="0">
            <a:spAutoFit/>
          </a:bodyPr>
          <a:lstStyle/>
          <a:p>
            <a:pPr algn="l">
              <a:spcAft>
                <a:spcPts val="0"/>
              </a:spcAft>
            </a:pPr>
            <a:r>
              <a:rPr sz="1000" b="1" i="0">
                <a:solidFill>
                  <a:srgbClr val="C8102E"/>
                </a:solidFill>
                <a:latin typeface="Segoe UI"/>
              </a:rPr>
              <a:t>READ WITH CARE</a:t>
            </a:r>
          </a:p>
        </p:txBody>
      </p:sp>
      <p:sp>
        <p:nvSpPr>
          <p:cNvPr id="26" name="TextBox 25"/>
          <p:cNvSpPr txBox="1"/>
          <p:nvPr/>
        </p:nvSpPr>
        <p:spPr>
          <a:xfrm>
            <a:off x="5715000" y="1691640"/>
            <a:ext cx="5760720" cy="3794759"/>
          </a:xfrm>
          <a:prstGeom prst="rect">
            <a:avLst/>
          </a:prstGeom>
          <a:noFill/>
        </p:spPr>
        <p:txBody>
          <a:bodyPr wrap="square" lIns="0" rIns="0" tIns="0" bIns="0">
            <a:spAutoFit/>
          </a:bodyPr>
          <a:lstStyle/>
          <a:p>
            <a:pPr algn="l">
              <a:spcAft>
                <a:spcPts val="700"/>
              </a:spcAft>
            </a:pPr>
            <a:r>
              <a:rPr sz="1100" b="0" i="0">
                <a:solidFill>
                  <a:srgbClr val="1A1A1A"/>
                </a:solidFill>
                <a:latin typeface="Segoe UI"/>
              </a:rPr>
              <a:t>2023: 31 channel replies telling winners to email their details, e.g. “Congratulations on winning! Please email your complete details”.</a:t>
            </a:r>
          </a:p>
          <a:p>
            <a:pPr algn="l">
              <a:spcAft>
                <a:spcPts val="700"/>
              </a:spcAft>
            </a:pPr>
            <a:r>
              <a:rPr sz="1100" b="0" i="0">
                <a:solidFill>
                  <a:srgbClr val="1A1A1A"/>
                </a:solidFill>
                <a:latin typeface="Segoe UI"/>
              </a:rPr>
              <a:t>2023: 24 visitors say they came from creator vlogs, e.g. “Who is here after ducky Bahi vlog”.</a:t>
            </a:r>
          </a:p>
          <a:p>
            <a:pPr algn="l">
              <a:spcAft>
                <a:spcPts val="700"/>
              </a:spcAft>
            </a:pPr>
            <a:r>
              <a:rPr sz="1100" b="0" i="0">
                <a:solidFill>
                  <a:srgbClr val="1A1A1A"/>
                </a:solidFill>
                <a:latin typeface="Segoe UI"/>
              </a:rPr>
              <a:t>2025: four accounts active on 5+ of the 8 uploads wrote 35 of the 61 audience comments.</a:t>
            </a:r>
          </a:p>
          <a:p>
            <a:pPr algn="l">
              <a:spcAft>
                <a:spcPts val="700"/>
              </a:spcAft>
            </a:pPr>
            <a:r>
              <a:rPr sz="1100" b="0" i="0">
                <a:solidFill>
                  <a:srgbClr val="1A1A1A"/>
                </a:solidFill>
                <a:latin typeface="Segoe UI"/>
              </a:rPr>
              <a:t>2019: one account posted “Fatima Group is Fraud Gang” 23 times.</a:t>
            </a:r>
          </a:p>
          <a:p>
            <a:pPr algn="l">
              <a:spcAft>
                <a:spcPts val="700"/>
              </a:spcAft>
            </a:pPr>
            <a:r>
              <a:rPr sz="1100" b="0" i="0">
                <a:solidFill>
                  <a:srgbClr val="1A1A1A"/>
                </a:solidFill>
                <a:latin typeface="Segoe UI"/>
              </a:rPr>
              <a:t>2019: Indian viewers found the anthem during India's farmer protests: “Who is here after injustice to indian farmers” (122 likes).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64240" cy="274320"/>
          </a:xfrm>
          <a:prstGeom prst="rect">
            <a:avLst/>
          </a:prstGeom>
          <a:noFill/>
        </p:spPr>
        <p:txBody>
          <a:bodyPr wrap="square" lIns="0" rIns="0" tIns="0" bIns="0">
            <a:spAutoFit/>
          </a:bodyPr>
          <a:lstStyle/>
          <a:p>
            <a:pPr algn="l">
              <a:spcAft>
                <a:spcPts val="0"/>
              </a:spcAft>
            </a:pPr>
            <a:r>
              <a:rPr sz="1000" b="1" i="0">
                <a:solidFill>
                  <a:srgbClr val="9FB4C7"/>
                </a:solidFill>
                <a:latin typeface="Segoe UI"/>
              </a:rPr>
              <a:t>4  ·  WHO ELSE MARKS THE DAY</a:t>
            </a:r>
          </a:p>
        </p:txBody>
      </p:sp>
      <p:sp>
        <p:nvSpPr>
          <p:cNvPr id="4" name="TextBox 3"/>
          <p:cNvSpPr txBox="1"/>
          <p:nvPr/>
        </p:nvSpPr>
        <p:spPr>
          <a:xfrm>
            <a:off x="548640" y="384048"/>
            <a:ext cx="11064240" cy="457200"/>
          </a:xfrm>
          <a:prstGeom prst="rect">
            <a:avLst/>
          </a:prstGeom>
          <a:noFill/>
        </p:spPr>
        <p:txBody>
          <a:bodyPr wrap="square" lIns="0" rIns="0" tIns="0" bIns="0">
            <a:spAutoFit/>
          </a:bodyPr>
          <a:lstStyle/>
          <a:p>
            <a:pPr algn="l">
              <a:spcAft>
                <a:spcPts val="0"/>
              </a:spcAft>
            </a:pPr>
            <a:r>
              <a:rPr sz="2200" b="1" i="0">
                <a:solidFill>
                  <a:srgbClr val="FFFFFF"/>
                </a:solidFill>
                <a:latin typeface="Segoe UI"/>
              </a:rPr>
              <a:t>The salute is open to anyone, including the name</a:t>
            </a:r>
          </a:p>
        </p:txBody>
      </p:sp>
      <p:sp>
        <p:nvSpPr>
          <p:cNvPr id="5" name="Rectangle 4"/>
          <p:cNvSpPr/>
          <p:nvPr/>
        </p:nvSpPr>
        <p:spPr>
          <a:xfrm>
            <a:off x="548640" y="5806440"/>
            <a:ext cx="11064240" cy="566928"/>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5897880"/>
            <a:ext cx="10607040" cy="457200"/>
          </a:xfrm>
          <a:prstGeom prst="rect">
            <a:avLst/>
          </a:prstGeom>
          <a:noFill/>
        </p:spPr>
        <p:txBody>
          <a:bodyPr wrap="square" lIns="0" rIns="0" tIns="0" bIns="0">
            <a:spAutoFit/>
          </a:bodyPr>
          <a:lstStyle/>
          <a:p>
            <a:pPr algn="l">
              <a:spcAft>
                <a:spcPts val="0"/>
              </a:spcAft>
            </a:pPr>
            <a:r>
              <a:rPr sz="1200" b="1" i="0">
                <a:solidFill>
                  <a:srgbClr val="FFFFFF"/>
                </a:solidFill>
                <a:latin typeface="Segoe UI"/>
              </a:rPr>
              <a:t>Syngenta runs December Kisan Day films, and JPL and Rizq Foods use the Salam Kissan name. No FFC or Engro campaign was found.</a:t>
            </a:r>
          </a:p>
        </p:txBody>
      </p:sp>
      <p:sp>
        <p:nvSpPr>
          <p:cNvPr id="7" name="TextBox 6"/>
          <p:cNvSpPr txBox="1"/>
          <p:nvPr/>
        </p:nvSpPr>
        <p:spPr>
          <a:xfrm>
            <a:off x="548640" y="6446520"/>
            <a:ext cx="11064240" cy="320040"/>
          </a:xfrm>
          <a:prstGeom prst="rect">
            <a:avLst/>
          </a:prstGeom>
          <a:noFill/>
        </p:spPr>
        <p:txBody>
          <a:bodyPr wrap="square" lIns="0" rIns="0" tIns="0" bIns="0">
            <a:spAutoFit/>
          </a:bodyPr>
          <a:lstStyle/>
          <a:p>
            <a:pPr algn="l">
              <a:spcAft>
                <a:spcPts val="0"/>
              </a:spcAft>
            </a:pPr>
            <a:r>
              <a:rPr sz="800" b="0" i="0">
                <a:solidFill>
                  <a:srgbClr val="6B7480"/>
                </a:solidFill>
                <a:latin typeface="Segoe UI"/>
              </a:rPr>
              <a:t>Source: 7 YouTube searches, 254 videos; metadata for 36 non-Sarsabz uploads, 16 Sep 2026 (scan/). Search rank is not a census; TikTok and Facebook not covered; brand-channel views mostly paid.</a:t>
            </a:r>
          </a:p>
        </p:txBody>
      </p:sp>
      <p:sp>
        <p:nvSpPr>
          <p:cNvPr id="8" name="Rectangle 7"/>
          <p:cNvSpPr/>
          <p:nvPr/>
        </p:nvSpPr>
        <p:spPr>
          <a:xfrm>
            <a:off x="548640" y="1188720"/>
            <a:ext cx="7315200" cy="54864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252728"/>
            <a:ext cx="2011679" cy="457200"/>
          </a:xfrm>
          <a:prstGeom prst="rect">
            <a:avLst/>
          </a:prstGeom>
          <a:noFill/>
        </p:spPr>
        <p:txBody>
          <a:bodyPr wrap="square" lIns="0" rIns="0" tIns="0" bIns="0">
            <a:spAutoFit/>
          </a:bodyPr>
          <a:lstStyle/>
          <a:p>
            <a:pPr algn="l">
              <a:spcAft>
                <a:spcPts val="0"/>
              </a:spcAft>
            </a:pPr>
            <a:r>
              <a:rPr sz="1050" b="1" i="0">
                <a:solidFill>
                  <a:srgbClr val="FFFFFF"/>
                </a:solidFill>
                <a:latin typeface="Segoe UI"/>
              </a:rPr>
              <a:t>Brand</a:t>
            </a:r>
          </a:p>
        </p:txBody>
      </p:sp>
      <p:sp>
        <p:nvSpPr>
          <p:cNvPr id="10" name="TextBox 9"/>
          <p:cNvSpPr txBox="1"/>
          <p:nvPr/>
        </p:nvSpPr>
        <p:spPr>
          <a:xfrm>
            <a:off x="2834640" y="1252728"/>
            <a:ext cx="4937759" cy="457200"/>
          </a:xfrm>
          <a:prstGeom prst="rect">
            <a:avLst/>
          </a:prstGeom>
          <a:noFill/>
        </p:spPr>
        <p:txBody>
          <a:bodyPr wrap="square" lIns="0" rIns="0" tIns="0" bIns="0">
            <a:spAutoFit/>
          </a:bodyPr>
          <a:lstStyle/>
          <a:p>
            <a:pPr algn="l">
              <a:spcAft>
                <a:spcPts val="0"/>
              </a:spcAft>
            </a:pPr>
            <a:r>
              <a:rPr sz="1050" b="1" i="0">
                <a:solidFill>
                  <a:srgbClr val="FFFFFF"/>
                </a:solidFill>
                <a:latin typeface="Segoe UI"/>
              </a:rPr>
              <a:t>What was found</a:t>
            </a:r>
          </a:p>
        </p:txBody>
      </p:sp>
      <p:sp>
        <p:nvSpPr>
          <p:cNvPr id="11" name="TextBox 10"/>
          <p:cNvSpPr txBox="1"/>
          <p:nvPr/>
        </p:nvSpPr>
        <p:spPr>
          <a:xfrm>
            <a:off x="640080" y="1801368"/>
            <a:ext cx="2011679" cy="457200"/>
          </a:xfrm>
          <a:prstGeom prst="rect">
            <a:avLst/>
          </a:prstGeom>
          <a:noFill/>
        </p:spPr>
        <p:txBody>
          <a:bodyPr wrap="square" lIns="0" rIns="0" tIns="0" bIns="0">
            <a:spAutoFit/>
          </a:bodyPr>
          <a:lstStyle/>
          <a:p>
            <a:pPr algn="l">
              <a:spcAft>
                <a:spcPts val="0"/>
              </a:spcAft>
            </a:pPr>
            <a:r>
              <a:rPr sz="1050" b="0" i="0">
                <a:solidFill>
                  <a:srgbClr val="1A1A1A"/>
                </a:solidFill>
                <a:latin typeface="Segoe UI"/>
              </a:rPr>
              <a:t>Syngenta Pakistan</a:t>
            </a:r>
          </a:p>
        </p:txBody>
      </p:sp>
      <p:sp>
        <p:nvSpPr>
          <p:cNvPr id="12" name="TextBox 11"/>
          <p:cNvSpPr txBox="1"/>
          <p:nvPr/>
        </p:nvSpPr>
        <p:spPr>
          <a:xfrm>
            <a:off x="2834640" y="1801368"/>
            <a:ext cx="4937759" cy="457200"/>
          </a:xfrm>
          <a:prstGeom prst="rect">
            <a:avLst/>
          </a:prstGeom>
          <a:noFill/>
        </p:spPr>
        <p:txBody>
          <a:bodyPr wrap="square" lIns="0" rIns="0" tIns="0" bIns="0">
            <a:spAutoFit/>
          </a:bodyPr>
          <a:lstStyle/>
          <a:p>
            <a:pPr algn="l">
              <a:spcAft>
                <a:spcPts val="0"/>
              </a:spcAft>
            </a:pPr>
            <a:r>
              <a:rPr sz="1050" b="0" i="0">
                <a:solidFill>
                  <a:srgbClr val="1A1A1A"/>
                </a:solidFill>
                <a:latin typeface="Segoe UI"/>
              </a:rPr>
              <a:t>2023 11s 124K; 2023 60s 399K; 2024 70s 689K; 2024 6s 32K  ·  #MaiKisanHun (2023)</a:t>
            </a:r>
          </a:p>
        </p:txBody>
      </p:sp>
      <p:sp>
        <p:nvSpPr>
          <p:cNvPr id="13" name="Rectangle 12"/>
          <p:cNvSpPr/>
          <p:nvPr/>
        </p:nvSpPr>
        <p:spPr>
          <a:xfrm>
            <a:off x="548640" y="2286000"/>
            <a:ext cx="7315200" cy="54864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2350008"/>
            <a:ext cx="2011679" cy="457200"/>
          </a:xfrm>
          <a:prstGeom prst="rect">
            <a:avLst/>
          </a:prstGeom>
          <a:noFill/>
        </p:spPr>
        <p:txBody>
          <a:bodyPr wrap="square" lIns="0" rIns="0" tIns="0" bIns="0">
            <a:spAutoFit/>
          </a:bodyPr>
          <a:lstStyle/>
          <a:p>
            <a:pPr algn="l">
              <a:spcAft>
                <a:spcPts val="0"/>
              </a:spcAft>
            </a:pPr>
            <a:r>
              <a:rPr sz="1050" b="0" i="0">
                <a:solidFill>
                  <a:srgbClr val="1A1A1A"/>
                </a:solidFill>
                <a:latin typeface="Segoe UI"/>
              </a:rPr>
              <a:t>JPL Pakistan</a:t>
            </a:r>
          </a:p>
        </p:txBody>
      </p:sp>
      <p:sp>
        <p:nvSpPr>
          <p:cNvPr id="15" name="TextBox 14"/>
          <p:cNvSpPr txBox="1"/>
          <p:nvPr/>
        </p:nvSpPr>
        <p:spPr>
          <a:xfrm>
            <a:off x="2834640" y="2350008"/>
            <a:ext cx="4937759" cy="457200"/>
          </a:xfrm>
          <a:prstGeom prst="rect">
            <a:avLst/>
          </a:prstGeom>
          <a:noFill/>
        </p:spPr>
        <p:txBody>
          <a:bodyPr wrap="square" lIns="0" rIns="0" tIns="0" bIns="0">
            <a:spAutoFit/>
          </a:bodyPr>
          <a:lstStyle/>
          <a:p>
            <a:pPr algn="l">
              <a:spcAft>
                <a:spcPts val="0"/>
              </a:spcAft>
            </a:pPr>
            <a:r>
              <a:rPr sz="1050" b="0" i="0">
                <a:solidFill>
                  <a:srgbClr val="1A1A1A"/>
                </a:solidFill>
                <a:latin typeface="Segoe UI"/>
              </a:rPr>
              <a:t>3 executive tributes titled “Salam Kissan - A tribute to f…”  (Dec 2020)</a:t>
            </a:r>
          </a:p>
        </p:txBody>
      </p:sp>
      <p:sp>
        <p:nvSpPr>
          <p:cNvPr id="16" name="TextBox 15"/>
          <p:cNvSpPr txBox="1"/>
          <p:nvPr/>
        </p:nvSpPr>
        <p:spPr>
          <a:xfrm>
            <a:off x="640080" y="2898648"/>
            <a:ext cx="2011679" cy="457200"/>
          </a:xfrm>
          <a:prstGeom prst="rect">
            <a:avLst/>
          </a:prstGeom>
          <a:noFill/>
        </p:spPr>
        <p:txBody>
          <a:bodyPr wrap="square" lIns="0" rIns="0" tIns="0" bIns="0">
            <a:spAutoFit/>
          </a:bodyPr>
          <a:lstStyle/>
          <a:p>
            <a:pPr algn="l">
              <a:spcAft>
                <a:spcPts val="0"/>
              </a:spcAft>
            </a:pPr>
            <a:r>
              <a:rPr sz="1050" b="0" i="0">
                <a:solidFill>
                  <a:srgbClr val="1A1A1A"/>
                </a:solidFill>
                <a:latin typeface="Segoe UI"/>
              </a:rPr>
              <a:t>Rizq Foods</a:t>
            </a:r>
          </a:p>
        </p:txBody>
      </p:sp>
      <p:sp>
        <p:nvSpPr>
          <p:cNvPr id="17" name="TextBox 16"/>
          <p:cNvSpPr txBox="1"/>
          <p:nvPr/>
        </p:nvSpPr>
        <p:spPr>
          <a:xfrm>
            <a:off x="2834640" y="2898648"/>
            <a:ext cx="4937759" cy="457200"/>
          </a:xfrm>
          <a:prstGeom prst="rect">
            <a:avLst/>
          </a:prstGeom>
          <a:noFill/>
        </p:spPr>
        <p:txBody>
          <a:bodyPr wrap="square" lIns="0" rIns="0" tIns="0" bIns="0">
            <a:spAutoFit/>
          </a:bodyPr>
          <a:lstStyle/>
          <a:p>
            <a:pPr algn="l">
              <a:spcAft>
                <a:spcPts val="0"/>
              </a:spcAft>
            </a:pPr>
            <a:r>
              <a:rPr sz="1050" b="0" i="0">
                <a:solidFill>
                  <a:srgbClr val="1A1A1A"/>
                </a:solidFill>
                <a:latin typeface="Segoe UI"/>
              </a:rPr>
              <a:t>“Salam Kisan | Kisan Day Pakistan | Rizq foods”  (Dec 2025)</a:t>
            </a:r>
          </a:p>
        </p:txBody>
      </p:sp>
      <p:sp>
        <p:nvSpPr>
          <p:cNvPr id="18" name="Rectangle 17"/>
          <p:cNvSpPr/>
          <p:nvPr/>
        </p:nvSpPr>
        <p:spPr>
          <a:xfrm>
            <a:off x="548640" y="3383280"/>
            <a:ext cx="7315200" cy="54864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3447288"/>
            <a:ext cx="2011679" cy="457200"/>
          </a:xfrm>
          <a:prstGeom prst="rect">
            <a:avLst/>
          </a:prstGeom>
          <a:noFill/>
        </p:spPr>
        <p:txBody>
          <a:bodyPr wrap="square" lIns="0" rIns="0" tIns="0" bIns="0">
            <a:spAutoFit/>
          </a:bodyPr>
          <a:lstStyle/>
          <a:p>
            <a:pPr algn="l">
              <a:spcAft>
                <a:spcPts val="0"/>
              </a:spcAft>
            </a:pPr>
            <a:r>
              <a:rPr sz="1050" b="0" i="0">
                <a:solidFill>
                  <a:srgbClr val="1A1A1A"/>
                </a:solidFill>
                <a:latin typeface="Segoe UI"/>
              </a:rPr>
              <a:t>Barket Fertilizers</a:t>
            </a:r>
          </a:p>
        </p:txBody>
      </p:sp>
      <p:sp>
        <p:nvSpPr>
          <p:cNvPr id="20" name="TextBox 19"/>
          <p:cNvSpPr txBox="1"/>
          <p:nvPr/>
        </p:nvSpPr>
        <p:spPr>
          <a:xfrm>
            <a:off x="2834640" y="3447288"/>
            <a:ext cx="4937759" cy="457200"/>
          </a:xfrm>
          <a:prstGeom prst="rect">
            <a:avLst/>
          </a:prstGeom>
          <a:noFill/>
        </p:spPr>
        <p:txBody>
          <a:bodyPr wrap="square" lIns="0" rIns="0" tIns="0" bIns="0">
            <a:spAutoFit/>
          </a:bodyPr>
          <a:lstStyle/>
          <a:p>
            <a:pPr algn="l">
              <a:spcAft>
                <a:spcPts val="0"/>
              </a:spcAft>
            </a:pPr>
            <a:r>
              <a:rPr sz="1050" b="0" i="0">
                <a:solidFill>
                  <a:srgbClr val="1A1A1A"/>
                </a:solidFill>
                <a:latin typeface="Segoe UI"/>
              </a:rPr>
              <a:t>“Kissan Day - Kisan Ki Azmat Faslon Mein Barket”  (Dec 2023)</a:t>
            </a:r>
          </a:p>
        </p:txBody>
      </p:sp>
      <p:sp>
        <p:nvSpPr>
          <p:cNvPr id="21" name="TextBox 20"/>
          <p:cNvSpPr txBox="1"/>
          <p:nvPr/>
        </p:nvSpPr>
        <p:spPr>
          <a:xfrm>
            <a:off x="640080" y="3995928"/>
            <a:ext cx="2011679" cy="457200"/>
          </a:xfrm>
          <a:prstGeom prst="rect">
            <a:avLst/>
          </a:prstGeom>
          <a:noFill/>
        </p:spPr>
        <p:txBody>
          <a:bodyPr wrap="square" lIns="0" rIns="0" tIns="0" bIns="0">
            <a:spAutoFit/>
          </a:bodyPr>
          <a:lstStyle/>
          <a:p>
            <a:pPr algn="l">
              <a:spcAft>
                <a:spcPts val="0"/>
              </a:spcAft>
            </a:pPr>
            <a:r>
              <a:rPr sz="1050" b="0" i="0">
                <a:solidFill>
                  <a:srgbClr val="1A1A1A"/>
                </a:solidFill>
                <a:latin typeface="Segoe UI"/>
              </a:rPr>
              <a:t>BaKhabar Kissan</a:t>
            </a:r>
          </a:p>
        </p:txBody>
      </p:sp>
      <p:sp>
        <p:nvSpPr>
          <p:cNvPr id="22" name="TextBox 21"/>
          <p:cNvSpPr txBox="1"/>
          <p:nvPr/>
        </p:nvSpPr>
        <p:spPr>
          <a:xfrm>
            <a:off x="2834640" y="3995928"/>
            <a:ext cx="4937759" cy="457200"/>
          </a:xfrm>
          <a:prstGeom prst="rect">
            <a:avLst/>
          </a:prstGeom>
          <a:noFill/>
        </p:spPr>
        <p:txBody>
          <a:bodyPr wrap="square" lIns="0" rIns="0" tIns="0" bIns="0">
            <a:spAutoFit/>
          </a:bodyPr>
          <a:lstStyle/>
          <a:p>
            <a:pPr algn="l">
              <a:spcAft>
                <a:spcPts val="0"/>
              </a:spcAft>
            </a:pPr>
            <a:r>
              <a:rPr sz="1050" b="0" i="0">
                <a:solidFill>
                  <a:srgbClr val="1A1A1A"/>
                </a:solidFill>
                <a:latin typeface="Segoe UI"/>
              </a:rPr>
              <a:t>Kissan Day film every year 2019-2022</a:t>
            </a:r>
          </a:p>
        </p:txBody>
      </p:sp>
      <p:sp>
        <p:nvSpPr>
          <p:cNvPr id="23" name="Rectangle 22"/>
          <p:cNvSpPr/>
          <p:nvPr/>
        </p:nvSpPr>
        <p:spPr>
          <a:xfrm>
            <a:off x="548640" y="4480559"/>
            <a:ext cx="7315200" cy="54864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4544568"/>
            <a:ext cx="2011679" cy="457200"/>
          </a:xfrm>
          <a:prstGeom prst="rect">
            <a:avLst/>
          </a:prstGeom>
          <a:noFill/>
        </p:spPr>
        <p:txBody>
          <a:bodyPr wrap="square" lIns="0" rIns="0" tIns="0" bIns="0">
            <a:spAutoFit/>
          </a:bodyPr>
          <a:lstStyle/>
          <a:p>
            <a:pPr algn="l">
              <a:spcAft>
                <a:spcPts val="0"/>
              </a:spcAft>
            </a:pPr>
            <a:r>
              <a:rPr sz="1050" b="0" i="0">
                <a:solidFill>
                  <a:srgbClr val="1A1A1A"/>
                </a:solidFill>
                <a:latin typeface="Segoe UI"/>
              </a:rPr>
              <a:t>FFC</a:t>
            </a:r>
          </a:p>
        </p:txBody>
      </p:sp>
      <p:sp>
        <p:nvSpPr>
          <p:cNvPr id="25" name="TextBox 24"/>
          <p:cNvSpPr txBox="1"/>
          <p:nvPr/>
        </p:nvSpPr>
        <p:spPr>
          <a:xfrm>
            <a:off x="2834640" y="4544568"/>
            <a:ext cx="4937759" cy="457200"/>
          </a:xfrm>
          <a:prstGeom prst="rect">
            <a:avLst/>
          </a:prstGeom>
          <a:noFill/>
        </p:spPr>
        <p:txBody>
          <a:bodyPr wrap="square" lIns="0" rIns="0" tIns="0" bIns="0">
            <a:spAutoFit/>
          </a:bodyPr>
          <a:lstStyle/>
          <a:p>
            <a:pPr algn="l">
              <a:spcAft>
                <a:spcPts val="0"/>
              </a:spcAft>
            </a:pPr>
            <a:r>
              <a:rPr sz="1050" b="0" i="0">
                <a:solidFill>
                  <a:srgbClr val="1A1A1A"/>
                </a:solidFill>
                <a:latin typeface="Segoe UI"/>
              </a:rPr>
              <a:t>Only a third-party upload of a regional manager's Farmer's Day speech</a:t>
            </a:r>
          </a:p>
        </p:txBody>
      </p:sp>
      <p:sp>
        <p:nvSpPr>
          <p:cNvPr id="26" name="TextBox 25"/>
          <p:cNvSpPr txBox="1"/>
          <p:nvPr/>
        </p:nvSpPr>
        <p:spPr>
          <a:xfrm>
            <a:off x="640080" y="5093207"/>
            <a:ext cx="2011679" cy="457200"/>
          </a:xfrm>
          <a:prstGeom prst="rect">
            <a:avLst/>
          </a:prstGeom>
          <a:noFill/>
        </p:spPr>
        <p:txBody>
          <a:bodyPr wrap="square" lIns="0" rIns="0" tIns="0" bIns="0">
            <a:spAutoFit/>
          </a:bodyPr>
          <a:lstStyle/>
          <a:p>
            <a:pPr algn="l">
              <a:spcAft>
                <a:spcPts val="0"/>
              </a:spcAft>
            </a:pPr>
            <a:r>
              <a:rPr sz="1050" b="0" i="0">
                <a:solidFill>
                  <a:srgbClr val="1A1A1A"/>
                </a:solidFill>
                <a:latin typeface="Segoe UI"/>
              </a:rPr>
              <a:t>Sarsabz</a:t>
            </a:r>
          </a:p>
        </p:txBody>
      </p:sp>
      <p:sp>
        <p:nvSpPr>
          <p:cNvPr id="27" name="TextBox 26"/>
          <p:cNvSpPr txBox="1"/>
          <p:nvPr/>
        </p:nvSpPr>
        <p:spPr>
          <a:xfrm>
            <a:off x="2834640" y="5093207"/>
            <a:ext cx="4937759" cy="457200"/>
          </a:xfrm>
          <a:prstGeom prst="rect">
            <a:avLst/>
          </a:prstGeom>
          <a:noFill/>
        </p:spPr>
        <p:txBody>
          <a:bodyPr wrap="square" lIns="0" rIns="0" tIns="0" bIns="0">
            <a:spAutoFit/>
          </a:bodyPr>
          <a:lstStyle/>
          <a:p>
            <a:pPr algn="l">
              <a:spcAft>
                <a:spcPts val="0"/>
              </a:spcAft>
            </a:pPr>
            <a:r>
              <a:rPr sz="1050" b="0" i="0">
                <a:solidFill>
                  <a:srgbClr val="1A1A1A"/>
                </a:solidFill>
                <a:latin typeface="Segoe UI"/>
              </a:rPr>
              <a:t>43 of the 168 search results titled for the day or Salam Kissan</a:t>
            </a:r>
          </a:p>
        </p:txBody>
      </p:sp>
      <p:sp>
        <p:nvSpPr>
          <p:cNvPr id="28" name="Rectangle 27"/>
          <p:cNvSpPr/>
          <p:nvPr/>
        </p:nvSpPr>
        <p:spPr>
          <a:xfrm>
            <a:off x="8138160" y="1188720"/>
            <a:ext cx="3474720" cy="443484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138160" y="1188720"/>
            <a:ext cx="54864" cy="443484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66760" y="1325880"/>
            <a:ext cx="3108960" cy="320040"/>
          </a:xfrm>
          <a:prstGeom prst="rect">
            <a:avLst/>
          </a:prstGeom>
          <a:noFill/>
        </p:spPr>
        <p:txBody>
          <a:bodyPr wrap="square" lIns="0" rIns="0" tIns="0" bIns="0">
            <a:spAutoFit/>
          </a:bodyPr>
          <a:lstStyle/>
          <a:p>
            <a:pPr algn="l">
              <a:spcAft>
                <a:spcPts val="0"/>
              </a:spcAft>
            </a:pPr>
            <a:r>
              <a:rPr sz="1000" b="1" i="0">
                <a:solidFill>
                  <a:srgbClr val="C8102E"/>
                </a:solidFill>
                <a:latin typeface="Segoe UI"/>
              </a:rPr>
              <a:t>THE CRITIC</a:t>
            </a:r>
          </a:p>
        </p:txBody>
      </p:sp>
      <p:sp>
        <p:nvSpPr>
          <p:cNvPr id="31" name="TextBox 30"/>
          <p:cNvSpPr txBox="1"/>
          <p:nvPr/>
        </p:nvSpPr>
        <p:spPr>
          <a:xfrm>
            <a:off x="8366760" y="1691640"/>
            <a:ext cx="3108960" cy="3794759"/>
          </a:xfrm>
          <a:prstGeom prst="rect">
            <a:avLst/>
          </a:prstGeom>
          <a:noFill/>
        </p:spPr>
        <p:txBody>
          <a:bodyPr wrap="square" lIns="0" rIns="0" tIns="0" bIns="0">
            <a:spAutoFit/>
          </a:bodyPr>
          <a:lstStyle/>
          <a:p>
            <a:pPr algn="l">
              <a:spcAft>
                <a:spcPts val="700"/>
              </a:spcAft>
            </a:pPr>
            <a:r>
              <a:rPr sz="1100" b="0" i="0">
                <a:solidFill>
                  <a:srgbClr val="1A1A1A"/>
                </a:solidFill>
                <a:latin typeface="Segoe UI"/>
              </a:rPr>
              <a:t>“18 december kisan day sirf tv show per  kisan Haqeeqat main rull gia pakistan ka kisan”</a:t>
            </a:r>
          </a:p>
          <a:p>
            <a:pPr algn="l">
              <a:spcAft>
                <a:spcPts val="700"/>
              </a:spcAft>
            </a:pPr>
            <a:r>
              <a:rPr sz="1100" b="0" i="0">
                <a:solidFill>
                  <a:srgbClr val="1A1A1A"/>
                </a:solidFill>
                <a:latin typeface="Segoe UI"/>
              </a:rPr>
              <a:t>(our translation: Kissan Day is only on TV shows; in reality Pakistan's farmer is ruined)</a:t>
            </a:r>
          </a:p>
          <a:p>
            <a:pPr algn="l">
              <a:spcAft>
                <a:spcPts val="700"/>
              </a:spcAft>
            </a:pPr>
            <a:r>
              <a:rPr sz="1100" b="0" i="0">
                <a:solidFill>
                  <a:srgbClr val="1A1A1A"/>
                </a:solidFill>
                <a:latin typeface="Segoe UI"/>
              </a:rPr>
              <a:t>DIGITAL KISAN Pakistan, 18 Dec 2022.</a:t>
            </a:r>
          </a:p>
          <a:p>
            <a:pPr algn="l">
              <a:spcAft>
                <a:spcPts val="700"/>
              </a:spcAft>
            </a:pPr>
            <a:r>
              <a:rPr sz="1100" b="0" i="0">
                <a:solidFill>
                  <a:srgbClr val="1A1A1A"/>
                </a:solidFill>
                <a:latin typeface="Segoe UI"/>
              </a:rPr>
              <a:t>The press: Express News and BOL name Fatima in Kissan Day programmes; GNN, SAMAA, Aaj and Neo name no brand in their titles.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2103120"/>
            <a:ext cx="1463040" cy="5486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377440"/>
            <a:ext cx="10424160" cy="914400"/>
          </a:xfrm>
          <a:prstGeom prst="rect">
            <a:avLst/>
          </a:prstGeom>
          <a:noFill/>
        </p:spPr>
        <p:txBody>
          <a:bodyPr wrap="square" lIns="0" rIns="0" tIns="0" bIns="0">
            <a:spAutoFit/>
          </a:bodyPr>
          <a:lstStyle/>
          <a:p>
            <a:pPr algn="l">
              <a:spcAft>
                <a:spcPts val="600"/>
              </a:spcAft>
            </a:pPr>
            <a:r>
              <a:rPr sz="4000" b="1" i="0">
                <a:solidFill>
                  <a:srgbClr val="FFFFFF"/>
                </a:solidFill>
                <a:latin typeface="Segoe UI"/>
              </a:rPr>
              <a:t>The Big Idea</a:t>
            </a:r>
          </a:p>
        </p:txBody>
      </p:sp>
      <p:sp>
        <p:nvSpPr>
          <p:cNvPr id="5" name="TextBox 4"/>
          <p:cNvSpPr txBox="1"/>
          <p:nvPr/>
        </p:nvSpPr>
        <p:spPr>
          <a:xfrm>
            <a:off x="822960" y="3246120"/>
            <a:ext cx="10424160" cy="1097280"/>
          </a:xfrm>
          <a:prstGeom prst="rect">
            <a:avLst/>
          </a:prstGeom>
          <a:noFill/>
        </p:spPr>
        <p:txBody>
          <a:bodyPr wrap="square" lIns="0" rIns="0" tIns="0" bIns="0">
            <a:spAutoFit/>
          </a:bodyPr>
          <a:lstStyle/>
          <a:p>
            <a:pPr algn="l">
              <a:spcAft>
                <a:spcPts val="600"/>
              </a:spcAft>
            </a:pPr>
            <a:r>
              <a:rPr sz="1600" b="0" i="0">
                <a:solidFill>
                  <a:srgbClr val="9FB4C7"/>
                </a:solidFill>
                <a:latin typeface="Segoe UI"/>
              </a:rPr>
              <a:t>Consumer insight  +  Category insight  +  Brand insight</a:t>
            </a:r>
          </a:p>
          <a:p>
            <a:pPr algn="l">
              <a:spcAft>
                <a:spcPts val="600"/>
              </a:spcAft>
            </a:pPr>
            <a:r>
              <a:rPr sz="1600" b="0" i="0">
                <a:solidFill>
                  <a:srgbClr val="9FB4C7"/>
                </a:solidFill>
                <a:latin typeface="Segoe UI"/>
              </a:rPr>
              <a:t>Three single lines, combined into one organising thought.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0972800" cy="274320"/>
          </a:xfrm>
          <a:prstGeom prst="rect">
            <a:avLst/>
          </a:prstGeom>
          <a:noFill/>
        </p:spPr>
        <p:txBody>
          <a:bodyPr wrap="square" lIns="0" rIns="0" tIns="0" bIns="0">
            <a:spAutoFit/>
          </a:bodyPr>
          <a:lstStyle/>
          <a:p>
            <a:pPr algn="l">
              <a:spcAft>
                <a:spcPts val="0"/>
              </a:spcAft>
            </a:pPr>
            <a:r>
              <a:rPr sz="1000" b="1" i="0">
                <a:solidFill>
                  <a:srgbClr val="9FB4C7"/>
                </a:solidFill>
                <a:latin typeface="Segoe UI"/>
              </a:rPr>
              <a:t>STEP 1  ·  CONSUMER INSIGHT  ·  FROM THE SALAM KISSAN COMMENTS</a:t>
            </a:r>
          </a:p>
        </p:txBody>
      </p:sp>
      <p:sp>
        <p:nvSpPr>
          <p:cNvPr id="4" name="TextBox 3"/>
          <p:cNvSpPr txBox="1"/>
          <p:nvPr/>
        </p:nvSpPr>
        <p:spPr>
          <a:xfrm>
            <a:off x="548640" y="384048"/>
            <a:ext cx="11064240" cy="457200"/>
          </a:xfrm>
          <a:prstGeom prst="rect">
            <a:avLst/>
          </a:prstGeom>
          <a:noFill/>
        </p:spPr>
        <p:txBody>
          <a:bodyPr wrap="square" lIns="0" rIns="0" tIns="0" bIns="0">
            <a:spAutoFit/>
          </a:bodyPr>
          <a:lstStyle/>
          <a:p>
            <a:pPr algn="l">
              <a:spcAft>
                <a:spcPts val="0"/>
              </a:spcAft>
            </a:pPr>
            <a:r>
              <a:rPr sz="2200" b="1" i="0">
                <a:solidFill>
                  <a:srgbClr val="FFFFFF"/>
                </a:solidFill>
                <a:latin typeface="Segoe UI"/>
              </a:rPr>
              <a:t>What the audience feels, that the films leave out</a:t>
            </a:r>
          </a:p>
        </p:txBody>
      </p:sp>
      <p:sp>
        <p:nvSpPr>
          <p:cNvPr id="5" name="Rectangle 4"/>
          <p:cNvSpPr/>
          <p:nvPr/>
        </p:nvSpPr>
        <p:spPr>
          <a:xfrm>
            <a:off x="548640" y="1234440"/>
            <a:ext cx="73152" cy="160020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234440"/>
            <a:ext cx="10698480" cy="1600200"/>
          </a:xfrm>
          <a:prstGeom prst="rect">
            <a:avLst/>
          </a:prstGeom>
          <a:noFill/>
        </p:spPr>
        <p:txBody>
          <a:bodyPr wrap="square" lIns="0" rIns="0" tIns="0" bIns="0">
            <a:spAutoFit/>
          </a:bodyPr>
          <a:lstStyle/>
          <a:p>
            <a:pPr algn="l">
              <a:spcAft>
                <a:spcPts val="0"/>
              </a:spcAft>
            </a:pPr>
            <a:r>
              <a:rPr sz="2300" b="1" i="0">
                <a:solidFill>
                  <a:srgbClr val="102A43"/>
                </a:solidFill>
                <a:latin typeface="Segoe UI"/>
              </a:rPr>
              <a:t>“The people most moved by Salam Kissan are farmers and farmers' children speaking with pride about their own family, yet in seven years of films the farmer has almost never been the one speaking.”</a:t>
            </a:r>
          </a:p>
        </p:txBody>
      </p:sp>
      <p:sp>
        <p:nvSpPr>
          <p:cNvPr id="7" name="TextBox 6"/>
          <p:cNvSpPr txBox="1"/>
          <p:nvPr/>
        </p:nvSpPr>
        <p:spPr>
          <a:xfrm>
            <a:off x="548640" y="3108960"/>
            <a:ext cx="6309360" cy="274320"/>
          </a:xfrm>
          <a:prstGeom prst="rect">
            <a:avLst/>
          </a:prstGeom>
          <a:noFill/>
        </p:spPr>
        <p:txBody>
          <a:bodyPr wrap="square" lIns="0" rIns="0" tIns="0" bIns="0">
            <a:spAutoFit/>
          </a:bodyPr>
          <a:lstStyle/>
          <a:p>
            <a:pPr algn="l">
              <a:spcAft>
                <a:spcPts val="0"/>
              </a:spcAft>
            </a:pPr>
            <a:r>
              <a:rPr sz="1000" b="1" i="0">
                <a:solidFill>
                  <a:srgbClr val="6B7480"/>
                </a:solidFill>
                <a:latin typeface="Segoe UI"/>
              </a:rPr>
              <a:t>EVIDENCE</a:t>
            </a:r>
          </a:p>
        </p:txBody>
      </p:sp>
      <p:sp>
        <p:nvSpPr>
          <p:cNvPr id="8" name="TextBox 7"/>
          <p:cNvSpPr txBox="1"/>
          <p:nvPr/>
        </p:nvSpPr>
        <p:spPr>
          <a:xfrm>
            <a:off x="548640" y="3401568"/>
            <a:ext cx="6309360" cy="2834640"/>
          </a:xfrm>
          <a:prstGeom prst="rect">
            <a:avLst/>
          </a:prstGeom>
          <a:noFill/>
        </p:spPr>
        <p:txBody>
          <a:bodyPr wrap="square" lIns="0" rIns="0" tIns="0" bIns="0">
            <a:spAutoFit/>
          </a:bodyPr>
          <a:lstStyle/>
          <a:p>
            <a:pPr algn="l">
              <a:spcAft>
                <a:spcPts val="700"/>
              </a:spcAft>
            </a:pPr>
            <a:r>
              <a:rPr sz="1100" b="0" i="0">
                <a:solidFill>
                  <a:srgbClr val="1A1A1A"/>
                </a:solidFill>
                <a:latin typeface="Segoe UI"/>
              </a:rPr>
              <a:t>·  "I feel proud because my father is farmer." (2019 anthem, 123 likes: the most-liked comment on that film)</a:t>
            </a:r>
          </a:p>
          <a:p>
            <a:pPr algn="l">
              <a:spcAft>
                <a:spcPts val="700"/>
              </a:spcAft>
            </a:pPr>
            <a:r>
              <a:rPr sz="1100" b="0" i="0">
                <a:solidFill>
                  <a:srgbClr val="1A1A1A"/>
                </a:solidFill>
                <a:latin typeface="Segoe UI"/>
              </a:rPr>
              <a:t>·  "I'm daughter of farmer. My grandfather was a farmer. And I'm proud of it." (2019)</a:t>
            </a:r>
          </a:p>
          <a:p>
            <a:pPr algn="l">
              <a:spcAft>
                <a:spcPts val="700"/>
              </a:spcAft>
            </a:pPr>
            <a:r>
              <a:rPr sz="1100" b="0" i="0">
                <a:solidFill>
                  <a:srgbClr val="1A1A1A"/>
                </a:solidFill>
                <a:latin typeface="Segoe UI"/>
              </a:rPr>
              <a:t>·  "We love kissan because my father is farmer Wo mehnat krta hn or ham aj parh raha hn" (2023; Urdu part, our translation: he works hard and today we are studying)</a:t>
            </a:r>
          </a:p>
          <a:p>
            <a:pPr algn="l">
              <a:spcAft>
                <a:spcPts val="700"/>
              </a:spcAft>
            </a:pPr>
            <a:r>
              <a:rPr sz="1100" b="0" i="0">
                <a:solidFill>
                  <a:srgbClr val="1A1A1A"/>
                </a:solidFill>
                <a:latin typeface="Segoe UI"/>
              </a:rPr>
              <a:t>·  In the archive, a farmer speaks in 9 of 76 Salam Kissan uploads. Celebrities and politicians speak in 30.</a:t>
            </a:r>
          </a:p>
        </p:txBody>
      </p:sp>
      <p:sp>
        <p:nvSpPr>
          <p:cNvPr id="9" name="Rectangle 8"/>
          <p:cNvSpPr/>
          <p:nvPr/>
        </p:nvSpPr>
        <p:spPr>
          <a:xfrm>
            <a:off x="7223760" y="3108960"/>
            <a:ext cx="4389120" cy="310896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52360" y="3246120"/>
            <a:ext cx="3977639" cy="274320"/>
          </a:xfrm>
          <a:prstGeom prst="rect">
            <a:avLst/>
          </a:prstGeom>
          <a:noFill/>
        </p:spPr>
        <p:txBody>
          <a:bodyPr wrap="square" lIns="0" rIns="0" tIns="0" bIns="0">
            <a:spAutoFit/>
          </a:bodyPr>
          <a:lstStyle/>
          <a:p>
            <a:pPr algn="l">
              <a:spcAft>
                <a:spcPts val="0"/>
              </a:spcAft>
            </a:pPr>
            <a:r>
              <a:rPr sz="1000" b="1" i="0">
                <a:solidFill>
                  <a:srgbClr val="6B7480"/>
                </a:solidFill>
                <a:latin typeface="Segoe UI"/>
              </a:rPr>
              <a:t>WHAT THE LANGUAGE TELLS US</a:t>
            </a:r>
          </a:p>
        </p:txBody>
      </p:sp>
      <p:sp>
        <p:nvSpPr>
          <p:cNvPr id="11" name="TextBox 10"/>
          <p:cNvSpPr txBox="1"/>
          <p:nvPr/>
        </p:nvSpPr>
        <p:spPr>
          <a:xfrm>
            <a:off x="7452360" y="3566160"/>
            <a:ext cx="3977639" cy="2606040"/>
          </a:xfrm>
          <a:prstGeom prst="rect">
            <a:avLst/>
          </a:prstGeom>
          <a:noFill/>
        </p:spPr>
        <p:txBody>
          <a:bodyPr wrap="square" lIns="0" rIns="0" tIns="0" bIns="0">
            <a:spAutoFit/>
          </a:bodyPr>
          <a:lstStyle/>
          <a:p>
            <a:pPr algn="l">
              <a:spcAft>
                <a:spcPts val="600"/>
              </a:spcAft>
            </a:pPr>
            <a:r>
              <a:rPr sz="1050" b="0" i="0">
                <a:solidFill>
                  <a:srgbClr val="102A43"/>
                </a:solidFill>
                <a:latin typeface="Segoe UI"/>
              </a:rPr>
              <a:t>The pride is personal: my father, my grandfather. People aren't talking about farmers in general.</a:t>
            </a:r>
          </a:p>
          <a:p>
            <a:pPr algn="l">
              <a:spcAft>
                <a:spcPts val="600"/>
              </a:spcAft>
            </a:pPr>
            <a:r>
              <a:rPr sz="1050" b="0" i="0">
                <a:solidFill>
                  <a:srgbClr val="102A43"/>
                </a:solidFill>
                <a:latin typeface="Segoe UI"/>
              </a:rPr>
              <a:t>Complaints are few but specific: 19 of 1,516 comments, about fertilizer supply, price and respect. Signal, not a pattern.</a:t>
            </a:r>
          </a:p>
          <a:p>
            <a:pPr algn="l">
              <a:spcAft>
                <a:spcPts val="600"/>
              </a:spcAft>
            </a:pPr>
            <a:r>
              <a:rPr sz="1050" b="0" i="0">
                <a:solidFill>
                  <a:srgbClr val="102A43"/>
                </a:solidFill>
                <a:latin typeface="Segoe UI"/>
              </a:rPr>
              <a:t>One comment asks for more than a day: "We need to make this permanent not temporary." (87 likes).</a:t>
            </a:r>
          </a:p>
        </p:txBody>
      </p:sp>
      <p:sp>
        <p:nvSpPr>
          <p:cNvPr id="12" name="TextBox 11"/>
          <p:cNvSpPr txBox="1"/>
          <p:nvPr/>
        </p:nvSpPr>
        <p:spPr>
          <a:xfrm>
            <a:off x="548640" y="6446520"/>
            <a:ext cx="11064240" cy="274320"/>
          </a:xfrm>
          <a:prstGeom prst="rect">
            <a:avLst/>
          </a:prstGeom>
          <a:noFill/>
        </p:spPr>
        <p:txBody>
          <a:bodyPr wrap="square" lIns="0" rIns="0" tIns="0" bIns="0">
            <a:spAutoFit/>
          </a:bodyPr>
          <a:lstStyle/>
          <a:p>
            <a:pPr algn="l">
              <a:spcAft>
                <a:spcPts val="0"/>
              </a:spcAft>
            </a:pPr>
            <a:r>
              <a:rPr sz="850" b="0" i="0">
                <a:solidFill>
                  <a:srgbClr val="6B7480"/>
                </a:solidFill>
                <a:latin typeface="Segoe UI"/>
              </a:rPr>
              <a:t>Source: 1,572 YouTube comments on the 18 largest Salam Kissan uploads, all read (comments/comment_findings.md); 76-upload archive coded (archive/archive_findings.md). Self-selected; no age, location or occupation split possible. Translations labelled.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0972800" cy="274320"/>
          </a:xfrm>
          <a:prstGeom prst="rect">
            <a:avLst/>
          </a:prstGeom>
          <a:noFill/>
        </p:spPr>
        <p:txBody>
          <a:bodyPr wrap="square" lIns="0" rIns="0" tIns="0" bIns="0">
            <a:spAutoFit/>
          </a:bodyPr>
          <a:lstStyle/>
          <a:p>
            <a:pPr algn="l">
              <a:spcAft>
                <a:spcPts val="0"/>
              </a:spcAft>
            </a:pPr>
            <a:r>
              <a:rPr sz="1000" b="1" i="0">
                <a:solidFill>
                  <a:srgbClr val="9FB4C7"/>
                </a:solidFill>
                <a:latin typeface="Segoe UI"/>
              </a:rPr>
              <a:t>STEP 2  ·  CATEGORY INSIGHT  ·  FROM A YOUTUBE SCAN OF KISSAN DAY</a:t>
            </a:r>
          </a:p>
        </p:txBody>
      </p:sp>
      <p:sp>
        <p:nvSpPr>
          <p:cNvPr id="4" name="TextBox 3"/>
          <p:cNvSpPr txBox="1"/>
          <p:nvPr/>
        </p:nvSpPr>
        <p:spPr>
          <a:xfrm>
            <a:off x="548640" y="384048"/>
            <a:ext cx="11064240" cy="457200"/>
          </a:xfrm>
          <a:prstGeom prst="rect">
            <a:avLst/>
          </a:prstGeom>
          <a:noFill/>
        </p:spPr>
        <p:txBody>
          <a:bodyPr wrap="square" lIns="0" rIns="0" tIns="0" bIns="0">
            <a:spAutoFit/>
          </a:bodyPr>
          <a:lstStyle/>
          <a:p>
            <a:pPr algn="l">
              <a:spcAft>
                <a:spcPts val="0"/>
              </a:spcAft>
            </a:pPr>
            <a:r>
              <a:rPr sz="2200" b="1" i="0">
                <a:solidFill>
                  <a:srgbClr val="FFFFFF"/>
                </a:solidFill>
                <a:latin typeface="Segoe UI"/>
              </a:rPr>
              <a:t>What everyone else does, and what it leaves open</a:t>
            </a:r>
          </a:p>
        </p:txBody>
      </p:sp>
      <p:sp>
        <p:nvSpPr>
          <p:cNvPr id="5" name="Rectangle 4"/>
          <p:cNvSpPr/>
          <p:nvPr/>
        </p:nvSpPr>
        <p:spPr>
          <a:xfrm>
            <a:off x="548640" y="1234440"/>
            <a:ext cx="73152" cy="160020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234440"/>
            <a:ext cx="10698480" cy="1600200"/>
          </a:xfrm>
          <a:prstGeom prst="rect">
            <a:avLst/>
          </a:prstGeom>
          <a:noFill/>
        </p:spPr>
        <p:txBody>
          <a:bodyPr wrap="square" lIns="0" rIns="0" tIns="0" bIns="0">
            <a:spAutoFit/>
          </a:bodyPr>
          <a:lstStyle/>
          <a:p>
            <a:pPr algn="l">
              <a:spcAft>
                <a:spcPts val="0"/>
              </a:spcAft>
            </a:pPr>
            <a:r>
              <a:rPr sz="2300" b="1" i="0">
                <a:solidFill>
                  <a:srgbClr val="102A43"/>
                </a:solidFill>
                <a:latin typeface="Segoe UI"/>
              </a:rPr>
              <a:t>“Kissan Day has become a December salute any brand can post, even under the name Salam Kissan, and the one brand moving toward the farmer's own voice is Syngenta, with #MaiKisanHun.”</a:t>
            </a:r>
          </a:p>
        </p:txBody>
      </p:sp>
      <p:sp>
        <p:nvSpPr>
          <p:cNvPr id="7" name="TextBox 6"/>
          <p:cNvSpPr txBox="1"/>
          <p:nvPr/>
        </p:nvSpPr>
        <p:spPr>
          <a:xfrm>
            <a:off x="548640" y="3108960"/>
            <a:ext cx="6309360" cy="274320"/>
          </a:xfrm>
          <a:prstGeom prst="rect">
            <a:avLst/>
          </a:prstGeom>
          <a:noFill/>
        </p:spPr>
        <p:txBody>
          <a:bodyPr wrap="square" lIns="0" rIns="0" tIns="0" bIns="0">
            <a:spAutoFit/>
          </a:bodyPr>
          <a:lstStyle/>
          <a:p>
            <a:pPr algn="l">
              <a:spcAft>
                <a:spcPts val="0"/>
              </a:spcAft>
            </a:pPr>
            <a:r>
              <a:rPr sz="1000" b="1" i="0">
                <a:solidFill>
                  <a:srgbClr val="6B7480"/>
                </a:solidFill>
                <a:latin typeface="Segoe UI"/>
              </a:rPr>
              <a:t>EVIDENCE</a:t>
            </a:r>
          </a:p>
        </p:txBody>
      </p:sp>
      <p:sp>
        <p:nvSpPr>
          <p:cNvPr id="8" name="TextBox 7"/>
          <p:cNvSpPr txBox="1"/>
          <p:nvPr/>
        </p:nvSpPr>
        <p:spPr>
          <a:xfrm>
            <a:off x="548640" y="3401568"/>
            <a:ext cx="6309360" cy="2834640"/>
          </a:xfrm>
          <a:prstGeom prst="rect">
            <a:avLst/>
          </a:prstGeom>
          <a:noFill/>
        </p:spPr>
        <p:txBody>
          <a:bodyPr wrap="square" lIns="0" rIns="0" tIns="0" bIns="0">
            <a:spAutoFit/>
          </a:bodyPr>
          <a:lstStyle/>
          <a:p>
            <a:pPr algn="l">
              <a:spcAft>
                <a:spcPts val="700"/>
              </a:spcAft>
            </a:pPr>
            <a:r>
              <a:rPr sz="1100" b="0" i="0">
                <a:solidFill>
                  <a:srgbClr val="1A1A1A"/>
                </a:solidFill>
                <a:latin typeface="Segoe UI"/>
              </a:rPr>
              <a:t>·  Sarsabz accounts for 43 of the 168 search results titled for the day or Salam Kissan.</a:t>
            </a:r>
          </a:p>
          <a:p>
            <a:pPr algn="l">
              <a:spcAft>
                <a:spcPts val="700"/>
              </a:spcAft>
            </a:pPr>
            <a:r>
              <a:rPr sz="1100" b="0" i="0">
                <a:solidFill>
                  <a:srgbClr val="1A1A1A"/>
                </a:solidFill>
                <a:latin typeface="Segoe UI"/>
              </a:rPr>
              <a:t>·  JPL Pakistan (2020) and Rizq Foods (2025) title their Kissan Day videos "Salam Kissan" / "Salam Kisan".</a:t>
            </a:r>
          </a:p>
          <a:p>
            <a:pPr algn="l">
              <a:spcAft>
                <a:spcPts val="700"/>
              </a:spcAft>
            </a:pPr>
            <a:r>
              <a:rPr sz="1100" b="0" i="0">
                <a:solidFill>
                  <a:srgbClr val="1A1A1A"/>
                </a:solidFill>
                <a:latin typeface="Segoe UI"/>
              </a:rPr>
              <a:t>·  Syngenta Pakistan posts December Kisan Day films: #MaiKisanHun in 2023 (our translation: I am a farmer), 60s, 399K views; a 70s film in 2024, 689K views.</a:t>
            </a:r>
          </a:p>
          <a:p>
            <a:pPr algn="l">
              <a:spcAft>
                <a:spcPts val="700"/>
              </a:spcAft>
            </a:pPr>
            <a:r>
              <a:rPr sz="1100" b="0" i="0">
                <a:solidFill>
                  <a:srgbClr val="1A1A1A"/>
                </a:solidFill>
                <a:latin typeface="Segoe UI"/>
              </a:rPr>
              <a:t>·  No FFC or Engro Kissan Day campaign was found on YouTube or in web search.</a:t>
            </a:r>
          </a:p>
        </p:txBody>
      </p:sp>
      <p:sp>
        <p:nvSpPr>
          <p:cNvPr id="9" name="Rectangle 8"/>
          <p:cNvSpPr/>
          <p:nvPr/>
        </p:nvSpPr>
        <p:spPr>
          <a:xfrm>
            <a:off x="7223760" y="3108960"/>
            <a:ext cx="4389120" cy="310896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52360" y="3246120"/>
            <a:ext cx="3977639" cy="274320"/>
          </a:xfrm>
          <a:prstGeom prst="rect">
            <a:avLst/>
          </a:prstGeom>
          <a:noFill/>
        </p:spPr>
        <p:txBody>
          <a:bodyPr wrap="square" lIns="0" rIns="0" tIns="0" bIns="0">
            <a:spAutoFit/>
          </a:bodyPr>
          <a:lstStyle/>
          <a:p>
            <a:pPr algn="l">
              <a:spcAft>
                <a:spcPts val="0"/>
              </a:spcAft>
            </a:pPr>
            <a:r>
              <a:rPr sz="1000" b="1" i="0">
                <a:solidFill>
                  <a:srgbClr val="6B7480"/>
                </a:solidFill>
                <a:latin typeface="Segoe UI"/>
              </a:rPr>
              <a:t>WHAT THIS LEAVES OPEN</a:t>
            </a:r>
          </a:p>
        </p:txBody>
      </p:sp>
      <p:sp>
        <p:nvSpPr>
          <p:cNvPr id="11" name="TextBox 10"/>
          <p:cNvSpPr txBox="1"/>
          <p:nvPr/>
        </p:nvSpPr>
        <p:spPr>
          <a:xfrm>
            <a:off x="7452360" y="3566160"/>
            <a:ext cx="3977639" cy="2606040"/>
          </a:xfrm>
          <a:prstGeom prst="rect">
            <a:avLst/>
          </a:prstGeom>
          <a:noFill/>
        </p:spPr>
        <p:txBody>
          <a:bodyPr wrap="square" lIns="0" rIns="0" tIns="0" bIns="0">
            <a:spAutoFit/>
          </a:bodyPr>
          <a:lstStyle/>
          <a:p>
            <a:pPr algn="l">
              <a:spcAft>
                <a:spcPts val="600"/>
              </a:spcAft>
            </a:pPr>
            <a:r>
              <a:rPr sz="1050" b="0" i="0">
                <a:solidFill>
                  <a:srgbClr val="102A43"/>
                </a:solidFill>
                <a:latin typeface="Segoe UI"/>
              </a:rPr>
              <a:t>The salute itself is generic now: tribute films, #KissanDay and the same December date.</a:t>
            </a:r>
          </a:p>
          <a:p>
            <a:pPr algn="l">
              <a:spcAft>
                <a:spcPts val="600"/>
              </a:spcAft>
            </a:pPr>
            <a:r>
              <a:rPr sz="1050" b="0" i="0">
                <a:solidFill>
                  <a:srgbClr val="102A43"/>
                </a:solidFill>
                <a:latin typeface="Segoe UI"/>
              </a:rPr>
              <a:t>An agri channel's title, our translation: "Kissan Day is only on TV shows; in reality Pakistan's farmer is ruined" (DIGITAL KISAN Pakistan, 2022).</a:t>
            </a:r>
          </a:p>
          <a:p>
            <a:pPr algn="l">
              <a:spcAft>
                <a:spcPts val="600"/>
              </a:spcAft>
            </a:pPr>
            <a:r>
              <a:rPr sz="1050" b="0" i="0">
                <a:solidFill>
                  <a:srgbClr val="102A43"/>
                </a:solidFill>
                <a:latin typeface="Segoe UI"/>
              </a:rPr>
              <a:t>The farmer's own voice is the open ground. Syngenta's films weren't watched, so how far #MaiKisanHun occupies it is unverified.</a:t>
            </a:r>
          </a:p>
        </p:txBody>
      </p:sp>
      <p:sp>
        <p:nvSpPr>
          <p:cNvPr id="12" name="TextBox 11"/>
          <p:cNvSpPr txBox="1"/>
          <p:nvPr/>
        </p:nvSpPr>
        <p:spPr>
          <a:xfrm>
            <a:off x="548640" y="6446520"/>
            <a:ext cx="11064240" cy="274320"/>
          </a:xfrm>
          <a:prstGeom prst="rect">
            <a:avLst/>
          </a:prstGeom>
          <a:noFill/>
        </p:spPr>
        <p:txBody>
          <a:bodyPr wrap="square" lIns="0" rIns="0" tIns="0" bIns="0">
            <a:spAutoFit/>
          </a:bodyPr>
          <a:lstStyle/>
          <a:p>
            <a:pPr algn="l">
              <a:spcAft>
                <a:spcPts val="0"/>
              </a:spcAft>
            </a:pPr>
            <a:r>
              <a:rPr sz="850" b="0" i="0">
                <a:solidFill>
                  <a:srgbClr val="6B7480"/>
                </a:solidFill>
                <a:latin typeface="Segoe UI"/>
              </a:rPr>
              <a:t>Source: 7 YouTube searches (254 videos) and metadata for 36 non-Sarsabz uploads, 16 Sep 2026 (scan/scan_findings.md). Search rank is not a census. TikTok and Facebook not covered. Brand-channel views are mostly paid.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0972800" cy="274320"/>
          </a:xfrm>
          <a:prstGeom prst="rect">
            <a:avLst/>
          </a:prstGeom>
          <a:noFill/>
        </p:spPr>
        <p:txBody>
          <a:bodyPr wrap="square" lIns="0" rIns="0" tIns="0" bIns="0">
            <a:spAutoFit/>
          </a:bodyPr>
          <a:lstStyle/>
          <a:p>
            <a:pPr algn="l">
              <a:spcAft>
                <a:spcPts val="0"/>
              </a:spcAft>
            </a:pPr>
            <a:r>
              <a:rPr sz="1000" b="1" i="0">
                <a:solidFill>
                  <a:srgbClr val="9FB4C7"/>
                </a:solidFill>
                <a:latin typeface="Segoe UI"/>
              </a:rPr>
              <a:t>STEP 3  ·  BRAND INSIGHT  ·  FROM THE BRIEF, THE PRESS AND THE ARCHIVE</a:t>
            </a:r>
          </a:p>
        </p:txBody>
      </p:sp>
      <p:sp>
        <p:nvSpPr>
          <p:cNvPr id="4" name="TextBox 3"/>
          <p:cNvSpPr txBox="1"/>
          <p:nvPr/>
        </p:nvSpPr>
        <p:spPr>
          <a:xfrm>
            <a:off x="548640" y="384048"/>
            <a:ext cx="11064240" cy="457200"/>
          </a:xfrm>
          <a:prstGeom prst="rect">
            <a:avLst/>
          </a:prstGeom>
          <a:noFill/>
        </p:spPr>
        <p:txBody>
          <a:bodyPr wrap="square" lIns="0" rIns="0" tIns="0" bIns="0">
            <a:spAutoFit/>
          </a:bodyPr>
          <a:lstStyle/>
          <a:p>
            <a:pPr algn="l">
              <a:spcAft>
                <a:spcPts val="0"/>
              </a:spcAft>
            </a:pPr>
            <a:r>
              <a:rPr sz="2200" b="1" i="0">
                <a:solidFill>
                  <a:srgbClr val="FFFFFF"/>
                </a:solidFill>
                <a:latin typeface="Segoe UI"/>
              </a:rPr>
              <a:t>What Sarsabz has, and what it faces</a:t>
            </a:r>
          </a:p>
        </p:txBody>
      </p:sp>
      <p:sp>
        <p:nvSpPr>
          <p:cNvPr id="5" name="Rectangle 4"/>
          <p:cNvSpPr/>
          <p:nvPr/>
        </p:nvSpPr>
        <p:spPr>
          <a:xfrm>
            <a:off x="548640" y="1234440"/>
            <a:ext cx="73152" cy="160020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234440"/>
            <a:ext cx="10698480" cy="1600200"/>
          </a:xfrm>
          <a:prstGeom prst="rect">
            <a:avLst/>
          </a:prstGeom>
          <a:noFill/>
        </p:spPr>
        <p:txBody>
          <a:bodyPr wrap="square" lIns="0" rIns="0" tIns="0" bIns="0">
            <a:spAutoFit/>
          </a:bodyPr>
          <a:lstStyle/>
          <a:p>
            <a:pPr algn="l">
              <a:spcAft>
                <a:spcPts val="0"/>
              </a:spcAft>
            </a:pPr>
            <a:r>
              <a:rPr sz="2300" b="1" i="0">
                <a:solidFill>
                  <a:srgbClr val="102A43"/>
                </a:solidFill>
                <a:latin typeface="Segoe UI"/>
              </a:rPr>
              <a:t>“Sarsabz gave Pakistan its Kissan Day, but the day now travels without the brand, reported under Fatima Group or no name at all, while Sarsabz's own output lives in one month and has thinned since 2023.”</a:t>
            </a:r>
          </a:p>
        </p:txBody>
      </p:sp>
      <p:sp>
        <p:nvSpPr>
          <p:cNvPr id="7" name="Rectangle 6"/>
          <p:cNvSpPr/>
          <p:nvPr/>
        </p:nvSpPr>
        <p:spPr>
          <a:xfrm>
            <a:off x="9966960" y="960120"/>
            <a:ext cx="1645920" cy="23774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966960" y="987552"/>
            <a:ext cx="1645920" cy="201168"/>
          </a:xfrm>
          <a:prstGeom prst="rect">
            <a:avLst/>
          </a:prstGeom>
          <a:noFill/>
        </p:spPr>
        <p:txBody>
          <a:bodyPr wrap="square" lIns="0" rIns="0" tIns="0" bIns="0">
            <a:spAutoFit/>
          </a:bodyPr>
          <a:lstStyle/>
          <a:p>
            <a:pPr algn="ctr">
              <a:spcAft>
                <a:spcPts val="0"/>
              </a:spcAft>
            </a:pPr>
            <a:r>
              <a:rPr sz="900" b="1" i="0">
                <a:solidFill>
                  <a:srgbClr val="FFFFFF"/>
                </a:solidFill>
                <a:latin typeface="Segoe UI"/>
              </a:rPr>
              <a:t>PROVISIONAL</a:t>
            </a:r>
          </a:p>
        </p:txBody>
      </p:sp>
      <p:sp>
        <p:nvSpPr>
          <p:cNvPr id="9" name="TextBox 8"/>
          <p:cNvSpPr txBox="1"/>
          <p:nvPr/>
        </p:nvSpPr>
        <p:spPr>
          <a:xfrm>
            <a:off x="548640" y="3108960"/>
            <a:ext cx="6309360" cy="274320"/>
          </a:xfrm>
          <a:prstGeom prst="rect">
            <a:avLst/>
          </a:prstGeom>
          <a:noFill/>
        </p:spPr>
        <p:txBody>
          <a:bodyPr wrap="square" lIns="0" rIns="0" tIns="0" bIns="0">
            <a:spAutoFit/>
          </a:bodyPr>
          <a:lstStyle/>
          <a:p>
            <a:pPr algn="l">
              <a:spcAft>
                <a:spcPts val="0"/>
              </a:spcAft>
            </a:pPr>
            <a:r>
              <a:rPr sz="1000" b="1" i="0">
                <a:solidFill>
                  <a:srgbClr val="6B7480"/>
                </a:solidFill>
                <a:latin typeface="Segoe UI"/>
              </a:rPr>
              <a:t>EVIDENCE</a:t>
            </a:r>
          </a:p>
        </p:txBody>
      </p:sp>
      <p:sp>
        <p:nvSpPr>
          <p:cNvPr id="10" name="TextBox 9"/>
          <p:cNvSpPr txBox="1"/>
          <p:nvPr/>
        </p:nvSpPr>
        <p:spPr>
          <a:xfrm>
            <a:off x="548640" y="3401568"/>
            <a:ext cx="6309360" cy="2834640"/>
          </a:xfrm>
          <a:prstGeom prst="rect">
            <a:avLst/>
          </a:prstGeom>
          <a:noFill/>
        </p:spPr>
        <p:txBody>
          <a:bodyPr wrap="square" lIns="0" rIns="0" tIns="0" bIns="0">
            <a:spAutoFit/>
          </a:bodyPr>
          <a:lstStyle/>
          <a:p>
            <a:pPr algn="l">
              <a:spcAft>
                <a:spcPts val="700"/>
              </a:spcAft>
            </a:pPr>
            <a:r>
              <a:rPr sz="1100" b="0" i="0">
                <a:solidFill>
                  <a:srgbClr val="1A1A1A"/>
                </a:solidFill>
                <a:latin typeface="Segoe UI"/>
              </a:rPr>
              <a:t>·  Brief p12: Salam Kissan began in 2019; the 2026 ask includes "strengthening our ownership of the cause".</a:t>
            </a:r>
          </a:p>
          <a:p>
            <a:pPr algn="l">
              <a:spcAft>
                <a:spcPts val="700"/>
              </a:spcAft>
            </a:pPr>
            <a:r>
              <a:rPr sz="1100" b="0" i="0">
                <a:solidFill>
                  <a:srgbClr val="1A1A1A"/>
                </a:solidFill>
                <a:latin typeface="Segoe UI"/>
              </a:rPr>
              <a:t>·  The Nation, 19 Dec 2024: the 5th National Farmers' Day is credited to Fatima Group for proposing it. Neither Sarsabz nor Salam Kissan is named.</a:t>
            </a:r>
          </a:p>
          <a:p>
            <a:pPr algn="l">
              <a:spcAft>
                <a:spcPts val="700"/>
              </a:spcAft>
            </a:pPr>
            <a:r>
              <a:rPr sz="1100" b="0" i="0">
                <a:solidFill>
                  <a:srgbClr val="1A1A1A"/>
                </a:solidFill>
                <a:latin typeface="Segoe UI"/>
              </a:rPr>
              <a:t>·  Archive: 60 of 76 uploads (79%) fall between 1 Dec and 15 Jan. In 2024 there was no anthem-length film; in 2025, five 3D/AI-animated farmer shorts.</a:t>
            </a:r>
          </a:p>
          <a:p>
            <a:pPr algn="l">
              <a:spcAft>
                <a:spcPts val="700"/>
              </a:spcAft>
            </a:pPr>
            <a:r>
              <a:rPr sz="1100" b="0" i="0">
                <a:solidFill>
                  <a:srgbClr val="1A1A1A"/>
                </a:solidFill>
                <a:latin typeface="Segoe UI"/>
              </a:rPr>
              <a:t>·  The eight 2025 uploads drew 61 audience comments, 35 of them from four accounts.</a:t>
            </a:r>
          </a:p>
        </p:txBody>
      </p:sp>
      <p:sp>
        <p:nvSpPr>
          <p:cNvPr id="11" name="Rectangle 10"/>
          <p:cNvSpPr/>
          <p:nvPr/>
        </p:nvSpPr>
        <p:spPr>
          <a:xfrm>
            <a:off x="7223760" y="3108960"/>
            <a:ext cx="4389120" cy="310896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52360" y="3246120"/>
            <a:ext cx="3977639" cy="274320"/>
          </a:xfrm>
          <a:prstGeom prst="rect">
            <a:avLst/>
          </a:prstGeom>
          <a:noFill/>
        </p:spPr>
        <p:txBody>
          <a:bodyPr wrap="square" lIns="0" rIns="0" tIns="0" bIns="0">
            <a:spAutoFit/>
          </a:bodyPr>
          <a:lstStyle/>
          <a:p>
            <a:pPr algn="l">
              <a:spcAft>
                <a:spcPts val="0"/>
              </a:spcAft>
            </a:pPr>
            <a:r>
              <a:rPr sz="1000" b="1" i="0">
                <a:solidFill>
                  <a:srgbClr val="6B7480"/>
                </a:solidFill>
                <a:latin typeface="Segoe UI"/>
              </a:rPr>
              <a:t>WHERE THE BRIEF AND THE EVIDENCE DISAGREE</a:t>
            </a:r>
          </a:p>
        </p:txBody>
      </p:sp>
      <p:sp>
        <p:nvSpPr>
          <p:cNvPr id="13" name="TextBox 12"/>
          <p:cNvSpPr txBox="1"/>
          <p:nvPr/>
        </p:nvSpPr>
        <p:spPr>
          <a:xfrm>
            <a:off x="7452360" y="3566160"/>
            <a:ext cx="3977639" cy="2606040"/>
          </a:xfrm>
          <a:prstGeom prst="rect">
            <a:avLst/>
          </a:prstGeom>
          <a:noFill/>
        </p:spPr>
        <p:txBody>
          <a:bodyPr wrap="square" lIns="0" rIns="0" tIns="0" bIns="0">
            <a:spAutoFit/>
          </a:bodyPr>
          <a:lstStyle/>
          <a:p>
            <a:pPr algn="l">
              <a:spcAft>
                <a:spcPts val="600"/>
              </a:spcAft>
            </a:pPr>
            <a:r>
              <a:rPr sz="1050" b="0" i="0">
                <a:solidFill>
                  <a:srgbClr val="102A43"/>
                </a:solidFill>
                <a:latin typeface="Segoe UI"/>
              </a:rPr>
              <a:t>The brief wants to strengthen ownership. The one independent 2024 report found names Fatima Group, not Sarsabz or Salam Kissan.</a:t>
            </a:r>
          </a:p>
          <a:p>
            <a:pPr algn="l">
              <a:spcAft>
                <a:spcPts val="600"/>
              </a:spcAft>
            </a:pPr>
            <a:r>
              <a:rPr sz="1050" b="0" i="0">
                <a:solidFill>
                  <a:srgbClr val="102A43"/>
                </a:solidFill>
                <a:latin typeface="Segoe UI"/>
              </a:rPr>
              <a:t>The brief calls Salam Kissan a movement. After 2023 the owned output shrank to shorts, and the synthetic farmers drew little response.</a:t>
            </a:r>
          </a:p>
          <a:p>
            <a:pPr algn="l">
              <a:spcAft>
                <a:spcPts val="600"/>
              </a:spcAft>
            </a:pPr>
            <a:r>
              <a:rPr sz="1050" b="0" i="0">
                <a:solidFill>
                  <a:srgbClr val="102A43"/>
                </a:solidFill>
                <a:latin typeface="Segoe UI"/>
              </a:rPr>
              <a:t>The brief's TikTok awards (p9-10) can't be checked without logging in. There's no data on who people credit for Kissan Day.</a:t>
            </a:r>
          </a:p>
        </p:txBody>
      </p:sp>
      <p:sp>
        <p:nvSpPr>
          <p:cNvPr id="14" name="TextBox 13"/>
          <p:cNvSpPr txBox="1"/>
          <p:nvPr/>
        </p:nvSpPr>
        <p:spPr>
          <a:xfrm>
            <a:off x="548640" y="6446520"/>
            <a:ext cx="11064240" cy="274320"/>
          </a:xfrm>
          <a:prstGeom prst="rect">
            <a:avLst/>
          </a:prstGeom>
          <a:noFill/>
        </p:spPr>
        <p:txBody>
          <a:bodyPr wrap="square" lIns="0" rIns="0" tIns="0" bIns="0">
            <a:spAutoFit/>
          </a:bodyPr>
          <a:lstStyle/>
          <a:p>
            <a:pPr algn="l">
              <a:spcAft>
                <a:spcPts val="0"/>
              </a:spcAft>
            </a:pPr>
            <a:r>
              <a:rPr sz="850" b="0" i="0">
                <a:solidFill>
                  <a:srgbClr val="6B7480"/>
                </a:solidFill>
                <a:latin typeface="Segoe UI"/>
              </a:rPr>
              <a:t>Source: Fatima Creative Marketing Brief 2026 (pp.9-12); The Nation, 19 Dec 2024; archive/archive_findings.md. PROVISIONAL: TikTok results and brand-health attribution of Kissan Day not supplied.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0972800" cy="274320"/>
          </a:xfrm>
          <a:prstGeom prst="rect">
            <a:avLst/>
          </a:prstGeom>
          <a:noFill/>
        </p:spPr>
        <p:txBody>
          <a:bodyPr wrap="square" lIns="0" rIns="0" tIns="0" bIns="0">
            <a:spAutoFit/>
          </a:bodyPr>
          <a:lstStyle/>
          <a:p>
            <a:pPr algn="l">
              <a:spcAft>
                <a:spcPts val="0"/>
              </a:spcAft>
            </a:pPr>
            <a:r>
              <a:rPr sz="1000" b="1" i="0">
                <a:solidFill>
                  <a:srgbClr val="9FB4C7"/>
                </a:solidFill>
                <a:latin typeface="Segoe UI"/>
              </a:rPr>
              <a:t>STEP 4  ·  THE BIG IDEA</a:t>
            </a:r>
          </a:p>
        </p:txBody>
      </p:sp>
      <p:sp>
        <p:nvSpPr>
          <p:cNvPr id="4" name="TextBox 3"/>
          <p:cNvSpPr txBox="1"/>
          <p:nvPr/>
        </p:nvSpPr>
        <p:spPr>
          <a:xfrm>
            <a:off x="548640" y="384048"/>
            <a:ext cx="11064240" cy="457200"/>
          </a:xfrm>
          <a:prstGeom prst="rect">
            <a:avLst/>
          </a:prstGeom>
          <a:noFill/>
        </p:spPr>
        <p:txBody>
          <a:bodyPr wrap="square" lIns="0" rIns="0" tIns="0" bIns="0">
            <a:spAutoFit/>
          </a:bodyPr>
          <a:lstStyle/>
          <a:p>
            <a:pPr algn="l">
              <a:spcAft>
                <a:spcPts val="0"/>
              </a:spcAft>
            </a:pPr>
            <a:r>
              <a:rPr sz="2200" b="1" i="0">
                <a:solidFill>
                  <a:srgbClr val="FFFFFF"/>
                </a:solidFill>
                <a:latin typeface="Segoe UI"/>
              </a:rPr>
              <a:t>Three insights, one organising thought</a:t>
            </a:r>
          </a:p>
        </p:txBody>
      </p:sp>
      <p:sp>
        <p:nvSpPr>
          <p:cNvPr id="5" name="Rectangle 4"/>
          <p:cNvSpPr/>
          <p:nvPr/>
        </p:nvSpPr>
        <p:spPr>
          <a:xfrm>
            <a:off x="548640" y="1234440"/>
            <a:ext cx="3566160" cy="457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417320"/>
            <a:ext cx="3566160" cy="274320"/>
          </a:xfrm>
          <a:prstGeom prst="rect">
            <a:avLst/>
          </a:prstGeom>
          <a:noFill/>
        </p:spPr>
        <p:txBody>
          <a:bodyPr wrap="square" lIns="0" rIns="0" tIns="0" bIns="0">
            <a:spAutoFit/>
          </a:bodyPr>
          <a:lstStyle/>
          <a:p>
            <a:pPr algn="l">
              <a:spcAft>
                <a:spcPts val="0"/>
              </a:spcAft>
            </a:pPr>
            <a:r>
              <a:rPr sz="1000" b="1" i="0">
                <a:solidFill>
                  <a:srgbClr val="6B7480"/>
                </a:solidFill>
                <a:latin typeface="Segoe UI"/>
              </a:rPr>
              <a:t>CONSUMER INSIGHT  ·  Relevant</a:t>
            </a:r>
          </a:p>
        </p:txBody>
      </p:sp>
      <p:sp>
        <p:nvSpPr>
          <p:cNvPr id="7" name="TextBox 6"/>
          <p:cNvSpPr txBox="1"/>
          <p:nvPr/>
        </p:nvSpPr>
        <p:spPr>
          <a:xfrm>
            <a:off x="548640" y="1737360"/>
            <a:ext cx="3566160" cy="1280160"/>
          </a:xfrm>
          <a:prstGeom prst="rect">
            <a:avLst/>
          </a:prstGeom>
          <a:noFill/>
        </p:spPr>
        <p:txBody>
          <a:bodyPr wrap="square" lIns="0" rIns="0" tIns="0" bIns="0">
            <a:spAutoFit/>
          </a:bodyPr>
          <a:lstStyle/>
          <a:p>
            <a:pPr algn="l">
              <a:spcAft>
                <a:spcPts val="0"/>
              </a:spcAft>
            </a:pPr>
            <a:r>
              <a:rPr sz="1400" b="1" i="0">
                <a:solidFill>
                  <a:srgbClr val="102A43"/>
                </a:solidFill>
                <a:latin typeface="Segoe UI"/>
              </a:rPr>
              <a:t>Farmers' families speak up with pride, but the farmer has almost never been the one speaking.</a:t>
            </a:r>
          </a:p>
        </p:txBody>
      </p:sp>
      <p:sp>
        <p:nvSpPr>
          <p:cNvPr id="8" name="Rectangle 7"/>
          <p:cNvSpPr/>
          <p:nvPr/>
        </p:nvSpPr>
        <p:spPr>
          <a:xfrm>
            <a:off x="4297679" y="1234440"/>
            <a:ext cx="3566160" cy="457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97679" y="1417320"/>
            <a:ext cx="3566160" cy="274320"/>
          </a:xfrm>
          <a:prstGeom prst="rect">
            <a:avLst/>
          </a:prstGeom>
          <a:noFill/>
        </p:spPr>
        <p:txBody>
          <a:bodyPr wrap="square" lIns="0" rIns="0" tIns="0" bIns="0">
            <a:spAutoFit/>
          </a:bodyPr>
          <a:lstStyle/>
          <a:p>
            <a:pPr algn="l">
              <a:spcAft>
                <a:spcPts val="0"/>
              </a:spcAft>
            </a:pPr>
            <a:r>
              <a:rPr sz="1000" b="1" i="0">
                <a:solidFill>
                  <a:srgbClr val="6B7480"/>
                </a:solidFill>
                <a:latin typeface="Segoe UI"/>
              </a:rPr>
              <a:t>CATEGORY INSIGHT  ·  Distinctive</a:t>
            </a:r>
          </a:p>
        </p:txBody>
      </p:sp>
      <p:sp>
        <p:nvSpPr>
          <p:cNvPr id="10" name="TextBox 9"/>
          <p:cNvSpPr txBox="1"/>
          <p:nvPr/>
        </p:nvSpPr>
        <p:spPr>
          <a:xfrm>
            <a:off x="4297679" y="1737360"/>
            <a:ext cx="3566160" cy="1280160"/>
          </a:xfrm>
          <a:prstGeom prst="rect">
            <a:avLst/>
          </a:prstGeom>
          <a:noFill/>
        </p:spPr>
        <p:txBody>
          <a:bodyPr wrap="square" lIns="0" rIns="0" tIns="0" bIns="0">
            <a:spAutoFit/>
          </a:bodyPr>
          <a:lstStyle/>
          <a:p>
            <a:pPr algn="l">
              <a:spcAft>
                <a:spcPts val="0"/>
              </a:spcAft>
            </a:pPr>
            <a:r>
              <a:rPr sz="1400" b="1" i="0">
                <a:solidFill>
                  <a:srgbClr val="102A43"/>
                </a:solidFill>
                <a:latin typeface="Segoe UI"/>
              </a:rPr>
              <a:t>Any brand can post the December salute, and Syngenta is moving toward the farmer's own voice.</a:t>
            </a:r>
          </a:p>
        </p:txBody>
      </p:sp>
      <p:sp>
        <p:nvSpPr>
          <p:cNvPr id="11" name="Rectangle 10"/>
          <p:cNvSpPr/>
          <p:nvPr/>
        </p:nvSpPr>
        <p:spPr>
          <a:xfrm>
            <a:off x="8046719" y="1234440"/>
            <a:ext cx="3566160" cy="457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46719" y="1417320"/>
            <a:ext cx="3566160" cy="274320"/>
          </a:xfrm>
          <a:prstGeom prst="rect">
            <a:avLst/>
          </a:prstGeom>
          <a:noFill/>
        </p:spPr>
        <p:txBody>
          <a:bodyPr wrap="square" lIns="0" rIns="0" tIns="0" bIns="0">
            <a:spAutoFit/>
          </a:bodyPr>
          <a:lstStyle/>
          <a:p>
            <a:pPr algn="l">
              <a:spcAft>
                <a:spcPts val="0"/>
              </a:spcAft>
            </a:pPr>
            <a:r>
              <a:rPr sz="1000" b="1" i="0">
                <a:solidFill>
                  <a:srgbClr val="6B7480"/>
                </a:solidFill>
                <a:latin typeface="Segoe UI"/>
              </a:rPr>
              <a:t>BRAND INSIGHT  ·  Ownable</a:t>
            </a:r>
          </a:p>
        </p:txBody>
      </p:sp>
      <p:sp>
        <p:nvSpPr>
          <p:cNvPr id="13" name="TextBox 12"/>
          <p:cNvSpPr txBox="1"/>
          <p:nvPr/>
        </p:nvSpPr>
        <p:spPr>
          <a:xfrm>
            <a:off x="8046719" y="1737360"/>
            <a:ext cx="3566160" cy="1280160"/>
          </a:xfrm>
          <a:prstGeom prst="rect">
            <a:avLst/>
          </a:prstGeom>
          <a:noFill/>
        </p:spPr>
        <p:txBody>
          <a:bodyPr wrap="square" lIns="0" rIns="0" tIns="0" bIns="0">
            <a:spAutoFit/>
          </a:bodyPr>
          <a:lstStyle/>
          <a:p>
            <a:pPr algn="l">
              <a:spcAft>
                <a:spcPts val="0"/>
              </a:spcAft>
            </a:pPr>
            <a:r>
              <a:rPr sz="1400" b="1" i="0">
                <a:solidFill>
                  <a:srgbClr val="102A43"/>
                </a:solidFill>
                <a:latin typeface="Segoe UI"/>
              </a:rPr>
              <a:t>Sarsabz gave Pakistan the day, but the day now travels without the brand.</a:t>
            </a:r>
          </a:p>
        </p:txBody>
      </p:sp>
      <p:sp>
        <p:nvSpPr>
          <p:cNvPr id="14" name="TextBox 13"/>
          <p:cNvSpPr txBox="1"/>
          <p:nvPr/>
        </p:nvSpPr>
        <p:spPr>
          <a:xfrm>
            <a:off x="548640" y="3017520"/>
            <a:ext cx="11064240" cy="457200"/>
          </a:xfrm>
          <a:prstGeom prst="rect">
            <a:avLst/>
          </a:prstGeom>
          <a:noFill/>
        </p:spPr>
        <p:txBody>
          <a:bodyPr wrap="square" lIns="0" rIns="0" tIns="0" bIns="0">
            <a:spAutoFit/>
          </a:bodyPr>
          <a:lstStyle/>
          <a:p>
            <a:pPr algn="ctr">
              <a:spcAft>
                <a:spcPts val="0"/>
              </a:spcAft>
            </a:pPr>
            <a:r>
              <a:rPr sz="2200" b="1" i="0">
                <a:solidFill>
                  <a:srgbClr val="C8102E"/>
                </a:solidFill>
                <a:latin typeface="Segoe UI"/>
              </a:rPr>
              <a:t>▼</a:t>
            </a:r>
          </a:p>
        </p:txBody>
      </p:sp>
      <p:sp>
        <p:nvSpPr>
          <p:cNvPr id="15" name="Rectangle 14"/>
          <p:cNvSpPr/>
          <p:nvPr/>
        </p:nvSpPr>
        <p:spPr>
          <a:xfrm>
            <a:off x="548640" y="3520440"/>
            <a:ext cx="11064240" cy="141732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3639312"/>
            <a:ext cx="10515600" cy="274320"/>
          </a:xfrm>
          <a:prstGeom prst="rect">
            <a:avLst/>
          </a:prstGeom>
          <a:noFill/>
        </p:spPr>
        <p:txBody>
          <a:bodyPr wrap="square" lIns="0" rIns="0" tIns="0" bIns="0">
            <a:spAutoFit/>
          </a:bodyPr>
          <a:lstStyle/>
          <a:p>
            <a:pPr algn="l">
              <a:spcAft>
                <a:spcPts val="0"/>
              </a:spcAft>
            </a:pPr>
            <a:r>
              <a:rPr sz="1000" b="1" i="0">
                <a:solidFill>
                  <a:srgbClr val="9FB4C7"/>
                </a:solidFill>
                <a:latin typeface="Segoe UI"/>
              </a:rPr>
              <a:t>THE BIG IDEA</a:t>
            </a:r>
          </a:p>
        </p:txBody>
      </p:sp>
      <p:sp>
        <p:nvSpPr>
          <p:cNvPr id="17" name="TextBox 16"/>
          <p:cNvSpPr txBox="1"/>
          <p:nvPr/>
        </p:nvSpPr>
        <p:spPr>
          <a:xfrm>
            <a:off x="822960" y="3931920"/>
            <a:ext cx="10515600" cy="914400"/>
          </a:xfrm>
          <a:prstGeom prst="rect">
            <a:avLst/>
          </a:prstGeom>
          <a:noFill/>
        </p:spPr>
        <p:txBody>
          <a:bodyPr wrap="square" lIns="0" rIns="0" tIns="0" bIns="0">
            <a:spAutoFit/>
          </a:bodyPr>
          <a:lstStyle/>
          <a:p>
            <a:pPr algn="l">
              <a:spcAft>
                <a:spcPts val="0"/>
              </a:spcAft>
            </a:pPr>
            <a:r>
              <a:rPr sz="2800" b="1" i="0">
                <a:solidFill>
                  <a:srgbClr val="FFFFFF"/>
                </a:solidFill>
                <a:latin typeface="Segoe UI"/>
              </a:rPr>
              <a:t>Salam Kissan gets its reply: the farmer answers Pakistan's salute in his own voice, through his own family.</a:t>
            </a:r>
          </a:p>
        </p:txBody>
      </p:sp>
      <p:sp>
        <p:nvSpPr>
          <p:cNvPr id="18" name="TextBox 17"/>
          <p:cNvSpPr txBox="1"/>
          <p:nvPr/>
        </p:nvSpPr>
        <p:spPr>
          <a:xfrm>
            <a:off x="548640" y="5166360"/>
            <a:ext cx="11064240" cy="822960"/>
          </a:xfrm>
          <a:prstGeom prst="rect">
            <a:avLst/>
          </a:prstGeom>
          <a:noFill/>
        </p:spPr>
        <p:txBody>
          <a:bodyPr wrap="square" lIns="0" rIns="0" tIns="0" bIns="0">
            <a:spAutoFit/>
          </a:bodyPr>
          <a:lstStyle/>
          <a:p>
            <a:pPr algn="l">
              <a:spcAft>
                <a:spcPts val="0"/>
              </a:spcAft>
            </a:pPr>
            <a:r>
              <a:rPr sz="1400" b="0" i="0">
                <a:solidFill>
                  <a:srgbClr val="1A1A1A"/>
                </a:solidFill>
                <a:latin typeface="Segoe UI"/>
              </a:rPr>
              <a:t>The salute becomes a conversation. Farmers and their children answer: what the work is, what it costs, what it gives the country. Sarsabz, which started the salute, hands over the microphone.</a:t>
            </a:r>
          </a:p>
        </p:txBody>
      </p:sp>
      <p:sp>
        <p:nvSpPr>
          <p:cNvPr id="19" name="TextBox 18"/>
          <p:cNvSpPr txBox="1"/>
          <p:nvPr/>
        </p:nvSpPr>
        <p:spPr>
          <a:xfrm>
            <a:off x="548640" y="6035040"/>
            <a:ext cx="11064240" cy="548640"/>
          </a:xfrm>
          <a:prstGeom prst="rect">
            <a:avLst/>
          </a:prstGeom>
          <a:noFill/>
        </p:spPr>
        <p:txBody>
          <a:bodyPr wrap="square" lIns="0" rIns="0" tIns="0" bIns="0">
            <a:spAutoFit/>
          </a:bodyPr>
          <a:lstStyle/>
          <a:p>
            <a:pPr algn="l">
              <a:spcAft>
                <a:spcPts val="0"/>
              </a:spcAft>
            </a:pPr>
            <a:r>
              <a:rPr sz="1050" b="1" i="0">
                <a:solidFill>
                  <a:srgbClr val="6B7480"/>
                </a:solidFill>
                <a:latin typeface="Segoe UI"/>
              </a:rPr>
              <a:t>Test:  </a:t>
            </a:r>
            <a:r>
              <a:rPr sz="1050" b="0" i="0">
                <a:solidFill>
                  <a:srgbClr val="6B7480"/>
                </a:solidFill>
                <a:latin typeface="Segoe UI"/>
              </a:rPr>
              <a:t>remove any one insight and the idea fails. Without the audience it's a format change. Without the category there's no reason to leave a working anthem. Without the brand, any company could run farmer voices; only the brand that started the salute can hand the reply back.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0972800" cy="274320"/>
          </a:xfrm>
          <a:prstGeom prst="rect">
            <a:avLst/>
          </a:prstGeom>
          <a:noFill/>
        </p:spPr>
        <p:txBody>
          <a:bodyPr wrap="square" lIns="0" rIns="0" tIns="0" bIns="0">
            <a:spAutoFit/>
          </a:bodyPr>
          <a:lstStyle/>
          <a:p>
            <a:pPr algn="l">
              <a:spcAft>
                <a:spcPts val="0"/>
              </a:spcAft>
            </a:pPr>
            <a:r>
              <a:rPr sz="1000" b="1" i="0">
                <a:solidFill>
                  <a:srgbClr val="9FB4C7"/>
                </a:solidFill>
                <a:latin typeface="Segoe UI"/>
              </a:rPr>
              <a:t>FROM IDEA TO STRATEGY</a:t>
            </a:r>
          </a:p>
        </p:txBody>
      </p:sp>
      <p:sp>
        <p:nvSpPr>
          <p:cNvPr id="4" name="TextBox 3"/>
          <p:cNvSpPr txBox="1"/>
          <p:nvPr/>
        </p:nvSpPr>
        <p:spPr>
          <a:xfrm>
            <a:off x="548640" y="384048"/>
            <a:ext cx="11064240" cy="457200"/>
          </a:xfrm>
          <a:prstGeom prst="rect">
            <a:avLst/>
          </a:prstGeom>
          <a:noFill/>
        </p:spPr>
        <p:txBody>
          <a:bodyPr wrap="square" lIns="0" rIns="0" tIns="0" bIns="0">
            <a:spAutoFit/>
          </a:bodyPr>
          <a:lstStyle/>
          <a:p>
            <a:pPr algn="l">
              <a:spcAft>
                <a:spcPts val="0"/>
              </a:spcAft>
            </a:pPr>
            <a:r>
              <a:rPr sz="2200" b="1" i="0">
                <a:solidFill>
                  <a:srgbClr val="FFFFFF"/>
                </a:solidFill>
                <a:latin typeface="Segoe UI"/>
              </a:rPr>
              <a:t>Strategy statement and comms platform</a:t>
            </a:r>
          </a:p>
        </p:txBody>
      </p:sp>
      <p:sp>
        <p:nvSpPr>
          <p:cNvPr id="5" name="TextBox 4"/>
          <p:cNvSpPr txBox="1"/>
          <p:nvPr/>
        </p:nvSpPr>
        <p:spPr>
          <a:xfrm>
            <a:off x="548640" y="1234440"/>
            <a:ext cx="6583680" cy="274320"/>
          </a:xfrm>
          <a:prstGeom prst="rect">
            <a:avLst/>
          </a:prstGeom>
          <a:noFill/>
        </p:spPr>
        <p:txBody>
          <a:bodyPr wrap="square" lIns="0" rIns="0" tIns="0" bIns="0">
            <a:spAutoFit/>
          </a:bodyPr>
          <a:lstStyle/>
          <a:p>
            <a:pPr algn="l">
              <a:spcAft>
                <a:spcPts val="0"/>
              </a:spcAft>
            </a:pPr>
            <a:r>
              <a:rPr sz="1000" b="1" i="0">
                <a:solidFill>
                  <a:srgbClr val="6B7480"/>
                </a:solidFill>
                <a:latin typeface="Segoe UI"/>
              </a:rPr>
              <a:t>STRATEGY</a:t>
            </a:r>
          </a:p>
        </p:txBody>
      </p:sp>
      <p:sp>
        <p:nvSpPr>
          <p:cNvPr id="6" name="TextBox 5"/>
          <p:cNvSpPr txBox="1"/>
          <p:nvPr/>
        </p:nvSpPr>
        <p:spPr>
          <a:xfrm>
            <a:off x="548640" y="1508760"/>
            <a:ext cx="6583680" cy="1737360"/>
          </a:xfrm>
          <a:prstGeom prst="rect">
            <a:avLst/>
          </a:prstGeom>
          <a:noFill/>
        </p:spPr>
        <p:txBody>
          <a:bodyPr wrap="square" lIns="0" rIns="0" tIns="0" bIns="0">
            <a:spAutoFit/>
          </a:bodyPr>
          <a:lstStyle/>
          <a:p>
            <a:pPr algn="l">
              <a:spcAft>
                <a:spcPts val="0"/>
              </a:spcAft>
            </a:pPr>
            <a:r>
              <a:rPr sz="1600" b="1" i="0">
                <a:solidFill>
                  <a:srgbClr val="102A43"/>
                </a:solidFill>
                <a:latin typeface="Segoe UI"/>
              </a:rPr>
              <a:t>Re-frame Salam Kissan from a December tribute about farmers to a year-round conversation with them, by making farmers and their children the voice of every piece and carrying their answers from sowing to harvest to 18 December.</a:t>
            </a:r>
          </a:p>
        </p:txBody>
      </p:sp>
      <p:sp>
        <p:nvSpPr>
          <p:cNvPr id="7" name="Rectangle 6"/>
          <p:cNvSpPr/>
          <p:nvPr/>
        </p:nvSpPr>
        <p:spPr>
          <a:xfrm>
            <a:off x="548640" y="3383280"/>
            <a:ext cx="6583680" cy="118872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3493008"/>
            <a:ext cx="6217920" cy="274320"/>
          </a:xfrm>
          <a:prstGeom prst="rect">
            <a:avLst/>
          </a:prstGeom>
          <a:noFill/>
        </p:spPr>
        <p:txBody>
          <a:bodyPr wrap="square" lIns="0" rIns="0" tIns="0" bIns="0">
            <a:spAutoFit/>
          </a:bodyPr>
          <a:lstStyle/>
          <a:p>
            <a:pPr algn="l">
              <a:spcAft>
                <a:spcPts val="0"/>
              </a:spcAft>
            </a:pPr>
            <a:r>
              <a:rPr sz="1000" b="1" i="0">
                <a:solidFill>
                  <a:srgbClr val="6B7480"/>
                </a:solidFill>
                <a:latin typeface="Segoe UI"/>
              </a:rPr>
              <a:t>COMMS PLATFORM</a:t>
            </a:r>
          </a:p>
        </p:txBody>
      </p:sp>
      <p:sp>
        <p:nvSpPr>
          <p:cNvPr id="9" name="TextBox 8"/>
          <p:cNvSpPr txBox="1"/>
          <p:nvPr/>
        </p:nvSpPr>
        <p:spPr>
          <a:xfrm>
            <a:off x="777240" y="3767328"/>
            <a:ext cx="6217920" cy="731520"/>
          </a:xfrm>
          <a:prstGeom prst="rect">
            <a:avLst/>
          </a:prstGeom>
          <a:noFill/>
        </p:spPr>
        <p:txBody>
          <a:bodyPr wrap="square" lIns="0" rIns="0" tIns="0" bIns="0">
            <a:spAutoFit/>
          </a:bodyPr>
          <a:lstStyle/>
          <a:p>
            <a:pPr algn="l">
              <a:spcAft>
                <a:spcPts val="0"/>
              </a:spcAft>
            </a:pPr>
            <a:r>
              <a:rPr sz="1900" b="1" i="0">
                <a:solidFill>
                  <a:srgbClr val="C8102E"/>
                </a:solidFill>
                <a:latin typeface="Segoe UI"/>
              </a:rPr>
              <a:t>Position Sarsabz as  </a:t>
            </a:r>
            <a:r>
              <a:rPr sz="1900" b="1" i="0">
                <a:solidFill>
                  <a:srgbClr val="C8102E"/>
                </a:solidFill>
                <a:latin typeface="Segoe UI"/>
              </a:rPr>
              <a:t>THE CHAMPION WHO GAVE THE FARMER HIS DAY, AND NOW GIVES HIM HIS VOICE.</a:t>
            </a:r>
          </a:p>
        </p:txBody>
      </p:sp>
      <p:sp>
        <p:nvSpPr>
          <p:cNvPr id="10" name="TextBox 9"/>
          <p:cNvSpPr txBox="1"/>
          <p:nvPr/>
        </p:nvSpPr>
        <p:spPr>
          <a:xfrm>
            <a:off x="548640" y="4800600"/>
            <a:ext cx="6583680" cy="274320"/>
          </a:xfrm>
          <a:prstGeom prst="rect">
            <a:avLst/>
          </a:prstGeom>
          <a:noFill/>
        </p:spPr>
        <p:txBody>
          <a:bodyPr wrap="square" lIns="0" rIns="0" tIns="0" bIns="0">
            <a:spAutoFit/>
          </a:bodyPr>
          <a:lstStyle/>
          <a:p>
            <a:pPr algn="l">
              <a:spcAft>
                <a:spcPts val="0"/>
              </a:spcAft>
            </a:pPr>
            <a:r>
              <a:rPr sz="1000" b="1" i="0">
                <a:solidFill>
                  <a:srgbClr val="6B7480"/>
                </a:solidFill>
                <a:latin typeface="Segoe UI"/>
              </a:rPr>
              <a:t>WHY IT HOLDS</a:t>
            </a:r>
          </a:p>
        </p:txBody>
      </p:sp>
      <p:sp>
        <p:nvSpPr>
          <p:cNvPr id="11" name="TextBox 10"/>
          <p:cNvSpPr txBox="1"/>
          <p:nvPr/>
        </p:nvSpPr>
        <p:spPr>
          <a:xfrm>
            <a:off x="548640" y="5074920"/>
            <a:ext cx="6583680" cy="1463040"/>
          </a:xfrm>
          <a:prstGeom prst="rect">
            <a:avLst/>
          </a:prstGeom>
          <a:noFill/>
        </p:spPr>
        <p:txBody>
          <a:bodyPr wrap="square" lIns="0" rIns="0" tIns="0" bIns="0">
            <a:spAutoFit/>
          </a:bodyPr>
          <a:lstStyle/>
          <a:p>
            <a:pPr algn="l">
              <a:spcAft>
                <a:spcPts val="500"/>
              </a:spcAft>
            </a:pPr>
            <a:r>
              <a:rPr sz="1100" b="1" i="0">
                <a:solidFill>
                  <a:srgbClr val="1A1A1A"/>
                </a:solidFill>
                <a:latin typeface="Segoe UI"/>
              </a:rPr>
              <a:t>Relevant:  </a:t>
            </a:r>
            <a:r>
              <a:rPr sz="1100" b="0" i="0">
                <a:solidFill>
                  <a:srgbClr val="1A1A1A"/>
                </a:solidFill>
                <a:latin typeface="Segoe UI"/>
              </a:rPr>
              <a:t>starts from what commenters take pride in: family, and the farmer's own work.</a:t>
            </a:r>
          </a:p>
          <a:p>
            <a:pPr algn="l">
              <a:spcAft>
                <a:spcPts val="500"/>
              </a:spcAft>
            </a:pPr>
            <a:r>
              <a:rPr sz="1100" b="1" i="0">
                <a:solidFill>
                  <a:srgbClr val="1A1A1A"/>
                </a:solidFill>
                <a:latin typeface="Segoe UI"/>
              </a:rPr>
              <a:t>Distinctive:  </a:t>
            </a:r>
            <a:r>
              <a:rPr sz="1100" b="0" i="0">
                <a:solidFill>
                  <a:srgbClr val="1A1A1A"/>
                </a:solidFill>
                <a:latin typeface="Segoe UI"/>
              </a:rPr>
              <a:t>moves off the generic salute that JPL, Rizq Foods and Syngenta already post.</a:t>
            </a:r>
          </a:p>
          <a:p>
            <a:pPr algn="l">
              <a:spcAft>
                <a:spcPts val="500"/>
              </a:spcAft>
            </a:pPr>
            <a:r>
              <a:rPr sz="1100" b="1" i="0">
                <a:solidFill>
                  <a:srgbClr val="1A1A1A"/>
                </a:solidFill>
                <a:latin typeface="Segoe UI"/>
              </a:rPr>
              <a:t>Ownable:  </a:t>
            </a:r>
            <a:r>
              <a:rPr sz="1100" b="0" i="0">
                <a:solidFill>
                  <a:srgbClr val="1A1A1A"/>
                </a:solidFill>
                <a:latin typeface="Segoe UI"/>
              </a:rPr>
              <a:t>a reply only belongs to whoever gave the salute, and Sarsabz started Salam Kissan.</a:t>
            </a:r>
          </a:p>
        </p:txBody>
      </p:sp>
      <p:sp>
        <p:nvSpPr>
          <p:cNvPr id="12" name="Rectangle 11"/>
          <p:cNvSpPr/>
          <p:nvPr/>
        </p:nvSpPr>
        <p:spPr>
          <a:xfrm>
            <a:off x="7498079" y="1234440"/>
            <a:ext cx="4114800" cy="530352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26679" y="1371600"/>
            <a:ext cx="3703320" cy="274320"/>
          </a:xfrm>
          <a:prstGeom prst="rect">
            <a:avLst/>
          </a:prstGeom>
          <a:noFill/>
        </p:spPr>
        <p:txBody>
          <a:bodyPr wrap="square" lIns="0" rIns="0" tIns="0" bIns="0">
            <a:spAutoFit/>
          </a:bodyPr>
          <a:lstStyle/>
          <a:p>
            <a:pPr algn="l">
              <a:spcAft>
                <a:spcPts val="0"/>
              </a:spcAft>
            </a:pPr>
            <a:r>
              <a:rPr sz="1000" b="1" i="0">
                <a:solidFill>
                  <a:srgbClr val="6B7480"/>
                </a:solidFill>
                <a:latin typeface="Segoe UI"/>
              </a:rPr>
              <a:t>ALTERNATIVES CONSIDERED</a:t>
            </a:r>
          </a:p>
        </p:txBody>
      </p:sp>
      <p:sp>
        <p:nvSpPr>
          <p:cNvPr id="14" name="TextBox 13"/>
          <p:cNvSpPr txBox="1"/>
          <p:nvPr/>
        </p:nvSpPr>
        <p:spPr>
          <a:xfrm>
            <a:off x="7726679" y="1691640"/>
            <a:ext cx="3703320" cy="4754880"/>
          </a:xfrm>
          <a:prstGeom prst="rect">
            <a:avLst/>
          </a:prstGeom>
          <a:noFill/>
        </p:spPr>
        <p:txBody>
          <a:bodyPr wrap="square" lIns="0" rIns="0" tIns="0" bIns="0">
            <a:spAutoFit/>
          </a:bodyPr>
          <a:lstStyle/>
          <a:p>
            <a:pPr algn="l">
              <a:spcAft>
                <a:spcPts val="900"/>
              </a:spcAft>
            </a:pPr>
            <a:r>
              <a:rPr sz="1050" b="1" i="0">
                <a:solidFill>
                  <a:srgbClr val="102A43"/>
                </a:solidFill>
                <a:latin typeface="Segoe UI"/>
              </a:rPr>
              <a:t>Recommended - A. The farmer answers the salute.  </a:t>
            </a:r>
            <a:r>
              <a:rPr sz="1050" b="0" i="0">
                <a:solidFill>
                  <a:srgbClr val="102A43"/>
                </a:solidFill>
                <a:latin typeface="Segoe UI"/>
              </a:rPr>
              <a:t>Built on all three insights. Needs Fatima to put farmers' own words on air, complaints included.</a:t>
            </a:r>
          </a:p>
          <a:p>
            <a:pPr algn="l">
              <a:spcAft>
                <a:spcPts val="900"/>
              </a:spcAft>
            </a:pPr>
            <a:r>
              <a:rPr sz="1050" b="1" i="0">
                <a:solidFill>
                  <a:srgbClr val="102A43"/>
                </a:solidFill>
                <a:latin typeface="Segoe UI"/>
              </a:rPr>
              <a:t>B. A year of the farmer (crop calendar).  </a:t>
            </a:r>
            <a:r>
              <a:rPr sz="1050" b="0" i="0">
                <a:solidFill>
                  <a:srgbClr val="102A43"/>
                </a:solidFill>
                <a:latin typeface="Segoe UI"/>
              </a:rPr>
              <a:t>Answers the brief's beyond-a-single-day ask, but carries no audience tension, and any agri brand could run it.</a:t>
            </a:r>
          </a:p>
          <a:p>
            <a:pPr algn="l">
              <a:spcAft>
                <a:spcPts val="900"/>
              </a:spcAft>
            </a:pPr>
            <a:r>
              <a:rPr sz="1050" b="1" i="0">
                <a:solidFill>
                  <a:srgbClr val="102A43"/>
                </a:solidFill>
                <a:latin typeface="Segoe UI"/>
              </a:rPr>
              <a:t>C. Farmers' children reach urban youth.  </a:t>
            </a:r>
            <a:r>
              <a:rPr sz="1050" b="0" i="0">
                <a:solidFill>
                  <a:srgbClr val="102A43"/>
                </a:solidFill>
                <a:latin typeface="Segoe UI"/>
              </a:rPr>
              <a:t>Fits the brief's young audience, but the comments can't show age or location, so it rests on an assumption. Folded into A as the voice.</a:t>
            </a:r>
          </a:p>
          <a:p>
            <a:pPr algn="l">
              <a:spcAft>
                <a:spcPts val="900"/>
              </a:spcAft>
            </a:pPr>
            <a:r>
              <a:rPr sz="1050" b="1" i="0">
                <a:solidFill>
                  <a:srgbClr val="102A43"/>
                </a:solidFill>
                <a:latin typeface="Segoe UI"/>
              </a:rPr>
              <a:t>Swap test:  </a:t>
            </a:r>
            <a:r>
              <a:rPr sz="1050" b="0" i="0">
                <a:solidFill>
                  <a:srgbClr val="102A43"/>
                </a:solidFill>
                <a:latin typeface="Segoe UI"/>
              </a:rPr>
              <a:t>Syngenta can say #MaiKisanHun. It can't reply to a salute it never gave. Lead with the reply, and move first.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0972800" cy="274320"/>
          </a:xfrm>
          <a:prstGeom prst="rect">
            <a:avLst/>
          </a:prstGeom>
          <a:noFill/>
        </p:spPr>
        <p:txBody>
          <a:bodyPr wrap="square" lIns="0" rIns="0" tIns="0" bIns="0">
            <a:spAutoFit/>
          </a:bodyPr>
          <a:lstStyle/>
          <a:p>
            <a:pPr algn="l">
              <a:spcAft>
                <a:spcPts val="0"/>
              </a:spcAft>
            </a:pPr>
            <a:r>
              <a:rPr sz="1000" b="1" i="0">
                <a:solidFill>
                  <a:srgbClr val="9FB4C7"/>
                </a:solidFill>
                <a:latin typeface="Segoe UI"/>
              </a:rPr>
              <a:t>THE PRICE OF THE IDEA</a:t>
            </a:r>
          </a:p>
        </p:txBody>
      </p:sp>
      <p:sp>
        <p:nvSpPr>
          <p:cNvPr id="4" name="TextBox 3"/>
          <p:cNvSpPr txBox="1"/>
          <p:nvPr/>
        </p:nvSpPr>
        <p:spPr>
          <a:xfrm>
            <a:off x="548640" y="384048"/>
            <a:ext cx="11064240" cy="457200"/>
          </a:xfrm>
          <a:prstGeom prst="rect">
            <a:avLst/>
          </a:prstGeom>
          <a:noFill/>
        </p:spPr>
        <p:txBody>
          <a:bodyPr wrap="square" lIns="0" rIns="0" tIns="0" bIns="0">
            <a:spAutoFit/>
          </a:bodyPr>
          <a:lstStyle/>
          <a:p>
            <a:pPr algn="l">
              <a:spcAft>
                <a:spcPts val="0"/>
              </a:spcAft>
            </a:pPr>
            <a:r>
              <a:rPr sz="2200" b="1" i="0">
                <a:solidFill>
                  <a:srgbClr val="FFFFFF"/>
                </a:solidFill>
                <a:latin typeface="Segoe UI"/>
              </a:rPr>
              <a:t>What it asks of Fatima, and how it lives in media</a:t>
            </a:r>
          </a:p>
        </p:txBody>
      </p:sp>
      <p:sp>
        <p:nvSpPr>
          <p:cNvPr id="5" name="TextBox 4"/>
          <p:cNvSpPr txBox="1"/>
          <p:nvPr/>
        </p:nvSpPr>
        <p:spPr>
          <a:xfrm>
            <a:off x="548640" y="1234440"/>
            <a:ext cx="5486400" cy="274320"/>
          </a:xfrm>
          <a:prstGeom prst="rect">
            <a:avLst/>
          </a:prstGeom>
          <a:noFill/>
        </p:spPr>
        <p:txBody>
          <a:bodyPr wrap="square" lIns="0" rIns="0" tIns="0" bIns="0">
            <a:spAutoFit/>
          </a:bodyPr>
          <a:lstStyle/>
          <a:p>
            <a:pPr algn="l">
              <a:spcAft>
                <a:spcPts val="0"/>
              </a:spcAft>
            </a:pPr>
            <a:r>
              <a:rPr sz="1000" b="1" i="0">
                <a:solidFill>
                  <a:srgbClr val="6B7480"/>
                </a:solidFill>
                <a:latin typeface="Segoe UI"/>
              </a:rPr>
              <a:t>WHAT FATIMA MUST COMMIT TO - BEFORE ANY LINE IS WRITTEN</a:t>
            </a:r>
          </a:p>
        </p:txBody>
      </p:sp>
      <p:sp>
        <p:nvSpPr>
          <p:cNvPr id="6" name="Rectangle 5"/>
          <p:cNvSpPr/>
          <p:nvPr/>
        </p:nvSpPr>
        <p:spPr>
          <a:xfrm>
            <a:off x="548640" y="1600200"/>
            <a:ext cx="45720" cy="65836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618488"/>
            <a:ext cx="5303520" cy="274320"/>
          </a:xfrm>
          <a:prstGeom prst="rect">
            <a:avLst/>
          </a:prstGeom>
          <a:noFill/>
        </p:spPr>
        <p:txBody>
          <a:bodyPr wrap="square" lIns="0" rIns="0" tIns="0" bIns="0">
            <a:spAutoFit/>
          </a:bodyPr>
          <a:lstStyle/>
          <a:p>
            <a:pPr algn="l">
              <a:spcAft>
                <a:spcPts val="0"/>
              </a:spcAft>
            </a:pPr>
            <a:r>
              <a:rPr sz="1300" b="1" i="0">
                <a:solidFill>
                  <a:srgbClr val="102A43"/>
                </a:solidFill>
                <a:latin typeface="Segoe UI"/>
              </a:rPr>
              <a:t>1  Complaints on air</a:t>
            </a:r>
          </a:p>
        </p:txBody>
      </p:sp>
      <p:sp>
        <p:nvSpPr>
          <p:cNvPr id="8" name="TextBox 7"/>
          <p:cNvSpPr txBox="1"/>
          <p:nvPr/>
        </p:nvSpPr>
        <p:spPr>
          <a:xfrm>
            <a:off x="731520" y="1920240"/>
            <a:ext cx="5303520" cy="365760"/>
          </a:xfrm>
          <a:prstGeom prst="rect">
            <a:avLst/>
          </a:prstGeom>
          <a:noFill/>
        </p:spPr>
        <p:txBody>
          <a:bodyPr wrap="square" lIns="0" rIns="0" tIns="0" bIns="0">
            <a:spAutoFit/>
          </a:bodyPr>
          <a:lstStyle/>
          <a:p>
            <a:pPr algn="l">
              <a:spcAft>
                <a:spcPts val="0"/>
              </a:spcAft>
            </a:pPr>
            <a:r>
              <a:rPr sz="1100" b="0" i="0">
                <a:solidFill>
                  <a:srgbClr val="1A1A1A"/>
                </a:solidFill>
                <a:latin typeface="Segoe UI"/>
              </a:rPr>
              <a:t>Farmers' answers will include fertilizer supply and price. Editing them out proves the critic right.</a:t>
            </a:r>
          </a:p>
        </p:txBody>
      </p:sp>
      <p:sp>
        <p:nvSpPr>
          <p:cNvPr id="9" name="Rectangle 8"/>
          <p:cNvSpPr/>
          <p:nvPr/>
        </p:nvSpPr>
        <p:spPr>
          <a:xfrm>
            <a:off x="548640" y="2404872"/>
            <a:ext cx="45720" cy="65836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423160"/>
            <a:ext cx="5303520" cy="274320"/>
          </a:xfrm>
          <a:prstGeom prst="rect">
            <a:avLst/>
          </a:prstGeom>
          <a:noFill/>
        </p:spPr>
        <p:txBody>
          <a:bodyPr wrap="square" lIns="0" rIns="0" tIns="0" bIns="0">
            <a:spAutoFit/>
          </a:bodyPr>
          <a:lstStyle/>
          <a:p>
            <a:pPr algn="l">
              <a:spcAft>
                <a:spcPts val="0"/>
              </a:spcAft>
            </a:pPr>
            <a:r>
              <a:rPr sz="1300" b="1" i="0">
                <a:solidFill>
                  <a:srgbClr val="102A43"/>
                </a:solidFill>
                <a:latin typeface="Segoe UI"/>
              </a:rPr>
              <a:t>2  Real families</a:t>
            </a:r>
          </a:p>
        </p:txBody>
      </p:sp>
      <p:sp>
        <p:nvSpPr>
          <p:cNvPr id="11" name="TextBox 10"/>
          <p:cNvSpPr txBox="1"/>
          <p:nvPr/>
        </p:nvSpPr>
        <p:spPr>
          <a:xfrm>
            <a:off x="731520" y="2724912"/>
            <a:ext cx="5303520" cy="365760"/>
          </a:xfrm>
          <a:prstGeom prst="rect">
            <a:avLst/>
          </a:prstGeom>
          <a:noFill/>
        </p:spPr>
        <p:txBody>
          <a:bodyPr wrap="square" lIns="0" rIns="0" tIns="0" bIns="0">
            <a:spAutoFit/>
          </a:bodyPr>
          <a:lstStyle/>
          <a:p>
            <a:pPr algn="l">
              <a:spcAft>
                <a:spcPts val="0"/>
              </a:spcAft>
            </a:pPr>
            <a:r>
              <a:rPr sz="1100" b="0" i="0">
                <a:solidFill>
                  <a:srgbClr val="1A1A1A"/>
                </a:solidFill>
                <a:latin typeface="Segoe UI"/>
              </a:rPr>
              <a:t>Real farmers and their children on screen. No celebrities or AI-animated farmers.</a:t>
            </a:r>
          </a:p>
        </p:txBody>
      </p:sp>
      <p:sp>
        <p:nvSpPr>
          <p:cNvPr id="12" name="Rectangle 11"/>
          <p:cNvSpPr/>
          <p:nvPr/>
        </p:nvSpPr>
        <p:spPr>
          <a:xfrm>
            <a:off x="548640" y="3209544"/>
            <a:ext cx="45720" cy="65836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3227832"/>
            <a:ext cx="5303520" cy="274320"/>
          </a:xfrm>
          <a:prstGeom prst="rect">
            <a:avLst/>
          </a:prstGeom>
          <a:noFill/>
        </p:spPr>
        <p:txBody>
          <a:bodyPr wrap="square" lIns="0" rIns="0" tIns="0" bIns="0">
            <a:spAutoFit/>
          </a:bodyPr>
          <a:lstStyle/>
          <a:p>
            <a:pPr algn="l">
              <a:spcAft>
                <a:spcPts val="0"/>
              </a:spcAft>
            </a:pPr>
            <a:r>
              <a:rPr sz="1300" b="1" i="0">
                <a:solidFill>
                  <a:srgbClr val="102A43"/>
                </a:solidFill>
                <a:latin typeface="Segoe UI"/>
              </a:rPr>
              <a:t>3  Name the brand</a:t>
            </a:r>
          </a:p>
        </p:txBody>
      </p:sp>
      <p:sp>
        <p:nvSpPr>
          <p:cNvPr id="14" name="TextBox 13"/>
          <p:cNvSpPr txBox="1"/>
          <p:nvPr/>
        </p:nvSpPr>
        <p:spPr>
          <a:xfrm>
            <a:off x="731520" y="3529584"/>
            <a:ext cx="5303520" cy="365760"/>
          </a:xfrm>
          <a:prstGeom prst="rect">
            <a:avLst/>
          </a:prstGeom>
          <a:noFill/>
        </p:spPr>
        <p:txBody>
          <a:bodyPr wrap="square" lIns="0" rIns="0" tIns="0" bIns="0">
            <a:spAutoFit/>
          </a:bodyPr>
          <a:lstStyle/>
          <a:p>
            <a:pPr algn="l">
              <a:spcAft>
                <a:spcPts val="0"/>
              </a:spcAft>
            </a:pPr>
            <a:r>
              <a:rPr sz="1100" b="0" i="0">
                <a:solidFill>
                  <a:srgbClr val="1A1A1A"/>
                </a:solidFill>
                <a:latin typeface="Segoe UI"/>
              </a:rPr>
              <a:t>Sarsabz Salam Kissan in every PR and event material, not only Fatima Group.</a:t>
            </a:r>
          </a:p>
        </p:txBody>
      </p:sp>
      <p:sp>
        <p:nvSpPr>
          <p:cNvPr id="15" name="Rectangle 14"/>
          <p:cNvSpPr/>
          <p:nvPr/>
        </p:nvSpPr>
        <p:spPr>
          <a:xfrm>
            <a:off x="548640" y="4014215"/>
            <a:ext cx="45720" cy="65836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4032503"/>
            <a:ext cx="5303520" cy="274320"/>
          </a:xfrm>
          <a:prstGeom prst="rect">
            <a:avLst/>
          </a:prstGeom>
          <a:noFill/>
        </p:spPr>
        <p:txBody>
          <a:bodyPr wrap="square" lIns="0" rIns="0" tIns="0" bIns="0">
            <a:spAutoFit/>
          </a:bodyPr>
          <a:lstStyle/>
          <a:p>
            <a:pPr algn="l">
              <a:spcAft>
                <a:spcPts val="0"/>
              </a:spcAft>
            </a:pPr>
            <a:r>
              <a:rPr sz="1300" b="1" i="0">
                <a:solidFill>
                  <a:srgbClr val="102A43"/>
                </a:solidFill>
                <a:latin typeface="Segoe UI"/>
              </a:rPr>
              <a:t>4  Beyond December</a:t>
            </a:r>
          </a:p>
        </p:txBody>
      </p:sp>
      <p:sp>
        <p:nvSpPr>
          <p:cNvPr id="17" name="TextBox 16"/>
          <p:cNvSpPr txBox="1"/>
          <p:nvPr/>
        </p:nvSpPr>
        <p:spPr>
          <a:xfrm>
            <a:off x="731520" y="4334255"/>
            <a:ext cx="5303520" cy="365760"/>
          </a:xfrm>
          <a:prstGeom prst="rect">
            <a:avLst/>
          </a:prstGeom>
          <a:noFill/>
        </p:spPr>
        <p:txBody>
          <a:bodyPr wrap="square" lIns="0" rIns="0" tIns="0" bIns="0">
            <a:spAutoFit/>
          </a:bodyPr>
          <a:lstStyle/>
          <a:p>
            <a:pPr algn="l">
              <a:spcAft>
                <a:spcPts val="0"/>
              </a:spcAft>
            </a:pPr>
            <a:r>
              <a:rPr sz="1100" b="0" i="0">
                <a:solidFill>
                  <a:srgbClr val="1A1A1A"/>
                </a:solidFill>
                <a:latin typeface="Segoe UI"/>
              </a:rPr>
              <a:t>Replies collected in Rabi (Oct-Mar) and Kharif (Apr-Sep), the seasons in brief p6.</a:t>
            </a:r>
          </a:p>
        </p:txBody>
      </p:sp>
      <p:sp>
        <p:nvSpPr>
          <p:cNvPr id="18" name="Rectangle 17"/>
          <p:cNvSpPr/>
          <p:nvPr/>
        </p:nvSpPr>
        <p:spPr>
          <a:xfrm>
            <a:off x="548640" y="4818888"/>
            <a:ext cx="45720" cy="65836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4837175"/>
            <a:ext cx="5303520" cy="274320"/>
          </a:xfrm>
          <a:prstGeom prst="rect">
            <a:avLst/>
          </a:prstGeom>
          <a:noFill/>
        </p:spPr>
        <p:txBody>
          <a:bodyPr wrap="square" lIns="0" rIns="0" tIns="0" bIns="0">
            <a:spAutoFit/>
          </a:bodyPr>
          <a:lstStyle/>
          <a:p>
            <a:pPr algn="l">
              <a:spcAft>
                <a:spcPts val="0"/>
              </a:spcAft>
            </a:pPr>
            <a:r>
              <a:rPr sz="1300" b="1" i="0">
                <a:solidFill>
                  <a:srgbClr val="102A43"/>
                </a:solidFill>
                <a:latin typeface="Segoe UI"/>
              </a:rPr>
              <a:t>5  Measure honestly</a:t>
            </a:r>
          </a:p>
        </p:txBody>
      </p:sp>
      <p:sp>
        <p:nvSpPr>
          <p:cNvPr id="20" name="TextBox 19"/>
          <p:cNvSpPr txBox="1"/>
          <p:nvPr/>
        </p:nvSpPr>
        <p:spPr>
          <a:xfrm>
            <a:off x="731520" y="5138927"/>
            <a:ext cx="5303520" cy="365760"/>
          </a:xfrm>
          <a:prstGeom prst="rect">
            <a:avLst/>
          </a:prstGeom>
          <a:noFill/>
        </p:spPr>
        <p:txBody>
          <a:bodyPr wrap="square" lIns="0" rIns="0" tIns="0" bIns="0">
            <a:spAutoFit/>
          </a:bodyPr>
          <a:lstStyle/>
          <a:p>
            <a:pPr algn="l">
              <a:spcAft>
                <a:spcPts val="0"/>
              </a:spcAft>
            </a:pPr>
            <a:r>
              <a:rPr sz="1100" b="0" i="0">
                <a:solidFill>
                  <a:srgbClr val="1A1A1A"/>
                </a:solidFill>
                <a:latin typeface="Segoe UI"/>
              </a:rPr>
              <a:t>Report organic response apart from giveaways, and add a brand-health question on who people credit for Kissan Day.</a:t>
            </a:r>
          </a:p>
        </p:txBody>
      </p:sp>
      <p:sp>
        <p:nvSpPr>
          <p:cNvPr id="21" name="TextBox 20"/>
          <p:cNvSpPr txBox="1"/>
          <p:nvPr/>
        </p:nvSpPr>
        <p:spPr>
          <a:xfrm>
            <a:off x="6400800" y="1234440"/>
            <a:ext cx="5212080" cy="274320"/>
          </a:xfrm>
          <a:prstGeom prst="rect">
            <a:avLst/>
          </a:prstGeom>
          <a:noFill/>
        </p:spPr>
        <p:txBody>
          <a:bodyPr wrap="square" lIns="0" rIns="0" tIns="0" bIns="0">
            <a:spAutoFit/>
          </a:bodyPr>
          <a:lstStyle/>
          <a:p>
            <a:pPr algn="l">
              <a:spcAft>
                <a:spcPts val="0"/>
              </a:spcAft>
            </a:pPr>
            <a:r>
              <a:rPr sz="1000" b="1" i="0">
                <a:solidFill>
                  <a:srgbClr val="6B7480"/>
                </a:solidFill>
                <a:latin typeface="Segoe UI"/>
              </a:rPr>
              <a:t>MEDIA PRINCIPLES</a:t>
            </a:r>
          </a:p>
        </p:txBody>
      </p:sp>
      <p:sp>
        <p:nvSpPr>
          <p:cNvPr id="22" name="TextBox 21"/>
          <p:cNvSpPr txBox="1"/>
          <p:nvPr/>
        </p:nvSpPr>
        <p:spPr>
          <a:xfrm>
            <a:off x="6400800" y="1554480"/>
            <a:ext cx="5212080" cy="822960"/>
          </a:xfrm>
          <a:prstGeom prst="rect">
            <a:avLst/>
          </a:prstGeom>
          <a:noFill/>
        </p:spPr>
        <p:txBody>
          <a:bodyPr wrap="square" lIns="0" rIns="0" tIns="0" bIns="0">
            <a:spAutoFit/>
          </a:bodyPr>
          <a:lstStyle/>
          <a:p>
            <a:pPr algn="l">
              <a:spcAft>
                <a:spcPts val="0"/>
              </a:spcAft>
            </a:pPr>
            <a:r>
              <a:rPr sz="1300" b="1" i="1">
                <a:solidFill>
                  <a:srgbClr val="102A43"/>
                </a:solidFill>
                <a:latin typeface="Segoe UI"/>
              </a:rPr>
              <a:t>“The response comes on the long anthem films and when creators send their audiences: the four anthems drew 1,422 of 1,572 comments, and the eight 2025 uploads drew 61.”</a:t>
            </a:r>
          </a:p>
        </p:txBody>
      </p:sp>
      <p:sp>
        <p:nvSpPr>
          <p:cNvPr id="23" name="TextBox 22"/>
          <p:cNvSpPr txBox="1"/>
          <p:nvPr/>
        </p:nvSpPr>
        <p:spPr>
          <a:xfrm>
            <a:off x="6400800" y="2423160"/>
            <a:ext cx="5212080" cy="3291840"/>
          </a:xfrm>
          <a:prstGeom prst="rect">
            <a:avLst/>
          </a:prstGeom>
          <a:noFill/>
        </p:spPr>
        <p:txBody>
          <a:bodyPr wrap="square" lIns="0" rIns="0" tIns="0" bIns="0">
            <a:spAutoFit/>
          </a:bodyPr>
          <a:lstStyle/>
          <a:p>
            <a:pPr algn="l">
              <a:spcAft>
                <a:spcPts val="900"/>
              </a:spcAft>
            </a:pPr>
            <a:r>
              <a:rPr sz="1150" b="1" i="0">
                <a:solidFill>
                  <a:srgbClr val="1A1A1A"/>
                </a:solidFill>
                <a:latin typeface="Segoe UI"/>
              </a:rPr>
              <a:t>Keep an anthem at the centre.  </a:t>
            </a:r>
            <a:r>
              <a:rPr sz="1150" b="0" i="0">
                <a:solidFill>
                  <a:srgbClr val="1A1A1A"/>
                </a:solidFill>
                <a:latin typeface="Segoe UI"/>
              </a:rPr>
              <a:t>The long film is where people respond, and 103 comments are about the music.</a:t>
            </a:r>
          </a:p>
          <a:p>
            <a:pPr algn="l">
              <a:spcAft>
                <a:spcPts val="900"/>
              </a:spcAft>
            </a:pPr>
            <a:r>
              <a:rPr sz="1150" b="1" i="0">
                <a:solidFill>
                  <a:srgbClr val="1A1A1A"/>
                </a:solidFill>
                <a:latin typeface="Segoe UI"/>
              </a:rPr>
              <a:t>Creators carry it to people who don't farm.  </a:t>
            </a:r>
            <a:r>
              <a:rPr sz="1150" b="0" i="0">
                <a:solidFill>
                  <a:srgbClr val="1A1A1A"/>
                </a:solidFill>
                <a:latin typeface="Segoe UI"/>
              </a:rPr>
              <a:t>In 2023, 24 comments say they came from creator vlogs. Whether that was paid is a question for the client.</a:t>
            </a:r>
          </a:p>
          <a:p>
            <a:pPr algn="l">
              <a:spcAft>
                <a:spcPts val="900"/>
              </a:spcAft>
            </a:pPr>
            <a:r>
              <a:rPr sz="1150" b="1" i="0">
                <a:solidFill>
                  <a:srgbClr val="1A1A1A"/>
                </a:solidFill>
                <a:latin typeface="Segoe UI"/>
              </a:rPr>
              <a:t>Reply in the thread.  </a:t>
            </a:r>
            <a:r>
              <a:rPr sz="1150" b="0" i="0">
                <a:solidFill>
                  <a:srgbClr val="1A1A1A"/>
                </a:solidFill>
                <a:latin typeface="Segoe UI"/>
              </a:rPr>
              <a:t>Answer farmers in their own language, where they wrote.</a:t>
            </a:r>
          </a:p>
          <a:p>
            <a:pPr algn="l">
              <a:spcAft>
                <a:spcPts val="900"/>
              </a:spcAft>
            </a:pPr>
            <a:r>
              <a:rPr sz="1150" b="1" i="0">
                <a:solidFill>
                  <a:srgbClr val="1A1A1A"/>
                </a:solidFill>
                <a:latin typeface="Segoe UI"/>
              </a:rPr>
              <a:t>Contests aren't proof.  </a:t>
            </a:r>
            <a:r>
              <a:rPr sz="1150" b="0" i="0">
                <a:solidFill>
                  <a:srgbClr val="1A1A1A"/>
                </a:solidFill>
                <a:latin typeface="Segoe UI"/>
              </a:rPr>
              <a:t>31 winner notices sit in the 2023 thread. Report them separately.</a:t>
            </a:r>
          </a:p>
        </p:txBody>
      </p:sp>
      <p:sp>
        <p:nvSpPr>
          <p:cNvPr id="24" name="Rectangle 23"/>
          <p:cNvSpPr/>
          <p:nvPr/>
        </p:nvSpPr>
        <p:spPr>
          <a:xfrm>
            <a:off x="548640" y="5806440"/>
            <a:ext cx="11064240" cy="73152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77240" y="5916168"/>
            <a:ext cx="10607040" cy="548640"/>
          </a:xfrm>
          <a:prstGeom prst="rect">
            <a:avLst/>
          </a:prstGeom>
          <a:noFill/>
        </p:spPr>
        <p:txBody>
          <a:bodyPr wrap="square" lIns="0" rIns="0" tIns="0" bIns="0">
            <a:spAutoFit/>
          </a:bodyPr>
          <a:lstStyle/>
          <a:p>
            <a:pPr algn="l">
              <a:spcAft>
                <a:spcPts val="0"/>
              </a:spcAft>
            </a:pPr>
            <a:r>
              <a:rPr sz="1250" b="1" i="0">
                <a:solidFill>
                  <a:srgbClr val="FFFFFF"/>
                </a:solidFill>
                <a:latin typeface="Segoe UI"/>
              </a:rPr>
              <a:t>If Fatima won't put farmers' own words on air, the idea becomes another salute. Run B, a crop-calendar platform, instead, and state the trade-off: easier to approve, easy for rivals to copy.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1828800"/>
            <a:ext cx="1463040" cy="5486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103120"/>
            <a:ext cx="10424160" cy="548640"/>
          </a:xfrm>
          <a:prstGeom prst="rect">
            <a:avLst/>
          </a:prstGeom>
          <a:noFill/>
        </p:spPr>
        <p:txBody>
          <a:bodyPr wrap="square" lIns="0" rIns="0" tIns="0" bIns="0">
            <a:spAutoFit/>
          </a:bodyPr>
          <a:lstStyle/>
          <a:p>
            <a:pPr algn="l">
              <a:spcAft>
                <a:spcPts val="600"/>
              </a:spcAft>
            </a:pPr>
            <a:r>
              <a:rPr sz="2200" b="0" i="0">
                <a:solidFill>
                  <a:srgbClr val="9FB4C7"/>
                </a:solidFill>
                <a:latin typeface="Segoe UI"/>
              </a:rPr>
              <a:t>6  ·  The campaign</a:t>
            </a:r>
          </a:p>
        </p:txBody>
      </p:sp>
      <p:sp>
        <p:nvSpPr>
          <p:cNvPr id="5" name="TextBox 4"/>
          <p:cNvSpPr txBox="1"/>
          <p:nvPr/>
        </p:nvSpPr>
        <p:spPr>
          <a:xfrm>
            <a:off x="822960" y="2697480"/>
            <a:ext cx="10607040" cy="1188720"/>
          </a:xfrm>
          <a:prstGeom prst="rect">
            <a:avLst/>
          </a:prstGeom>
          <a:noFill/>
        </p:spPr>
        <p:txBody>
          <a:bodyPr wrap="square" lIns="0" rIns="0" tIns="0" bIns="0">
            <a:spAutoFit/>
          </a:bodyPr>
          <a:lstStyle/>
          <a:p>
            <a:pPr algn="l">
              <a:spcAft>
                <a:spcPts val="600"/>
              </a:spcAft>
            </a:pPr>
            <a:r>
              <a:rPr sz="4400" b="1" i="0">
                <a:solidFill>
                  <a:srgbClr val="FFFFFF"/>
                </a:solidFill>
                <a:latin typeface="Segoe UI"/>
              </a:rPr>
              <a:t>Salam Kissan. Wa Alaikum Salam, Pakistan.</a:t>
            </a:r>
          </a:p>
        </p:txBody>
      </p:sp>
      <p:sp>
        <p:nvSpPr>
          <p:cNvPr id="6" name="TextBox 5"/>
          <p:cNvSpPr txBox="1"/>
          <p:nvPr/>
        </p:nvSpPr>
        <p:spPr>
          <a:xfrm>
            <a:off x="822960" y="3977639"/>
            <a:ext cx="10424160" cy="457200"/>
          </a:xfrm>
          <a:prstGeom prst="rect">
            <a:avLst/>
          </a:prstGeom>
          <a:noFill/>
        </p:spPr>
        <p:txBody>
          <a:bodyPr wrap="square" lIns="0" rIns="0" tIns="0" bIns="0">
            <a:spAutoFit/>
          </a:bodyPr>
          <a:lstStyle/>
          <a:p>
            <a:pPr algn="l">
              <a:spcAft>
                <a:spcPts val="600"/>
              </a:spcAft>
            </a:pPr>
            <a:r>
              <a:rPr sz="1800" b="0" i="1">
                <a:solidFill>
                  <a:srgbClr val="9FB4C7"/>
                </a:solidFill>
                <a:latin typeface="Segoe UI"/>
              </a:rPr>
              <a:t>Proposed line: Pakistan salutes the farmer, and the farmer returns the greeting.</a:t>
            </a:r>
          </a:p>
        </p:txBody>
      </p:sp>
      <p:sp>
        <p:nvSpPr>
          <p:cNvPr id="7" name="TextBox 6"/>
          <p:cNvSpPr txBox="1"/>
          <p:nvPr/>
        </p:nvSpPr>
        <p:spPr>
          <a:xfrm>
            <a:off x="822960" y="5760720"/>
            <a:ext cx="10424160" cy="365760"/>
          </a:xfrm>
          <a:prstGeom prst="rect">
            <a:avLst/>
          </a:prstGeom>
          <a:noFill/>
        </p:spPr>
        <p:txBody>
          <a:bodyPr wrap="square" lIns="0" rIns="0" tIns="0" bIns="0">
            <a:spAutoFit/>
          </a:bodyPr>
          <a:lstStyle/>
          <a:p>
            <a:pPr algn="l">
              <a:spcAft>
                <a:spcPts val="600"/>
              </a:spcAft>
            </a:pPr>
            <a:r>
              <a:rPr sz="1300" b="0" i="0">
                <a:solidFill>
                  <a:srgbClr val="9FB4C7"/>
                </a:solidFill>
                <a:latin typeface="Segoe UI"/>
              </a:rPr>
              <a:t>From the Big Idea: the farmer answers Pakistan's salute in his own voice, through his own family.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64240" cy="274320"/>
          </a:xfrm>
          <a:prstGeom prst="rect">
            <a:avLst/>
          </a:prstGeom>
          <a:noFill/>
        </p:spPr>
        <p:txBody>
          <a:bodyPr wrap="square" lIns="0" rIns="0" tIns="0" bIns="0">
            <a:spAutoFit/>
          </a:bodyPr>
          <a:lstStyle/>
          <a:p>
            <a:pPr algn="l">
              <a:spcAft>
                <a:spcPts val="0"/>
              </a:spcAft>
            </a:pPr>
            <a:r>
              <a:rPr sz="1000" b="1" i="0">
                <a:solidFill>
                  <a:srgbClr val="9FB4C7"/>
                </a:solidFill>
                <a:latin typeface="Segoe UI"/>
              </a:rPr>
              <a:t>6  ·  THE CAMPAIGN  ·  THE CHAIN</a:t>
            </a:r>
          </a:p>
        </p:txBody>
      </p:sp>
      <p:sp>
        <p:nvSpPr>
          <p:cNvPr id="4" name="TextBox 3"/>
          <p:cNvSpPr txBox="1"/>
          <p:nvPr/>
        </p:nvSpPr>
        <p:spPr>
          <a:xfrm>
            <a:off x="548640" y="384048"/>
            <a:ext cx="11064240" cy="457200"/>
          </a:xfrm>
          <a:prstGeom prst="rect">
            <a:avLst/>
          </a:prstGeom>
          <a:noFill/>
        </p:spPr>
        <p:txBody>
          <a:bodyPr wrap="square" lIns="0" rIns="0" tIns="0" bIns="0">
            <a:spAutoFit/>
          </a:bodyPr>
          <a:lstStyle/>
          <a:p>
            <a:pPr algn="l">
              <a:spcAft>
                <a:spcPts val="0"/>
              </a:spcAft>
            </a:pPr>
            <a:r>
              <a:rPr sz="2200" b="1" i="0">
                <a:solidFill>
                  <a:srgbClr val="FFFFFF"/>
                </a:solidFill>
                <a:latin typeface="Segoe UI"/>
              </a:rPr>
              <a:t>From the Big Idea to the campaign, one step at a time</a:t>
            </a:r>
          </a:p>
        </p:txBody>
      </p:sp>
      <p:sp>
        <p:nvSpPr>
          <p:cNvPr id="5" name="Rectangle 4"/>
          <p:cNvSpPr/>
          <p:nvPr/>
        </p:nvSpPr>
        <p:spPr>
          <a:xfrm>
            <a:off x="548640" y="5806440"/>
            <a:ext cx="11064240" cy="566928"/>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5897880"/>
            <a:ext cx="10607040" cy="457200"/>
          </a:xfrm>
          <a:prstGeom prst="rect">
            <a:avLst/>
          </a:prstGeom>
          <a:noFill/>
        </p:spPr>
        <p:txBody>
          <a:bodyPr wrap="square" lIns="0" rIns="0" tIns="0" bIns="0">
            <a:spAutoFit/>
          </a:bodyPr>
          <a:lstStyle/>
          <a:p>
            <a:pPr algn="l">
              <a:spcAft>
                <a:spcPts val="0"/>
              </a:spcAft>
            </a:pPr>
            <a:r>
              <a:rPr sz="1200" b="1" i="0">
                <a:solidFill>
                  <a:srgbClr val="FFFFFF"/>
                </a:solidFill>
                <a:latin typeface="Segoe UI"/>
              </a:rPr>
              <a:t>Pakistan salutes the farmer but has never heard him answer. A salute with no reply is what the critic calls a TV show.</a:t>
            </a:r>
          </a:p>
        </p:txBody>
      </p:sp>
      <p:sp>
        <p:nvSpPr>
          <p:cNvPr id="7" name="TextBox 6"/>
          <p:cNvSpPr txBox="1"/>
          <p:nvPr/>
        </p:nvSpPr>
        <p:spPr>
          <a:xfrm>
            <a:off x="548640" y="6446520"/>
            <a:ext cx="11064240" cy="320040"/>
          </a:xfrm>
          <a:prstGeom prst="rect">
            <a:avLst/>
          </a:prstGeom>
          <a:noFill/>
        </p:spPr>
        <p:txBody>
          <a:bodyPr wrap="square" lIns="0" rIns="0" tIns="0" bIns="0">
            <a:spAutoFit/>
          </a:bodyPr>
          <a:lstStyle/>
          <a:p>
            <a:pPr algn="l">
              <a:spcAft>
                <a:spcPts val="0"/>
              </a:spcAft>
            </a:pPr>
            <a:r>
              <a:rPr sz="800" b="0" i="0">
                <a:solidFill>
                  <a:srgbClr val="6B7480"/>
                </a:solidFill>
                <a:latin typeface="Segoe UI"/>
              </a:rPr>
              <a:t>Sources: brief p6, p9-12; archive/; comments/; scan/; ProPakistani 8 Jan 2025. No budget, reach, results or dates beyond the brief are estimated.</a:t>
            </a:r>
          </a:p>
        </p:txBody>
      </p:sp>
      <p:sp>
        <p:nvSpPr>
          <p:cNvPr id="8" name="Rectangle 7"/>
          <p:cNvSpPr/>
          <p:nvPr/>
        </p:nvSpPr>
        <p:spPr>
          <a:xfrm>
            <a:off x="548640" y="1188720"/>
            <a:ext cx="11064240" cy="82296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444752"/>
            <a:ext cx="1828800" cy="365760"/>
          </a:xfrm>
          <a:prstGeom prst="rect">
            <a:avLst/>
          </a:prstGeom>
          <a:noFill/>
        </p:spPr>
        <p:txBody>
          <a:bodyPr wrap="square" lIns="0" rIns="0" tIns="0" bIns="0">
            <a:spAutoFit/>
          </a:bodyPr>
          <a:lstStyle/>
          <a:p>
            <a:pPr algn="l">
              <a:spcAft>
                <a:spcPts val="0"/>
              </a:spcAft>
            </a:pPr>
            <a:r>
              <a:rPr sz="1100" b="1" i="0">
                <a:solidFill>
                  <a:srgbClr val="102A43"/>
                </a:solidFill>
                <a:latin typeface="Segoe UI"/>
              </a:rPr>
              <a:t>ASSET</a:t>
            </a:r>
          </a:p>
        </p:txBody>
      </p:sp>
      <p:sp>
        <p:nvSpPr>
          <p:cNvPr id="10" name="TextBox 9"/>
          <p:cNvSpPr txBox="1"/>
          <p:nvPr/>
        </p:nvSpPr>
        <p:spPr>
          <a:xfrm>
            <a:off x="2651760" y="1325880"/>
            <a:ext cx="8778240" cy="640080"/>
          </a:xfrm>
          <a:prstGeom prst="rect">
            <a:avLst/>
          </a:prstGeom>
          <a:noFill/>
        </p:spPr>
        <p:txBody>
          <a:bodyPr wrap="square" lIns="0" rIns="0" tIns="0" bIns="0">
            <a:spAutoFit/>
          </a:bodyPr>
          <a:lstStyle/>
          <a:p>
            <a:pPr algn="l">
              <a:spcAft>
                <a:spcPts val="0"/>
              </a:spcAft>
            </a:pPr>
            <a:r>
              <a:rPr sz="1200" b="0" i="0">
                <a:solidFill>
                  <a:srgbClr val="1A1A1A"/>
                </a:solidFill>
                <a:latin typeface="Segoe UI"/>
              </a:rPr>
              <a:t>Sarsabz started Salam Kissan and Kissan Day (brief p12), runs the national event (6th Kissan Day with the Federal Minister and FAO, ProPakistani 8 Jan 2025) and holds seven years of the day's films.</a:t>
            </a:r>
          </a:p>
        </p:txBody>
      </p:sp>
      <p:sp>
        <p:nvSpPr>
          <p:cNvPr id="11" name="Rectangle 10"/>
          <p:cNvSpPr/>
          <p:nvPr/>
        </p:nvSpPr>
        <p:spPr>
          <a:xfrm>
            <a:off x="548640" y="2066543"/>
            <a:ext cx="11064240" cy="8229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2322576"/>
            <a:ext cx="1828800" cy="365760"/>
          </a:xfrm>
          <a:prstGeom prst="rect">
            <a:avLst/>
          </a:prstGeom>
          <a:noFill/>
        </p:spPr>
        <p:txBody>
          <a:bodyPr wrap="square" lIns="0" rIns="0" tIns="0" bIns="0">
            <a:spAutoFit/>
          </a:bodyPr>
          <a:lstStyle/>
          <a:p>
            <a:pPr algn="l">
              <a:spcAft>
                <a:spcPts val="0"/>
              </a:spcAft>
            </a:pPr>
            <a:r>
              <a:rPr sz="1100" b="1" i="0">
                <a:solidFill>
                  <a:srgbClr val="102A43"/>
                </a:solidFill>
                <a:latin typeface="Segoe UI"/>
              </a:rPr>
              <a:t>TENSION</a:t>
            </a:r>
          </a:p>
        </p:txBody>
      </p:sp>
      <p:sp>
        <p:nvSpPr>
          <p:cNvPr id="13" name="TextBox 12"/>
          <p:cNvSpPr txBox="1"/>
          <p:nvPr/>
        </p:nvSpPr>
        <p:spPr>
          <a:xfrm>
            <a:off x="2651760" y="2203703"/>
            <a:ext cx="8778240" cy="640080"/>
          </a:xfrm>
          <a:prstGeom prst="rect">
            <a:avLst/>
          </a:prstGeom>
          <a:noFill/>
        </p:spPr>
        <p:txBody>
          <a:bodyPr wrap="square" lIns="0" rIns="0" tIns="0" bIns="0">
            <a:spAutoFit/>
          </a:bodyPr>
          <a:lstStyle/>
          <a:p>
            <a:pPr algn="l">
              <a:spcAft>
                <a:spcPts val="0"/>
              </a:spcAft>
            </a:pPr>
            <a:r>
              <a:rPr sz="1200" b="0" i="0">
                <a:solidFill>
                  <a:srgbClr val="1A1A1A"/>
                </a:solidFill>
                <a:latin typeface="Segoe UI"/>
              </a:rPr>
              <a:t>The farmer is saluted, but celebrities, ministers and animation deliver the salute.</a:t>
            </a:r>
          </a:p>
        </p:txBody>
      </p:sp>
      <p:sp>
        <p:nvSpPr>
          <p:cNvPr id="14" name="Rectangle 13"/>
          <p:cNvSpPr/>
          <p:nvPr/>
        </p:nvSpPr>
        <p:spPr>
          <a:xfrm>
            <a:off x="548640" y="2944368"/>
            <a:ext cx="11064240" cy="82296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3200400"/>
            <a:ext cx="1828800" cy="365760"/>
          </a:xfrm>
          <a:prstGeom prst="rect">
            <a:avLst/>
          </a:prstGeom>
          <a:noFill/>
        </p:spPr>
        <p:txBody>
          <a:bodyPr wrap="square" lIns="0" rIns="0" tIns="0" bIns="0">
            <a:spAutoFit/>
          </a:bodyPr>
          <a:lstStyle/>
          <a:p>
            <a:pPr algn="l">
              <a:spcAft>
                <a:spcPts val="0"/>
              </a:spcAft>
            </a:pPr>
            <a:r>
              <a:rPr sz="1100" b="1" i="0">
                <a:solidFill>
                  <a:srgbClr val="102A43"/>
                </a:solidFill>
                <a:latin typeface="Segoe UI"/>
              </a:rPr>
              <a:t>TERRITORY</a:t>
            </a:r>
          </a:p>
        </p:txBody>
      </p:sp>
      <p:sp>
        <p:nvSpPr>
          <p:cNvPr id="16" name="TextBox 15"/>
          <p:cNvSpPr txBox="1"/>
          <p:nvPr/>
        </p:nvSpPr>
        <p:spPr>
          <a:xfrm>
            <a:off x="2651760" y="3081527"/>
            <a:ext cx="8778240" cy="640080"/>
          </a:xfrm>
          <a:prstGeom prst="rect">
            <a:avLst/>
          </a:prstGeom>
          <a:noFill/>
        </p:spPr>
        <p:txBody>
          <a:bodyPr wrap="square" lIns="0" rIns="0" tIns="0" bIns="0">
            <a:spAutoFit/>
          </a:bodyPr>
          <a:lstStyle/>
          <a:p>
            <a:pPr algn="l">
              <a:spcAft>
                <a:spcPts val="0"/>
              </a:spcAft>
            </a:pPr>
            <a:r>
              <a:rPr sz="1200" b="0" i="0">
                <a:solidFill>
                  <a:srgbClr val="1A1A1A"/>
                </a:solidFill>
                <a:latin typeface="Segoe UI"/>
              </a:rPr>
              <a:t>The farmer's own voice, all year, with Sarsabz handing over the microphone.</a:t>
            </a:r>
          </a:p>
        </p:txBody>
      </p:sp>
      <p:sp>
        <p:nvSpPr>
          <p:cNvPr id="17" name="Rectangle 16"/>
          <p:cNvSpPr/>
          <p:nvPr/>
        </p:nvSpPr>
        <p:spPr>
          <a:xfrm>
            <a:off x="548640" y="3822191"/>
            <a:ext cx="11064240" cy="8229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4078224"/>
            <a:ext cx="1828800" cy="365760"/>
          </a:xfrm>
          <a:prstGeom prst="rect">
            <a:avLst/>
          </a:prstGeom>
          <a:noFill/>
        </p:spPr>
        <p:txBody>
          <a:bodyPr wrap="square" lIns="0" rIns="0" tIns="0" bIns="0">
            <a:spAutoFit/>
          </a:bodyPr>
          <a:lstStyle/>
          <a:p>
            <a:pPr algn="l">
              <a:spcAft>
                <a:spcPts val="0"/>
              </a:spcAft>
            </a:pPr>
            <a:r>
              <a:rPr sz="1100" b="1" i="0">
                <a:solidFill>
                  <a:srgbClr val="102A43"/>
                </a:solidFill>
                <a:latin typeface="Segoe UI"/>
              </a:rPr>
              <a:t>PROPOSITION</a:t>
            </a:r>
          </a:p>
        </p:txBody>
      </p:sp>
      <p:sp>
        <p:nvSpPr>
          <p:cNvPr id="19" name="TextBox 18"/>
          <p:cNvSpPr txBox="1"/>
          <p:nvPr/>
        </p:nvSpPr>
        <p:spPr>
          <a:xfrm>
            <a:off x="2651760" y="3959352"/>
            <a:ext cx="8778240" cy="640080"/>
          </a:xfrm>
          <a:prstGeom prst="rect">
            <a:avLst/>
          </a:prstGeom>
          <a:noFill/>
        </p:spPr>
        <p:txBody>
          <a:bodyPr wrap="square" lIns="0" rIns="0" tIns="0" bIns="0">
            <a:spAutoFit/>
          </a:bodyPr>
          <a:lstStyle/>
          <a:p>
            <a:pPr algn="l">
              <a:spcAft>
                <a:spcPts val="0"/>
              </a:spcAft>
            </a:pPr>
            <a:r>
              <a:rPr sz="1200" b="0" i="0">
                <a:solidFill>
                  <a:srgbClr val="1A1A1A"/>
                </a:solidFill>
                <a:latin typeface="Segoe UI"/>
              </a:rPr>
              <a:t>We gave Pakistan a day to salute the farmer. Now the farmer answers.</a:t>
            </a:r>
          </a:p>
        </p:txBody>
      </p:sp>
      <p:sp>
        <p:nvSpPr>
          <p:cNvPr id="20" name="Rectangle 19"/>
          <p:cNvSpPr/>
          <p:nvPr/>
        </p:nvSpPr>
        <p:spPr>
          <a:xfrm>
            <a:off x="548640" y="4700016"/>
            <a:ext cx="11064240" cy="82296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 y="4700016"/>
            <a:ext cx="54864" cy="82296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4956048"/>
            <a:ext cx="1828800" cy="365760"/>
          </a:xfrm>
          <a:prstGeom prst="rect">
            <a:avLst/>
          </a:prstGeom>
          <a:noFill/>
        </p:spPr>
        <p:txBody>
          <a:bodyPr wrap="square" lIns="0" rIns="0" tIns="0" bIns="0">
            <a:spAutoFit/>
          </a:bodyPr>
          <a:lstStyle/>
          <a:p>
            <a:pPr algn="l">
              <a:spcAft>
                <a:spcPts val="0"/>
              </a:spcAft>
            </a:pPr>
            <a:r>
              <a:rPr sz="1100" b="1" i="0">
                <a:solidFill>
                  <a:srgbClr val="C8102E"/>
                </a:solidFill>
                <a:latin typeface="Segoe UI"/>
              </a:rPr>
              <a:t>LINE</a:t>
            </a:r>
          </a:p>
        </p:txBody>
      </p:sp>
      <p:sp>
        <p:nvSpPr>
          <p:cNvPr id="23" name="TextBox 22"/>
          <p:cNvSpPr txBox="1"/>
          <p:nvPr/>
        </p:nvSpPr>
        <p:spPr>
          <a:xfrm>
            <a:off x="2651760" y="4837176"/>
            <a:ext cx="8778240" cy="640080"/>
          </a:xfrm>
          <a:prstGeom prst="rect">
            <a:avLst/>
          </a:prstGeom>
          <a:noFill/>
        </p:spPr>
        <p:txBody>
          <a:bodyPr wrap="square" lIns="0" rIns="0" tIns="0" bIns="0">
            <a:spAutoFit/>
          </a:bodyPr>
          <a:lstStyle/>
          <a:p>
            <a:pPr algn="l">
              <a:spcAft>
                <a:spcPts val="0"/>
              </a:spcAft>
            </a:pPr>
            <a:r>
              <a:rPr sz="1400" b="1" i="0">
                <a:solidFill>
                  <a:srgbClr val="102A43"/>
                </a:solidFill>
                <a:latin typeface="Segoe UI"/>
              </a:rPr>
              <a:t>Salam Kissan. Wa Alaikum Salam, Pakistan.   (proposed: the farmer returns the greeting)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64240" cy="274320"/>
          </a:xfrm>
          <a:prstGeom prst="rect">
            <a:avLst/>
          </a:prstGeom>
          <a:noFill/>
        </p:spPr>
        <p:txBody>
          <a:bodyPr wrap="square" lIns="0" rIns="0" tIns="0" bIns="0">
            <a:spAutoFit/>
          </a:bodyPr>
          <a:lstStyle/>
          <a:p>
            <a:pPr algn="l">
              <a:spcAft>
                <a:spcPts val="0"/>
              </a:spcAft>
            </a:pPr>
            <a:r>
              <a:rPr sz="1000" b="1" i="0">
                <a:solidFill>
                  <a:srgbClr val="9FB4C7"/>
                </a:solidFill>
                <a:latin typeface="Segoe UI"/>
              </a:rPr>
              <a:t>6  ·  THE CAMPAIGN  ·  THE LINE</a:t>
            </a:r>
          </a:p>
        </p:txBody>
      </p:sp>
      <p:sp>
        <p:nvSpPr>
          <p:cNvPr id="4" name="TextBox 3"/>
          <p:cNvSpPr txBox="1"/>
          <p:nvPr/>
        </p:nvSpPr>
        <p:spPr>
          <a:xfrm>
            <a:off x="548640" y="384048"/>
            <a:ext cx="11064240" cy="457200"/>
          </a:xfrm>
          <a:prstGeom prst="rect">
            <a:avLst/>
          </a:prstGeom>
          <a:noFill/>
        </p:spPr>
        <p:txBody>
          <a:bodyPr wrap="square" lIns="0" rIns="0" tIns="0" bIns="0">
            <a:spAutoFit/>
          </a:bodyPr>
          <a:lstStyle/>
          <a:p>
            <a:pPr algn="l">
              <a:spcAft>
                <a:spcPts val="0"/>
              </a:spcAft>
            </a:pPr>
            <a:r>
              <a:rPr sz="2200" b="1" i="0">
                <a:solidFill>
                  <a:srgbClr val="FFFFFF"/>
                </a:solidFill>
                <a:latin typeface="Segoe UI"/>
              </a:rPr>
              <a:t>Build on the name Sarsabz owns; turn the salute into a reply</a:t>
            </a:r>
          </a:p>
        </p:txBody>
      </p:sp>
      <p:sp>
        <p:nvSpPr>
          <p:cNvPr id="5" name="Rectangle 4"/>
          <p:cNvSpPr/>
          <p:nvPr/>
        </p:nvSpPr>
        <p:spPr>
          <a:xfrm>
            <a:off x="548640" y="5806440"/>
            <a:ext cx="11064240" cy="566928"/>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5897880"/>
            <a:ext cx="10607040" cy="457200"/>
          </a:xfrm>
          <a:prstGeom prst="rect">
            <a:avLst/>
          </a:prstGeom>
          <a:noFill/>
        </p:spPr>
        <p:txBody>
          <a:bodyPr wrap="square" lIns="0" rIns="0" tIns="0" bIns="0">
            <a:spAutoFit/>
          </a:bodyPr>
          <a:lstStyle/>
          <a:p>
            <a:pPr algn="l">
              <a:spcAft>
                <a:spcPts val="0"/>
              </a:spcAft>
            </a:pPr>
            <a:r>
              <a:rPr sz="1200" b="1" i="0">
                <a:solidFill>
                  <a:srgbClr val="FFFFFF"/>
                </a:solidFill>
                <a:latin typeface="Segoe UI"/>
              </a:rPr>
              <a:t>Recommended: Salam Kissan. Wa Alaikum Salam, Pakistan. Test the religious greeting with Fatima and with consumers before use.</a:t>
            </a:r>
          </a:p>
        </p:txBody>
      </p:sp>
      <p:sp>
        <p:nvSpPr>
          <p:cNvPr id="7" name="TextBox 6"/>
          <p:cNvSpPr txBox="1"/>
          <p:nvPr/>
        </p:nvSpPr>
        <p:spPr>
          <a:xfrm>
            <a:off x="548640" y="6446520"/>
            <a:ext cx="11064240" cy="320040"/>
          </a:xfrm>
          <a:prstGeom prst="rect">
            <a:avLst/>
          </a:prstGeom>
          <a:noFill/>
        </p:spPr>
        <p:txBody>
          <a:bodyPr wrap="square" lIns="0" rIns="0" tIns="0" bIns="0">
            <a:spAutoFit/>
          </a:bodyPr>
          <a:lstStyle/>
          <a:p>
            <a:pPr algn="l">
              <a:spcAft>
                <a:spcPts val="0"/>
              </a:spcAft>
            </a:pPr>
            <a:r>
              <a:rPr sz="800" b="0" i="0">
                <a:solidFill>
                  <a:srgbClr val="6B7480"/>
                </a:solidFill>
                <a:latin typeface="Segoe UI"/>
              </a:rPr>
              <a:t>Archive: “Kissan Tera Ehsaan, Sarsabz Pakistan!” (2021 rice testimonial description). Scan: JPL (2020) and Rizq Foods (2025) titles.</a:t>
            </a:r>
          </a:p>
        </p:txBody>
      </p:sp>
      <p:sp>
        <p:nvSpPr>
          <p:cNvPr id="8" name="Rectangle 7"/>
          <p:cNvSpPr/>
          <p:nvPr/>
        </p:nvSpPr>
        <p:spPr>
          <a:xfrm>
            <a:off x="548640" y="1188720"/>
            <a:ext cx="11064240" cy="109728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252728"/>
            <a:ext cx="3657600" cy="1005839"/>
          </a:xfrm>
          <a:prstGeom prst="rect">
            <a:avLst/>
          </a:prstGeom>
          <a:noFill/>
        </p:spPr>
        <p:txBody>
          <a:bodyPr wrap="square" lIns="0" rIns="0" tIns="0" bIns="0">
            <a:spAutoFit/>
          </a:bodyPr>
          <a:lstStyle/>
          <a:p>
            <a:pPr algn="l">
              <a:spcAft>
                <a:spcPts val="0"/>
              </a:spcAft>
            </a:pPr>
            <a:r>
              <a:rPr sz="1200" b="1" i="0">
                <a:solidFill>
                  <a:srgbClr val="FFFFFF"/>
                </a:solidFill>
                <a:latin typeface="Segoe UI"/>
              </a:rPr>
              <a:t>Line</a:t>
            </a:r>
          </a:p>
        </p:txBody>
      </p:sp>
      <p:sp>
        <p:nvSpPr>
          <p:cNvPr id="10" name="TextBox 9"/>
          <p:cNvSpPr txBox="1"/>
          <p:nvPr/>
        </p:nvSpPr>
        <p:spPr>
          <a:xfrm>
            <a:off x="4480559" y="1252728"/>
            <a:ext cx="7040880" cy="1005839"/>
          </a:xfrm>
          <a:prstGeom prst="rect">
            <a:avLst/>
          </a:prstGeom>
          <a:noFill/>
        </p:spPr>
        <p:txBody>
          <a:bodyPr wrap="square" lIns="0" rIns="0" tIns="0" bIns="0">
            <a:spAutoFit/>
          </a:bodyPr>
          <a:lstStyle/>
          <a:p>
            <a:pPr algn="l">
              <a:spcAft>
                <a:spcPts val="0"/>
              </a:spcAft>
            </a:pPr>
            <a:r>
              <a:rPr sz="1200" b="1" i="0">
                <a:solidFill>
                  <a:srgbClr val="FFFFFF"/>
                </a:solidFill>
                <a:latin typeface="Segoe UI"/>
              </a:rPr>
              <a:t>Trade-off</a:t>
            </a:r>
          </a:p>
        </p:txBody>
      </p:sp>
      <p:sp>
        <p:nvSpPr>
          <p:cNvPr id="11" name="TextBox 10"/>
          <p:cNvSpPr txBox="1"/>
          <p:nvPr/>
        </p:nvSpPr>
        <p:spPr>
          <a:xfrm>
            <a:off x="640080" y="2350008"/>
            <a:ext cx="3657600" cy="1005839"/>
          </a:xfrm>
          <a:prstGeom prst="rect">
            <a:avLst/>
          </a:prstGeom>
          <a:noFill/>
        </p:spPr>
        <p:txBody>
          <a:bodyPr wrap="square" lIns="0" rIns="0" tIns="0" bIns="0">
            <a:spAutoFit/>
          </a:bodyPr>
          <a:lstStyle/>
          <a:p>
            <a:pPr algn="l">
              <a:spcAft>
                <a:spcPts val="0"/>
              </a:spcAft>
            </a:pPr>
            <a:r>
              <a:rPr sz="1200" b="0" i="0">
                <a:solidFill>
                  <a:srgbClr val="1A1A1A"/>
                </a:solidFill>
                <a:latin typeface="Segoe UI"/>
              </a:rPr>
              <a:t>Salam Kissan. Wa Alaikum Salam, Pakistan.  (recommended)</a:t>
            </a:r>
          </a:p>
        </p:txBody>
      </p:sp>
      <p:sp>
        <p:nvSpPr>
          <p:cNvPr id="12" name="TextBox 11"/>
          <p:cNvSpPr txBox="1"/>
          <p:nvPr/>
        </p:nvSpPr>
        <p:spPr>
          <a:xfrm>
            <a:off x="4480559" y="2350008"/>
            <a:ext cx="7040880" cy="1005839"/>
          </a:xfrm>
          <a:prstGeom prst="rect">
            <a:avLst/>
          </a:prstGeom>
          <a:noFill/>
        </p:spPr>
        <p:txBody>
          <a:bodyPr wrap="square" lIns="0" rIns="0" tIns="0" bIns="0">
            <a:spAutoFit/>
          </a:bodyPr>
          <a:lstStyle/>
          <a:p>
            <a:pPr algn="l">
              <a:spcAft>
                <a:spcPts val="0"/>
              </a:spcAft>
            </a:pPr>
            <a:r>
              <a:rPr sz="1200" b="0" i="0">
                <a:solidFill>
                  <a:srgbClr val="1A1A1A"/>
                </a:solidFill>
                <a:latin typeface="Segoe UI"/>
              </a:rPr>
              <a:t>Keeps the owned name and adds the reply, which a rival can't use without saying Sarsabz's half first. Needs a sensitivity check.</a:t>
            </a:r>
          </a:p>
        </p:txBody>
      </p:sp>
      <p:sp>
        <p:nvSpPr>
          <p:cNvPr id="13" name="Rectangle 12"/>
          <p:cNvSpPr/>
          <p:nvPr/>
        </p:nvSpPr>
        <p:spPr>
          <a:xfrm>
            <a:off x="548640" y="3383280"/>
            <a:ext cx="11064240" cy="109728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3447288"/>
            <a:ext cx="3657600" cy="1005839"/>
          </a:xfrm>
          <a:prstGeom prst="rect">
            <a:avLst/>
          </a:prstGeom>
          <a:noFill/>
        </p:spPr>
        <p:txBody>
          <a:bodyPr wrap="square" lIns="0" rIns="0" tIns="0" bIns="0">
            <a:spAutoFit/>
          </a:bodyPr>
          <a:lstStyle/>
          <a:p>
            <a:pPr algn="l">
              <a:spcAft>
                <a:spcPts val="0"/>
              </a:spcAft>
            </a:pPr>
            <a:r>
              <a:rPr sz="1200" b="0" i="0">
                <a:solidFill>
                  <a:srgbClr val="1A1A1A"/>
                </a:solidFill>
                <a:latin typeface="Segoe UI"/>
              </a:rPr>
              <a:t>Salam Kissan  (as today)</a:t>
            </a:r>
          </a:p>
        </p:txBody>
      </p:sp>
      <p:sp>
        <p:nvSpPr>
          <p:cNvPr id="15" name="TextBox 14"/>
          <p:cNvSpPr txBox="1"/>
          <p:nvPr/>
        </p:nvSpPr>
        <p:spPr>
          <a:xfrm>
            <a:off x="4480559" y="3447288"/>
            <a:ext cx="7040880" cy="1005839"/>
          </a:xfrm>
          <a:prstGeom prst="rect">
            <a:avLst/>
          </a:prstGeom>
          <a:noFill/>
        </p:spPr>
        <p:txBody>
          <a:bodyPr wrap="square" lIns="0" rIns="0" tIns="0" bIns="0">
            <a:spAutoFit/>
          </a:bodyPr>
          <a:lstStyle/>
          <a:p>
            <a:pPr algn="l">
              <a:spcAft>
                <a:spcPts val="0"/>
              </a:spcAft>
            </a:pPr>
            <a:r>
              <a:rPr sz="1200" b="0" i="0">
                <a:solidFill>
                  <a:srgbClr val="1A1A1A"/>
                </a:solidFill>
                <a:latin typeface="Segoe UI"/>
              </a:rPr>
              <a:t>Owned since 2019, but JPL and Rizq Foods already title their own videos with it.</a:t>
            </a:r>
          </a:p>
        </p:txBody>
      </p:sp>
      <p:sp>
        <p:nvSpPr>
          <p:cNvPr id="16" name="TextBox 15"/>
          <p:cNvSpPr txBox="1"/>
          <p:nvPr/>
        </p:nvSpPr>
        <p:spPr>
          <a:xfrm>
            <a:off x="640080" y="4544568"/>
            <a:ext cx="3657600" cy="1005839"/>
          </a:xfrm>
          <a:prstGeom prst="rect">
            <a:avLst/>
          </a:prstGeom>
          <a:noFill/>
        </p:spPr>
        <p:txBody>
          <a:bodyPr wrap="square" lIns="0" rIns="0" tIns="0" bIns="0">
            <a:spAutoFit/>
          </a:bodyPr>
          <a:lstStyle/>
          <a:p>
            <a:pPr algn="l">
              <a:spcAft>
                <a:spcPts val="0"/>
              </a:spcAft>
            </a:pPr>
            <a:r>
              <a:rPr sz="1200" b="0" i="0">
                <a:solidFill>
                  <a:srgbClr val="1A1A1A"/>
                </a:solidFill>
                <a:latin typeface="Segoe UI"/>
              </a:rPr>
              <a:t>Kissan Tera Ehsaan, Sarsabz Pakistan!  (owned, 2021)</a:t>
            </a:r>
          </a:p>
        </p:txBody>
      </p:sp>
      <p:sp>
        <p:nvSpPr>
          <p:cNvPr id="17" name="TextBox 16"/>
          <p:cNvSpPr txBox="1"/>
          <p:nvPr/>
        </p:nvSpPr>
        <p:spPr>
          <a:xfrm>
            <a:off x="4480559" y="4544568"/>
            <a:ext cx="7040880" cy="1005839"/>
          </a:xfrm>
          <a:prstGeom prst="rect">
            <a:avLst/>
          </a:prstGeom>
          <a:noFill/>
        </p:spPr>
        <p:txBody>
          <a:bodyPr wrap="square" lIns="0" rIns="0" tIns="0" bIns="0">
            <a:spAutoFit/>
          </a:bodyPr>
          <a:lstStyle/>
          <a:p>
            <a:pPr algn="l">
              <a:spcAft>
                <a:spcPts val="0"/>
              </a:spcAft>
            </a:pPr>
            <a:r>
              <a:rPr sz="1200" b="0" i="0">
                <a:solidFill>
                  <a:srgbClr val="1A1A1A"/>
                </a:solidFill>
                <a:latin typeface="Segoe UI"/>
              </a:rPr>
              <a:t>A thank-you with the brand name, but still one-way: the farmer is thanked, not heard.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64240" cy="274320"/>
          </a:xfrm>
          <a:prstGeom prst="rect">
            <a:avLst/>
          </a:prstGeom>
          <a:noFill/>
        </p:spPr>
        <p:txBody>
          <a:bodyPr wrap="square" lIns="0" rIns="0" tIns="0" bIns="0">
            <a:spAutoFit/>
          </a:bodyPr>
          <a:lstStyle/>
          <a:p>
            <a:pPr algn="l">
              <a:spcAft>
                <a:spcPts val="0"/>
              </a:spcAft>
            </a:pPr>
            <a:r>
              <a:rPr sz="1000" b="1" i="0">
                <a:solidFill>
                  <a:srgbClr val="9FB4C7"/>
                </a:solidFill>
                <a:latin typeface="Segoe UI"/>
              </a:rPr>
              <a:t>6  ·  THE CAMPAIGN  ·  HOW IT TRAVELS</a:t>
            </a:r>
          </a:p>
        </p:txBody>
      </p:sp>
      <p:sp>
        <p:nvSpPr>
          <p:cNvPr id="4" name="TextBox 3"/>
          <p:cNvSpPr txBox="1"/>
          <p:nvPr/>
        </p:nvSpPr>
        <p:spPr>
          <a:xfrm>
            <a:off x="548640" y="384048"/>
            <a:ext cx="11064240" cy="457200"/>
          </a:xfrm>
          <a:prstGeom prst="rect">
            <a:avLst/>
          </a:prstGeom>
          <a:noFill/>
        </p:spPr>
        <p:txBody>
          <a:bodyPr wrap="square" lIns="0" rIns="0" tIns="0" bIns="0">
            <a:spAutoFit/>
          </a:bodyPr>
          <a:lstStyle/>
          <a:p>
            <a:pPr algn="l">
              <a:spcAft>
                <a:spcPts val="0"/>
              </a:spcAft>
            </a:pPr>
            <a:r>
              <a:rPr sz="2200" b="1" i="0">
                <a:solidFill>
                  <a:srgbClr val="FFFFFF"/>
                </a:solidFill>
                <a:latin typeface="Segoe UI"/>
              </a:rPr>
              <a:t>One idea across the five touchpoints the brief names</a:t>
            </a:r>
          </a:p>
        </p:txBody>
      </p:sp>
      <p:sp>
        <p:nvSpPr>
          <p:cNvPr id="5" name="Rectangle 4"/>
          <p:cNvSpPr/>
          <p:nvPr/>
        </p:nvSpPr>
        <p:spPr>
          <a:xfrm>
            <a:off x="548640" y="5806440"/>
            <a:ext cx="11064240" cy="566928"/>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5897880"/>
            <a:ext cx="10607040" cy="457200"/>
          </a:xfrm>
          <a:prstGeom prst="rect">
            <a:avLst/>
          </a:prstGeom>
          <a:noFill/>
        </p:spPr>
        <p:txBody>
          <a:bodyPr wrap="square" lIns="0" rIns="0" tIns="0" bIns="0">
            <a:spAutoFit/>
          </a:bodyPr>
          <a:lstStyle/>
          <a:p>
            <a:pPr algn="l">
              <a:spcAft>
                <a:spcPts val="0"/>
              </a:spcAft>
            </a:pPr>
            <a:r>
              <a:rPr sz="1200" b="1" i="0">
                <a:solidFill>
                  <a:srgbClr val="FFFFFF"/>
                </a:solidFill>
                <a:latin typeface="Segoe UI"/>
              </a:rPr>
              <a:t>Every execution puts the farmer's own voice first, and every one builds on something the evidence shows.</a:t>
            </a:r>
          </a:p>
        </p:txBody>
      </p:sp>
      <p:sp>
        <p:nvSpPr>
          <p:cNvPr id="7" name="TextBox 6"/>
          <p:cNvSpPr txBox="1"/>
          <p:nvPr/>
        </p:nvSpPr>
        <p:spPr>
          <a:xfrm>
            <a:off x="548640" y="6446520"/>
            <a:ext cx="11064240" cy="320040"/>
          </a:xfrm>
          <a:prstGeom prst="rect">
            <a:avLst/>
          </a:prstGeom>
          <a:noFill/>
        </p:spPr>
        <p:txBody>
          <a:bodyPr wrap="square" lIns="0" rIns="0" tIns="0" bIns="0">
            <a:spAutoFit/>
          </a:bodyPr>
          <a:lstStyle/>
          <a:p>
            <a:pPr algn="l">
              <a:spcAft>
                <a:spcPts val="0"/>
              </a:spcAft>
            </a:pPr>
            <a:r>
              <a:rPr sz="800" b="0" i="0">
                <a:solidFill>
                  <a:srgbClr val="6B7480"/>
                </a:solidFill>
                <a:latin typeface="Segoe UI"/>
              </a:rPr>
              <a:t>Sources: brief p6, p9-12; archive/; comments/; scan/; ProPakistani 8 Jan 2025. No budget, reach, results or dates beyond the brief are estimated.</a:t>
            </a:r>
          </a:p>
        </p:txBody>
      </p:sp>
      <p:sp>
        <p:nvSpPr>
          <p:cNvPr id="8" name="Rectangle 7"/>
          <p:cNvSpPr/>
          <p:nvPr/>
        </p:nvSpPr>
        <p:spPr>
          <a:xfrm>
            <a:off x="548640" y="1188720"/>
            <a:ext cx="11064240" cy="713232"/>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252728"/>
            <a:ext cx="1188720" cy="621792"/>
          </a:xfrm>
          <a:prstGeom prst="rect">
            <a:avLst/>
          </a:prstGeom>
          <a:noFill/>
        </p:spPr>
        <p:txBody>
          <a:bodyPr wrap="square" lIns="0" rIns="0" tIns="0" bIns="0">
            <a:spAutoFit/>
          </a:bodyPr>
          <a:lstStyle/>
          <a:p>
            <a:pPr algn="l">
              <a:spcAft>
                <a:spcPts val="0"/>
              </a:spcAft>
            </a:pPr>
            <a:r>
              <a:rPr sz="1000" b="1" i="0">
                <a:solidFill>
                  <a:srgbClr val="FFFFFF"/>
                </a:solidFill>
                <a:latin typeface="Segoe UI"/>
              </a:rPr>
              <a:t>Touchpoint</a:t>
            </a:r>
          </a:p>
        </p:txBody>
      </p:sp>
      <p:sp>
        <p:nvSpPr>
          <p:cNvPr id="10" name="TextBox 9"/>
          <p:cNvSpPr txBox="1"/>
          <p:nvPr/>
        </p:nvSpPr>
        <p:spPr>
          <a:xfrm>
            <a:off x="2011680" y="1252728"/>
            <a:ext cx="1828800" cy="621792"/>
          </a:xfrm>
          <a:prstGeom prst="rect">
            <a:avLst/>
          </a:prstGeom>
          <a:noFill/>
        </p:spPr>
        <p:txBody>
          <a:bodyPr wrap="square" lIns="0" rIns="0" tIns="0" bIns="0">
            <a:spAutoFit/>
          </a:bodyPr>
          <a:lstStyle/>
          <a:p>
            <a:pPr algn="l">
              <a:spcAft>
                <a:spcPts val="0"/>
              </a:spcAft>
            </a:pPr>
            <a:r>
              <a:rPr sz="1000" b="1" i="0">
                <a:solidFill>
                  <a:srgbClr val="FFFFFF"/>
                </a:solidFill>
                <a:latin typeface="Segoe UI"/>
              </a:rPr>
              <a:t>Execution</a:t>
            </a:r>
          </a:p>
        </p:txBody>
      </p:sp>
      <p:sp>
        <p:nvSpPr>
          <p:cNvPr id="11" name="TextBox 10"/>
          <p:cNvSpPr txBox="1"/>
          <p:nvPr/>
        </p:nvSpPr>
        <p:spPr>
          <a:xfrm>
            <a:off x="4023360" y="1252728"/>
            <a:ext cx="4023359" cy="621792"/>
          </a:xfrm>
          <a:prstGeom prst="rect">
            <a:avLst/>
          </a:prstGeom>
          <a:noFill/>
        </p:spPr>
        <p:txBody>
          <a:bodyPr wrap="square" lIns="0" rIns="0" tIns="0" bIns="0">
            <a:spAutoFit/>
          </a:bodyPr>
          <a:lstStyle/>
          <a:p>
            <a:pPr algn="l">
              <a:spcAft>
                <a:spcPts val="0"/>
              </a:spcAft>
            </a:pPr>
            <a:r>
              <a:rPr sz="1000" b="1" i="0">
                <a:solidFill>
                  <a:srgbClr val="FFFFFF"/>
                </a:solidFill>
                <a:latin typeface="Segoe UI"/>
              </a:rPr>
              <a:t>What it is</a:t>
            </a:r>
          </a:p>
        </p:txBody>
      </p:sp>
      <p:sp>
        <p:nvSpPr>
          <p:cNvPr id="12" name="TextBox 11"/>
          <p:cNvSpPr txBox="1"/>
          <p:nvPr/>
        </p:nvSpPr>
        <p:spPr>
          <a:xfrm>
            <a:off x="8229600" y="1252728"/>
            <a:ext cx="3291839" cy="621792"/>
          </a:xfrm>
          <a:prstGeom prst="rect">
            <a:avLst/>
          </a:prstGeom>
          <a:noFill/>
        </p:spPr>
        <p:txBody>
          <a:bodyPr wrap="square" lIns="0" rIns="0" tIns="0" bIns="0">
            <a:spAutoFit/>
          </a:bodyPr>
          <a:lstStyle/>
          <a:p>
            <a:pPr algn="l">
              <a:spcAft>
                <a:spcPts val="0"/>
              </a:spcAft>
            </a:pPr>
            <a:r>
              <a:rPr sz="1000" b="1" i="0">
                <a:solidFill>
                  <a:srgbClr val="FFFFFF"/>
                </a:solidFill>
                <a:latin typeface="Segoe UI"/>
              </a:rPr>
              <a:t>Evidence it builds on</a:t>
            </a:r>
          </a:p>
        </p:txBody>
      </p:sp>
      <p:sp>
        <p:nvSpPr>
          <p:cNvPr id="13" name="TextBox 12"/>
          <p:cNvSpPr txBox="1"/>
          <p:nvPr/>
        </p:nvSpPr>
        <p:spPr>
          <a:xfrm>
            <a:off x="640080" y="1965960"/>
            <a:ext cx="1188720" cy="621792"/>
          </a:xfrm>
          <a:prstGeom prst="rect">
            <a:avLst/>
          </a:prstGeom>
          <a:noFill/>
        </p:spPr>
        <p:txBody>
          <a:bodyPr wrap="square" lIns="0" rIns="0" tIns="0" bIns="0">
            <a:spAutoFit/>
          </a:bodyPr>
          <a:lstStyle/>
          <a:p>
            <a:pPr algn="l">
              <a:spcAft>
                <a:spcPts val="0"/>
              </a:spcAft>
            </a:pPr>
            <a:r>
              <a:rPr sz="1000" b="0" i="0">
                <a:solidFill>
                  <a:srgbClr val="1A1A1A"/>
                </a:solidFill>
                <a:latin typeface="Segoe UI"/>
              </a:rPr>
              <a:t>ATL</a:t>
            </a:r>
          </a:p>
        </p:txBody>
      </p:sp>
      <p:sp>
        <p:nvSpPr>
          <p:cNvPr id="14" name="TextBox 13"/>
          <p:cNvSpPr txBox="1"/>
          <p:nvPr/>
        </p:nvSpPr>
        <p:spPr>
          <a:xfrm>
            <a:off x="2011680" y="1965960"/>
            <a:ext cx="1828800" cy="621792"/>
          </a:xfrm>
          <a:prstGeom prst="rect">
            <a:avLst/>
          </a:prstGeom>
          <a:noFill/>
        </p:spPr>
        <p:txBody>
          <a:bodyPr wrap="square" lIns="0" rIns="0" tIns="0" bIns="0">
            <a:spAutoFit/>
          </a:bodyPr>
          <a:lstStyle/>
          <a:p>
            <a:pPr algn="l">
              <a:spcAft>
                <a:spcPts val="0"/>
              </a:spcAft>
            </a:pPr>
            <a:r>
              <a:rPr sz="1000" b="0" i="0">
                <a:solidFill>
                  <a:srgbClr val="1A1A1A"/>
                </a:solidFill>
                <a:latin typeface="Segoe UI"/>
              </a:rPr>
              <a:t>The Reply anthem</a:t>
            </a:r>
          </a:p>
        </p:txBody>
      </p:sp>
      <p:sp>
        <p:nvSpPr>
          <p:cNvPr id="15" name="TextBox 14"/>
          <p:cNvSpPr txBox="1"/>
          <p:nvPr/>
        </p:nvSpPr>
        <p:spPr>
          <a:xfrm>
            <a:off x="4023360" y="1965960"/>
            <a:ext cx="4023359" cy="621792"/>
          </a:xfrm>
          <a:prstGeom prst="rect">
            <a:avLst/>
          </a:prstGeom>
          <a:noFill/>
        </p:spPr>
        <p:txBody>
          <a:bodyPr wrap="square" lIns="0" rIns="0" tIns="0" bIns="0">
            <a:spAutoFit/>
          </a:bodyPr>
          <a:lstStyle/>
          <a:p>
            <a:pPr algn="l">
              <a:spcAft>
                <a:spcPts val="0"/>
              </a:spcAft>
            </a:pPr>
            <a:r>
              <a:rPr sz="1000" b="0" i="0">
                <a:solidFill>
                  <a:srgbClr val="1A1A1A"/>
                </a:solidFill>
                <a:latin typeface="Segoe UI"/>
              </a:rPr>
              <a:t>Real farming families, parent and child, sing and speak the 2026 anthem back. No celebrities, no AI farmers.</a:t>
            </a:r>
          </a:p>
        </p:txBody>
      </p:sp>
      <p:sp>
        <p:nvSpPr>
          <p:cNvPr id="16" name="TextBox 15"/>
          <p:cNvSpPr txBox="1"/>
          <p:nvPr/>
        </p:nvSpPr>
        <p:spPr>
          <a:xfrm>
            <a:off x="8229600" y="1965960"/>
            <a:ext cx="3291839" cy="621792"/>
          </a:xfrm>
          <a:prstGeom prst="rect">
            <a:avLst/>
          </a:prstGeom>
          <a:noFill/>
        </p:spPr>
        <p:txBody>
          <a:bodyPr wrap="square" lIns="0" rIns="0" tIns="0" bIns="0">
            <a:spAutoFit/>
          </a:bodyPr>
          <a:lstStyle/>
          <a:p>
            <a:pPr algn="l">
              <a:spcAft>
                <a:spcPts val="0"/>
              </a:spcAft>
            </a:pPr>
            <a:r>
              <a:rPr sz="1000" b="0" i="0">
                <a:solidFill>
                  <a:srgbClr val="1A1A1A"/>
                </a:solidFill>
                <a:latin typeface="Segoe UI"/>
              </a:rPr>
              <a:t>Anthems hold 1,422 of 1,572 comments; the 2025 uploads drew 61.</a:t>
            </a:r>
          </a:p>
        </p:txBody>
      </p:sp>
      <p:sp>
        <p:nvSpPr>
          <p:cNvPr id="17" name="Rectangle 16"/>
          <p:cNvSpPr/>
          <p:nvPr/>
        </p:nvSpPr>
        <p:spPr>
          <a:xfrm>
            <a:off x="548640" y="2615184"/>
            <a:ext cx="11064240" cy="713232"/>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2679192"/>
            <a:ext cx="1188720" cy="621792"/>
          </a:xfrm>
          <a:prstGeom prst="rect">
            <a:avLst/>
          </a:prstGeom>
          <a:noFill/>
        </p:spPr>
        <p:txBody>
          <a:bodyPr wrap="square" lIns="0" rIns="0" tIns="0" bIns="0">
            <a:spAutoFit/>
          </a:bodyPr>
          <a:lstStyle/>
          <a:p>
            <a:pPr algn="l">
              <a:spcAft>
                <a:spcPts val="0"/>
              </a:spcAft>
            </a:pPr>
            <a:r>
              <a:rPr sz="1000" b="0" i="0">
                <a:solidFill>
                  <a:srgbClr val="1A1A1A"/>
                </a:solidFill>
                <a:latin typeface="Segoe UI"/>
              </a:rPr>
              <a:t>Digital / UGC</a:t>
            </a:r>
          </a:p>
        </p:txBody>
      </p:sp>
      <p:sp>
        <p:nvSpPr>
          <p:cNvPr id="19" name="TextBox 18"/>
          <p:cNvSpPr txBox="1"/>
          <p:nvPr/>
        </p:nvSpPr>
        <p:spPr>
          <a:xfrm>
            <a:off x="2011680" y="2679192"/>
            <a:ext cx="1828800" cy="621792"/>
          </a:xfrm>
          <a:prstGeom prst="rect">
            <a:avLst/>
          </a:prstGeom>
          <a:noFill/>
        </p:spPr>
        <p:txBody>
          <a:bodyPr wrap="square" lIns="0" rIns="0" tIns="0" bIns="0">
            <a:spAutoFit/>
          </a:bodyPr>
          <a:lstStyle/>
          <a:p>
            <a:pPr algn="l">
              <a:spcAft>
                <a:spcPts val="0"/>
              </a:spcAft>
            </a:pPr>
            <a:r>
              <a:rPr sz="1000" b="0" i="0">
                <a:solidFill>
                  <a:srgbClr val="1A1A1A"/>
                </a:solidFill>
                <a:latin typeface="Segoe UI"/>
              </a:rPr>
              <a:t>#WaAlaikumSalam</a:t>
            </a:r>
          </a:p>
        </p:txBody>
      </p:sp>
      <p:sp>
        <p:nvSpPr>
          <p:cNvPr id="20" name="TextBox 19"/>
          <p:cNvSpPr txBox="1"/>
          <p:nvPr/>
        </p:nvSpPr>
        <p:spPr>
          <a:xfrm>
            <a:off x="4023360" y="2679192"/>
            <a:ext cx="4023359" cy="621792"/>
          </a:xfrm>
          <a:prstGeom prst="rect">
            <a:avLst/>
          </a:prstGeom>
          <a:noFill/>
        </p:spPr>
        <p:txBody>
          <a:bodyPr wrap="square" lIns="0" rIns="0" tIns="0" bIns="0">
            <a:spAutoFit/>
          </a:bodyPr>
          <a:lstStyle/>
          <a:p>
            <a:pPr algn="l">
              <a:spcAft>
                <a:spcPts val="0"/>
              </a:spcAft>
            </a:pPr>
            <a:r>
              <a:rPr sz="1000" b="0" i="0">
                <a:solidFill>
                  <a:srgbClr val="1A1A1A"/>
                </a:solidFill>
                <a:latin typeface="Segoe UI"/>
              </a:rPr>
              <a:t>Farmers' children film their parent's answer; creators seed it to people who don't farm.</a:t>
            </a:r>
          </a:p>
        </p:txBody>
      </p:sp>
      <p:sp>
        <p:nvSpPr>
          <p:cNvPr id="21" name="TextBox 20"/>
          <p:cNvSpPr txBox="1"/>
          <p:nvPr/>
        </p:nvSpPr>
        <p:spPr>
          <a:xfrm>
            <a:off x="8229600" y="2679192"/>
            <a:ext cx="3291839" cy="621792"/>
          </a:xfrm>
          <a:prstGeom prst="rect">
            <a:avLst/>
          </a:prstGeom>
          <a:noFill/>
        </p:spPr>
        <p:txBody>
          <a:bodyPr wrap="square" lIns="0" rIns="0" tIns="0" bIns="0">
            <a:spAutoFit/>
          </a:bodyPr>
          <a:lstStyle/>
          <a:p>
            <a:pPr algn="l">
              <a:spcAft>
                <a:spcPts val="0"/>
              </a:spcAft>
            </a:pPr>
            <a:r>
              <a:rPr sz="1000" b="0" i="0">
                <a:solidFill>
                  <a:srgbClr val="1A1A1A"/>
                </a:solidFill>
                <a:latin typeface="Segoe UI"/>
              </a:rPr>
              <a:t>The pride-in-family comments; 24 2023 creator referrals; TikTok UGC awards (brief p9-10).</a:t>
            </a:r>
          </a:p>
        </p:txBody>
      </p:sp>
      <p:sp>
        <p:nvSpPr>
          <p:cNvPr id="22" name="TextBox 21"/>
          <p:cNvSpPr txBox="1"/>
          <p:nvPr/>
        </p:nvSpPr>
        <p:spPr>
          <a:xfrm>
            <a:off x="640080" y="3392424"/>
            <a:ext cx="1188720" cy="621792"/>
          </a:xfrm>
          <a:prstGeom prst="rect">
            <a:avLst/>
          </a:prstGeom>
          <a:noFill/>
        </p:spPr>
        <p:txBody>
          <a:bodyPr wrap="square" lIns="0" rIns="0" tIns="0" bIns="0">
            <a:spAutoFit/>
          </a:bodyPr>
          <a:lstStyle/>
          <a:p>
            <a:pPr algn="l">
              <a:spcAft>
                <a:spcPts val="0"/>
              </a:spcAft>
            </a:pPr>
            <a:r>
              <a:rPr sz="1000" b="0" i="0">
                <a:solidFill>
                  <a:srgbClr val="1A1A1A"/>
                </a:solidFill>
                <a:latin typeface="Segoe UI"/>
              </a:rPr>
              <a:t>BTL</a:t>
            </a:r>
          </a:p>
        </p:txBody>
      </p:sp>
      <p:sp>
        <p:nvSpPr>
          <p:cNvPr id="23" name="TextBox 22"/>
          <p:cNvSpPr txBox="1"/>
          <p:nvPr/>
        </p:nvSpPr>
        <p:spPr>
          <a:xfrm>
            <a:off x="2011680" y="3392424"/>
            <a:ext cx="1828800" cy="621792"/>
          </a:xfrm>
          <a:prstGeom prst="rect">
            <a:avLst/>
          </a:prstGeom>
          <a:noFill/>
        </p:spPr>
        <p:txBody>
          <a:bodyPr wrap="square" lIns="0" rIns="0" tIns="0" bIns="0">
            <a:spAutoFit/>
          </a:bodyPr>
          <a:lstStyle/>
          <a:p>
            <a:pPr algn="l">
              <a:spcAft>
                <a:spcPts val="0"/>
              </a:spcAft>
            </a:pPr>
            <a:r>
              <a:rPr sz="1000" b="0" i="0">
                <a:solidFill>
                  <a:srgbClr val="1A1A1A"/>
                </a:solidFill>
                <a:latin typeface="Segoe UI"/>
              </a:rPr>
              <a:t>Reply cards</a:t>
            </a:r>
          </a:p>
        </p:txBody>
      </p:sp>
      <p:sp>
        <p:nvSpPr>
          <p:cNvPr id="24" name="TextBox 23"/>
          <p:cNvSpPr txBox="1"/>
          <p:nvPr/>
        </p:nvSpPr>
        <p:spPr>
          <a:xfrm>
            <a:off x="4023360" y="3392424"/>
            <a:ext cx="4023359" cy="621792"/>
          </a:xfrm>
          <a:prstGeom prst="rect">
            <a:avLst/>
          </a:prstGeom>
          <a:noFill/>
        </p:spPr>
        <p:txBody>
          <a:bodyPr wrap="square" lIns="0" rIns="0" tIns="0" bIns="0">
            <a:spAutoFit/>
          </a:bodyPr>
          <a:lstStyle/>
          <a:p>
            <a:pPr algn="l">
              <a:spcAft>
                <a:spcPts val="0"/>
              </a:spcAft>
            </a:pPr>
            <a:r>
              <a:rPr sz="1000" b="0" i="0">
                <a:solidFill>
                  <a:srgbClr val="1A1A1A"/>
                </a:solidFill>
                <a:latin typeface="Segoe UI"/>
              </a:rPr>
              <a:t>Replies and voice notes collected at Kissan Day stalls and dealer counters.</a:t>
            </a:r>
          </a:p>
        </p:txBody>
      </p:sp>
      <p:sp>
        <p:nvSpPr>
          <p:cNvPr id="25" name="TextBox 24"/>
          <p:cNvSpPr txBox="1"/>
          <p:nvPr/>
        </p:nvSpPr>
        <p:spPr>
          <a:xfrm>
            <a:off x="8229600" y="3392424"/>
            <a:ext cx="3291839" cy="621792"/>
          </a:xfrm>
          <a:prstGeom prst="rect">
            <a:avLst/>
          </a:prstGeom>
          <a:noFill/>
        </p:spPr>
        <p:txBody>
          <a:bodyPr wrap="square" lIns="0" rIns="0" tIns="0" bIns="0">
            <a:spAutoFit/>
          </a:bodyPr>
          <a:lstStyle/>
          <a:p>
            <a:pPr algn="l">
              <a:spcAft>
                <a:spcPts val="0"/>
              </a:spcAft>
            </a:pPr>
            <a:r>
              <a:rPr sz="1000" b="0" i="0">
                <a:solidFill>
                  <a:srgbClr val="1A1A1A"/>
                </a:solidFill>
                <a:latin typeface="Segoe UI"/>
              </a:rPr>
              <a:t>Collection method to be agreed with the client.</a:t>
            </a:r>
          </a:p>
        </p:txBody>
      </p:sp>
      <p:sp>
        <p:nvSpPr>
          <p:cNvPr id="26" name="Rectangle 25"/>
          <p:cNvSpPr/>
          <p:nvPr/>
        </p:nvSpPr>
        <p:spPr>
          <a:xfrm>
            <a:off x="548640" y="4041648"/>
            <a:ext cx="11064240" cy="713232"/>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080" y="4105656"/>
            <a:ext cx="1188720" cy="621792"/>
          </a:xfrm>
          <a:prstGeom prst="rect">
            <a:avLst/>
          </a:prstGeom>
          <a:noFill/>
        </p:spPr>
        <p:txBody>
          <a:bodyPr wrap="square" lIns="0" rIns="0" tIns="0" bIns="0">
            <a:spAutoFit/>
          </a:bodyPr>
          <a:lstStyle/>
          <a:p>
            <a:pPr algn="l">
              <a:spcAft>
                <a:spcPts val="0"/>
              </a:spcAft>
            </a:pPr>
            <a:r>
              <a:rPr sz="1000" b="0" i="0">
                <a:solidFill>
                  <a:srgbClr val="1A1A1A"/>
                </a:solidFill>
                <a:latin typeface="Segoe UI"/>
              </a:rPr>
              <a:t>PR</a:t>
            </a:r>
          </a:p>
        </p:txBody>
      </p:sp>
      <p:sp>
        <p:nvSpPr>
          <p:cNvPr id="28" name="TextBox 27"/>
          <p:cNvSpPr txBox="1"/>
          <p:nvPr/>
        </p:nvSpPr>
        <p:spPr>
          <a:xfrm>
            <a:off x="2011680" y="4105656"/>
            <a:ext cx="1828800" cy="621792"/>
          </a:xfrm>
          <a:prstGeom prst="rect">
            <a:avLst/>
          </a:prstGeom>
          <a:noFill/>
        </p:spPr>
        <p:txBody>
          <a:bodyPr wrap="square" lIns="0" rIns="0" tIns="0" bIns="0">
            <a:spAutoFit/>
          </a:bodyPr>
          <a:lstStyle/>
          <a:p>
            <a:pPr algn="l">
              <a:spcAft>
                <a:spcPts val="0"/>
              </a:spcAft>
            </a:pPr>
            <a:r>
              <a:rPr sz="1000" b="0" i="0">
                <a:solidFill>
                  <a:srgbClr val="1A1A1A"/>
                </a:solidFill>
                <a:latin typeface="Segoe UI"/>
              </a:rPr>
              <a:t>Kissan ki Awaaz</a:t>
            </a:r>
          </a:p>
        </p:txBody>
      </p:sp>
      <p:sp>
        <p:nvSpPr>
          <p:cNvPr id="29" name="TextBox 28"/>
          <p:cNvSpPr txBox="1"/>
          <p:nvPr/>
        </p:nvSpPr>
        <p:spPr>
          <a:xfrm>
            <a:off x="4023360" y="4105656"/>
            <a:ext cx="4023359" cy="621792"/>
          </a:xfrm>
          <a:prstGeom prst="rect">
            <a:avLst/>
          </a:prstGeom>
          <a:noFill/>
        </p:spPr>
        <p:txBody>
          <a:bodyPr wrap="square" lIns="0" rIns="0" tIns="0" bIns="0">
            <a:spAutoFit/>
          </a:bodyPr>
          <a:lstStyle/>
          <a:p>
            <a:pPr algn="l">
              <a:spcAft>
                <a:spcPts val="0"/>
              </a:spcAft>
            </a:pPr>
            <a:r>
              <a:rPr sz="1000" b="0" i="0">
                <a:solidFill>
                  <a:srgbClr val="1A1A1A"/>
                </a:solidFill>
                <a:latin typeface="Segoe UI"/>
              </a:rPr>
              <a:t>Farmers' own asks, gathered through the year, handed over on 18 December, credited to Sarsabz Salam Kissan.</a:t>
            </a:r>
          </a:p>
        </p:txBody>
      </p:sp>
      <p:sp>
        <p:nvSpPr>
          <p:cNvPr id="30" name="TextBox 29"/>
          <p:cNvSpPr txBox="1"/>
          <p:nvPr/>
        </p:nvSpPr>
        <p:spPr>
          <a:xfrm>
            <a:off x="8229600" y="4105656"/>
            <a:ext cx="3291839" cy="621792"/>
          </a:xfrm>
          <a:prstGeom prst="rect">
            <a:avLst/>
          </a:prstGeom>
          <a:noFill/>
        </p:spPr>
        <p:txBody>
          <a:bodyPr wrap="square" lIns="0" rIns="0" tIns="0" bIns="0">
            <a:spAutoFit/>
          </a:bodyPr>
          <a:lstStyle/>
          <a:p>
            <a:pPr algn="l">
              <a:spcAft>
                <a:spcPts val="0"/>
              </a:spcAft>
            </a:pPr>
            <a:r>
              <a:rPr sz="1000" b="0" i="0">
                <a:solidFill>
                  <a:srgbClr val="1A1A1A"/>
                </a:solidFill>
                <a:latin typeface="Segoe UI"/>
              </a:rPr>
              <a:t>Press credits Fatima Group or no one; comments carry supply, price and respect asks.</a:t>
            </a:r>
          </a:p>
        </p:txBody>
      </p:sp>
      <p:sp>
        <p:nvSpPr>
          <p:cNvPr id="31" name="TextBox 30"/>
          <p:cNvSpPr txBox="1"/>
          <p:nvPr/>
        </p:nvSpPr>
        <p:spPr>
          <a:xfrm>
            <a:off x="640080" y="4818888"/>
            <a:ext cx="1188720" cy="621792"/>
          </a:xfrm>
          <a:prstGeom prst="rect">
            <a:avLst/>
          </a:prstGeom>
          <a:noFill/>
        </p:spPr>
        <p:txBody>
          <a:bodyPr wrap="square" lIns="0" rIns="0" tIns="0" bIns="0">
            <a:spAutoFit/>
          </a:bodyPr>
          <a:lstStyle/>
          <a:p>
            <a:pPr algn="l">
              <a:spcAft>
                <a:spcPts val="0"/>
              </a:spcAft>
            </a:pPr>
            <a:r>
              <a:rPr sz="1000" b="0" i="0">
                <a:solidFill>
                  <a:srgbClr val="1A1A1A"/>
                </a:solidFill>
                <a:latin typeface="Segoe UI"/>
              </a:rPr>
              <a:t>Events</a:t>
            </a:r>
          </a:p>
        </p:txBody>
      </p:sp>
      <p:sp>
        <p:nvSpPr>
          <p:cNvPr id="32" name="TextBox 31"/>
          <p:cNvSpPr txBox="1"/>
          <p:nvPr/>
        </p:nvSpPr>
        <p:spPr>
          <a:xfrm>
            <a:off x="2011680" y="4818888"/>
            <a:ext cx="1828800" cy="621792"/>
          </a:xfrm>
          <a:prstGeom prst="rect">
            <a:avLst/>
          </a:prstGeom>
          <a:noFill/>
        </p:spPr>
        <p:txBody>
          <a:bodyPr wrap="square" lIns="0" rIns="0" tIns="0" bIns="0">
            <a:spAutoFit/>
          </a:bodyPr>
          <a:lstStyle/>
          <a:p>
            <a:pPr algn="l">
              <a:spcAft>
                <a:spcPts val="0"/>
              </a:spcAft>
            </a:pPr>
            <a:r>
              <a:rPr sz="1000" b="0" i="0">
                <a:solidFill>
                  <a:srgbClr val="1A1A1A"/>
                </a:solidFill>
                <a:latin typeface="Segoe UI"/>
              </a:rPr>
              <a:t>The farmer takes the stage</a:t>
            </a:r>
          </a:p>
        </p:txBody>
      </p:sp>
      <p:sp>
        <p:nvSpPr>
          <p:cNvPr id="33" name="TextBox 32"/>
          <p:cNvSpPr txBox="1"/>
          <p:nvPr/>
        </p:nvSpPr>
        <p:spPr>
          <a:xfrm>
            <a:off x="4023360" y="4818888"/>
            <a:ext cx="4023359" cy="621792"/>
          </a:xfrm>
          <a:prstGeom prst="rect">
            <a:avLst/>
          </a:prstGeom>
          <a:noFill/>
        </p:spPr>
        <p:txBody>
          <a:bodyPr wrap="square" lIns="0" rIns="0" tIns="0" bIns="0">
            <a:spAutoFit/>
          </a:bodyPr>
          <a:lstStyle/>
          <a:p>
            <a:pPr algn="l">
              <a:spcAft>
                <a:spcPts val="0"/>
              </a:spcAft>
            </a:pPr>
            <a:r>
              <a:rPr sz="1000" b="0" i="0">
                <a:solidFill>
                  <a:srgbClr val="1A1A1A"/>
                </a:solidFill>
                <a:latin typeface="Segoe UI"/>
              </a:rPr>
              <a:t>At the national Kissan Day, farmers and their children speak first and officials answer.</a:t>
            </a:r>
          </a:p>
        </p:txBody>
      </p:sp>
      <p:sp>
        <p:nvSpPr>
          <p:cNvPr id="34" name="TextBox 33"/>
          <p:cNvSpPr txBox="1"/>
          <p:nvPr/>
        </p:nvSpPr>
        <p:spPr>
          <a:xfrm>
            <a:off x="8229600" y="4818888"/>
            <a:ext cx="3291839" cy="621792"/>
          </a:xfrm>
          <a:prstGeom prst="rect">
            <a:avLst/>
          </a:prstGeom>
          <a:noFill/>
        </p:spPr>
        <p:txBody>
          <a:bodyPr wrap="square" lIns="0" rIns="0" tIns="0" bIns="0">
            <a:spAutoFit/>
          </a:bodyPr>
          <a:lstStyle/>
          <a:p>
            <a:pPr algn="l">
              <a:spcAft>
                <a:spcPts val="0"/>
              </a:spcAft>
            </a:pPr>
            <a:r>
              <a:rPr sz="1000" b="0" i="0">
                <a:solidFill>
                  <a:srgbClr val="1A1A1A"/>
                </a:solidFill>
                <a:latin typeface="Segoe UI"/>
              </a:rPr>
              <a:t>Celebrities and politicians speak in 30 of 76 uploads; a farmer in 9.</a:t>
            </a:r>
          </a:p>
        </p:txBody>
      </p:sp>
      <p:sp>
        <p:nvSpPr>
          <p:cNvPr id="35" name="Rectangle 34"/>
          <p:cNvSpPr/>
          <p:nvPr/>
        </p:nvSpPr>
        <p:spPr>
          <a:xfrm>
            <a:off x="548640" y="5468112"/>
            <a:ext cx="11064240" cy="713232"/>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0080" y="5532120"/>
            <a:ext cx="1188720" cy="621792"/>
          </a:xfrm>
          <a:prstGeom prst="rect">
            <a:avLst/>
          </a:prstGeom>
          <a:noFill/>
        </p:spPr>
        <p:txBody>
          <a:bodyPr wrap="square" lIns="0" rIns="0" tIns="0" bIns="0">
            <a:spAutoFit/>
          </a:bodyPr>
          <a:lstStyle/>
          <a:p>
            <a:pPr algn="l">
              <a:spcAft>
                <a:spcPts val="0"/>
              </a:spcAft>
            </a:pPr>
            <a:r>
              <a:rPr sz="1000" b="0" i="0">
                <a:solidFill>
                  <a:srgbClr val="1A1A1A"/>
                </a:solidFill>
                <a:latin typeface="Segoe UI"/>
              </a:rPr>
              <a:t>On-ground</a:t>
            </a:r>
          </a:p>
        </p:txBody>
      </p:sp>
      <p:sp>
        <p:nvSpPr>
          <p:cNvPr id="37" name="TextBox 36"/>
          <p:cNvSpPr txBox="1"/>
          <p:nvPr/>
        </p:nvSpPr>
        <p:spPr>
          <a:xfrm>
            <a:off x="2011680" y="5532120"/>
            <a:ext cx="1828800" cy="621792"/>
          </a:xfrm>
          <a:prstGeom prst="rect">
            <a:avLst/>
          </a:prstGeom>
          <a:noFill/>
        </p:spPr>
        <p:txBody>
          <a:bodyPr wrap="square" lIns="0" rIns="0" tIns="0" bIns="0">
            <a:spAutoFit/>
          </a:bodyPr>
          <a:lstStyle/>
          <a:p>
            <a:pPr algn="l">
              <a:spcAft>
                <a:spcPts val="0"/>
              </a:spcAft>
            </a:pPr>
            <a:r>
              <a:rPr sz="1000" b="0" i="0">
                <a:solidFill>
                  <a:srgbClr val="1A1A1A"/>
                </a:solidFill>
                <a:latin typeface="Segoe UI"/>
              </a:rPr>
              <a:t>Replies at sowing and harvest</a:t>
            </a:r>
          </a:p>
        </p:txBody>
      </p:sp>
      <p:sp>
        <p:nvSpPr>
          <p:cNvPr id="38" name="TextBox 37"/>
          <p:cNvSpPr txBox="1"/>
          <p:nvPr/>
        </p:nvSpPr>
        <p:spPr>
          <a:xfrm>
            <a:off x="4023360" y="5532120"/>
            <a:ext cx="4023359" cy="621792"/>
          </a:xfrm>
          <a:prstGeom prst="rect">
            <a:avLst/>
          </a:prstGeom>
          <a:noFill/>
        </p:spPr>
        <p:txBody>
          <a:bodyPr wrap="square" lIns="0" rIns="0" tIns="0" bIns="0">
            <a:spAutoFit/>
          </a:bodyPr>
          <a:lstStyle/>
          <a:p>
            <a:pPr algn="l">
              <a:spcAft>
                <a:spcPts val="0"/>
              </a:spcAft>
            </a:pPr>
            <a:r>
              <a:rPr sz="1000" b="0" i="0">
                <a:solidFill>
                  <a:srgbClr val="1A1A1A"/>
                </a:solidFill>
                <a:latin typeface="Segoe UI"/>
              </a:rPr>
              <a:t>Recording points where farmers gather, in Rabi and Kharif.</a:t>
            </a:r>
          </a:p>
        </p:txBody>
      </p:sp>
      <p:sp>
        <p:nvSpPr>
          <p:cNvPr id="39" name="TextBox 38"/>
          <p:cNvSpPr txBox="1"/>
          <p:nvPr/>
        </p:nvSpPr>
        <p:spPr>
          <a:xfrm>
            <a:off x="8229600" y="5532120"/>
            <a:ext cx="3291839" cy="621792"/>
          </a:xfrm>
          <a:prstGeom prst="rect">
            <a:avLst/>
          </a:prstGeom>
          <a:noFill/>
        </p:spPr>
        <p:txBody>
          <a:bodyPr wrap="square" lIns="0" rIns="0" tIns="0" bIns="0">
            <a:spAutoFit/>
          </a:bodyPr>
          <a:lstStyle/>
          <a:p>
            <a:pPr algn="l">
              <a:spcAft>
                <a:spcPts val="0"/>
              </a:spcAft>
            </a:pPr>
            <a:r>
              <a:rPr sz="1000" b="0" i="0">
                <a:solidFill>
                  <a:srgbClr val="1A1A1A"/>
                </a:solidFill>
                <a:latin typeface="Segoe UI"/>
              </a:rPr>
              <a:t>Brief p6 seasons; 79% of uploads sit in the December window.</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64240" cy="274320"/>
          </a:xfrm>
          <a:prstGeom prst="rect">
            <a:avLst/>
          </a:prstGeom>
          <a:noFill/>
        </p:spPr>
        <p:txBody>
          <a:bodyPr wrap="square" lIns="0" rIns="0" tIns="0" bIns="0">
            <a:spAutoFit/>
          </a:bodyPr>
          <a:lstStyle/>
          <a:p>
            <a:pPr algn="l">
              <a:spcAft>
                <a:spcPts val="0"/>
              </a:spcAft>
            </a:pPr>
            <a:r>
              <a:rPr sz="1000" b="1" i="0">
                <a:solidFill>
                  <a:srgbClr val="9FB4C7"/>
                </a:solidFill>
                <a:latin typeface="Segoe UI"/>
              </a:rPr>
              <a:t>6  ·  THE CAMPAIGN  ·  A YEAR</a:t>
            </a:r>
          </a:p>
        </p:txBody>
      </p:sp>
      <p:sp>
        <p:nvSpPr>
          <p:cNvPr id="4" name="TextBox 3"/>
          <p:cNvSpPr txBox="1"/>
          <p:nvPr/>
        </p:nvSpPr>
        <p:spPr>
          <a:xfrm>
            <a:off x="548640" y="384048"/>
            <a:ext cx="11064240" cy="457200"/>
          </a:xfrm>
          <a:prstGeom prst="rect">
            <a:avLst/>
          </a:prstGeom>
          <a:noFill/>
        </p:spPr>
        <p:txBody>
          <a:bodyPr wrap="square" lIns="0" rIns="0" tIns="0" bIns="0">
            <a:spAutoFit/>
          </a:bodyPr>
          <a:lstStyle/>
          <a:p>
            <a:pPr algn="l">
              <a:spcAft>
                <a:spcPts val="0"/>
              </a:spcAft>
            </a:pPr>
            <a:r>
              <a:rPr sz="2200" b="1" i="0">
                <a:solidFill>
                  <a:srgbClr val="FFFFFF"/>
                </a:solidFill>
                <a:latin typeface="Segoe UI"/>
              </a:rPr>
              <a:t>Beyond a single day: replies from sowing to harvest to 18 December</a:t>
            </a:r>
          </a:p>
        </p:txBody>
      </p:sp>
      <p:sp>
        <p:nvSpPr>
          <p:cNvPr id="5" name="Rectangle 4"/>
          <p:cNvSpPr/>
          <p:nvPr/>
        </p:nvSpPr>
        <p:spPr>
          <a:xfrm>
            <a:off x="548640" y="5806440"/>
            <a:ext cx="11064240" cy="566928"/>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5897880"/>
            <a:ext cx="10607040" cy="457200"/>
          </a:xfrm>
          <a:prstGeom prst="rect">
            <a:avLst/>
          </a:prstGeom>
          <a:noFill/>
        </p:spPr>
        <p:txBody>
          <a:bodyPr wrap="square" lIns="0" rIns="0" tIns="0" bIns="0">
            <a:spAutoFit/>
          </a:bodyPr>
          <a:lstStyle/>
          <a:p>
            <a:pPr algn="l">
              <a:spcAft>
                <a:spcPts val="0"/>
              </a:spcAft>
            </a:pPr>
            <a:r>
              <a:rPr sz="1200" b="1" i="0">
                <a:solidFill>
                  <a:srgbClr val="FFFFFF"/>
                </a:solidFill>
                <a:latin typeface="Segoe UI"/>
              </a:rPr>
              <a:t>Month twelve opens the next December with what changed, so the day becomes a platform, not a launch.</a:t>
            </a:r>
          </a:p>
        </p:txBody>
      </p:sp>
      <p:sp>
        <p:nvSpPr>
          <p:cNvPr id="7" name="TextBox 6"/>
          <p:cNvSpPr txBox="1"/>
          <p:nvPr/>
        </p:nvSpPr>
        <p:spPr>
          <a:xfrm>
            <a:off x="548640" y="6446520"/>
            <a:ext cx="11064240" cy="320040"/>
          </a:xfrm>
          <a:prstGeom prst="rect">
            <a:avLst/>
          </a:prstGeom>
          <a:noFill/>
        </p:spPr>
        <p:txBody>
          <a:bodyPr wrap="square" lIns="0" rIns="0" tIns="0" bIns="0">
            <a:spAutoFit/>
          </a:bodyPr>
          <a:lstStyle/>
          <a:p>
            <a:pPr algn="l">
              <a:spcAft>
                <a:spcPts val="0"/>
              </a:spcAft>
            </a:pPr>
            <a:r>
              <a:rPr sz="800" b="0" i="0">
                <a:solidFill>
                  <a:srgbClr val="6B7480"/>
                </a:solidFill>
                <a:latin typeface="Segoe UI"/>
              </a:rPr>
              <a:t>Seasons from brief p6 (Rabi Oct-Mar, Kharif Apr-Sep). Timings are a proposal, not a media plan; budget not stated in the brief.</a:t>
            </a:r>
          </a:p>
        </p:txBody>
      </p:sp>
      <p:sp>
        <p:nvSpPr>
          <p:cNvPr id="8" name="Rectangle 7"/>
          <p:cNvSpPr/>
          <p:nvPr/>
        </p:nvSpPr>
        <p:spPr>
          <a:xfrm>
            <a:off x="548640" y="1371600"/>
            <a:ext cx="2651760" cy="64008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536192"/>
            <a:ext cx="2377440" cy="365760"/>
          </a:xfrm>
          <a:prstGeom prst="rect">
            <a:avLst/>
          </a:prstGeom>
          <a:noFill/>
        </p:spPr>
        <p:txBody>
          <a:bodyPr wrap="square" lIns="0" rIns="0" tIns="0" bIns="0">
            <a:spAutoFit/>
          </a:bodyPr>
          <a:lstStyle/>
          <a:p>
            <a:pPr algn="l">
              <a:spcAft>
                <a:spcPts val="0"/>
              </a:spcAft>
            </a:pPr>
            <a:r>
              <a:rPr sz="1300" b="1" i="0">
                <a:solidFill>
                  <a:srgbClr val="FFFFFF"/>
                </a:solidFill>
                <a:latin typeface="Segoe UI"/>
              </a:rPr>
              <a:t>Rabi sowing  ·  Oct-Nov</a:t>
            </a:r>
          </a:p>
        </p:txBody>
      </p:sp>
      <p:sp>
        <p:nvSpPr>
          <p:cNvPr id="10" name="Rectangle 9"/>
          <p:cNvSpPr/>
          <p:nvPr/>
        </p:nvSpPr>
        <p:spPr>
          <a:xfrm>
            <a:off x="548640" y="2011680"/>
            <a:ext cx="2651760" cy="329184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240280"/>
            <a:ext cx="2286000" cy="2926080"/>
          </a:xfrm>
          <a:prstGeom prst="rect">
            <a:avLst/>
          </a:prstGeom>
          <a:noFill/>
        </p:spPr>
        <p:txBody>
          <a:bodyPr wrap="square" lIns="0" rIns="0" tIns="0" bIns="0">
            <a:spAutoFit/>
          </a:bodyPr>
          <a:lstStyle/>
          <a:p>
            <a:pPr algn="l">
              <a:spcAft>
                <a:spcPts val="600"/>
              </a:spcAft>
            </a:pPr>
            <a:r>
              <a:rPr sz="1400" b="0" i="0">
                <a:solidFill>
                  <a:srgbClr val="1A1A1A"/>
                </a:solidFill>
                <a:latin typeface="Segoe UI"/>
              </a:rPr>
              <a:t>Collect replies at recording points, stalls and dealer counters.</a:t>
            </a:r>
          </a:p>
        </p:txBody>
      </p:sp>
      <p:sp>
        <p:nvSpPr>
          <p:cNvPr id="12" name="Rectangle 11"/>
          <p:cNvSpPr/>
          <p:nvPr/>
        </p:nvSpPr>
        <p:spPr>
          <a:xfrm>
            <a:off x="3364992" y="1371600"/>
            <a:ext cx="2651760" cy="64008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02152" y="1536192"/>
            <a:ext cx="2377440" cy="365760"/>
          </a:xfrm>
          <a:prstGeom prst="rect">
            <a:avLst/>
          </a:prstGeom>
          <a:noFill/>
        </p:spPr>
        <p:txBody>
          <a:bodyPr wrap="square" lIns="0" rIns="0" tIns="0" bIns="0">
            <a:spAutoFit/>
          </a:bodyPr>
          <a:lstStyle/>
          <a:p>
            <a:pPr algn="l">
              <a:spcAft>
                <a:spcPts val="0"/>
              </a:spcAft>
            </a:pPr>
            <a:r>
              <a:rPr sz="1300" b="1" i="0">
                <a:solidFill>
                  <a:srgbClr val="FFFFFF"/>
                </a:solidFill>
                <a:latin typeface="Segoe UI"/>
              </a:rPr>
              <a:t>1-18 December</a:t>
            </a:r>
          </a:p>
        </p:txBody>
      </p:sp>
      <p:sp>
        <p:nvSpPr>
          <p:cNvPr id="14" name="Rectangle 13"/>
          <p:cNvSpPr/>
          <p:nvPr/>
        </p:nvSpPr>
        <p:spPr>
          <a:xfrm>
            <a:off x="3364992" y="2011680"/>
            <a:ext cx="2651760" cy="329184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47872" y="2240280"/>
            <a:ext cx="2286000" cy="2926080"/>
          </a:xfrm>
          <a:prstGeom prst="rect">
            <a:avLst/>
          </a:prstGeom>
          <a:noFill/>
        </p:spPr>
        <p:txBody>
          <a:bodyPr wrap="square" lIns="0" rIns="0" tIns="0" bIns="0">
            <a:spAutoFit/>
          </a:bodyPr>
          <a:lstStyle/>
          <a:p>
            <a:pPr algn="l">
              <a:spcAft>
                <a:spcPts val="600"/>
              </a:spcAft>
            </a:pPr>
            <a:r>
              <a:rPr sz="1400" b="0" i="0">
                <a:solidFill>
                  <a:srgbClr val="1A1A1A"/>
                </a:solidFill>
                <a:latin typeface="Segoe UI"/>
              </a:rPr>
              <a:t>The Reply anthem, #WaAlaikumSalam UGC, the national event and the Kissan ki Awaaz handover.</a:t>
            </a:r>
          </a:p>
        </p:txBody>
      </p:sp>
      <p:sp>
        <p:nvSpPr>
          <p:cNvPr id="16" name="Rectangle 15"/>
          <p:cNvSpPr/>
          <p:nvPr/>
        </p:nvSpPr>
        <p:spPr>
          <a:xfrm>
            <a:off x="6181344" y="1371600"/>
            <a:ext cx="2651760" cy="64008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18504" y="1536192"/>
            <a:ext cx="2377440" cy="365760"/>
          </a:xfrm>
          <a:prstGeom prst="rect">
            <a:avLst/>
          </a:prstGeom>
          <a:noFill/>
        </p:spPr>
        <p:txBody>
          <a:bodyPr wrap="square" lIns="0" rIns="0" tIns="0" bIns="0">
            <a:spAutoFit/>
          </a:bodyPr>
          <a:lstStyle/>
          <a:p>
            <a:pPr algn="l">
              <a:spcAft>
                <a:spcPts val="0"/>
              </a:spcAft>
            </a:pPr>
            <a:r>
              <a:rPr sz="1300" b="1" i="0">
                <a:solidFill>
                  <a:srgbClr val="FFFFFF"/>
                </a:solidFill>
                <a:latin typeface="Segoe UI"/>
              </a:rPr>
              <a:t>Kharif  ·  Apr-Sep</a:t>
            </a:r>
          </a:p>
        </p:txBody>
      </p:sp>
      <p:sp>
        <p:nvSpPr>
          <p:cNvPr id="18" name="Rectangle 17"/>
          <p:cNvSpPr/>
          <p:nvPr/>
        </p:nvSpPr>
        <p:spPr>
          <a:xfrm>
            <a:off x="6181344" y="2011680"/>
            <a:ext cx="2651760" cy="329184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64224" y="2240280"/>
            <a:ext cx="2286000" cy="2926080"/>
          </a:xfrm>
          <a:prstGeom prst="rect">
            <a:avLst/>
          </a:prstGeom>
          <a:noFill/>
        </p:spPr>
        <p:txBody>
          <a:bodyPr wrap="square" lIns="0" rIns="0" tIns="0" bIns="0">
            <a:spAutoFit/>
          </a:bodyPr>
          <a:lstStyle/>
          <a:p>
            <a:pPr algn="l">
              <a:spcAft>
                <a:spcPts val="600"/>
              </a:spcAft>
            </a:pPr>
            <a:r>
              <a:rPr sz="1400" b="0" i="0">
                <a:solidFill>
                  <a:srgbClr val="1A1A1A"/>
                </a:solidFill>
                <a:latin typeface="Segoe UI"/>
              </a:rPr>
              <a:t>Harvest replies, and follow-up on the asks raised in December.</a:t>
            </a:r>
          </a:p>
        </p:txBody>
      </p:sp>
      <p:sp>
        <p:nvSpPr>
          <p:cNvPr id="20" name="Rectangle 19"/>
          <p:cNvSpPr/>
          <p:nvPr/>
        </p:nvSpPr>
        <p:spPr>
          <a:xfrm>
            <a:off x="8997696" y="1371600"/>
            <a:ext cx="2651760" cy="64008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34856" y="1536192"/>
            <a:ext cx="2377440" cy="365760"/>
          </a:xfrm>
          <a:prstGeom prst="rect">
            <a:avLst/>
          </a:prstGeom>
          <a:noFill/>
        </p:spPr>
        <p:txBody>
          <a:bodyPr wrap="square" lIns="0" rIns="0" tIns="0" bIns="0">
            <a:spAutoFit/>
          </a:bodyPr>
          <a:lstStyle/>
          <a:p>
            <a:pPr algn="l">
              <a:spcAft>
                <a:spcPts val="0"/>
              </a:spcAft>
            </a:pPr>
            <a:r>
              <a:rPr sz="1300" b="1" i="0">
                <a:solidFill>
                  <a:srgbClr val="FFFFFF"/>
                </a:solidFill>
                <a:latin typeface="Segoe UI"/>
              </a:rPr>
              <a:t>Month twelve</a:t>
            </a:r>
          </a:p>
        </p:txBody>
      </p:sp>
      <p:sp>
        <p:nvSpPr>
          <p:cNvPr id="22" name="Rectangle 21"/>
          <p:cNvSpPr/>
          <p:nvPr/>
        </p:nvSpPr>
        <p:spPr>
          <a:xfrm>
            <a:off x="8997696" y="2011680"/>
            <a:ext cx="2651760" cy="329184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80576" y="2240280"/>
            <a:ext cx="2286000" cy="2926080"/>
          </a:xfrm>
          <a:prstGeom prst="rect">
            <a:avLst/>
          </a:prstGeom>
          <a:noFill/>
        </p:spPr>
        <p:txBody>
          <a:bodyPr wrap="square" lIns="0" rIns="0" tIns="0" bIns="0">
            <a:spAutoFit/>
          </a:bodyPr>
          <a:lstStyle/>
          <a:p>
            <a:pPr algn="l">
              <a:spcAft>
                <a:spcPts val="600"/>
              </a:spcAft>
            </a:pPr>
            <a:r>
              <a:rPr sz="1400" b="0" i="0">
                <a:solidFill>
                  <a:srgbClr val="1A1A1A"/>
                </a:solidFill>
                <a:latin typeface="Segoe UI"/>
              </a:rPr>
              <a:t>The next December opens with what changed since the last reply.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64240" cy="274320"/>
          </a:xfrm>
          <a:prstGeom prst="rect">
            <a:avLst/>
          </a:prstGeom>
          <a:noFill/>
        </p:spPr>
        <p:txBody>
          <a:bodyPr wrap="square" lIns="0" rIns="0" tIns="0" bIns="0">
            <a:spAutoFit/>
          </a:bodyPr>
          <a:lstStyle/>
          <a:p>
            <a:pPr algn="l">
              <a:spcAft>
                <a:spcPts val="0"/>
              </a:spcAft>
            </a:pPr>
            <a:r>
              <a:rPr sz="1000" b="1" i="0">
                <a:solidFill>
                  <a:srgbClr val="9FB4C7"/>
                </a:solidFill>
                <a:latin typeface="Segoe UI"/>
              </a:rPr>
              <a:t>6  ·  THE CAMPAIGN  ·  WHAT IT ASKS</a:t>
            </a:r>
          </a:p>
        </p:txBody>
      </p:sp>
      <p:sp>
        <p:nvSpPr>
          <p:cNvPr id="4" name="TextBox 3"/>
          <p:cNvSpPr txBox="1"/>
          <p:nvPr/>
        </p:nvSpPr>
        <p:spPr>
          <a:xfrm>
            <a:off x="548640" y="384048"/>
            <a:ext cx="11064240" cy="457200"/>
          </a:xfrm>
          <a:prstGeom prst="rect">
            <a:avLst/>
          </a:prstGeom>
          <a:noFill/>
        </p:spPr>
        <p:txBody>
          <a:bodyPr wrap="square" lIns="0" rIns="0" tIns="0" bIns="0">
            <a:spAutoFit/>
          </a:bodyPr>
          <a:lstStyle/>
          <a:p>
            <a:pPr algn="l">
              <a:spcAft>
                <a:spcPts val="0"/>
              </a:spcAft>
            </a:pPr>
            <a:r>
              <a:rPr sz="2200" b="1" i="0">
                <a:solidFill>
                  <a:srgbClr val="FFFFFF"/>
                </a:solidFill>
                <a:latin typeface="Segoe UI"/>
              </a:rPr>
              <a:t>The price of the idea, stated before any line is written</a:t>
            </a:r>
          </a:p>
        </p:txBody>
      </p:sp>
      <p:sp>
        <p:nvSpPr>
          <p:cNvPr id="5" name="Rectangle 4"/>
          <p:cNvSpPr/>
          <p:nvPr/>
        </p:nvSpPr>
        <p:spPr>
          <a:xfrm>
            <a:off x="548640" y="5806440"/>
            <a:ext cx="11064240" cy="566928"/>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5897880"/>
            <a:ext cx="10607040" cy="457200"/>
          </a:xfrm>
          <a:prstGeom prst="rect">
            <a:avLst/>
          </a:prstGeom>
          <a:noFill/>
        </p:spPr>
        <p:txBody>
          <a:bodyPr wrap="square" lIns="0" rIns="0" tIns="0" bIns="0">
            <a:spAutoFit/>
          </a:bodyPr>
          <a:lstStyle/>
          <a:p>
            <a:pPr algn="l">
              <a:spcAft>
                <a:spcPts val="0"/>
              </a:spcAft>
            </a:pPr>
            <a:r>
              <a:rPr sz="1200" b="1" i="0">
                <a:solidFill>
                  <a:srgbClr val="FFFFFF"/>
                </a:solidFill>
                <a:latin typeface="Segoe UI"/>
              </a:rPr>
              <a:t>If Fatima won't put farmers' own words on air, run the crop-calendar platform instead: easier to approve, easy for rivals to copy.</a:t>
            </a:r>
          </a:p>
        </p:txBody>
      </p:sp>
      <p:sp>
        <p:nvSpPr>
          <p:cNvPr id="7" name="TextBox 6"/>
          <p:cNvSpPr txBox="1"/>
          <p:nvPr/>
        </p:nvSpPr>
        <p:spPr>
          <a:xfrm>
            <a:off x="548640" y="6446520"/>
            <a:ext cx="11064240" cy="320040"/>
          </a:xfrm>
          <a:prstGeom prst="rect">
            <a:avLst/>
          </a:prstGeom>
          <a:noFill/>
        </p:spPr>
        <p:txBody>
          <a:bodyPr wrap="square" lIns="0" rIns="0" tIns="0" bIns="0">
            <a:spAutoFit/>
          </a:bodyPr>
          <a:lstStyle/>
          <a:p>
            <a:pPr algn="l">
              <a:spcAft>
                <a:spcPts val="0"/>
              </a:spcAft>
            </a:pPr>
            <a:r>
              <a:rPr sz="800" b="0" i="0">
                <a:solidFill>
                  <a:srgbClr val="6B7480"/>
                </a:solidFill>
                <a:latin typeface="Segoe UI"/>
              </a:rPr>
              <a:t>Open for the client: budget, pitch date, and whether Case 1 and Case 2 share a media plan.</a:t>
            </a:r>
          </a:p>
        </p:txBody>
      </p:sp>
      <p:sp>
        <p:nvSpPr>
          <p:cNvPr id="8" name="Rectangle 7"/>
          <p:cNvSpPr/>
          <p:nvPr/>
        </p:nvSpPr>
        <p:spPr>
          <a:xfrm>
            <a:off x="548640" y="1188720"/>
            <a:ext cx="5440680" cy="132588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188720"/>
            <a:ext cx="54864" cy="132588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1325880"/>
            <a:ext cx="5029200" cy="365760"/>
          </a:xfrm>
          <a:prstGeom prst="rect">
            <a:avLst/>
          </a:prstGeom>
          <a:noFill/>
        </p:spPr>
        <p:txBody>
          <a:bodyPr wrap="square" lIns="0" rIns="0" tIns="0" bIns="0">
            <a:spAutoFit/>
          </a:bodyPr>
          <a:lstStyle/>
          <a:p>
            <a:pPr algn="l">
              <a:spcAft>
                <a:spcPts val="0"/>
              </a:spcAft>
            </a:pPr>
            <a:r>
              <a:rPr sz="1400" b="1" i="0">
                <a:solidFill>
                  <a:srgbClr val="102A43"/>
                </a:solidFill>
                <a:latin typeface="Segoe UI"/>
              </a:rPr>
              <a:t>1  Complaints on air</a:t>
            </a:r>
          </a:p>
        </p:txBody>
      </p:sp>
      <p:sp>
        <p:nvSpPr>
          <p:cNvPr id="11" name="TextBox 10"/>
          <p:cNvSpPr txBox="1"/>
          <p:nvPr/>
        </p:nvSpPr>
        <p:spPr>
          <a:xfrm>
            <a:off x="822959" y="1737360"/>
            <a:ext cx="5029200" cy="731520"/>
          </a:xfrm>
          <a:prstGeom prst="rect">
            <a:avLst/>
          </a:prstGeom>
          <a:noFill/>
        </p:spPr>
        <p:txBody>
          <a:bodyPr wrap="square" lIns="0" rIns="0" tIns="0" bIns="0">
            <a:spAutoFit/>
          </a:bodyPr>
          <a:lstStyle/>
          <a:p>
            <a:pPr algn="l">
              <a:spcAft>
                <a:spcPts val="0"/>
              </a:spcAft>
            </a:pPr>
            <a:r>
              <a:rPr sz="1200" b="0" i="0">
                <a:solidFill>
                  <a:srgbClr val="1A1A1A"/>
                </a:solidFill>
                <a:latin typeface="Segoe UI"/>
              </a:rPr>
              <a:t>Farmers' answers will include fertilizer supply and price. Editing them out breaks the idea.</a:t>
            </a:r>
          </a:p>
        </p:txBody>
      </p:sp>
      <p:sp>
        <p:nvSpPr>
          <p:cNvPr id="12" name="Rectangle 11"/>
          <p:cNvSpPr/>
          <p:nvPr/>
        </p:nvSpPr>
        <p:spPr>
          <a:xfrm>
            <a:off x="6172200" y="1188720"/>
            <a:ext cx="5440680" cy="132588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2200" y="1188720"/>
            <a:ext cx="54864" cy="132588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1325880"/>
            <a:ext cx="5029200" cy="365760"/>
          </a:xfrm>
          <a:prstGeom prst="rect">
            <a:avLst/>
          </a:prstGeom>
          <a:noFill/>
        </p:spPr>
        <p:txBody>
          <a:bodyPr wrap="square" lIns="0" rIns="0" tIns="0" bIns="0">
            <a:spAutoFit/>
          </a:bodyPr>
          <a:lstStyle/>
          <a:p>
            <a:pPr algn="l">
              <a:spcAft>
                <a:spcPts val="0"/>
              </a:spcAft>
            </a:pPr>
            <a:r>
              <a:rPr sz="1400" b="1" i="0">
                <a:solidFill>
                  <a:srgbClr val="102A43"/>
                </a:solidFill>
                <a:latin typeface="Segoe UI"/>
              </a:rPr>
              <a:t>2  Real families</a:t>
            </a:r>
          </a:p>
        </p:txBody>
      </p:sp>
      <p:sp>
        <p:nvSpPr>
          <p:cNvPr id="15" name="TextBox 14"/>
          <p:cNvSpPr txBox="1"/>
          <p:nvPr/>
        </p:nvSpPr>
        <p:spPr>
          <a:xfrm>
            <a:off x="6446520" y="1737360"/>
            <a:ext cx="5029200" cy="731520"/>
          </a:xfrm>
          <a:prstGeom prst="rect">
            <a:avLst/>
          </a:prstGeom>
          <a:noFill/>
        </p:spPr>
        <p:txBody>
          <a:bodyPr wrap="square" lIns="0" rIns="0" tIns="0" bIns="0">
            <a:spAutoFit/>
          </a:bodyPr>
          <a:lstStyle/>
          <a:p>
            <a:pPr algn="l">
              <a:spcAft>
                <a:spcPts val="0"/>
              </a:spcAft>
            </a:pPr>
            <a:r>
              <a:rPr sz="1200" b="0" i="0">
                <a:solidFill>
                  <a:srgbClr val="1A1A1A"/>
                </a:solidFill>
                <a:latin typeface="Segoe UI"/>
              </a:rPr>
              <a:t>Real farmers and their children, not celebrities or AI-animated farmers.</a:t>
            </a:r>
          </a:p>
        </p:txBody>
      </p:sp>
      <p:sp>
        <p:nvSpPr>
          <p:cNvPr id="16" name="Rectangle 15"/>
          <p:cNvSpPr/>
          <p:nvPr/>
        </p:nvSpPr>
        <p:spPr>
          <a:xfrm>
            <a:off x="548640" y="2651760"/>
            <a:ext cx="5440680" cy="132588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2651760"/>
            <a:ext cx="54864" cy="132588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59" y="2788920"/>
            <a:ext cx="5029200" cy="365760"/>
          </a:xfrm>
          <a:prstGeom prst="rect">
            <a:avLst/>
          </a:prstGeom>
          <a:noFill/>
        </p:spPr>
        <p:txBody>
          <a:bodyPr wrap="square" lIns="0" rIns="0" tIns="0" bIns="0">
            <a:spAutoFit/>
          </a:bodyPr>
          <a:lstStyle/>
          <a:p>
            <a:pPr algn="l">
              <a:spcAft>
                <a:spcPts val="0"/>
              </a:spcAft>
            </a:pPr>
            <a:r>
              <a:rPr sz="1400" b="1" i="0">
                <a:solidFill>
                  <a:srgbClr val="102A43"/>
                </a:solidFill>
                <a:latin typeface="Segoe UI"/>
              </a:rPr>
              <a:t>3  Name the brand</a:t>
            </a:r>
          </a:p>
        </p:txBody>
      </p:sp>
      <p:sp>
        <p:nvSpPr>
          <p:cNvPr id="19" name="TextBox 18"/>
          <p:cNvSpPr txBox="1"/>
          <p:nvPr/>
        </p:nvSpPr>
        <p:spPr>
          <a:xfrm>
            <a:off x="822959" y="3200400"/>
            <a:ext cx="5029200" cy="731520"/>
          </a:xfrm>
          <a:prstGeom prst="rect">
            <a:avLst/>
          </a:prstGeom>
          <a:noFill/>
        </p:spPr>
        <p:txBody>
          <a:bodyPr wrap="square" lIns="0" rIns="0" tIns="0" bIns="0">
            <a:spAutoFit/>
          </a:bodyPr>
          <a:lstStyle/>
          <a:p>
            <a:pPr algn="l">
              <a:spcAft>
                <a:spcPts val="0"/>
              </a:spcAft>
            </a:pPr>
            <a:r>
              <a:rPr sz="1200" b="0" i="0">
                <a:solidFill>
                  <a:srgbClr val="1A1A1A"/>
                </a:solidFill>
                <a:latin typeface="Segoe UI"/>
              </a:rPr>
              <a:t>Sarsabz Salam Kissan in every PR and event material.</a:t>
            </a:r>
          </a:p>
        </p:txBody>
      </p:sp>
      <p:sp>
        <p:nvSpPr>
          <p:cNvPr id="20" name="Rectangle 19"/>
          <p:cNvSpPr/>
          <p:nvPr/>
        </p:nvSpPr>
        <p:spPr>
          <a:xfrm>
            <a:off x="6172200" y="2651760"/>
            <a:ext cx="5440680" cy="132588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72200" y="2651760"/>
            <a:ext cx="54864" cy="132588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2788920"/>
            <a:ext cx="5029200" cy="365760"/>
          </a:xfrm>
          <a:prstGeom prst="rect">
            <a:avLst/>
          </a:prstGeom>
          <a:noFill/>
        </p:spPr>
        <p:txBody>
          <a:bodyPr wrap="square" lIns="0" rIns="0" tIns="0" bIns="0">
            <a:spAutoFit/>
          </a:bodyPr>
          <a:lstStyle/>
          <a:p>
            <a:pPr algn="l">
              <a:spcAft>
                <a:spcPts val="0"/>
              </a:spcAft>
            </a:pPr>
            <a:r>
              <a:rPr sz="1400" b="1" i="0">
                <a:solidFill>
                  <a:srgbClr val="102A43"/>
                </a:solidFill>
                <a:latin typeface="Segoe UI"/>
              </a:rPr>
              <a:t>4  Beyond December</a:t>
            </a:r>
          </a:p>
        </p:txBody>
      </p:sp>
      <p:sp>
        <p:nvSpPr>
          <p:cNvPr id="23" name="TextBox 22"/>
          <p:cNvSpPr txBox="1"/>
          <p:nvPr/>
        </p:nvSpPr>
        <p:spPr>
          <a:xfrm>
            <a:off x="6446520" y="3200400"/>
            <a:ext cx="5029200" cy="731520"/>
          </a:xfrm>
          <a:prstGeom prst="rect">
            <a:avLst/>
          </a:prstGeom>
          <a:noFill/>
        </p:spPr>
        <p:txBody>
          <a:bodyPr wrap="square" lIns="0" rIns="0" tIns="0" bIns="0">
            <a:spAutoFit/>
          </a:bodyPr>
          <a:lstStyle/>
          <a:p>
            <a:pPr algn="l">
              <a:spcAft>
                <a:spcPts val="0"/>
              </a:spcAft>
            </a:pPr>
            <a:r>
              <a:rPr sz="1200" b="0" i="0">
                <a:solidFill>
                  <a:srgbClr val="1A1A1A"/>
                </a:solidFill>
                <a:latin typeface="Segoe UI"/>
              </a:rPr>
              <a:t>Run it through Rabi and Kharif, not only on the day.</a:t>
            </a:r>
          </a:p>
        </p:txBody>
      </p:sp>
      <p:sp>
        <p:nvSpPr>
          <p:cNvPr id="24" name="Rectangle 23"/>
          <p:cNvSpPr/>
          <p:nvPr/>
        </p:nvSpPr>
        <p:spPr>
          <a:xfrm>
            <a:off x="548640" y="4114800"/>
            <a:ext cx="5440680" cy="132588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4114800"/>
            <a:ext cx="54864" cy="132588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59" y="4251960"/>
            <a:ext cx="5029200" cy="365760"/>
          </a:xfrm>
          <a:prstGeom prst="rect">
            <a:avLst/>
          </a:prstGeom>
          <a:noFill/>
        </p:spPr>
        <p:txBody>
          <a:bodyPr wrap="square" lIns="0" rIns="0" tIns="0" bIns="0">
            <a:spAutoFit/>
          </a:bodyPr>
          <a:lstStyle/>
          <a:p>
            <a:pPr algn="l">
              <a:spcAft>
                <a:spcPts val="0"/>
              </a:spcAft>
            </a:pPr>
            <a:r>
              <a:rPr sz="1400" b="1" i="0">
                <a:solidFill>
                  <a:srgbClr val="102A43"/>
                </a:solidFill>
                <a:latin typeface="Segoe UI"/>
              </a:rPr>
              <a:t>5  Clear the line</a:t>
            </a:r>
          </a:p>
        </p:txBody>
      </p:sp>
      <p:sp>
        <p:nvSpPr>
          <p:cNvPr id="27" name="TextBox 26"/>
          <p:cNvSpPr txBox="1"/>
          <p:nvPr/>
        </p:nvSpPr>
        <p:spPr>
          <a:xfrm>
            <a:off x="822959" y="4663440"/>
            <a:ext cx="5029200" cy="731520"/>
          </a:xfrm>
          <a:prstGeom prst="rect">
            <a:avLst/>
          </a:prstGeom>
          <a:noFill/>
        </p:spPr>
        <p:txBody>
          <a:bodyPr wrap="square" lIns="0" rIns="0" tIns="0" bIns="0">
            <a:spAutoFit/>
          </a:bodyPr>
          <a:lstStyle/>
          <a:p>
            <a:pPr algn="l">
              <a:spcAft>
                <a:spcPts val="0"/>
              </a:spcAft>
            </a:pPr>
            <a:r>
              <a:rPr sz="1200" b="0" i="0">
                <a:solidFill>
                  <a:srgbClr val="1A1A1A"/>
                </a:solidFill>
                <a:latin typeface="Segoe UI"/>
              </a:rPr>
              <a:t>Religious and cultural sensitivity check of the greeting; legal check of the Salam Kissan mark.</a:t>
            </a:r>
          </a:p>
        </p:txBody>
      </p:sp>
      <p:sp>
        <p:nvSpPr>
          <p:cNvPr id="28" name="Rectangle 27"/>
          <p:cNvSpPr/>
          <p:nvPr/>
        </p:nvSpPr>
        <p:spPr>
          <a:xfrm>
            <a:off x="6172200" y="4114800"/>
            <a:ext cx="5440680" cy="132588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172200" y="4114800"/>
            <a:ext cx="54864" cy="132588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46520" y="4251960"/>
            <a:ext cx="5029200" cy="365760"/>
          </a:xfrm>
          <a:prstGeom prst="rect">
            <a:avLst/>
          </a:prstGeom>
          <a:noFill/>
        </p:spPr>
        <p:txBody>
          <a:bodyPr wrap="square" lIns="0" rIns="0" tIns="0" bIns="0">
            <a:spAutoFit/>
          </a:bodyPr>
          <a:lstStyle/>
          <a:p>
            <a:pPr algn="l">
              <a:spcAft>
                <a:spcPts val="0"/>
              </a:spcAft>
            </a:pPr>
            <a:r>
              <a:rPr sz="1400" b="1" i="0">
                <a:solidFill>
                  <a:srgbClr val="102A43"/>
                </a:solidFill>
                <a:latin typeface="Segoe UI"/>
              </a:rPr>
              <a:t>6  Supply the data</a:t>
            </a:r>
          </a:p>
        </p:txBody>
      </p:sp>
      <p:sp>
        <p:nvSpPr>
          <p:cNvPr id="31" name="TextBox 30"/>
          <p:cNvSpPr txBox="1"/>
          <p:nvPr/>
        </p:nvSpPr>
        <p:spPr>
          <a:xfrm>
            <a:off x="6446520" y="4663440"/>
            <a:ext cx="5029200" cy="731520"/>
          </a:xfrm>
          <a:prstGeom prst="rect">
            <a:avLst/>
          </a:prstGeom>
          <a:noFill/>
        </p:spPr>
        <p:txBody>
          <a:bodyPr wrap="square" lIns="0" rIns="0" tIns="0" bIns="0">
            <a:spAutoFit/>
          </a:bodyPr>
          <a:lstStyle/>
          <a:p>
            <a:pPr algn="l">
              <a:spcAft>
                <a:spcPts val="0"/>
              </a:spcAft>
            </a:pPr>
            <a:r>
              <a:rPr sz="1200" b="0" i="0">
                <a:solidFill>
                  <a:srgbClr val="1A1A1A"/>
                </a:solidFill>
                <a:latin typeface="Segoe UI"/>
              </a:rPr>
              <a:t>TikTok results; brand-health attribution of Kissan Day; 2023 giveaway rules.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