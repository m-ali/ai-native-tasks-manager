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424160" cy="457200"/>
          </a:xfrm>
          <a:prstGeom prst="rect">
            <a:avLst/>
          </a:prstGeom>
          <a:noFill/>
        </p:spPr>
        <p:txBody>
          <a:bodyPr wrap="square" lIns="0" tIns="0" r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tIns="0" r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tIns="0" r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tIns="0" r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3886200"/>
            <a:ext cx="48463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6400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80160"/>
            <a:ext cx="42976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691640"/>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691640"/>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07568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167128"/>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167128"/>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42616"/>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42616"/>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26664"/>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118104"/>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18104"/>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593592"/>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593592"/>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3977639"/>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069079"/>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069079"/>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44567"/>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44567"/>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7532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7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10896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80160"/>
            <a:ext cx="10972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69164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69164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0312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19456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19456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69747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69747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108959"/>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20039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0039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0331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0331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15000" y="1325880"/>
            <a:ext cx="57607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01167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80160"/>
            <a:ext cx="493775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6916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6916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14884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24028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24028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78892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78892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24612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33756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33756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88620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88620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3434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4348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4348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4983479"/>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4983479"/>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66760" y="1325880"/>
            <a:ext cx="310896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91440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tIns="0" r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987552"/>
            <a:ext cx="1645920" cy="201168"/>
          </a:xfrm>
          <a:prstGeom prst="rect">
            <a:avLst/>
          </a:prstGeom>
          <a:noFill/>
        </p:spPr>
        <p:txBody>
          <a:bodyPr wrap="square" lIns="0" tIns="0" r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7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tIns="0" r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39312"/>
            <a:ext cx="105156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tIns="0" r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tIns="0" r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tIns="0" r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tIns="0" r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493008"/>
            <a:ext cx="62179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tIns="0" rIns="0" bIns="0">
            <a:spAutoFit/>
          </a:bodyPr>
          <a:lstStyle/>
          <a:p>
            <a:pPr algn="l">
              <a:spcAft>
                <a:spcPts val="0"/>
              </a:spcAft>
            </a:pPr>
            <a:r>
              <a:rPr sz="1900" b="1" i="0">
                <a:solidFill>
                  <a:srgbClr val="C8102E"/>
                </a:solidFill>
                <a:latin typeface="Segoe UI"/>
              </a:rPr>
              <a:t>Position Sarsabz as  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tIns="0" r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26679" y="1371600"/>
            <a:ext cx="37033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tIns="0" r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18488"/>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23160"/>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27832"/>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32503"/>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37175"/>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tIns="0" r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tIns="0" r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916168"/>
            <a:ext cx="10607040" cy="548640"/>
          </a:xfrm>
          <a:prstGeom prst="rect">
            <a:avLst/>
          </a:prstGeom>
          <a:noFill/>
        </p:spPr>
        <p:txBody>
          <a:bodyPr wrap="square" lIns="0" tIns="0" r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354217"/>
          </a:xfrm>
          <a:prstGeom prst="rect">
            <a:avLst/>
          </a:prstGeom>
          <a:noFill/>
        </p:spPr>
        <p:txBody>
          <a:bodyPr wrap="square" lIns="0" tIns="0" rIns="0" bIns="0">
            <a:spAutoFit/>
          </a:bodyPr>
          <a:lstStyle/>
          <a:p>
            <a:pPr algn="l">
              <a:spcAft>
                <a:spcPts val="0"/>
              </a:spcAft>
            </a:pPr>
            <a:r>
              <a:rPr sz="4400" b="1" i="0" dirty="0">
                <a:solidFill>
                  <a:srgbClr val="FFFFFF"/>
                </a:solidFill>
                <a:latin typeface="Segoe UI"/>
              </a:rPr>
              <a:t>Salam </a:t>
            </a:r>
            <a:r>
              <a:rPr sz="4400" b="1" i="0" dirty="0" err="1">
                <a:solidFill>
                  <a:srgbClr val="FFFFFF"/>
                </a:solidFill>
                <a:latin typeface="Segoe UI"/>
              </a:rPr>
              <a:t>Kissan</a:t>
            </a:r>
            <a:r>
              <a:rPr sz="4400" b="1" i="0" dirty="0">
                <a:solidFill>
                  <a:srgbClr val="FFFFFF"/>
                </a:solidFill>
                <a:latin typeface="Segoe UI"/>
              </a:rPr>
              <a:t>.</a:t>
            </a:r>
          </a:p>
          <a:p>
            <a:pPr algn="l">
              <a:spcAft>
                <a:spcPts val="0"/>
              </a:spcAft>
            </a:pPr>
            <a:r>
              <a:rPr sz="4400" b="1" i="0" dirty="0">
                <a:solidFill>
                  <a:srgbClr val="FFFFFF"/>
                </a:solidFill>
                <a:latin typeface="Segoe UI"/>
              </a:rPr>
              <a:t>Salam, Pakistan.</a:t>
            </a:r>
          </a:p>
        </p:txBody>
      </p:sp>
      <p:sp>
        <p:nvSpPr>
          <p:cNvPr id="6" name="TextBox 5"/>
          <p:cNvSpPr txBox="1"/>
          <p:nvPr/>
        </p:nvSpPr>
        <p:spPr>
          <a:xfrm>
            <a:off x="822960" y="4526280"/>
            <a:ext cx="10424160" cy="457200"/>
          </a:xfrm>
          <a:prstGeom prst="rect">
            <a:avLst/>
          </a:prstGeom>
          <a:noFill/>
        </p:spPr>
        <p:txBody>
          <a:bodyPr wrap="square" lIns="0" tIns="0" rIns="0" bIns="0">
            <a:spAutoFit/>
          </a:bodyPr>
          <a:lstStyle/>
          <a:p>
            <a:pPr algn="l">
              <a:spcAft>
                <a:spcPts val="600"/>
              </a:spcAft>
            </a:pPr>
            <a:r>
              <a:rPr sz="1800" b="0" i="1">
                <a:solidFill>
                  <a:srgbClr val="9FB4C7"/>
                </a:solidFill>
                <a:latin typeface="Segoe UI"/>
              </a:rPr>
              <a:t>Proposed line: Pakistan salutes the farmer, and the farmer returns the greeting.</a:t>
            </a:r>
          </a:p>
        </p:txBody>
      </p:sp>
      <p:sp>
        <p:nvSpPr>
          <p:cNvPr id="7" name="TextBox 6"/>
          <p:cNvSpPr txBox="1"/>
          <p:nvPr/>
        </p:nvSpPr>
        <p:spPr>
          <a:xfrm>
            <a:off x="822960" y="5760720"/>
            <a:ext cx="10424160" cy="365760"/>
          </a:xfrm>
          <a:prstGeom prst="rect">
            <a:avLst/>
          </a:prstGeom>
          <a:noFill/>
        </p:spPr>
        <p:txBody>
          <a:bodyPr wrap="square" lIns="0" tIns="0" r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44475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22576"/>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00400"/>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078224"/>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956048"/>
            <a:ext cx="1828800" cy="365760"/>
          </a:xfrm>
          <a:prstGeom prst="rect">
            <a:avLst/>
          </a:prstGeom>
          <a:noFill/>
        </p:spPr>
        <p:txBody>
          <a:bodyPr wrap="square" lIns="0" tIns="0" r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215444"/>
          </a:xfrm>
          <a:prstGeom prst="rect">
            <a:avLst/>
          </a:prstGeom>
          <a:noFill/>
        </p:spPr>
        <p:txBody>
          <a:bodyPr wrap="square" lIns="0" tIns="0" rIns="0" bIns="0">
            <a:spAutoFit/>
          </a:bodyPr>
          <a:lstStyle/>
          <a:p>
            <a:pPr algn="l">
              <a:spcAft>
                <a:spcPts val="0"/>
              </a:spcAft>
            </a:pPr>
            <a:r>
              <a:rPr sz="1400" b="1" i="0" dirty="0">
                <a:solidFill>
                  <a:srgbClr val="102A43"/>
                </a:solidFill>
                <a:latin typeface="Segoe UI"/>
              </a:rPr>
              <a:t>Salam </a:t>
            </a:r>
            <a:r>
              <a:rPr sz="1400" b="1" i="0" dirty="0" err="1">
                <a:solidFill>
                  <a:srgbClr val="102A43"/>
                </a:solidFill>
                <a:latin typeface="Segoe UI"/>
              </a:rPr>
              <a:t>Kissan</a:t>
            </a:r>
            <a:r>
              <a:rPr sz="1400" b="1" i="0" dirty="0">
                <a:solidFill>
                  <a:srgbClr val="102A43"/>
                </a:solidFill>
                <a:latin typeface="Segoe UI"/>
              </a:rPr>
              <a:t>. Salam, Pakistan.   (proposed: the farmer returns the greeting)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LINE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Build on the name Sarsabz owns; turn the salute into a reply</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68384"/>
            <a:ext cx="10607040" cy="492443"/>
          </a:xfrm>
          <a:prstGeom prst="rect">
            <a:avLst/>
          </a:prstGeom>
          <a:noFill/>
        </p:spPr>
        <p:txBody>
          <a:bodyPr wrap="square" lIns="0" tIns="0" rIns="0" bIns="0">
            <a:spAutoFit/>
          </a:bodyPr>
          <a:lstStyle/>
          <a:p>
            <a:pPr algn="l">
              <a:spcAft>
                <a:spcPts val="0"/>
              </a:spcAft>
            </a:pPr>
            <a:r>
              <a:rPr sz="1600" b="1" i="0" dirty="0">
                <a:solidFill>
                  <a:srgbClr val="FFFFFF"/>
                </a:solidFill>
                <a:latin typeface="Segoe UI"/>
              </a:rPr>
              <a:t>Recommended: Salam </a:t>
            </a:r>
            <a:r>
              <a:rPr sz="1600" b="1" i="0" dirty="0" err="1">
                <a:solidFill>
                  <a:srgbClr val="FFFFFF"/>
                </a:solidFill>
                <a:latin typeface="Segoe UI"/>
              </a:rPr>
              <a:t>Kissan</a:t>
            </a:r>
            <a:r>
              <a:rPr sz="1600" b="1" i="0" dirty="0">
                <a:solidFill>
                  <a:srgbClr val="FFFFFF"/>
                </a:solidFill>
                <a:latin typeface="Segoe UI"/>
              </a:rPr>
              <a:t>. Salam, Pakistan. </a:t>
            </a:r>
            <a:endParaRPr lang="en-US" sz="1600" b="1" i="0" dirty="0">
              <a:solidFill>
                <a:srgbClr val="FFFFFF"/>
              </a:solidFill>
              <a:latin typeface="Segoe UI"/>
            </a:endParaRPr>
          </a:p>
          <a:p>
            <a:pPr algn="l">
              <a:spcAft>
                <a:spcPts val="0"/>
              </a:spcAft>
            </a:pPr>
            <a:r>
              <a:rPr sz="1600" b="1" i="0" dirty="0">
                <a:solidFill>
                  <a:srgbClr val="FFFFFF"/>
                </a:solidFill>
                <a:latin typeface="Segoe UI"/>
              </a:rPr>
              <a:t>Test the religious greeting with Fatima and with consumers before use.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Archive: “Kissan Tera Ehsaan, Sarsabz Pakistan!” (2021 rice testimonial description). Scan: JPL (2020) and Rizq Foods (2025) titles.</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65760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Line</a:t>
            </a:r>
          </a:p>
        </p:txBody>
      </p:sp>
      <p:sp>
        <p:nvSpPr>
          <p:cNvPr id="10" name="TextBox 9"/>
          <p:cNvSpPr txBox="1"/>
          <p:nvPr/>
        </p:nvSpPr>
        <p:spPr>
          <a:xfrm>
            <a:off x="4480559" y="1280160"/>
            <a:ext cx="70408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Trade-off</a:t>
            </a:r>
          </a:p>
        </p:txBody>
      </p:sp>
      <p:sp>
        <p:nvSpPr>
          <p:cNvPr id="11" name="TextBox 10"/>
          <p:cNvSpPr txBox="1"/>
          <p:nvPr/>
        </p:nvSpPr>
        <p:spPr>
          <a:xfrm>
            <a:off x="640080" y="1691640"/>
            <a:ext cx="3657600" cy="553998"/>
          </a:xfrm>
          <a:prstGeom prst="rect">
            <a:avLst/>
          </a:prstGeom>
          <a:noFill/>
        </p:spPr>
        <p:txBody>
          <a:bodyPr wrap="square" lIns="0" tIns="0" rIns="0" bIns="0">
            <a:spAutoFit/>
          </a:bodyPr>
          <a:lstStyle/>
          <a:p>
            <a:pPr algn="l">
              <a:spcAft>
                <a:spcPts val="0"/>
              </a:spcAft>
            </a:pPr>
            <a:r>
              <a:rPr b="0" i="0" dirty="0">
                <a:solidFill>
                  <a:srgbClr val="1A1A1A"/>
                </a:solidFill>
                <a:latin typeface="Segoe UI"/>
              </a:rPr>
              <a:t>Salam </a:t>
            </a:r>
            <a:r>
              <a:rPr b="0" i="0" dirty="0" err="1">
                <a:solidFill>
                  <a:srgbClr val="1A1A1A"/>
                </a:solidFill>
                <a:latin typeface="Segoe UI"/>
              </a:rPr>
              <a:t>Kissan</a:t>
            </a:r>
            <a:r>
              <a:rPr b="0" i="0" dirty="0">
                <a:solidFill>
                  <a:srgbClr val="1A1A1A"/>
                </a:solidFill>
                <a:latin typeface="Segoe UI"/>
              </a:rPr>
              <a:t>. Salam, Pakistan.  (recommended)</a:t>
            </a:r>
          </a:p>
        </p:txBody>
      </p:sp>
      <p:sp>
        <p:nvSpPr>
          <p:cNvPr id="12" name="TextBox 11"/>
          <p:cNvSpPr txBox="1"/>
          <p:nvPr/>
        </p:nvSpPr>
        <p:spPr>
          <a:xfrm>
            <a:off x="4480559" y="1691640"/>
            <a:ext cx="7040880" cy="553998"/>
          </a:xfrm>
          <a:prstGeom prst="rect">
            <a:avLst/>
          </a:prstGeom>
          <a:noFill/>
        </p:spPr>
        <p:txBody>
          <a:bodyPr wrap="square" lIns="0" tIns="0" rIns="0" bIns="0">
            <a:spAutoFit/>
          </a:bodyPr>
          <a:lstStyle/>
          <a:p>
            <a:pPr algn="l">
              <a:spcAft>
                <a:spcPts val="0"/>
              </a:spcAft>
            </a:pPr>
            <a:r>
              <a:rPr b="0" i="0">
                <a:solidFill>
                  <a:srgbClr val="1A1A1A"/>
                </a:solidFill>
                <a:latin typeface="Segoe UI"/>
              </a:rPr>
              <a:t>Keeps the owned name and adds the reply, which a rival can't use without saying Sarsabz's half first. Needs a sensitivity check.</a:t>
            </a:r>
          </a:p>
        </p:txBody>
      </p:sp>
      <p:sp>
        <p:nvSpPr>
          <p:cNvPr id="13" name="Rectangle 12"/>
          <p:cNvSpPr/>
          <p:nvPr/>
        </p:nvSpPr>
        <p:spPr>
          <a:xfrm>
            <a:off x="548640" y="2697480"/>
            <a:ext cx="11064240" cy="10972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40080" y="2788920"/>
            <a:ext cx="3657600" cy="276999"/>
          </a:xfrm>
          <a:prstGeom prst="rect">
            <a:avLst/>
          </a:prstGeom>
          <a:noFill/>
        </p:spPr>
        <p:txBody>
          <a:bodyPr wrap="square" lIns="0" tIns="0" rIns="0" bIns="0">
            <a:spAutoFit/>
          </a:bodyPr>
          <a:lstStyle/>
          <a:p>
            <a:pPr algn="l">
              <a:spcAft>
                <a:spcPts val="0"/>
              </a:spcAft>
            </a:pPr>
            <a:r>
              <a:rPr b="0" i="0">
                <a:solidFill>
                  <a:srgbClr val="1A1A1A"/>
                </a:solidFill>
                <a:latin typeface="Segoe UI"/>
              </a:rPr>
              <a:t>Salam Kissan  (as today)</a:t>
            </a:r>
          </a:p>
        </p:txBody>
      </p:sp>
      <p:sp>
        <p:nvSpPr>
          <p:cNvPr id="15" name="TextBox 14"/>
          <p:cNvSpPr txBox="1"/>
          <p:nvPr/>
        </p:nvSpPr>
        <p:spPr>
          <a:xfrm>
            <a:off x="4480559" y="2788920"/>
            <a:ext cx="7040880" cy="553998"/>
          </a:xfrm>
          <a:prstGeom prst="rect">
            <a:avLst/>
          </a:prstGeom>
          <a:noFill/>
        </p:spPr>
        <p:txBody>
          <a:bodyPr wrap="square" lIns="0" tIns="0" rIns="0" bIns="0">
            <a:spAutoFit/>
          </a:bodyPr>
          <a:lstStyle/>
          <a:p>
            <a:pPr algn="l">
              <a:spcAft>
                <a:spcPts val="0"/>
              </a:spcAft>
            </a:pPr>
            <a:r>
              <a:rPr b="0" i="0">
                <a:solidFill>
                  <a:srgbClr val="1A1A1A"/>
                </a:solidFill>
                <a:latin typeface="Segoe UI"/>
              </a:rPr>
              <a:t>Owned since 2019, but JPL and Rizq Foods already title their own videos with it.</a:t>
            </a:r>
          </a:p>
        </p:txBody>
      </p:sp>
      <p:sp>
        <p:nvSpPr>
          <p:cNvPr id="16" name="TextBox 15"/>
          <p:cNvSpPr txBox="1"/>
          <p:nvPr/>
        </p:nvSpPr>
        <p:spPr>
          <a:xfrm>
            <a:off x="640080" y="3886200"/>
            <a:ext cx="3657600" cy="553998"/>
          </a:xfrm>
          <a:prstGeom prst="rect">
            <a:avLst/>
          </a:prstGeom>
          <a:noFill/>
        </p:spPr>
        <p:txBody>
          <a:bodyPr wrap="square" lIns="0" tIns="0" rIns="0" bIns="0">
            <a:spAutoFit/>
          </a:bodyPr>
          <a:lstStyle/>
          <a:p>
            <a:pPr algn="l">
              <a:spcAft>
                <a:spcPts val="0"/>
              </a:spcAft>
            </a:pPr>
            <a:r>
              <a:rPr b="0" i="0">
                <a:solidFill>
                  <a:srgbClr val="1A1A1A"/>
                </a:solidFill>
                <a:latin typeface="Segoe UI"/>
              </a:rPr>
              <a:t>Kissan Tera Ehsaan, Sarsabz Pakistan!  (owned, 2021)</a:t>
            </a:r>
          </a:p>
        </p:txBody>
      </p:sp>
      <p:sp>
        <p:nvSpPr>
          <p:cNvPr id="17" name="TextBox 16"/>
          <p:cNvSpPr txBox="1"/>
          <p:nvPr/>
        </p:nvSpPr>
        <p:spPr>
          <a:xfrm>
            <a:off x="4480559" y="3886200"/>
            <a:ext cx="7040880" cy="553998"/>
          </a:xfrm>
          <a:prstGeom prst="rect">
            <a:avLst/>
          </a:prstGeom>
          <a:noFill/>
        </p:spPr>
        <p:txBody>
          <a:bodyPr wrap="square" lIns="0" tIns="0" rIns="0" bIns="0">
            <a:spAutoFit/>
          </a:bodyPr>
          <a:lstStyle/>
          <a:p>
            <a:pPr algn="l">
              <a:spcAft>
                <a:spcPts val="0"/>
              </a:spcAft>
            </a:pPr>
            <a:r>
              <a:rPr b="0" i="0">
                <a:solidFill>
                  <a:srgbClr val="1A1A1A"/>
                </a:solidFill>
                <a:latin typeface="Segoe UI"/>
              </a:rPr>
              <a:t>A thank-you with the brand name, but still one-way: the farmer is thanked, not heard.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765</TotalTime>
  <Words>3274</Words>
  <Application>Microsoft Office PowerPoint</Application>
  <PresentationFormat>Widescreen</PresentationFormat>
  <Paragraphs>250</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Muhamad.Ali</dc:creator>
  <cp:keywords/>
  <dc:description>generated using python-pptx</dc:description>
  <cp:lastModifiedBy>M. Ali</cp:lastModifiedBy>
  <cp:revision>5</cp:revision>
  <dcterms:created xsi:type="dcterms:W3CDTF">2013-01-27T09:14:16Z</dcterms:created>
  <dcterms:modified xsi:type="dcterms:W3CDTF">2026-09-16T06:54:39Z</dcterms:modified>
  <cp:category/>
</cp:coreProperties>
</file>