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56" r:id="rId7"/>
    <p:sldId id="257" r:id="rId8"/>
    <p:sldId id="258" r:id="rId9"/>
    <p:sldId id="259" r:id="rId10"/>
    <p:sldId id="260" r:id="rId11"/>
    <p:sldId id="261" r:id="rId12"/>
    <p:sldId id="262" r:id="rId13"/>
    <p:sldId id="263" r:id="rId14"/>
    <p:sldId id="264" r:id="rId15"/>
    <p:sldId id="265" r:id="rId16"/>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424160" cy="914400"/>
          </a:xfrm>
          <a:prstGeom prst="rect">
            <a:avLst/>
          </a:prstGeom>
          <a:noFill/>
        </p:spPr>
        <p:txBody>
          <a:bodyPr wrap="square" lIns="0" rIns="0" tIns="0" bIns="0">
            <a:spAutoFit/>
          </a:bodyPr>
          <a:lstStyle/>
          <a:p>
            <a:pPr algn="l">
              <a:spcAft>
                <a:spcPts val="600"/>
              </a:spcAft>
            </a:pPr>
            <a:r>
              <a:rPr sz="4800" b="1" i="0">
                <a:solidFill>
                  <a:srgbClr val="FFFFFF"/>
                </a:solidFill>
                <a:latin typeface="Segoe UI"/>
              </a:rPr>
              <a:t>Sarsabz</a:t>
            </a:r>
          </a:p>
        </p:txBody>
      </p:sp>
      <p:sp>
        <p:nvSpPr>
          <p:cNvPr id="5" name="TextBox 4"/>
          <p:cNvSpPr txBox="1"/>
          <p:nvPr/>
        </p:nvSpPr>
        <p:spPr>
          <a:xfrm>
            <a:off x="822960" y="3063240"/>
            <a:ext cx="10424160" cy="548640"/>
          </a:xfrm>
          <a:prstGeom prst="rect">
            <a:avLst/>
          </a:prstGeom>
          <a:noFill/>
        </p:spPr>
        <p:txBody>
          <a:bodyPr wrap="square" lIns="0" rIns="0" tIns="0" bIns="0">
            <a:spAutoFit/>
          </a:bodyPr>
          <a:lstStyle/>
          <a:p>
            <a:pPr algn="l">
              <a:spcAft>
                <a:spcPts val="600"/>
              </a:spcAft>
            </a:pPr>
            <a:r>
              <a:rPr sz="2200" b="0" i="0">
                <a:solidFill>
                  <a:srgbClr val="9FB4C7"/>
                </a:solidFill>
                <a:latin typeface="Segoe UI"/>
              </a:rPr>
              <a:t>Case 2  ·  Brand audit and the Big Idea</a:t>
            </a:r>
          </a:p>
        </p:txBody>
      </p:sp>
      <p:sp>
        <p:nvSpPr>
          <p:cNvPr id="6" name="TextBox 5"/>
          <p:cNvSpPr txBox="1"/>
          <p:nvPr/>
        </p:nvSpPr>
        <p:spPr>
          <a:xfrm>
            <a:off x="822960" y="3749039"/>
            <a:ext cx="10424160" cy="457200"/>
          </a:xfrm>
          <a:prstGeom prst="rect">
            <a:avLst/>
          </a:prstGeom>
          <a:noFill/>
        </p:spPr>
        <p:txBody>
          <a:bodyPr wrap="square" lIns="0" rIns="0" tIns="0" bIns="0">
            <a:spAutoFit/>
          </a:bodyPr>
          <a:lstStyle/>
          <a:p>
            <a:pPr algn="l">
              <a:spcAft>
                <a:spcPts val="600"/>
              </a:spcAft>
            </a:pPr>
            <a:r>
              <a:rPr sz="1300" b="0" i="0">
                <a:solidFill>
                  <a:srgbClr val="FFFFFF"/>
                </a:solidFill>
                <a:latin typeface="Segoe UI"/>
              </a:rPr>
              <a:t>1  What farmers say    2  How the category talks    3  The Brand Meaning Ladder    4  The Big Idea    5  The campaign</a:t>
            </a:r>
          </a:p>
        </p:txBody>
      </p:sp>
      <p:sp>
        <p:nvSpPr>
          <p:cNvPr id="7" name="TextBox 6"/>
          <p:cNvSpPr txBox="1"/>
          <p:nvPr/>
        </p:nvSpPr>
        <p:spPr>
          <a:xfrm>
            <a:off x="822960" y="5852160"/>
            <a:ext cx="10424160" cy="365760"/>
          </a:xfrm>
          <a:prstGeom prst="rect">
            <a:avLst/>
          </a:prstGeom>
          <a:noFill/>
        </p:spPr>
        <p:txBody>
          <a:bodyPr wrap="square" lIns="0" rIns="0" tIns="0" bIns="0">
            <a:spAutoFit/>
          </a:bodyPr>
          <a:lstStyle/>
          <a:p>
            <a:pPr algn="l">
              <a:spcAft>
                <a:spcPts val="600"/>
              </a:spcAft>
            </a:pPr>
            <a:r>
              <a:rPr sz="1200" b="0" i="0">
                <a:solidFill>
                  <a:srgbClr val="9FB4C7"/>
                </a:solidFill>
                <a:latin typeface="Segoe UI"/>
              </a:rPr>
              <a:t>Fatima Fertilizer creative agency pitch 2026  ·  Working draft, 15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424160" cy="822960"/>
          </a:xfrm>
          <a:prstGeom prst="rect">
            <a:avLst/>
          </a:prstGeom>
          <a:noFill/>
        </p:spPr>
        <p:txBody>
          <a:bodyPr wrap="square" lIns="0" rIns="0" tIns="0" bIns="0">
            <a:spAutoFit/>
          </a:bodyPr>
          <a:lstStyle/>
          <a:p>
            <a:pPr algn="l">
              <a:spcAft>
                <a:spcPts val="600"/>
              </a:spcAft>
            </a:pPr>
            <a:r>
              <a:rPr sz="4000" b="1" i="0">
                <a:solidFill>
                  <a:srgbClr val="FFFFFF"/>
                </a:solidFill>
                <a:latin typeface="Segoe UI"/>
              </a:rPr>
              <a:t>What farmers say</a:t>
            </a:r>
          </a:p>
        </p:txBody>
      </p:sp>
      <p:sp>
        <p:nvSpPr>
          <p:cNvPr id="5" name="TextBox 4"/>
          <p:cNvSpPr txBox="1"/>
          <p:nvPr/>
        </p:nvSpPr>
        <p:spPr>
          <a:xfrm>
            <a:off x="822960" y="3246120"/>
            <a:ext cx="10424160" cy="914400"/>
          </a:xfrm>
          <a:prstGeom prst="rect">
            <a:avLst/>
          </a:prstGeom>
          <a:noFill/>
        </p:spPr>
        <p:txBody>
          <a:bodyPr wrap="square" lIns="0" rIns="0" tIns="0" bIns="0">
            <a:spAutoFit/>
          </a:bodyPr>
          <a:lstStyle/>
          <a:p>
            <a:pPr algn="l">
              <a:spcAft>
                <a:spcPts val="400"/>
              </a:spcAft>
            </a:pPr>
            <a:r>
              <a:rPr sz="1800" b="0" i="0">
                <a:solidFill>
                  <a:srgbClr val="9FB4C7"/>
                </a:solidFill>
                <a:latin typeface="Segoe UI"/>
              </a:rPr>
              <a:t>1,433 comments on independent agronomy channels, every one read.</a:t>
            </a:r>
          </a:p>
          <a:p>
            <a:pPr algn="l">
              <a:spcAft>
                <a:spcPts val="400"/>
              </a:spcAft>
            </a:pPr>
            <a:r>
              <a:rPr sz="1800" b="0" i="0">
                <a:solidFill>
                  <a:srgbClr val="9FB4C7"/>
                </a:solidFill>
                <a:latin typeface="Segoe UI"/>
              </a:rPr>
              <a:t>The consumer pulse behind the Big Idea.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WHAT FARMERS SAY  ·  THE JOB</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farmers are trying to solve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The largest subject in the file is not whether a fertilizer works. It is how to use it without waste.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Rectangle 7"/>
          <p:cNvSpPr/>
          <p:nvPr/>
        </p:nvSpPr>
        <p:spPr>
          <a:xfrm>
            <a:off x="548640" y="1234440"/>
            <a:ext cx="45720" cy="2377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34440"/>
            <a:ext cx="5394960" cy="2011680"/>
          </a:xfrm>
          <a:prstGeom prst="rect">
            <a:avLst/>
          </a:prstGeom>
          <a:noFill/>
        </p:spPr>
        <p:txBody>
          <a:bodyPr wrap="square" lIns="0" rIns="0" tIns="0" bIns="0">
            <a:spAutoFit/>
          </a:bodyPr>
          <a:lstStyle/>
          <a:p>
            <a:pPr algn="l">
              <a:spcAft>
                <a:spcPts val="0"/>
              </a:spcAft>
            </a:pPr>
            <a:r>
              <a:rPr sz="1500" b="0" i="1">
                <a:solidFill>
                  <a:srgbClr val="1A1A1A"/>
                </a:solidFill>
                <a:latin typeface="Segoe UI"/>
              </a:rPr>
              <a:t>“Waqt kasht: 1 bag dap + enrich First pani: 1 bag nitrophas+ 1 bag zabardat urea Second pani: 1 bag nitrophas plus 1 bag can gawara+3kg sulphur Third pani: 25 kg soluble potash+ 20kg can gawara... Ye fertilizer plan kaisa ha?”</a:t>
            </a:r>
          </a:p>
        </p:txBody>
      </p:sp>
      <p:sp>
        <p:nvSpPr>
          <p:cNvPr id="10" name="TextBox 9"/>
          <p:cNvSpPr txBox="1"/>
          <p:nvPr/>
        </p:nvSpPr>
        <p:spPr>
          <a:xfrm>
            <a:off x="777240" y="3337560"/>
            <a:ext cx="5394960" cy="274320"/>
          </a:xfrm>
          <a:prstGeom prst="rect">
            <a:avLst/>
          </a:prstGeom>
          <a:noFill/>
        </p:spPr>
        <p:txBody>
          <a:bodyPr wrap="square" lIns="0" rIns="0" tIns="0" bIns="0">
            <a:spAutoFit/>
          </a:bodyPr>
          <a:lstStyle/>
          <a:p>
            <a:pPr algn="l">
              <a:spcAft>
                <a:spcPts val="0"/>
              </a:spcAft>
            </a:pPr>
            <a:r>
              <a:rPr sz="1000" b="0" i="0">
                <a:solidFill>
                  <a:srgbClr val="6B7480"/>
                </a:solidFill>
                <a:latin typeface="Segoe UI"/>
              </a:rPr>
              <a:t>District Muzaffargarh - a whole season's plan, posted for strangers to approve.</a:t>
            </a:r>
          </a:p>
        </p:txBody>
      </p:sp>
      <p:sp>
        <p:nvSpPr>
          <p:cNvPr id="11" name="TextBox 10"/>
          <p:cNvSpPr txBox="1"/>
          <p:nvPr/>
        </p:nvSpPr>
        <p:spPr>
          <a:xfrm>
            <a:off x="548640" y="4023360"/>
            <a:ext cx="5669280" cy="1463040"/>
          </a:xfrm>
          <a:prstGeom prst="rect">
            <a:avLst/>
          </a:prstGeom>
          <a:noFill/>
        </p:spPr>
        <p:txBody>
          <a:bodyPr wrap="square" lIns="0" rIns="0" tIns="0" bIns="0">
            <a:spAutoFit/>
          </a:bodyPr>
          <a:lstStyle/>
          <a:p>
            <a:pPr algn="l">
              <a:spcAft>
                <a:spcPts val="0"/>
              </a:spcAft>
            </a:pPr>
            <a:r>
              <a:rPr sz="1600" b="1" i="0">
                <a:solidFill>
                  <a:srgbClr val="102A43"/>
                </a:solidFill>
                <a:latin typeface="Segoe UI"/>
              </a:rPr>
              <a:t>The job is not choosing a brand. It is getting the combination, the timing and the method right, so nothing they paid for is wasted.</a:t>
            </a:r>
          </a:p>
        </p:txBody>
      </p:sp>
      <p:sp>
        <p:nvSpPr>
          <p:cNvPr id="12" name="TextBox 11"/>
          <p:cNvSpPr txBox="1"/>
          <p:nvPr/>
        </p:nvSpPr>
        <p:spPr>
          <a:xfrm>
            <a:off x="6675120" y="1234440"/>
            <a:ext cx="49377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THEY ASK ABOUT  ·  COMMENTS</a:t>
            </a:r>
          </a:p>
        </p:txBody>
      </p:sp>
      <p:sp>
        <p:nvSpPr>
          <p:cNvPr id="13" name="TextBox 12"/>
          <p:cNvSpPr txBox="1"/>
          <p:nvPr/>
        </p:nvSpPr>
        <p:spPr>
          <a:xfrm>
            <a:off x="6675120" y="16002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What mixes with what</a:t>
            </a:r>
          </a:p>
        </p:txBody>
      </p:sp>
      <p:sp>
        <p:nvSpPr>
          <p:cNvPr id="14" name="Rectangle 13"/>
          <p:cNvSpPr/>
          <p:nvPr/>
        </p:nvSpPr>
        <p:spPr>
          <a:xfrm>
            <a:off x="8915400" y="1645920"/>
            <a:ext cx="2103120" cy="20116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64240" y="16002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220</a:t>
            </a:r>
          </a:p>
        </p:txBody>
      </p:sp>
      <p:sp>
        <p:nvSpPr>
          <p:cNvPr id="16" name="TextBox 15"/>
          <p:cNvSpPr txBox="1"/>
          <p:nvPr/>
        </p:nvSpPr>
        <p:spPr>
          <a:xfrm>
            <a:off x="6675120" y="20574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Timing and dose</a:t>
            </a:r>
          </a:p>
        </p:txBody>
      </p:sp>
      <p:sp>
        <p:nvSpPr>
          <p:cNvPr id="17" name="Rectangle 16"/>
          <p:cNvSpPr/>
          <p:nvPr/>
        </p:nvSpPr>
        <p:spPr>
          <a:xfrm>
            <a:off x="8915400" y="2103120"/>
            <a:ext cx="1558220"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0" y="20574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163</a:t>
            </a:r>
          </a:p>
        </p:txBody>
      </p:sp>
      <p:sp>
        <p:nvSpPr>
          <p:cNvPr id="19" name="TextBox 18"/>
          <p:cNvSpPr txBox="1"/>
          <p:nvPr/>
        </p:nvSpPr>
        <p:spPr>
          <a:xfrm>
            <a:off x="6675120" y="25146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Flood or broadcast</a:t>
            </a:r>
          </a:p>
        </p:txBody>
      </p:sp>
      <p:sp>
        <p:nvSpPr>
          <p:cNvPr id="20" name="Rectangle 19"/>
          <p:cNvSpPr/>
          <p:nvPr/>
        </p:nvSpPr>
        <p:spPr>
          <a:xfrm>
            <a:off x="8915400" y="2560320"/>
            <a:ext cx="1424385"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64240" y="25146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149</a:t>
            </a:r>
          </a:p>
        </p:txBody>
      </p:sp>
      <p:sp>
        <p:nvSpPr>
          <p:cNvPr id="22" name="TextBox 21"/>
          <p:cNvSpPr txBox="1"/>
          <p:nvPr/>
        </p:nvSpPr>
        <p:spPr>
          <a:xfrm>
            <a:off x="6675120" y="29718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Which soil</a:t>
            </a:r>
          </a:p>
        </p:txBody>
      </p:sp>
      <p:sp>
        <p:nvSpPr>
          <p:cNvPr id="23" name="Rectangle 22"/>
          <p:cNvSpPr/>
          <p:nvPr/>
        </p:nvSpPr>
        <p:spPr>
          <a:xfrm>
            <a:off x="8915400" y="3017520"/>
            <a:ext cx="630936"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64240" y="29718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66</a:t>
            </a:r>
          </a:p>
        </p:txBody>
      </p:sp>
      <p:sp>
        <p:nvSpPr>
          <p:cNvPr id="25" name="TextBox 24"/>
          <p:cNvSpPr txBox="1"/>
          <p:nvPr/>
        </p:nvSpPr>
        <p:spPr>
          <a:xfrm>
            <a:off x="6675120" y="34290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Yields and results</a:t>
            </a:r>
          </a:p>
        </p:txBody>
      </p:sp>
      <p:sp>
        <p:nvSpPr>
          <p:cNvPr id="26" name="Rectangle 25"/>
          <p:cNvSpPr/>
          <p:nvPr/>
        </p:nvSpPr>
        <p:spPr>
          <a:xfrm>
            <a:off x="8915400" y="3474720"/>
            <a:ext cx="44930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064240" y="34290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47</a:t>
            </a:r>
          </a:p>
        </p:txBody>
      </p:sp>
      <p:sp>
        <p:nvSpPr>
          <p:cNvPr id="28" name="TextBox 27"/>
          <p:cNvSpPr txBox="1"/>
          <p:nvPr/>
        </p:nvSpPr>
        <p:spPr>
          <a:xfrm>
            <a:off x="6675120" y="38862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Price and cost</a:t>
            </a:r>
          </a:p>
        </p:txBody>
      </p:sp>
      <p:sp>
        <p:nvSpPr>
          <p:cNvPr id="29" name="Rectangle 28"/>
          <p:cNvSpPr/>
          <p:nvPr/>
        </p:nvSpPr>
        <p:spPr>
          <a:xfrm>
            <a:off x="8915400" y="3931920"/>
            <a:ext cx="334587"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4240" y="38862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35</a:t>
            </a:r>
          </a:p>
        </p:txBody>
      </p:sp>
      <p:sp>
        <p:nvSpPr>
          <p:cNvPr id="31" name="TextBox 30"/>
          <p:cNvSpPr txBox="1"/>
          <p:nvPr/>
        </p:nvSpPr>
        <p:spPr>
          <a:xfrm>
            <a:off x="6675120" y="43434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Advice for my region</a:t>
            </a:r>
          </a:p>
        </p:txBody>
      </p:sp>
      <p:sp>
        <p:nvSpPr>
          <p:cNvPr id="32" name="Rectangle 31"/>
          <p:cNvSpPr/>
          <p:nvPr/>
        </p:nvSpPr>
        <p:spPr>
          <a:xfrm>
            <a:off x="8915400" y="4389120"/>
            <a:ext cx="20075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64240" y="43434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21</a:t>
            </a:r>
          </a:p>
        </p:txBody>
      </p:sp>
      <p:sp>
        <p:nvSpPr>
          <p:cNvPr id="34" name="TextBox 33"/>
          <p:cNvSpPr txBox="1"/>
          <p:nvPr/>
        </p:nvSpPr>
        <p:spPr>
          <a:xfrm>
            <a:off x="6675120" y="48006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Reply to me / your number</a:t>
            </a:r>
          </a:p>
        </p:txBody>
      </p:sp>
      <p:sp>
        <p:nvSpPr>
          <p:cNvPr id="35" name="Rectangle 34"/>
          <p:cNvSpPr/>
          <p:nvPr/>
        </p:nvSpPr>
        <p:spPr>
          <a:xfrm>
            <a:off x="8915400" y="4846320"/>
            <a:ext cx="19119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64240" y="48006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20</a:t>
            </a:r>
          </a:p>
        </p:txBody>
      </p:sp>
      <p:sp>
        <p:nvSpPr>
          <p:cNvPr id="37" name="TextBox 36"/>
          <p:cNvSpPr txBox="1"/>
          <p:nvPr/>
        </p:nvSpPr>
        <p:spPr>
          <a:xfrm>
            <a:off x="6675120" y="52578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NP instead of DAP</a:t>
            </a:r>
          </a:p>
        </p:txBody>
      </p:sp>
      <p:sp>
        <p:nvSpPr>
          <p:cNvPr id="38" name="Rectangle 37"/>
          <p:cNvSpPr/>
          <p:nvPr/>
        </p:nvSpPr>
        <p:spPr>
          <a:xfrm>
            <a:off x="8915400" y="5303520"/>
            <a:ext cx="152954"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064240" y="52578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WHAT FARMERS SAY  ·  THE PAIN</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The fear is waste, not failure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Nobody questions whether NP and CAN raise yield. They ask whether mixing will waste them - and get contradictory answers, including from Fatima's own field practice.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Rectangle 7"/>
          <p:cNvSpPr/>
          <p:nvPr/>
        </p:nvSpPr>
        <p:spPr>
          <a:xfrm>
            <a:off x="548640" y="1234440"/>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234440"/>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“Zabrdast urea ma zink ha aur np ma phosphorus ha to akthy dalen gy to zink phosphorus to fix ho jay ge”</a:t>
            </a:r>
          </a:p>
        </p:txBody>
      </p:sp>
      <p:sp>
        <p:nvSpPr>
          <p:cNvPr id="10" name="TextBox 9"/>
          <p:cNvSpPr txBox="1"/>
          <p:nvPr/>
        </p:nvSpPr>
        <p:spPr>
          <a:xfrm>
            <a:off x="749808" y="2130552"/>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Zabardast has zinc, NP has phosphorus - together they lock up.</a:t>
            </a:r>
          </a:p>
        </p:txBody>
      </p:sp>
      <p:sp>
        <p:nvSpPr>
          <p:cNvPr id="11" name="Rectangle 10"/>
          <p:cNvSpPr/>
          <p:nvPr/>
        </p:nvSpPr>
        <p:spPr>
          <a:xfrm>
            <a:off x="6217920" y="1234440"/>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1234440"/>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“How many bags of Sarsabz Nitrophos give the same result as one DAP, or can it not replace DAP?”</a:t>
            </a:r>
          </a:p>
        </p:txBody>
      </p:sp>
      <p:sp>
        <p:nvSpPr>
          <p:cNvPr id="13" name="TextBox 12"/>
          <p:cNvSpPr txBox="1"/>
          <p:nvPr/>
        </p:nvSpPr>
        <p:spPr>
          <a:xfrm>
            <a:off x="6419088" y="2130552"/>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Translated from Urdu - the switching question, asked outright.</a:t>
            </a:r>
          </a:p>
        </p:txBody>
      </p:sp>
      <p:sp>
        <p:nvSpPr>
          <p:cNvPr id="14" name="Rectangle 13"/>
          <p:cNvSpPr/>
          <p:nvPr/>
        </p:nvSpPr>
        <p:spPr>
          <a:xfrm>
            <a:off x="548640" y="2715768"/>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715768"/>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“Fatima fertilizer walon ne NP+CAN+ZINC SULFATE mila ke chatta kiya hai result bhe behar hai aor aap bol rahai in ko aapus main na milaain”</a:t>
            </a:r>
          </a:p>
        </p:txBody>
      </p:sp>
      <p:sp>
        <p:nvSpPr>
          <p:cNvPr id="16" name="TextBox 15"/>
          <p:cNvSpPr txBox="1"/>
          <p:nvPr/>
        </p:nvSpPr>
        <p:spPr>
          <a:xfrm>
            <a:off x="749808" y="3611880"/>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Fatima's own field practice, against the creator the farmer is watching.</a:t>
            </a:r>
          </a:p>
        </p:txBody>
      </p:sp>
      <p:sp>
        <p:nvSpPr>
          <p:cNvPr id="17" name="Rectangle 16"/>
          <p:cNvSpPr/>
          <p:nvPr/>
        </p:nvSpPr>
        <p:spPr>
          <a:xfrm>
            <a:off x="6217920" y="2715768"/>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2715768"/>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“Can gawara say paidawar mien izafa hota hy kia”</a:t>
            </a:r>
          </a:p>
        </p:txBody>
      </p:sp>
      <p:sp>
        <p:nvSpPr>
          <p:cNvPr id="19" name="TextBox 18"/>
          <p:cNvSpPr txBox="1"/>
          <p:nvPr/>
        </p:nvSpPr>
        <p:spPr>
          <a:xfrm>
            <a:off x="6419088" y="3611880"/>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The only yield question in the file: does CAN raise yield at all?</a:t>
            </a:r>
          </a:p>
        </p:txBody>
      </p:sp>
      <p:sp>
        <p:nvSpPr>
          <p:cNvPr id="20" name="Rectangle 19"/>
          <p:cNvSpPr/>
          <p:nvPr/>
        </p:nvSpPr>
        <p:spPr>
          <a:xfrm>
            <a:off x="548640" y="4197096"/>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197096"/>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“app ne old videos me bataya hy k pehly pani pher can gawara dy do aur neche DAP khaad hota hy ,ab keh rhy ho k in dono ko mix na karo”</a:t>
            </a:r>
          </a:p>
        </p:txBody>
      </p:sp>
      <p:sp>
        <p:nvSpPr>
          <p:cNvPr id="22" name="TextBox 21"/>
          <p:cNvSpPr txBox="1"/>
          <p:nvPr/>
        </p:nvSpPr>
        <p:spPr>
          <a:xfrm>
            <a:off x="749808" y="5093208"/>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One rule in the old videos, the opposite now.</a:t>
            </a:r>
          </a:p>
        </p:txBody>
      </p:sp>
      <p:sp>
        <p:nvSpPr>
          <p:cNvPr id="23" name="Rectangle 22"/>
          <p:cNvSpPr/>
          <p:nvPr/>
        </p:nvSpPr>
        <p:spPr>
          <a:xfrm>
            <a:off x="6217920" y="4197096"/>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4197096"/>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“Medicine mafia se paise lekar video banner rehta”</a:t>
            </a:r>
          </a:p>
        </p:txBody>
      </p:sp>
      <p:sp>
        <p:nvSpPr>
          <p:cNvPr id="25" name="TextBox 24"/>
          <p:cNvSpPr txBox="1"/>
          <p:nvPr/>
        </p:nvSpPr>
        <p:spPr>
          <a:xfrm>
            <a:off x="6419088" y="5093208"/>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Farmers suspect creators take company money.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WHAT FARMERS SAY  ·  THE BRAND</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Farmers name the product, not the brand</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Sarsabz makes the products farmers discuss most, and is almost never named. Engro shows a fertilizer brand can be asked for by name.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TextBox 7"/>
          <p:cNvSpPr txBox="1"/>
          <p:nvPr/>
        </p:nvSpPr>
        <p:spPr>
          <a:xfrm>
            <a:off x="548640" y="1234440"/>
            <a:ext cx="5852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COMMENTS NAMING EACH PRODUCT OR BRAND</a:t>
            </a:r>
          </a:p>
        </p:txBody>
      </p:sp>
      <p:sp>
        <p:nvSpPr>
          <p:cNvPr id="9" name="TextBox 8"/>
          <p:cNvSpPr txBox="1"/>
          <p:nvPr/>
        </p:nvSpPr>
        <p:spPr>
          <a:xfrm>
            <a:off x="548640" y="1600200"/>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Urea</a:t>
            </a:r>
          </a:p>
        </p:txBody>
      </p:sp>
      <p:sp>
        <p:nvSpPr>
          <p:cNvPr id="10" name="Rectangle 9"/>
          <p:cNvSpPr/>
          <p:nvPr/>
        </p:nvSpPr>
        <p:spPr>
          <a:xfrm>
            <a:off x="2514600" y="1645920"/>
            <a:ext cx="3291840"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600200"/>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230</a:t>
            </a:r>
          </a:p>
        </p:txBody>
      </p:sp>
      <p:sp>
        <p:nvSpPr>
          <p:cNvPr id="12" name="TextBox 11"/>
          <p:cNvSpPr txBox="1"/>
          <p:nvPr/>
        </p:nvSpPr>
        <p:spPr>
          <a:xfrm>
            <a:off x="548640" y="2029967"/>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CAN (gawara)</a:t>
            </a:r>
          </a:p>
        </p:txBody>
      </p:sp>
      <p:sp>
        <p:nvSpPr>
          <p:cNvPr id="13" name="Rectangle 12"/>
          <p:cNvSpPr/>
          <p:nvPr/>
        </p:nvSpPr>
        <p:spPr>
          <a:xfrm>
            <a:off x="2514600" y="2075687"/>
            <a:ext cx="2762283"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0" y="2029967"/>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193</a:t>
            </a:r>
          </a:p>
        </p:txBody>
      </p:sp>
      <p:sp>
        <p:nvSpPr>
          <p:cNvPr id="15" name="TextBox 14"/>
          <p:cNvSpPr txBox="1"/>
          <p:nvPr/>
        </p:nvSpPr>
        <p:spPr>
          <a:xfrm>
            <a:off x="548640" y="2459735"/>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NP (Nitrophos)</a:t>
            </a:r>
          </a:p>
        </p:txBody>
      </p:sp>
      <p:sp>
        <p:nvSpPr>
          <p:cNvPr id="16" name="Rectangle 15"/>
          <p:cNvSpPr/>
          <p:nvPr/>
        </p:nvSpPr>
        <p:spPr>
          <a:xfrm>
            <a:off x="2514600" y="2505455"/>
            <a:ext cx="2103915"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0" y="2459735"/>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147</a:t>
            </a:r>
          </a:p>
        </p:txBody>
      </p:sp>
      <p:sp>
        <p:nvSpPr>
          <p:cNvPr id="18" name="TextBox 17"/>
          <p:cNvSpPr txBox="1"/>
          <p:nvPr/>
        </p:nvSpPr>
        <p:spPr>
          <a:xfrm>
            <a:off x="548640" y="2889503"/>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DAP</a:t>
            </a:r>
          </a:p>
        </p:txBody>
      </p:sp>
      <p:sp>
        <p:nvSpPr>
          <p:cNvPr id="19" name="Rectangle 18"/>
          <p:cNvSpPr/>
          <p:nvPr/>
        </p:nvSpPr>
        <p:spPr>
          <a:xfrm>
            <a:off x="2514600" y="2935223"/>
            <a:ext cx="1946479"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0" y="2889503"/>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136</a:t>
            </a:r>
          </a:p>
        </p:txBody>
      </p:sp>
      <p:sp>
        <p:nvSpPr>
          <p:cNvPr id="21" name="TextBox 20"/>
          <p:cNvSpPr txBox="1"/>
          <p:nvPr/>
        </p:nvSpPr>
        <p:spPr>
          <a:xfrm>
            <a:off x="548640" y="3319271"/>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Engro Zabardast</a:t>
            </a:r>
          </a:p>
        </p:txBody>
      </p:sp>
      <p:sp>
        <p:nvSpPr>
          <p:cNvPr id="22" name="Rectangle 21"/>
          <p:cNvSpPr/>
          <p:nvPr/>
        </p:nvSpPr>
        <p:spPr>
          <a:xfrm>
            <a:off x="2514600" y="3364991"/>
            <a:ext cx="1273798"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0" y="3319271"/>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89</a:t>
            </a:r>
          </a:p>
        </p:txBody>
      </p:sp>
      <p:sp>
        <p:nvSpPr>
          <p:cNvPr id="24" name="TextBox 23"/>
          <p:cNvSpPr txBox="1"/>
          <p:nvPr/>
        </p:nvSpPr>
        <p:spPr>
          <a:xfrm>
            <a:off x="548640" y="3749039"/>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FFC Sona</a:t>
            </a:r>
          </a:p>
        </p:txBody>
      </p:sp>
      <p:sp>
        <p:nvSpPr>
          <p:cNvPr id="25" name="Rectangle 24"/>
          <p:cNvSpPr/>
          <p:nvPr/>
        </p:nvSpPr>
        <p:spPr>
          <a:xfrm>
            <a:off x="2514600" y="3794759"/>
            <a:ext cx="286246"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0" y="3749039"/>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20</a:t>
            </a:r>
          </a:p>
        </p:txBody>
      </p:sp>
      <p:sp>
        <p:nvSpPr>
          <p:cNvPr id="27" name="TextBox 26"/>
          <p:cNvSpPr txBox="1"/>
          <p:nvPr/>
        </p:nvSpPr>
        <p:spPr>
          <a:xfrm>
            <a:off x="548640" y="4178807"/>
            <a:ext cx="1920240" cy="274320"/>
          </a:xfrm>
          <a:prstGeom prst="rect">
            <a:avLst/>
          </a:prstGeom>
          <a:noFill/>
        </p:spPr>
        <p:txBody>
          <a:bodyPr wrap="square" lIns="0" rIns="0" tIns="0" bIns="0">
            <a:spAutoFit/>
          </a:bodyPr>
          <a:lstStyle/>
          <a:p>
            <a:pPr algn="l">
              <a:spcAft>
                <a:spcPts val="0"/>
              </a:spcAft>
            </a:pPr>
            <a:r>
              <a:rPr sz="1100" b="1" i="0">
                <a:solidFill>
                  <a:srgbClr val="C8102E"/>
                </a:solidFill>
                <a:latin typeface="Segoe UI"/>
              </a:rPr>
              <a:t>Sarsabz</a:t>
            </a:r>
          </a:p>
        </p:txBody>
      </p:sp>
      <p:sp>
        <p:nvSpPr>
          <p:cNvPr id="28" name="Rectangle 27"/>
          <p:cNvSpPr/>
          <p:nvPr/>
        </p:nvSpPr>
        <p:spPr>
          <a:xfrm>
            <a:off x="2514600" y="4224527"/>
            <a:ext cx="214685" cy="2194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60" y="4178807"/>
            <a:ext cx="548640" cy="274320"/>
          </a:xfrm>
          <a:prstGeom prst="rect">
            <a:avLst/>
          </a:prstGeom>
          <a:noFill/>
        </p:spPr>
        <p:txBody>
          <a:bodyPr wrap="square" lIns="0" rIns="0" tIns="0" bIns="0">
            <a:spAutoFit/>
          </a:bodyPr>
          <a:lstStyle/>
          <a:p>
            <a:pPr algn="r">
              <a:spcAft>
                <a:spcPts val="0"/>
              </a:spcAft>
            </a:pPr>
            <a:r>
              <a:rPr sz="1100" b="1" i="0">
                <a:solidFill>
                  <a:srgbClr val="C8102E"/>
                </a:solidFill>
                <a:latin typeface="Segoe UI"/>
              </a:rPr>
              <a:t>15</a:t>
            </a:r>
          </a:p>
        </p:txBody>
      </p:sp>
      <p:sp>
        <p:nvSpPr>
          <p:cNvPr id="30" name="TextBox 29"/>
          <p:cNvSpPr txBox="1"/>
          <p:nvPr/>
        </p:nvSpPr>
        <p:spPr>
          <a:xfrm>
            <a:off x="548640" y="4608575"/>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Fatima</a:t>
            </a:r>
          </a:p>
        </p:txBody>
      </p:sp>
      <p:sp>
        <p:nvSpPr>
          <p:cNvPr id="31" name="Rectangle 30"/>
          <p:cNvSpPr/>
          <p:nvPr/>
        </p:nvSpPr>
        <p:spPr>
          <a:xfrm>
            <a:off x="2514600" y="4654295"/>
            <a:ext cx="57249"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4608575"/>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4</a:t>
            </a:r>
          </a:p>
        </p:txBody>
      </p:sp>
      <p:sp>
        <p:nvSpPr>
          <p:cNvPr id="33" name="TextBox 32"/>
          <p:cNvSpPr txBox="1"/>
          <p:nvPr/>
        </p:nvSpPr>
        <p:spPr>
          <a:xfrm>
            <a:off x="548640" y="5038343"/>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Pak Arab</a:t>
            </a:r>
          </a:p>
        </p:txBody>
      </p:sp>
      <p:sp>
        <p:nvSpPr>
          <p:cNvPr id="34" name="Rectangle 33"/>
          <p:cNvSpPr/>
          <p:nvPr/>
        </p:nvSpPr>
        <p:spPr>
          <a:xfrm>
            <a:off x="2514600" y="5084063"/>
            <a:ext cx="45720"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52160" y="5038343"/>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2</a:t>
            </a:r>
          </a:p>
        </p:txBody>
      </p:sp>
      <p:sp>
        <p:nvSpPr>
          <p:cNvPr id="36" name="TextBox 35"/>
          <p:cNvSpPr txBox="1"/>
          <p:nvPr/>
        </p:nvSpPr>
        <p:spPr>
          <a:xfrm>
            <a:off x="548640" y="5486400"/>
            <a:ext cx="5852160" cy="274320"/>
          </a:xfrm>
          <a:prstGeom prst="rect">
            <a:avLst/>
          </a:prstGeom>
          <a:noFill/>
        </p:spPr>
        <p:txBody>
          <a:bodyPr wrap="square" lIns="0" rIns="0" tIns="0" bIns="0">
            <a:spAutoFit/>
          </a:bodyPr>
          <a:lstStyle/>
          <a:p>
            <a:pPr algn="l">
              <a:spcAft>
                <a:spcPts val="0"/>
              </a:spcAft>
            </a:pPr>
            <a:r>
              <a:rPr sz="900" b="0" i="0">
                <a:solidFill>
                  <a:srgbClr val="6B7480"/>
                </a:solidFill>
                <a:latin typeface="Segoe UI"/>
              </a:rPr>
              <a:t>Grey = products  ·  Navy = brands  ·  Red = Sarsabz</a:t>
            </a:r>
          </a:p>
        </p:txBody>
      </p:sp>
      <p:sp>
        <p:nvSpPr>
          <p:cNvPr id="37" name="Rectangle 36"/>
          <p:cNvSpPr/>
          <p:nvPr/>
        </p:nvSpPr>
        <p:spPr>
          <a:xfrm>
            <a:off x="6766560" y="1234440"/>
            <a:ext cx="484632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95160" y="1417320"/>
            <a:ext cx="43891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IT MEANS</a:t>
            </a:r>
          </a:p>
        </p:txBody>
      </p:sp>
      <p:sp>
        <p:nvSpPr>
          <p:cNvPr id="39" name="TextBox 38"/>
          <p:cNvSpPr txBox="1"/>
          <p:nvPr/>
        </p:nvSpPr>
        <p:spPr>
          <a:xfrm>
            <a:off x="6995160" y="1783080"/>
            <a:ext cx="4389120" cy="1463040"/>
          </a:xfrm>
          <a:prstGeom prst="rect">
            <a:avLst/>
          </a:prstGeom>
          <a:noFill/>
        </p:spPr>
        <p:txBody>
          <a:bodyPr wrap="square" lIns="0" rIns="0" tIns="0" bIns="0">
            <a:spAutoFit/>
          </a:bodyPr>
          <a:lstStyle/>
          <a:p>
            <a:pPr algn="l">
              <a:spcAft>
                <a:spcPts val="800"/>
              </a:spcAft>
            </a:pPr>
            <a:r>
              <a:rPr sz="1200" b="0" i="0">
                <a:solidFill>
                  <a:srgbClr val="1A1A1A"/>
                </a:solidFill>
                <a:latin typeface="Segoe UI"/>
              </a:rPr>
              <a:t>CAN 193 and NP 147 mentions - Sarsabz 15. Farmers buy Fatima's products as generics.</a:t>
            </a:r>
          </a:p>
          <a:p>
            <a:pPr algn="l">
              <a:spcAft>
                <a:spcPts val="800"/>
              </a:spcAft>
            </a:pPr>
            <a:r>
              <a:rPr sz="1200" b="0" i="0">
                <a:solidFill>
                  <a:srgbClr val="1A1A1A"/>
                </a:solidFill>
                <a:latin typeface="Segoe UI"/>
              </a:rPr>
              <a:t>Engro Zabardast (89) is the only fertilizer brand named routinely - and people explain it:</a:t>
            </a:r>
          </a:p>
        </p:txBody>
      </p:sp>
      <p:sp>
        <p:nvSpPr>
          <p:cNvPr id="40" name="TextBox 39"/>
          <p:cNvSpPr txBox="1"/>
          <p:nvPr/>
        </p:nvSpPr>
        <p:spPr>
          <a:xfrm>
            <a:off x="6995160" y="3246120"/>
            <a:ext cx="4389120" cy="548640"/>
          </a:xfrm>
          <a:prstGeom prst="rect">
            <a:avLst/>
          </a:prstGeom>
          <a:noFill/>
        </p:spPr>
        <p:txBody>
          <a:bodyPr wrap="square" lIns="0" rIns="0" tIns="0" bIns="0">
            <a:spAutoFit/>
          </a:bodyPr>
          <a:lstStyle/>
          <a:p>
            <a:pPr algn="l">
              <a:spcAft>
                <a:spcPts val="0"/>
              </a:spcAft>
            </a:pPr>
            <a:r>
              <a:rPr sz="1100" b="0" i="1">
                <a:solidFill>
                  <a:srgbClr val="1A1A1A"/>
                </a:solidFill>
                <a:latin typeface="Segoe UI"/>
              </a:rPr>
              <a:t>“Zabardast Urea me mojood zinc bio active form me hoti hai”</a:t>
            </a:r>
          </a:p>
        </p:txBody>
      </p:sp>
      <p:sp>
        <p:nvSpPr>
          <p:cNvPr id="41" name="Rectangle 40"/>
          <p:cNvSpPr/>
          <p:nvPr/>
        </p:nvSpPr>
        <p:spPr>
          <a:xfrm>
            <a:off x="6995160" y="3977639"/>
            <a:ext cx="41148" cy="9144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78040" y="3977639"/>
            <a:ext cx="4206240" cy="548640"/>
          </a:xfrm>
          <a:prstGeom prst="rect">
            <a:avLst/>
          </a:prstGeom>
          <a:noFill/>
        </p:spPr>
        <p:txBody>
          <a:bodyPr wrap="square" lIns="0" rIns="0" tIns="0" bIns="0">
            <a:spAutoFit/>
          </a:bodyPr>
          <a:lstStyle/>
          <a:p>
            <a:pPr algn="l">
              <a:spcAft>
                <a:spcPts val="0"/>
              </a:spcAft>
            </a:pPr>
            <a:r>
              <a:rPr sz="1100" b="0" i="1">
                <a:solidFill>
                  <a:srgbClr val="1A1A1A"/>
                </a:solidFill>
                <a:latin typeface="Segoe UI"/>
              </a:rPr>
              <a:t>“fawara khad kis company ki achi ha SAR sbz ya Fatima wali”</a:t>
            </a:r>
          </a:p>
        </p:txBody>
      </p:sp>
      <p:sp>
        <p:nvSpPr>
          <p:cNvPr id="43" name="TextBox 42"/>
          <p:cNvSpPr txBox="1"/>
          <p:nvPr/>
        </p:nvSpPr>
        <p:spPr>
          <a:xfrm>
            <a:off x="7178040" y="4526280"/>
            <a:ext cx="4206240" cy="457200"/>
          </a:xfrm>
          <a:prstGeom prst="rect">
            <a:avLst/>
          </a:prstGeom>
          <a:noFill/>
        </p:spPr>
        <p:txBody>
          <a:bodyPr wrap="square" lIns="0" rIns="0" tIns="0" bIns="0">
            <a:spAutoFit/>
          </a:bodyPr>
          <a:lstStyle/>
          <a:p>
            <a:pPr algn="l">
              <a:spcAft>
                <a:spcPts val="0"/>
              </a:spcAft>
            </a:pPr>
            <a:r>
              <a:rPr sz="950" b="0" i="0">
                <a:solidFill>
                  <a:srgbClr val="6B7480"/>
                </a:solidFill>
                <a:latin typeface="Segoe UI"/>
              </a:rPr>
              <a:t>Which is better - Sarsabz or the Fatima one? They are the same company.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WHAT FARMERS SAY  ·  WHAT THEY SEEK</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farmers want, and what it means for Sarsabz</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Everything farmers seek is proof and instruction. None of it is a salute.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TextBox 7"/>
          <p:cNvSpPr txBox="1"/>
          <p:nvPr/>
        </p:nvSpPr>
        <p:spPr>
          <a:xfrm>
            <a:off x="548640" y="1188720"/>
            <a:ext cx="42062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FARMERS SEEK</a:t>
            </a:r>
          </a:p>
        </p:txBody>
      </p:sp>
      <p:sp>
        <p:nvSpPr>
          <p:cNvPr id="9" name="TextBox 8"/>
          <p:cNvSpPr txBox="1"/>
          <p:nvPr/>
        </p:nvSpPr>
        <p:spPr>
          <a:xfrm>
            <a:off x="5029200" y="118872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IT MEANS FOR SARSABZ</a:t>
            </a:r>
          </a:p>
        </p:txBody>
      </p:sp>
      <p:sp>
        <p:nvSpPr>
          <p:cNvPr id="10" name="Rectangle 9"/>
          <p:cNvSpPr/>
          <p:nvPr/>
        </p:nvSpPr>
        <p:spPr>
          <a:xfrm>
            <a:off x="548640" y="1463039"/>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581912"/>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A straight answer on what mixes with what</a:t>
            </a:r>
          </a:p>
        </p:txBody>
      </p:sp>
      <p:sp>
        <p:nvSpPr>
          <p:cNvPr id="12" name="TextBox 11"/>
          <p:cNvSpPr txBox="1"/>
          <p:nvPr/>
        </p:nvSpPr>
        <p:spPr>
          <a:xfrm>
            <a:off x="5029200" y="1581912"/>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One NP and CAN compatibility and timing guide, signed by the maker - today field staff and creators contradict each other.</a:t>
            </a:r>
          </a:p>
        </p:txBody>
      </p:sp>
      <p:sp>
        <p:nvSpPr>
          <p:cNvPr id="13" name="TextBox 12"/>
          <p:cNvSpPr txBox="1"/>
          <p:nvPr/>
        </p:nvSpPr>
        <p:spPr>
          <a:xfrm>
            <a:off x="685800" y="2404872"/>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A plan for their own soil, crop and district</a:t>
            </a:r>
          </a:p>
        </p:txBody>
      </p:sp>
      <p:sp>
        <p:nvSpPr>
          <p:cNvPr id="14" name="TextBox 13"/>
          <p:cNvSpPr txBox="1"/>
          <p:nvPr/>
        </p:nvSpPr>
        <p:spPr>
          <a:xfrm>
            <a:off x="5029200" y="2404872"/>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Proof and advice by soil and region. A national claim does not answer 'my land is sandy'.</a:t>
            </a:r>
          </a:p>
        </p:txBody>
      </p:sp>
      <p:sp>
        <p:nvSpPr>
          <p:cNvPr id="15" name="Rectangle 14"/>
          <p:cNvSpPr/>
          <p:nvPr/>
        </p:nvSpPr>
        <p:spPr>
          <a:xfrm>
            <a:off x="548640" y="310896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27832"/>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Evidence, not opinion (translated: 'is there any written proof?')</a:t>
            </a:r>
          </a:p>
        </p:txBody>
      </p:sp>
      <p:sp>
        <p:nvSpPr>
          <p:cNvPr id="17" name="TextBox 16"/>
          <p:cNvSpPr txBox="1"/>
          <p:nvPr/>
        </p:nvSpPr>
        <p:spPr>
          <a:xfrm>
            <a:off x="5029200" y="3227832"/>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Farmers ask for proof unprompted. Sarsabz holds 500+ demo plots and shows none on screen.</a:t>
            </a:r>
          </a:p>
        </p:txBody>
      </p:sp>
      <p:sp>
        <p:nvSpPr>
          <p:cNvPr id="18" name="TextBox 17"/>
          <p:cNvSpPr txBox="1"/>
          <p:nvPr/>
        </p:nvSpPr>
        <p:spPr>
          <a:xfrm>
            <a:off x="685800" y="4050791"/>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Someone who replies</a:t>
            </a:r>
          </a:p>
        </p:txBody>
      </p:sp>
      <p:sp>
        <p:nvSpPr>
          <p:cNvPr id="19" name="TextBox 18"/>
          <p:cNvSpPr txBox="1"/>
          <p:nvPr/>
        </p:nvSpPr>
        <p:spPr>
          <a:xfrm>
            <a:off x="5029200" y="4050791"/>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Farmers ask creators for replies and WhatsApp numbers - an audience waiting for the Sarsabz Pakistan App.</a:t>
            </a:r>
          </a:p>
        </p:txBody>
      </p:sp>
      <p:sp>
        <p:nvSpPr>
          <p:cNvPr id="20" name="Rectangle 19"/>
          <p:cNvSpPr/>
          <p:nvPr/>
        </p:nvSpPr>
        <p:spPr>
          <a:xfrm>
            <a:off x="548640" y="475488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873752"/>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Advice that is not paid for</a:t>
            </a:r>
          </a:p>
        </p:txBody>
      </p:sp>
      <p:sp>
        <p:nvSpPr>
          <p:cNvPr id="22" name="TextBox 21"/>
          <p:cNvSpPr txBox="1"/>
          <p:nvPr/>
        </p:nvSpPr>
        <p:spPr>
          <a:xfrm>
            <a:off x="5029200" y="4873752"/>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Sponsored creator content starts with a credibility deficit: disclose every partnership and attach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424160" cy="1280160"/>
          </a:xfrm>
          <a:prstGeom prst="rect">
            <a:avLst/>
          </a:prstGeom>
          <a:noFill/>
        </p:spPr>
        <p:txBody>
          <a:bodyPr wrap="square" lIns="0" rIns="0" tIns="0" bIns="0">
            <a:spAutoFit/>
          </a:bodyPr>
          <a:lstStyle/>
          <a:p>
            <a:pPr algn="l">
              <a:spcAft>
                <a:spcPts val="600"/>
              </a:spcAft>
            </a:pPr>
            <a:r>
              <a:rPr sz="3800" b="1">
                <a:solidFill>
                  <a:srgbClr val="FFFFFF"/>
                </a:solidFill>
                <a:latin typeface="Segoe UI"/>
              </a:rPr>
              <a:t>How the category talks</a:t>
            </a:r>
          </a:p>
        </p:txBody>
      </p:sp>
      <p:sp>
        <p:nvSpPr>
          <p:cNvPr id="4" name="TextBox 3"/>
          <p:cNvSpPr txBox="1"/>
          <p:nvPr/>
        </p:nvSpPr>
        <p:spPr>
          <a:xfrm>
            <a:off x="822960" y="3200400"/>
            <a:ext cx="10424160" cy="548640"/>
          </a:xfrm>
          <a:prstGeom prst="rect">
            <a:avLst/>
          </a:prstGeom>
          <a:noFill/>
        </p:spPr>
        <p:txBody>
          <a:bodyPr wrap="square" lIns="0" rIns="0" tIns="0" bIns="0">
            <a:spAutoFit/>
          </a:bodyPr>
          <a:lstStyle/>
          <a:p>
            <a:pPr algn="l">
              <a:spcAft>
                <a:spcPts val="600"/>
              </a:spcAft>
            </a:pPr>
            <a:r>
              <a:rPr sz="1900" b="0">
                <a:solidFill>
                  <a:srgbClr val="9FB4C7"/>
                </a:solidFill>
                <a:latin typeface="Segoe UI"/>
              </a:rPr>
              <a:t>A brand-by-brand communications scan</a:t>
            </a:r>
          </a:p>
        </p:txBody>
      </p:sp>
      <p:sp>
        <p:nvSpPr>
          <p:cNvPr id="5" name="TextBox 4"/>
          <p:cNvSpPr txBox="1"/>
          <p:nvPr/>
        </p:nvSpPr>
        <p:spPr>
          <a:xfrm>
            <a:off x="822960" y="5120640"/>
            <a:ext cx="10424160" cy="914400"/>
          </a:xfrm>
          <a:prstGeom prst="rect">
            <a:avLst/>
          </a:prstGeom>
          <a:noFill/>
        </p:spPr>
        <p:txBody>
          <a:bodyPr wrap="square" lIns="0" rIns="0" tIns="0" bIns="0">
            <a:spAutoFit/>
          </a:bodyPr>
          <a:lstStyle/>
          <a:p>
            <a:pPr algn="l">
              <a:spcAft>
                <a:spcPts val="600"/>
              </a:spcAft>
            </a:pPr>
            <a:r>
              <a:rPr sz="1300" b="0">
                <a:solidFill>
                  <a:srgbClr val="9FB4C7"/>
                </a:solidFill>
                <a:latin typeface="Segoe UI"/>
              </a:rPr>
              <a:t>200 posts  ·  2 brands  ·  collected 2026-09-15</a:t>
            </a:r>
          </a:p>
          <a:p>
            <a:pPr algn="l">
              <a:spcAft>
                <a:spcPts val="600"/>
              </a:spcAft>
            </a:pPr>
            <a:r>
              <a:rPr sz="1300" b="0">
                <a:solidFill>
                  <a:srgbClr val="9FB4C7"/>
                </a:solidFill>
                <a:latin typeface="Segoe UI"/>
              </a:rPr>
              <a:t>Sarsabz - Case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What we looked at</a:t>
            </a:r>
          </a:p>
        </p:txBody>
      </p:sp>
      <p:sp>
        <p:nvSpPr>
          <p:cNvPr id="4" name="TextBox 3"/>
          <p:cNvSpPr txBox="1"/>
          <p:nvPr/>
        </p:nvSpPr>
        <p:spPr>
          <a:xfrm>
            <a:off x="548640" y="1280160"/>
            <a:ext cx="5394960" cy="3657600"/>
          </a:xfrm>
          <a:prstGeom prst="rect">
            <a:avLst/>
          </a:prstGeom>
          <a:noFill/>
        </p:spPr>
        <p:txBody>
          <a:bodyPr wrap="square" lIns="0" rIns="0" tIns="0" bIns="0">
            <a:spAutoFit/>
          </a:bodyPr>
          <a:lstStyle/>
          <a:p>
            <a:pPr algn="l">
              <a:spcAft>
                <a:spcPts val="1000"/>
              </a:spcAft>
            </a:pPr>
            <a:r>
              <a:rPr sz="1300" b="0">
                <a:solidFill>
                  <a:srgbClr val="1A1A1A"/>
                </a:solidFill>
                <a:latin typeface="Segoe UI"/>
              </a:rPr>
              <a:t>Every YouTube upload from Sarsabz and Engro Fertilizers between 15 Sep 2024 and 15 Sep 2026 - 200 in all.</a:t>
            </a:r>
          </a:p>
          <a:p>
            <a:pPr algn="l">
              <a:spcAft>
                <a:spcPts val="1000"/>
              </a:spcAft>
            </a:pPr>
            <a:r>
              <a:rPr sz="1300" b="0">
                <a:solidFill>
                  <a:srgbClr val="1A1A1A"/>
                </a:solidFill>
                <a:latin typeface="Segoe UI"/>
              </a:rPr>
              <a:t>Coded on a fixed nine-dimension schema from each thumbnail, title and description. Videos were not watched end to end.</a:t>
            </a:r>
          </a:p>
          <a:p>
            <a:pPr algn="l">
              <a:spcAft>
                <a:spcPts val="1000"/>
              </a:spcAft>
            </a:pPr>
            <a:r>
              <a:rPr sz="1300" b="0">
                <a:solidFill>
                  <a:srgbClr val="1A1A1A"/>
                </a:solidFill>
                <a:latin typeface="Segoe UI"/>
              </a:rPr>
              <a:t>Contact sheets show each brand's 25 most-viewed uploads - where it put its media weight.</a:t>
            </a:r>
          </a:p>
          <a:p>
            <a:pPr algn="l">
              <a:spcAft>
                <a:spcPts val="1000"/>
              </a:spcAft>
            </a:pPr>
            <a:r>
              <a:rPr sz="1300" b="0">
                <a:solidFill>
                  <a:srgbClr val="1A1A1A"/>
                </a:solidFill>
                <a:latin typeface="Segoe UI"/>
              </a:rPr>
              <a:t>FFC Sona, Bubber Sher and Agritech have no official channel. Recorded as absences, not gaps.</a:t>
            </a:r>
          </a:p>
        </p:txBody>
      </p:sp>
      <p:sp>
        <p:nvSpPr>
          <p:cNvPr id="5" name="Rectangle 4"/>
          <p:cNvSpPr/>
          <p:nvPr/>
        </p:nvSpPr>
        <p:spPr>
          <a:xfrm>
            <a:off x="6309360" y="1280160"/>
            <a:ext cx="530352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554480"/>
            <a:ext cx="5303520" cy="2743200"/>
          </a:xfrm>
          <a:prstGeom prst="rect">
            <a:avLst/>
          </a:prstGeom>
          <a:noFill/>
        </p:spPr>
        <p:txBody>
          <a:bodyPr wrap="square" lIns="0" rIns="0" tIns="0" bIns="0">
            <a:spAutoFit/>
          </a:bodyPr>
          <a:lstStyle/>
          <a:p>
            <a:pPr algn="l">
              <a:spcAft>
                <a:spcPts val="1000"/>
              </a:spcAft>
            </a:pPr>
            <a:r>
              <a:rPr sz="1300" b="1">
                <a:solidFill>
                  <a:srgbClr val="1A1A1A"/>
                </a:solidFill>
                <a:latin typeface="Segoe UI"/>
              </a:rPr>
              <a:t>A limit worth stating first</a:t>
            </a:r>
          </a:p>
          <a:p>
            <a:pPr algn="l">
              <a:spcAft>
                <a:spcPts val="1000"/>
              </a:spcAft>
            </a:pPr>
            <a:r>
              <a:rPr sz="1300" b="0">
                <a:solidFill>
                  <a:srgbClr val="1A1A1A"/>
                </a:solidFill>
                <a:latin typeface="Segoe UI"/>
              </a:rPr>
              <a:t>View counts on brand channels are mostly bought. They show where each brand spends - never share of voice or organic interest.</a:t>
            </a:r>
          </a:p>
          <a:p>
            <a:pPr algn="l">
              <a:spcAft>
                <a:spcPts val="1000"/>
              </a:spcAft>
            </a:pPr>
            <a:r>
              <a:rPr sz="1300" b="0">
                <a:solidFill>
                  <a:srgbClr val="1A1A1A"/>
                </a:solidFill>
                <a:latin typeface="Segoe UI"/>
              </a:rPr>
              <a:t>Owned YouTube only. Paid TV, press and Facebook ads are not captured; the Meta Ad Library is the next source.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How the category talks</a:t>
            </a:r>
          </a:p>
        </p:txBody>
      </p:sp>
      <p:sp>
        <p:nvSpPr>
          <p:cNvPr id="4" name="Rectangle 3"/>
          <p:cNvSpPr/>
          <p:nvPr/>
        </p:nvSpPr>
        <p:spPr>
          <a:xfrm>
            <a:off x="548640"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2697480" cy="822960"/>
          </a:xfrm>
          <a:prstGeom prst="rect">
            <a:avLst/>
          </a:prstGeom>
          <a:noFill/>
        </p:spPr>
        <p:txBody>
          <a:bodyPr wrap="square" lIns="0" rIns="0" tIns="0" bIns="0">
            <a:spAutoFit/>
          </a:bodyPr>
          <a:lstStyle/>
          <a:p>
            <a:pPr algn="l">
              <a:spcAft>
                <a:spcPts val="600"/>
              </a:spcAft>
            </a:pPr>
            <a:r>
              <a:rPr sz="4000" b="1">
                <a:solidFill>
                  <a:srgbClr val="102A43"/>
                </a:solidFill>
                <a:latin typeface="Segoe UI"/>
              </a:rPr>
              <a:t>45%</a:t>
            </a:r>
          </a:p>
        </p:txBody>
      </p:sp>
      <p:sp>
        <p:nvSpPr>
          <p:cNvPr id="6" name="TextBox 5"/>
          <p:cNvSpPr txBox="1"/>
          <p:nvPr/>
        </p:nvSpPr>
        <p:spPr>
          <a:xfrm>
            <a:off x="548640" y="2514600"/>
            <a:ext cx="2697480" cy="640080"/>
          </a:xfrm>
          <a:prstGeom prst="rect">
            <a:avLst/>
          </a:prstGeom>
          <a:noFill/>
        </p:spPr>
        <p:txBody>
          <a:bodyPr wrap="square" lIns="0" rIns="0" tIns="0" bIns="0">
            <a:spAutoFit/>
          </a:bodyPr>
          <a:lstStyle/>
          <a:p>
            <a:pPr algn="l">
              <a:spcAft>
                <a:spcPts val="600"/>
              </a:spcAft>
            </a:pPr>
            <a:r>
              <a:rPr sz="1300" b="1">
                <a:solidFill>
                  <a:srgbClr val="1A1A1A"/>
                </a:solidFill>
                <a:latin typeface="Segoe UI"/>
              </a:rPr>
              <a:t>of ads prove nothing</a:t>
            </a:r>
          </a:p>
        </p:txBody>
      </p:sp>
      <p:sp>
        <p:nvSpPr>
          <p:cNvPr id="7" name="TextBox 6"/>
          <p:cNvSpPr txBox="1"/>
          <p:nvPr/>
        </p:nvSpPr>
        <p:spPr>
          <a:xfrm>
            <a:off x="548640" y="3200400"/>
            <a:ext cx="2697480" cy="1188720"/>
          </a:xfrm>
          <a:prstGeom prst="rect">
            <a:avLst/>
          </a:prstGeom>
          <a:noFill/>
        </p:spPr>
        <p:txBody>
          <a:bodyPr wrap="square" lIns="0" rIns="0" tIns="0" bIns="0">
            <a:spAutoFit/>
          </a:bodyPr>
          <a:lstStyle/>
          <a:p>
            <a:pPr algn="l">
              <a:spcAft>
                <a:spcPts val="600"/>
              </a:spcAft>
            </a:pPr>
            <a:r>
              <a:rPr sz="1100" b="0">
                <a:solidFill>
                  <a:srgbClr val="6B7480"/>
                </a:solidFill>
                <a:latin typeface="Segoe UI"/>
              </a:rPr>
              <a:t>90 of 200. No statistic, rating, testimonial or guarantee.</a:t>
            </a:r>
          </a:p>
        </p:txBody>
      </p:sp>
      <p:sp>
        <p:nvSpPr>
          <p:cNvPr id="8" name="Rectangle 7"/>
          <p:cNvSpPr/>
          <p:nvPr/>
        </p:nvSpPr>
        <p:spPr>
          <a:xfrm>
            <a:off x="3401568"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01568" y="1645920"/>
            <a:ext cx="2697480" cy="822960"/>
          </a:xfrm>
          <a:prstGeom prst="rect">
            <a:avLst/>
          </a:prstGeom>
          <a:noFill/>
        </p:spPr>
        <p:txBody>
          <a:bodyPr wrap="square" lIns="0" rIns="0" tIns="0" bIns="0">
            <a:spAutoFit/>
          </a:bodyPr>
          <a:lstStyle/>
          <a:p>
            <a:pPr algn="l">
              <a:spcAft>
                <a:spcPts val="600"/>
              </a:spcAft>
            </a:pPr>
            <a:r>
              <a:rPr sz="4000" b="1">
                <a:solidFill>
                  <a:srgbClr val="102A43"/>
                </a:solidFill>
                <a:latin typeface="Segoe UI"/>
              </a:rPr>
              <a:t>5%</a:t>
            </a:r>
          </a:p>
        </p:txBody>
      </p:sp>
      <p:sp>
        <p:nvSpPr>
          <p:cNvPr id="10" name="TextBox 9"/>
          <p:cNvSpPr txBox="1"/>
          <p:nvPr/>
        </p:nvSpPr>
        <p:spPr>
          <a:xfrm>
            <a:off x="3401568" y="2514600"/>
            <a:ext cx="2697480" cy="640080"/>
          </a:xfrm>
          <a:prstGeom prst="rect">
            <a:avLst/>
          </a:prstGeom>
          <a:noFill/>
        </p:spPr>
        <p:txBody>
          <a:bodyPr wrap="square" lIns="0" rIns="0" tIns="0" bIns="0">
            <a:spAutoFit/>
          </a:bodyPr>
          <a:lstStyle/>
          <a:p>
            <a:pPr algn="l">
              <a:spcAft>
                <a:spcPts val="600"/>
              </a:spcAft>
            </a:pPr>
            <a:r>
              <a:rPr sz="1300" b="1">
                <a:solidFill>
                  <a:srgbClr val="1A1A1A"/>
                </a:solidFill>
                <a:latin typeface="Segoe UI"/>
              </a:rPr>
              <a:t>is brand-building</a:t>
            </a:r>
          </a:p>
        </p:txBody>
      </p:sp>
      <p:sp>
        <p:nvSpPr>
          <p:cNvPr id="11" name="TextBox 10"/>
          <p:cNvSpPr txBox="1"/>
          <p:nvPr/>
        </p:nvSpPr>
        <p:spPr>
          <a:xfrm>
            <a:off x="3401568" y="3200400"/>
            <a:ext cx="2697480" cy="1188720"/>
          </a:xfrm>
          <a:prstGeom prst="rect">
            <a:avLst/>
          </a:prstGeom>
          <a:noFill/>
        </p:spPr>
        <p:txBody>
          <a:bodyPr wrap="square" lIns="0" rIns="0" tIns="0" bIns="0">
            <a:spAutoFit/>
          </a:bodyPr>
          <a:lstStyle/>
          <a:p>
            <a:pPr algn="l">
              <a:spcAft>
                <a:spcPts val="600"/>
              </a:spcAft>
            </a:pPr>
            <a:r>
              <a:rPr sz="1100" b="0">
                <a:solidFill>
                  <a:srgbClr val="6B7480"/>
                </a:solidFill>
                <a:latin typeface="Segoe UI"/>
              </a:rPr>
              <a:t>10 of 200. The rest is promotion, PR, calendar and recruitment.</a:t>
            </a:r>
          </a:p>
        </p:txBody>
      </p:sp>
      <p:sp>
        <p:nvSpPr>
          <p:cNvPr id="12" name="Rectangle 11"/>
          <p:cNvSpPr/>
          <p:nvPr/>
        </p:nvSpPr>
        <p:spPr>
          <a:xfrm>
            <a:off x="6254496"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1645920"/>
            <a:ext cx="2697480" cy="822960"/>
          </a:xfrm>
          <a:prstGeom prst="rect">
            <a:avLst/>
          </a:prstGeom>
          <a:noFill/>
        </p:spPr>
        <p:txBody>
          <a:bodyPr wrap="square" lIns="0" rIns="0" tIns="0" bIns="0">
            <a:spAutoFit/>
          </a:bodyPr>
          <a:lstStyle/>
          <a:p>
            <a:pPr algn="l">
              <a:spcAft>
                <a:spcPts val="600"/>
              </a:spcAft>
            </a:pPr>
            <a:r>
              <a:rPr sz="4000" b="1">
                <a:solidFill>
                  <a:srgbClr val="102A43"/>
                </a:solidFill>
                <a:latin typeface="Segoe UI"/>
              </a:rPr>
              <a:t>16%</a:t>
            </a:r>
          </a:p>
        </p:txBody>
      </p:sp>
      <p:sp>
        <p:nvSpPr>
          <p:cNvPr id="14" name="TextBox 13"/>
          <p:cNvSpPr txBox="1"/>
          <p:nvPr/>
        </p:nvSpPr>
        <p:spPr>
          <a:xfrm>
            <a:off x="6254496" y="2514600"/>
            <a:ext cx="2697480" cy="640080"/>
          </a:xfrm>
          <a:prstGeom prst="rect">
            <a:avLst/>
          </a:prstGeom>
          <a:noFill/>
        </p:spPr>
        <p:txBody>
          <a:bodyPr wrap="square" lIns="0" rIns="0" tIns="0" bIns="0">
            <a:spAutoFit/>
          </a:bodyPr>
          <a:lstStyle/>
          <a:p>
            <a:pPr algn="l">
              <a:spcAft>
                <a:spcPts val="600"/>
              </a:spcAft>
            </a:pPr>
            <a:r>
              <a:rPr sz="1300" b="1">
                <a:solidFill>
                  <a:srgbClr val="1A1A1A"/>
                </a:solidFill>
                <a:latin typeface="Segoe UI"/>
              </a:rPr>
              <a:t>drives to an owned app</a:t>
            </a:r>
          </a:p>
        </p:txBody>
      </p:sp>
      <p:sp>
        <p:nvSpPr>
          <p:cNvPr id="15" name="TextBox 14"/>
          <p:cNvSpPr txBox="1"/>
          <p:nvPr/>
        </p:nvSpPr>
        <p:spPr>
          <a:xfrm>
            <a:off x="6254496" y="3200400"/>
            <a:ext cx="2697480" cy="1188720"/>
          </a:xfrm>
          <a:prstGeom prst="rect">
            <a:avLst/>
          </a:prstGeom>
          <a:noFill/>
        </p:spPr>
        <p:txBody>
          <a:bodyPr wrap="square" lIns="0" rIns="0" tIns="0" bIns="0">
            <a:spAutoFit/>
          </a:bodyPr>
          <a:lstStyle/>
          <a:p>
            <a:pPr algn="l">
              <a:spcAft>
                <a:spcPts val="600"/>
              </a:spcAft>
            </a:pPr>
            <a:r>
              <a:rPr sz="1100" b="0">
                <a:solidFill>
                  <a:srgbClr val="6B7480"/>
                </a:solidFill>
                <a:latin typeface="Segoe UI"/>
              </a:rPr>
              <a:t>33 of 200 exist to move people into an ecosystem.</a:t>
            </a:r>
          </a:p>
        </p:txBody>
      </p:sp>
      <p:sp>
        <p:nvSpPr>
          <p:cNvPr id="16" name="Rectangle 15"/>
          <p:cNvSpPr/>
          <p:nvPr/>
        </p:nvSpPr>
        <p:spPr>
          <a:xfrm>
            <a:off x="9107424"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1645920"/>
            <a:ext cx="2697480" cy="822960"/>
          </a:xfrm>
          <a:prstGeom prst="rect">
            <a:avLst/>
          </a:prstGeom>
          <a:noFill/>
        </p:spPr>
        <p:txBody>
          <a:bodyPr wrap="square" lIns="0" rIns="0" tIns="0" bIns="0">
            <a:spAutoFit/>
          </a:bodyPr>
          <a:lstStyle/>
          <a:p>
            <a:pPr algn="l">
              <a:spcAft>
                <a:spcPts val="600"/>
              </a:spcAft>
            </a:pPr>
            <a:r>
              <a:rPr sz="4000" b="1">
                <a:solidFill>
                  <a:srgbClr val="102A43"/>
                </a:solidFill>
                <a:latin typeface="Segoe UI"/>
              </a:rPr>
              <a:t>34%</a:t>
            </a:r>
          </a:p>
        </p:txBody>
      </p:sp>
      <p:sp>
        <p:nvSpPr>
          <p:cNvPr id="18" name="TextBox 17"/>
          <p:cNvSpPr txBox="1"/>
          <p:nvPr/>
        </p:nvSpPr>
        <p:spPr>
          <a:xfrm>
            <a:off x="9107424" y="2514600"/>
            <a:ext cx="2697480" cy="640080"/>
          </a:xfrm>
          <a:prstGeom prst="rect">
            <a:avLst/>
          </a:prstGeom>
          <a:noFill/>
        </p:spPr>
        <p:txBody>
          <a:bodyPr wrap="square" lIns="0" rIns="0" tIns="0" bIns="0">
            <a:spAutoFit/>
          </a:bodyPr>
          <a:lstStyle/>
          <a:p>
            <a:pPr algn="l">
              <a:spcAft>
                <a:spcPts val="600"/>
              </a:spcAft>
            </a:pPr>
            <a:r>
              <a:rPr sz="1300" b="1">
                <a:solidFill>
                  <a:srgbClr val="1A1A1A"/>
                </a:solidFill>
                <a:latin typeface="Segoe UI"/>
              </a:rPr>
              <a:t>answer the core objection</a:t>
            </a:r>
          </a:p>
        </p:txBody>
      </p:sp>
      <p:sp>
        <p:nvSpPr>
          <p:cNvPr id="19" name="TextBox 18"/>
          <p:cNvSpPr txBox="1"/>
          <p:nvPr/>
        </p:nvSpPr>
        <p:spPr>
          <a:xfrm>
            <a:off x="9107424" y="3200400"/>
            <a:ext cx="2697480" cy="1188720"/>
          </a:xfrm>
          <a:prstGeom prst="rect">
            <a:avLst/>
          </a:prstGeom>
          <a:noFill/>
        </p:spPr>
        <p:txBody>
          <a:bodyPr wrap="square" lIns="0" rIns="0" tIns="0" bIns="0">
            <a:spAutoFit/>
          </a:bodyPr>
          <a:lstStyle/>
          <a:p>
            <a:pPr algn="l">
              <a:spcAft>
                <a:spcPts val="600"/>
              </a:spcAft>
            </a:pPr>
            <a:r>
              <a:rPr sz="1100" b="0">
                <a:solidFill>
                  <a:srgbClr val="6B7480"/>
                </a:solidFill>
                <a:latin typeface="Segoe UI"/>
              </a:rPr>
              <a:t>69 of 200 tackle the buyer's main reason not to buy.</a:t>
            </a:r>
          </a:p>
        </p:txBody>
      </p:sp>
      <p:sp>
        <p:nvSpPr>
          <p:cNvPr id="20" name="TextBox 19"/>
          <p:cNvSpPr txBox="1"/>
          <p:nvPr/>
        </p:nvSpPr>
        <p:spPr>
          <a:xfrm>
            <a:off x="548640" y="4572000"/>
            <a:ext cx="11064240" cy="1828800"/>
          </a:xfrm>
          <a:prstGeom prst="rect">
            <a:avLst/>
          </a:prstGeom>
          <a:noFill/>
        </p:spPr>
        <p:txBody>
          <a:bodyPr wrap="square" lIns="0" rIns="0" tIns="0" bIns="0">
            <a:spAutoFit/>
          </a:bodyPr>
          <a:lstStyle/>
          <a:p>
            <a:pPr algn="l">
              <a:spcAft>
                <a:spcPts val="800"/>
              </a:spcAft>
            </a:pPr>
            <a:r>
              <a:rPr sz="1700" b="1">
                <a:solidFill>
                  <a:srgbClr val="1A1A1A"/>
                </a:solidFill>
                <a:latin typeface="Segoe UI"/>
              </a:rPr>
              <a:t>Two brands advertise to farmers on owned video. They stand at opposite ends.</a:t>
            </a:r>
          </a:p>
          <a:p>
            <a:pPr algn="l">
              <a:spcAft>
                <a:spcPts val="800"/>
              </a:spcAft>
            </a:pPr>
            <a:r>
              <a:rPr sz="1400" b="0">
                <a:solidFill>
                  <a:srgbClr val="1A1A1A"/>
                </a:solidFill>
                <a:latin typeface="Segoe UI"/>
              </a:rPr>
              <a:t>Sarsabz asserts: a yield claim in 15 uploads, proven in 5. Engro advises: 44 advisory uploads, 31 named agronomists, and no yield claim at all.</a:t>
            </a:r>
          </a:p>
          <a:p>
            <a:pPr algn="l">
              <a:spcAft>
                <a:spcPts val="800"/>
              </a:spcAft>
            </a:pPr>
            <a:r>
              <a:rPr sz="1400" b="0">
                <a:solidFill>
                  <a:srgbClr val="1A1A1A"/>
                </a:solidFill>
                <a:latin typeface="Segoe UI"/>
              </a:rPr>
              <a:t>Nobody shows a result on a real field beside the old 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What a message map cannot see</a:t>
            </a:r>
          </a:p>
        </p:txBody>
      </p:sp>
      <p:sp>
        <p:nvSpPr>
          <p:cNvPr id="4" name="Rectangle 3"/>
          <p:cNvSpPr/>
          <p:nvPr/>
        </p:nvSpPr>
        <p:spPr>
          <a:xfrm>
            <a:off x="54864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81328"/>
            <a:ext cx="3566160" cy="365760"/>
          </a:xfrm>
          <a:prstGeom prst="rect">
            <a:avLst/>
          </a:prstGeom>
          <a:noFill/>
        </p:spPr>
        <p:txBody>
          <a:bodyPr wrap="square" lIns="0" rIns="0" tIns="0" bIns="0">
            <a:spAutoFit/>
          </a:bodyPr>
          <a:lstStyle/>
          <a:p>
            <a:pPr algn="l">
              <a:spcAft>
                <a:spcPts val="600"/>
              </a:spcAft>
            </a:pPr>
            <a:r>
              <a:rPr sz="1400" b="1">
                <a:solidFill>
                  <a:srgbClr val="102A43"/>
                </a:solidFill>
                <a:latin typeface="Segoe UI"/>
              </a:rPr>
              <a:t>Converging on an app</a:t>
            </a:r>
          </a:p>
        </p:txBody>
      </p:sp>
      <p:sp>
        <p:nvSpPr>
          <p:cNvPr id="6" name="TextBox 5"/>
          <p:cNvSpPr txBox="1"/>
          <p:nvPr/>
        </p:nvSpPr>
        <p:spPr>
          <a:xfrm>
            <a:off x="548640" y="1901952"/>
            <a:ext cx="356616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output driving to an owned ecosystem</a:t>
            </a:r>
          </a:p>
        </p:txBody>
      </p:sp>
      <p:sp>
        <p:nvSpPr>
          <p:cNvPr id="7" name="TextBox 6"/>
          <p:cNvSpPr txBox="1"/>
          <p:nvPr/>
        </p:nvSpPr>
        <p:spPr>
          <a:xfrm>
            <a:off x="548640" y="2377440"/>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Fertilizers</a:t>
            </a:r>
          </a:p>
        </p:txBody>
      </p:sp>
      <p:sp>
        <p:nvSpPr>
          <p:cNvPr id="8" name="TextBox 7"/>
          <p:cNvSpPr txBox="1"/>
          <p:nvPr/>
        </p:nvSpPr>
        <p:spPr>
          <a:xfrm>
            <a:off x="2743200" y="2377440"/>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28/110  ·  25%</a:t>
            </a:r>
          </a:p>
        </p:txBody>
      </p:sp>
      <p:sp>
        <p:nvSpPr>
          <p:cNvPr id="9" name="TextBox 8"/>
          <p:cNvSpPr txBox="1"/>
          <p:nvPr/>
        </p:nvSpPr>
        <p:spPr>
          <a:xfrm>
            <a:off x="548640" y="2761488"/>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Sarsabz</a:t>
            </a:r>
          </a:p>
        </p:txBody>
      </p:sp>
      <p:sp>
        <p:nvSpPr>
          <p:cNvPr id="10" name="TextBox 9"/>
          <p:cNvSpPr txBox="1"/>
          <p:nvPr/>
        </p:nvSpPr>
        <p:spPr>
          <a:xfrm>
            <a:off x="2743200" y="2761488"/>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5/90  ·  6%</a:t>
            </a:r>
          </a:p>
        </p:txBody>
      </p:sp>
      <p:sp>
        <p:nvSpPr>
          <p:cNvPr id="11" name="Rectangle 10"/>
          <p:cNvSpPr/>
          <p:nvPr/>
        </p:nvSpPr>
        <p:spPr>
          <a:xfrm>
            <a:off x="448056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81328"/>
            <a:ext cx="3566160" cy="365760"/>
          </a:xfrm>
          <a:prstGeom prst="rect">
            <a:avLst/>
          </a:prstGeom>
          <a:noFill/>
        </p:spPr>
        <p:txBody>
          <a:bodyPr wrap="square" lIns="0" rIns="0" tIns="0" bIns="0">
            <a:spAutoFit/>
          </a:bodyPr>
          <a:lstStyle/>
          <a:p>
            <a:pPr algn="l">
              <a:spcAft>
                <a:spcPts val="600"/>
              </a:spcAft>
            </a:pPr>
            <a:r>
              <a:rPr sz="1400" b="1">
                <a:solidFill>
                  <a:srgbClr val="102A43"/>
                </a:solidFill>
                <a:latin typeface="Segoe UI"/>
              </a:rPr>
              <a:t>Brand-building share</a:t>
            </a:r>
          </a:p>
        </p:txBody>
      </p:sp>
      <p:sp>
        <p:nvSpPr>
          <p:cNvPr id="13" name="TextBox 12"/>
          <p:cNvSpPr txBox="1"/>
          <p:nvPr/>
        </p:nvSpPr>
        <p:spPr>
          <a:xfrm>
            <a:off x="4480560" y="1901952"/>
            <a:ext cx="356616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everything else is promotion, PR, calendar, recruitment</a:t>
            </a:r>
          </a:p>
        </p:txBody>
      </p:sp>
      <p:sp>
        <p:nvSpPr>
          <p:cNvPr id="14" name="TextBox 13"/>
          <p:cNvSpPr txBox="1"/>
          <p:nvPr/>
        </p:nvSpPr>
        <p:spPr>
          <a:xfrm>
            <a:off x="4480560" y="2377440"/>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Fertilizers</a:t>
            </a:r>
          </a:p>
        </p:txBody>
      </p:sp>
      <p:sp>
        <p:nvSpPr>
          <p:cNvPr id="15" name="TextBox 14"/>
          <p:cNvSpPr txBox="1"/>
          <p:nvPr/>
        </p:nvSpPr>
        <p:spPr>
          <a:xfrm>
            <a:off x="6675120" y="2377440"/>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10/110  ·  9%</a:t>
            </a:r>
          </a:p>
        </p:txBody>
      </p:sp>
      <p:sp>
        <p:nvSpPr>
          <p:cNvPr id="16" name="TextBox 15"/>
          <p:cNvSpPr txBox="1"/>
          <p:nvPr/>
        </p:nvSpPr>
        <p:spPr>
          <a:xfrm>
            <a:off x="4480560" y="2761488"/>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Sarsabz</a:t>
            </a:r>
          </a:p>
        </p:txBody>
      </p:sp>
      <p:sp>
        <p:nvSpPr>
          <p:cNvPr id="17" name="TextBox 16"/>
          <p:cNvSpPr txBox="1"/>
          <p:nvPr/>
        </p:nvSpPr>
        <p:spPr>
          <a:xfrm>
            <a:off x="6675120" y="2761488"/>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0/90  ·  0%</a:t>
            </a:r>
          </a:p>
        </p:txBody>
      </p:sp>
      <p:sp>
        <p:nvSpPr>
          <p:cNvPr id="18" name="Rectangle 17"/>
          <p:cNvSpPr/>
          <p:nvPr/>
        </p:nvSpPr>
        <p:spPr>
          <a:xfrm>
            <a:off x="841248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481328"/>
            <a:ext cx="3566160" cy="365760"/>
          </a:xfrm>
          <a:prstGeom prst="rect">
            <a:avLst/>
          </a:prstGeom>
          <a:noFill/>
        </p:spPr>
        <p:txBody>
          <a:bodyPr wrap="square" lIns="0" rIns="0" tIns="0" bIns="0">
            <a:spAutoFit/>
          </a:bodyPr>
          <a:lstStyle/>
          <a:p>
            <a:pPr algn="l">
              <a:spcAft>
                <a:spcPts val="600"/>
              </a:spcAft>
            </a:pPr>
            <a:r>
              <a:rPr sz="1400" b="1">
                <a:solidFill>
                  <a:srgbClr val="102A43"/>
                </a:solidFill>
                <a:latin typeface="Segoe UI"/>
              </a:rPr>
              <a:t>Talking to customers, not itself</a:t>
            </a:r>
          </a:p>
        </p:txBody>
      </p:sp>
      <p:sp>
        <p:nvSpPr>
          <p:cNvPr id="20" name="TextBox 19"/>
          <p:cNvSpPr txBox="1"/>
          <p:nvPr/>
        </p:nvSpPr>
        <p:spPr>
          <a:xfrm>
            <a:off x="8412480" y="1901952"/>
            <a:ext cx="356616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ads with a customer in frame</a:t>
            </a:r>
          </a:p>
        </p:txBody>
      </p:sp>
      <p:sp>
        <p:nvSpPr>
          <p:cNvPr id="21" name="TextBox 20"/>
          <p:cNvSpPr txBox="1"/>
          <p:nvPr/>
        </p:nvSpPr>
        <p:spPr>
          <a:xfrm>
            <a:off x="8412480" y="2377440"/>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Sarsabz</a:t>
            </a:r>
          </a:p>
        </p:txBody>
      </p:sp>
      <p:sp>
        <p:nvSpPr>
          <p:cNvPr id="22" name="TextBox 21"/>
          <p:cNvSpPr txBox="1"/>
          <p:nvPr/>
        </p:nvSpPr>
        <p:spPr>
          <a:xfrm>
            <a:off x="10607040" y="2377440"/>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46/90  ·  51%</a:t>
            </a:r>
          </a:p>
        </p:txBody>
      </p:sp>
      <p:sp>
        <p:nvSpPr>
          <p:cNvPr id="23" name="TextBox 22"/>
          <p:cNvSpPr txBox="1"/>
          <p:nvPr/>
        </p:nvSpPr>
        <p:spPr>
          <a:xfrm>
            <a:off x="8412480" y="2761488"/>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Fertilizers</a:t>
            </a:r>
          </a:p>
        </p:txBody>
      </p:sp>
      <p:sp>
        <p:nvSpPr>
          <p:cNvPr id="24" name="TextBox 23"/>
          <p:cNvSpPr txBox="1"/>
          <p:nvPr/>
        </p:nvSpPr>
        <p:spPr>
          <a:xfrm>
            <a:off x="10607040" y="2761488"/>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19/110  ·  17%</a:t>
            </a:r>
          </a:p>
        </p:txBody>
      </p:sp>
      <p:sp>
        <p:nvSpPr>
          <p:cNvPr id="25" name="TextBox 24"/>
          <p:cNvSpPr txBox="1"/>
          <p:nvPr/>
        </p:nvSpPr>
        <p:spPr>
          <a:xfrm>
            <a:off x="548640" y="5257800"/>
            <a:ext cx="11064240" cy="1280160"/>
          </a:xfrm>
          <a:prstGeom prst="rect">
            <a:avLst/>
          </a:prstGeom>
          <a:noFill/>
        </p:spPr>
        <p:txBody>
          <a:bodyPr wrap="square" lIns="0" rIns="0" tIns="0" bIns="0">
            <a:spAutoFit/>
          </a:bodyPr>
          <a:lstStyle/>
          <a:p>
            <a:pPr algn="l">
              <a:spcAft>
                <a:spcPts val="800"/>
              </a:spcAft>
            </a:pPr>
            <a:r>
              <a:rPr sz="1300" b="0">
                <a:solidFill>
                  <a:srgbClr val="1A1A1A"/>
                </a:solidFill>
                <a:latin typeface="Segoe UI"/>
              </a:rPr>
              <a:t>Engro converges on service - app, retail centre, soil testing. Sarsabz puts a customer in frame more often (46 of 90 vs 19 of 110), but Engro fills its frame with 31 named experts, and Sarsabz with 24 celebrity appearances.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Why the two brands talk so differently</a:t>
            </a:r>
          </a:p>
        </p:txBody>
      </p:sp>
      <p:sp>
        <p:nvSpPr>
          <p:cNvPr id="4" name="TextBox 3"/>
          <p:cNvSpPr txBox="1"/>
          <p:nvPr/>
        </p:nvSpPr>
        <p:spPr>
          <a:xfrm>
            <a:off x="548640" y="1234440"/>
            <a:ext cx="11064240" cy="731520"/>
          </a:xfrm>
          <a:prstGeom prst="rect">
            <a:avLst/>
          </a:prstGeom>
          <a:noFill/>
        </p:spPr>
        <p:txBody>
          <a:bodyPr wrap="square" lIns="0" rIns="0" tIns="0" bIns="0">
            <a:spAutoFit/>
          </a:bodyPr>
          <a:lstStyle/>
          <a:p>
            <a:pPr algn="l">
              <a:spcAft>
                <a:spcPts val="600"/>
              </a:spcAft>
            </a:pPr>
            <a:r>
              <a:rPr sz="1500" b="1">
                <a:solidFill>
                  <a:srgbClr val="102A43"/>
                </a:solidFill>
                <a:latin typeface="Segoe UI"/>
              </a:rPr>
              <a:t>The pattern is structural. Each brand's advertising follows from what it sells and who it has to beat.</a:t>
            </a:r>
          </a:p>
        </p:txBody>
      </p:sp>
      <p:sp>
        <p:nvSpPr>
          <p:cNvPr id="5" name="Rectangle 4"/>
          <p:cNvSpPr/>
          <p:nvPr/>
        </p:nvSpPr>
        <p:spPr>
          <a:xfrm>
            <a:off x="548640" y="2148840"/>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95144"/>
            <a:ext cx="3017520" cy="457200"/>
          </a:xfrm>
          <a:prstGeom prst="rect">
            <a:avLst/>
          </a:prstGeom>
          <a:noFill/>
        </p:spPr>
        <p:txBody>
          <a:bodyPr wrap="square" lIns="0" rIns="0" tIns="0" bIns="0">
            <a:spAutoFit/>
          </a:bodyPr>
          <a:lstStyle/>
          <a:p>
            <a:pPr algn="l">
              <a:spcAft>
                <a:spcPts val="0"/>
              </a:spcAft>
            </a:pPr>
            <a:r>
              <a:rPr sz="1300" b="1">
                <a:solidFill>
                  <a:srgbClr val="102A43"/>
                </a:solidFill>
                <a:latin typeface="Segoe UI"/>
              </a:rPr>
              <a:t>Commodity vs owned product</a:t>
            </a:r>
          </a:p>
        </p:txBody>
      </p:sp>
      <p:sp>
        <p:nvSpPr>
          <p:cNvPr id="7" name="TextBox 6"/>
          <p:cNvSpPr txBox="1"/>
          <p:nvPr/>
        </p:nvSpPr>
        <p:spPr>
          <a:xfrm>
            <a:off x="3749039" y="2295144"/>
            <a:ext cx="7863840" cy="731520"/>
          </a:xfrm>
          <a:prstGeom prst="rect">
            <a:avLst/>
          </a:prstGeom>
          <a:noFill/>
        </p:spPr>
        <p:txBody>
          <a:bodyPr wrap="square" lIns="0" rIns="0" tIns="0" bIns="0">
            <a:spAutoFit/>
          </a:bodyPr>
          <a:lstStyle/>
          <a:p>
            <a:pPr algn="l">
              <a:spcAft>
                <a:spcPts val="0"/>
              </a:spcAft>
            </a:pPr>
            <a:r>
              <a:rPr sz="1150" b="0">
                <a:solidFill>
                  <a:srgbClr val="1A1A1A"/>
                </a:solidFill>
                <a:latin typeface="Segoe UI"/>
              </a:rPr>
              <a:t>Urea and DAP are near-commodities, so Engro competes on what comes with the bag. Fatima makes the only CAN and 93% of NP (CCP Table 11, NFDC 2022-23), so Sarsabz has had almost no one to argue with on its own products.</a:t>
            </a:r>
          </a:p>
        </p:txBody>
      </p:sp>
      <p:sp>
        <p:nvSpPr>
          <p:cNvPr id="8" name="Rectangle 7"/>
          <p:cNvSpPr/>
          <p:nvPr/>
        </p:nvSpPr>
        <p:spPr>
          <a:xfrm>
            <a:off x="548640" y="3081528"/>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27832"/>
            <a:ext cx="3017520" cy="457200"/>
          </a:xfrm>
          <a:prstGeom prst="rect">
            <a:avLst/>
          </a:prstGeom>
          <a:noFill/>
        </p:spPr>
        <p:txBody>
          <a:bodyPr wrap="square" lIns="0" rIns="0" tIns="0" bIns="0">
            <a:spAutoFit/>
          </a:bodyPr>
          <a:lstStyle/>
          <a:p>
            <a:pPr algn="l">
              <a:spcAft>
                <a:spcPts val="0"/>
              </a:spcAft>
            </a:pPr>
            <a:r>
              <a:rPr sz="1300" b="1">
                <a:solidFill>
                  <a:srgbClr val="102A43"/>
                </a:solidFill>
                <a:latin typeface="Segoe UI"/>
              </a:rPr>
              <a:t>The leader stays silent</a:t>
            </a:r>
          </a:p>
        </p:txBody>
      </p:sp>
      <p:sp>
        <p:nvSpPr>
          <p:cNvPr id="10" name="TextBox 9"/>
          <p:cNvSpPr txBox="1"/>
          <p:nvPr/>
        </p:nvSpPr>
        <p:spPr>
          <a:xfrm>
            <a:off x="3749039" y="3227832"/>
            <a:ext cx="7863840" cy="731520"/>
          </a:xfrm>
          <a:prstGeom prst="rect">
            <a:avLst/>
          </a:prstGeom>
          <a:noFill/>
        </p:spPr>
        <p:txBody>
          <a:bodyPr wrap="square" lIns="0" rIns="0" tIns="0" bIns="0">
            <a:spAutoFit/>
          </a:bodyPr>
          <a:lstStyle/>
          <a:p>
            <a:pPr algn="l">
              <a:spcAft>
                <a:spcPts val="0"/>
              </a:spcAft>
            </a:pPr>
            <a:r>
              <a:rPr sz="1150" b="0">
                <a:solidFill>
                  <a:srgbClr val="1A1A1A"/>
                </a:solidFill>
                <a:latin typeface="Segoe UI"/>
              </a:rPr>
              <a:t>FFC holds 44% of urea and 61% of DAP, yet has 71K followers on Facebook and no official YouTube channel. A leader of a commodity market does not need to argue on owned channels.</a:t>
            </a:r>
          </a:p>
        </p:txBody>
      </p:sp>
      <p:sp>
        <p:nvSpPr>
          <p:cNvPr id="11" name="Rectangle 10"/>
          <p:cNvSpPr/>
          <p:nvPr/>
        </p:nvSpPr>
        <p:spPr>
          <a:xfrm>
            <a:off x="548640" y="4014216"/>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160520"/>
            <a:ext cx="3017520" cy="457200"/>
          </a:xfrm>
          <a:prstGeom prst="rect">
            <a:avLst/>
          </a:prstGeom>
          <a:noFill/>
        </p:spPr>
        <p:txBody>
          <a:bodyPr wrap="square" lIns="0" rIns="0" tIns="0" bIns="0">
            <a:spAutoFit/>
          </a:bodyPr>
          <a:lstStyle/>
          <a:p>
            <a:pPr algn="l">
              <a:spcAft>
                <a:spcPts val="0"/>
              </a:spcAft>
            </a:pPr>
            <a:r>
              <a:rPr sz="1300" b="1">
                <a:solidFill>
                  <a:srgbClr val="102A43"/>
                </a:solidFill>
                <a:latin typeface="Segoe UI"/>
              </a:rPr>
              <a:t>Engro is moving into Fatima's space</a:t>
            </a:r>
          </a:p>
        </p:txBody>
      </p:sp>
      <p:sp>
        <p:nvSpPr>
          <p:cNvPr id="13" name="TextBox 12"/>
          <p:cNvSpPr txBox="1"/>
          <p:nvPr/>
        </p:nvSpPr>
        <p:spPr>
          <a:xfrm>
            <a:off x="3749039" y="4160520"/>
            <a:ext cx="7863840" cy="731520"/>
          </a:xfrm>
          <a:prstGeom prst="rect">
            <a:avLst/>
          </a:prstGeom>
          <a:noFill/>
        </p:spPr>
        <p:txBody>
          <a:bodyPr wrap="square" lIns="0" rIns="0" tIns="0" bIns="0">
            <a:spAutoFit/>
          </a:bodyPr>
          <a:lstStyle/>
          <a:p>
            <a:pPr algn="l">
              <a:spcAft>
                <a:spcPts val="0"/>
              </a:spcAft>
            </a:pPr>
            <a:r>
              <a:rPr sz="1150" b="0">
                <a:solidFill>
                  <a:srgbClr val="1A1A1A"/>
                </a:solidFill>
                <a:latin typeface="Segoe UI"/>
              </a:rPr>
              <a:t>Engro NP+ (Feb 2025) and imported TSP, a phosphate alternative to DAP (Oct 2025), both launched inside the window.</a:t>
            </a:r>
          </a:p>
        </p:txBody>
      </p:sp>
      <p:sp>
        <p:nvSpPr>
          <p:cNvPr id="14" name="Rectangle 13"/>
          <p:cNvSpPr/>
          <p:nvPr/>
        </p:nvSpPr>
        <p:spPr>
          <a:xfrm>
            <a:off x="548640" y="4946904"/>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093208"/>
            <a:ext cx="3017520" cy="457200"/>
          </a:xfrm>
          <a:prstGeom prst="rect">
            <a:avLst/>
          </a:prstGeom>
          <a:noFill/>
        </p:spPr>
        <p:txBody>
          <a:bodyPr wrap="square" lIns="0" rIns="0" tIns="0" bIns="0">
            <a:spAutoFit/>
          </a:bodyPr>
          <a:lstStyle/>
          <a:p>
            <a:pPr algn="l">
              <a:spcAft>
                <a:spcPts val="0"/>
              </a:spcAft>
            </a:pPr>
            <a:r>
              <a:rPr sz="1300" b="1">
                <a:solidFill>
                  <a:srgbClr val="102A43"/>
                </a:solidFill>
                <a:latin typeface="Segoe UI"/>
              </a:rPr>
              <a:t>The farmer's question is how, not whether</a:t>
            </a:r>
          </a:p>
        </p:txBody>
      </p:sp>
      <p:sp>
        <p:nvSpPr>
          <p:cNvPr id="16" name="TextBox 15"/>
          <p:cNvSpPr txBox="1"/>
          <p:nvPr/>
        </p:nvSpPr>
        <p:spPr>
          <a:xfrm>
            <a:off x="3749039" y="5093208"/>
            <a:ext cx="7863840" cy="731520"/>
          </a:xfrm>
          <a:prstGeom prst="rect">
            <a:avLst/>
          </a:prstGeom>
          <a:noFill/>
        </p:spPr>
        <p:txBody>
          <a:bodyPr wrap="square" lIns="0" rIns="0" tIns="0" bIns="0">
            <a:spAutoFit/>
          </a:bodyPr>
          <a:lstStyle/>
          <a:p>
            <a:pPr algn="l">
              <a:spcAft>
                <a:spcPts val="0"/>
              </a:spcAft>
            </a:pPr>
            <a:r>
              <a:rPr sz="1150" b="0">
                <a:solidFill>
                  <a:srgbClr val="1A1A1A"/>
                </a:solidFill>
                <a:latin typeface="Segoe UI"/>
              </a:rPr>
              <a:t>220 of 1,433 farmer comments ask what can be mixed with what. Engro's advice answers that demand; Sarsabz's badge does not.</a:t>
            </a:r>
          </a:p>
        </p:txBody>
      </p:sp>
      <p:sp>
        <p:nvSpPr>
          <p:cNvPr id="17" name="Rectangle 16"/>
          <p:cNvSpPr/>
          <p:nvPr/>
        </p:nvSpPr>
        <p:spPr>
          <a:xfrm>
            <a:off x="548640" y="5806440"/>
            <a:ext cx="11064240" cy="6858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943600"/>
            <a:ext cx="10607040" cy="548640"/>
          </a:xfrm>
          <a:prstGeom prst="rect">
            <a:avLst/>
          </a:prstGeom>
          <a:noFill/>
        </p:spPr>
        <p:txBody>
          <a:bodyPr wrap="square" lIns="0" rIns="0" tIns="0" bIns="0">
            <a:spAutoFit/>
          </a:bodyPr>
          <a:lstStyle/>
          <a:p>
            <a:pPr algn="l">
              <a:spcAft>
                <a:spcPts val="0"/>
              </a:spcAft>
            </a:pPr>
            <a:r>
              <a:rPr sz="1250" b="1">
                <a:solidFill>
                  <a:srgbClr val="102A43"/>
                </a:solidFill>
                <a:latin typeface="Segoe UI"/>
              </a:rPr>
              <a:t>Engro solves a commodity problem with service. Sarsabz has a proof problem it has not recognised - and the proof is already in its own plots.</a:t>
            </a:r>
          </a:p>
        </p:txBody>
      </p:sp>
      <p:sp>
        <p:nvSpPr>
          <p:cNvPr id="19" name="TextBox 18"/>
          <p:cNvSpPr txBox="1"/>
          <p:nvPr/>
        </p:nvSpPr>
        <p:spPr>
          <a:xfrm>
            <a:off x="548640" y="6537960"/>
            <a:ext cx="11064240" cy="274320"/>
          </a:xfrm>
          <a:prstGeom prst="rect">
            <a:avLst/>
          </a:prstGeom>
          <a:noFill/>
        </p:spPr>
        <p:txBody>
          <a:bodyPr wrap="square" lIns="0" rIns="0" tIns="0" bIns="0">
            <a:spAutoFit/>
          </a:bodyPr>
          <a:lstStyle/>
          <a:p>
            <a:pPr algn="l">
              <a:spcAft>
                <a:spcPts val="600"/>
              </a:spcAft>
            </a:pPr>
            <a:r>
              <a:rPr sz="900" b="0">
                <a:solidFill>
                  <a:srgbClr val="6B7480"/>
                </a:solidFill>
                <a:latin typeface="Segoe UI"/>
              </a:rPr>
              <a:t>Sources: 200 coded owned-YouTube uploads (scan/scan_findings.md); CCP Competition Assessment, DRAFT, Jul 2025, Table 11; presence sweep 15 Sep 2026; 1,433 farmer comments (comments/analysis.md).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Where each brand's audience actually is</a:t>
            </a:r>
          </a:p>
        </p:txBody>
      </p:sp>
      <p:sp>
        <p:nvSpPr>
          <p:cNvPr id="4" name="TextBox 3"/>
          <p:cNvSpPr txBox="1"/>
          <p:nvPr/>
        </p:nvSpPr>
        <p:spPr>
          <a:xfrm>
            <a:off x="548640" y="1097280"/>
            <a:ext cx="11064240" cy="548640"/>
          </a:xfrm>
          <a:prstGeom prst="rect">
            <a:avLst/>
          </a:prstGeom>
          <a:noFill/>
        </p:spPr>
        <p:txBody>
          <a:bodyPr wrap="square" lIns="0" rIns="0" tIns="0" bIns="0">
            <a:spAutoFit/>
          </a:bodyPr>
          <a:lstStyle/>
          <a:p>
            <a:pPr algn="l">
              <a:spcAft>
                <a:spcPts val="400"/>
              </a:spcAft>
            </a:pPr>
            <a:r>
              <a:rPr sz="1300" b="1">
                <a:solidFill>
                  <a:srgbClr val="102A43"/>
                </a:solidFill>
                <a:latin typeface="Segoe UI"/>
              </a:rPr>
              <a:t>Owned-channel followers, logged-out sweep, 15 September 2026. Reach is not Sarsabz's problem.</a:t>
            </a:r>
          </a:p>
        </p:txBody>
      </p:sp>
      <p:sp>
        <p:nvSpPr>
          <p:cNvPr id="5" name="TextBox 4"/>
          <p:cNvSpPr txBox="1"/>
          <p:nvPr/>
        </p:nvSpPr>
        <p:spPr>
          <a:xfrm>
            <a:off x="548640" y="1783080"/>
            <a:ext cx="2743200" cy="274320"/>
          </a:xfrm>
          <a:prstGeom prst="rect">
            <a:avLst/>
          </a:prstGeom>
          <a:noFill/>
        </p:spPr>
        <p:txBody>
          <a:bodyPr wrap="square" lIns="0" rIns="0" tIns="0" bIns="0">
            <a:spAutoFit/>
          </a:bodyPr>
          <a:lstStyle/>
          <a:p>
            <a:pPr algn="l">
              <a:spcAft>
                <a:spcPts val="600"/>
              </a:spcAft>
            </a:pPr>
            <a:r>
              <a:rPr sz="1100" b="1">
                <a:solidFill>
                  <a:srgbClr val="6B7480"/>
                </a:solidFill>
                <a:latin typeface="Segoe UI"/>
              </a:rPr>
              <a:t>Brand</a:t>
            </a:r>
          </a:p>
        </p:txBody>
      </p:sp>
      <p:sp>
        <p:nvSpPr>
          <p:cNvPr id="6" name="TextBox 5"/>
          <p:cNvSpPr txBox="1"/>
          <p:nvPr/>
        </p:nvSpPr>
        <p:spPr>
          <a:xfrm>
            <a:off x="3291840" y="1783080"/>
            <a:ext cx="277368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TikTok</a:t>
            </a:r>
          </a:p>
        </p:txBody>
      </p:sp>
      <p:sp>
        <p:nvSpPr>
          <p:cNvPr id="7" name="TextBox 6"/>
          <p:cNvSpPr txBox="1"/>
          <p:nvPr/>
        </p:nvSpPr>
        <p:spPr>
          <a:xfrm>
            <a:off x="6065520" y="1783080"/>
            <a:ext cx="277368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YouTube</a:t>
            </a:r>
          </a:p>
        </p:txBody>
      </p:sp>
      <p:sp>
        <p:nvSpPr>
          <p:cNvPr id="8" name="TextBox 7"/>
          <p:cNvSpPr txBox="1"/>
          <p:nvPr/>
        </p:nvSpPr>
        <p:spPr>
          <a:xfrm>
            <a:off x="8839200" y="1783080"/>
            <a:ext cx="277368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Facebook</a:t>
            </a:r>
          </a:p>
        </p:txBody>
      </p:sp>
      <p:sp>
        <p:nvSpPr>
          <p:cNvPr id="9" name="Rectangle 8"/>
          <p:cNvSpPr/>
          <p:nvPr/>
        </p:nvSpPr>
        <p:spPr>
          <a:xfrm>
            <a:off x="548640" y="2093976"/>
            <a:ext cx="11064240" cy="182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76272"/>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03704"/>
            <a:ext cx="2743200" cy="347472"/>
          </a:xfrm>
          <a:prstGeom prst="rect">
            <a:avLst/>
          </a:prstGeom>
          <a:noFill/>
        </p:spPr>
        <p:txBody>
          <a:bodyPr wrap="square" lIns="0" rIns="0" tIns="0" bIns="0">
            <a:spAutoFit/>
          </a:bodyPr>
          <a:lstStyle/>
          <a:p>
            <a:pPr algn="l">
              <a:spcAft>
                <a:spcPts val="0"/>
              </a:spcAft>
            </a:pPr>
            <a:r>
              <a:rPr sz="1100" b="1">
                <a:solidFill>
                  <a:srgbClr val="102A43"/>
                </a:solidFill>
                <a:latin typeface="Segoe UI"/>
              </a:rPr>
              <a:t>Sarsabz</a:t>
            </a:r>
          </a:p>
        </p:txBody>
      </p:sp>
      <p:sp>
        <p:nvSpPr>
          <p:cNvPr id="12" name="TextBox 11"/>
          <p:cNvSpPr txBox="1"/>
          <p:nvPr/>
        </p:nvSpPr>
        <p:spPr>
          <a:xfrm>
            <a:off x="3291840" y="2203704"/>
            <a:ext cx="2773680" cy="347472"/>
          </a:xfrm>
          <a:prstGeom prst="rect">
            <a:avLst/>
          </a:prstGeom>
          <a:noFill/>
        </p:spPr>
        <p:txBody>
          <a:bodyPr wrap="square" lIns="0" rIns="0" tIns="0" bIns="0">
            <a:spAutoFit/>
          </a:bodyPr>
          <a:lstStyle/>
          <a:p>
            <a:pPr algn="r">
              <a:spcAft>
                <a:spcPts val="0"/>
              </a:spcAft>
            </a:pPr>
            <a:r>
              <a:rPr sz="1100" b="1">
                <a:solidFill>
                  <a:srgbClr val="C8102E"/>
                </a:solidFill>
                <a:latin typeface="Segoe UI"/>
              </a:rPr>
              <a:t>1.2M</a:t>
            </a:r>
          </a:p>
        </p:txBody>
      </p:sp>
      <p:sp>
        <p:nvSpPr>
          <p:cNvPr id="13" name="TextBox 12"/>
          <p:cNvSpPr txBox="1"/>
          <p:nvPr/>
        </p:nvSpPr>
        <p:spPr>
          <a:xfrm>
            <a:off x="6065520" y="2203704"/>
            <a:ext cx="2773680" cy="347472"/>
          </a:xfrm>
          <a:prstGeom prst="rect">
            <a:avLst/>
          </a:prstGeom>
          <a:noFill/>
        </p:spPr>
        <p:txBody>
          <a:bodyPr wrap="square" lIns="0" rIns="0" tIns="0" bIns="0">
            <a:spAutoFit/>
          </a:bodyPr>
          <a:lstStyle/>
          <a:p>
            <a:pPr algn="r">
              <a:spcAft>
                <a:spcPts val="0"/>
              </a:spcAft>
            </a:pPr>
            <a:r>
              <a:rPr sz="1100" b="1">
                <a:solidFill>
                  <a:srgbClr val="C8102E"/>
                </a:solidFill>
                <a:latin typeface="Segoe UI"/>
              </a:rPr>
              <a:t>396K</a:t>
            </a:r>
          </a:p>
        </p:txBody>
      </p:sp>
      <p:sp>
        <p:nvSpPr>
          <p:cNvPr id="14" name="TextBox 13"/>
          <p:cNvSpPr txBox="1"/>
          <p:nvPr/>
        </p:nvSpPr>
        <p:spPr>
          <a:xfrm>
            <a:off x="8839200" y="2203704"/>
            <a:ext cx="2773680" cy="347472"/>
          </a:xfrm>
          <a:prstGeom prst="rect">
            <a:avLst/>
          </a:prstGeom>
          <a:noFill/>
        </p:spPr>
        <p:txBody>
          <a:bodyPr wrap="square" lIns="0" rIns="0" tIns="0" bIns="0">
            <a:spAutoFit/>
          </a:bodyPr>
          <a:lstStyle/>
          <a:p>
            <a:pPr algn="r">
              <a:spcAft>
                <a:spcPts val="0"/>
              </a:spcAft>
            </a:pPr>
            <a:r>
              <a:rPr sz="1100" b="1">
                <a:solidFill>
                  <a:srgbClr val="C8102E"/>
                </a:solidFill>
                <a:latin typeface="Segoe UI"/>
              </a:rPr>
              <a:t>274K</a:t>
            </a:r>
          </a:p>
        </p:txBody>
      </p:sp>
      <p:sp>
        <p:nvSpPr>
          <p:cNvPr id="15" name="TextBox 14"/>
          <p:cNvSpPr txBox="1"/>
          <p:nvPr/>
        </p:nvSpPr>
        <p:spPr>
          <a:xfrm>
            <a:off x="640080" y="2551176"/>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Fertilizers</a:t>
            </a:r>
          </a:p>
        </p:txBody>
      </p:sp>
      <p:sp>
        <p:nvSpPr>
          <p:cNvPr id="16" name="TextBox 15"/>
          <p:cNvSpPr txBox="1"/>
          <p:nvPr/>
        </p:nvSpPr>
        <p:spPr>
          <a:xfrm>
            <a:off x="3291840" y="2551176"/>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156.7K</a:t>
            </a:r>
          </a:p>
        </p:txBody>
      </p:sp>
      <p:sp>
        <p:nvSpPr>
          <p:cNvPr id="17" name="TextBox 16"/>
          <p:cNvSpPr txBox="1"/>
          <p:nvPr/>
        </p:nvSpPr>
        <p:spPr>
          <a:xfrm>
            <a:off x="6065520" y="2551176"/>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81.2K</a:t>
            </a:r>
          </a:p>
        </p:txBody>
      </p:sp>
      <p:sp>
        <p:nvSpPr>
          <p:cNvPr id="18" name="TextBox 17"/>
          <p:cNvSpPr txBox="1"/>
          <p:nvPr/>
        </p:nvSpPr>
        <p:spPr>
          <a:xfrm>
            <a:off x="8839200" y="2551176"/>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152K</a:t>
            </a:r>
          </a:p>
        </p:txBody>
      </p:sp>
      <p:sp>
        <p:nvSpPr>
          <p:cNvPr id="19" name="Rectangle 18"/>
          <p:cNvSpPr/>
          <p:nvPr/>
        </p:nvSpPr>
        <p:spPr>
          <a:xfrm>
            <a:off x="548640" y="2871216"/>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898648"/>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Zabardast Urea (page)</a:t>
            </a:r>
          </a:p>
        </p:txBody>
      </p:sp>
      <p:sp>
        <p:nvSpPr>
          <p:cNvPr id="21" name="TextBox 20"/>
          <p:cNvSpPr txBox="1"/>
          <p:nvPr/>
        </p:nvSpPr>
        <p:spPr>
          <a:xfrm>
            <a:off x="3291840" y="2898648"/>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22" name="TextBox 21"/>
          <p:cNvSpPr txBox="1"/>
          <p:nvPr/>
        </p:nvSpPr>
        <p:spPr>
          <a:xfrm>
            <a:off x="6065520" y="2898648"/>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23" name="TextBox 22"/>
          <p:cNvSpPr txBox="1"/>
          <p:nvPr/>
        </p:nvSpPr>
        <p:spPr>
          <a:xfrm>
            <a:off x="8839200" y="2898648"/>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4.1K</a:t>
            </a:r>
          </a:p>
        </p:txBody>
      </p:sp>
      <p:sp>
        <p:nvSpPr>
          <p:cNvPr id="24" name="TextBox 23"/>
          <p:cNvSpPr txBox="1"/>
          <p:nvPr/>
        </p:nvSpPr>
        <p:spPr>
          <a:xfrm>
            <a:off x="640080" y="3246120"/>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FFC (Sona)</a:t>
            </a:r>
          </a:p>
        </p:txBody>
      </p:sp>
      <p:sp>
        <p:nvSpPr>
          <p:cNvPr id="25" name="TextBox 24"/>
          <p:cNvSpPr txBox="1"/>
          <p:nvPr/>
        </p:nvSpPr>
        <p:spPr>
          <a:xfrm>
            <a:off x="3291840" y="3246120"/>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26" name="TextBox 25"/>
          <p:cNvSpPr txBox="1"/>
          <p:nvPr/>
        </p:nvSpPr>
        <p:spPr>
          <a:xfrm>
            <a:off x="6065520" y="3246120"/>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none</a:t>
            </a:r>
          </a:p>
        </p:txBody>
      </p:sp>
      <p:sp>
        <p:nvSpPr>
          <p:cNvPr id="27" name="TextBox 26"/>
          <p:cNvSpPr txBox="1"/>
          <p:nvPr/>
        </p:nvSpPr>
        <p:spPr>
          <a:xfrm>
            <a:off x="8839200" y="3246120"/>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71K</a:t>
            </a:r>
          </a:p>
        </p:txBody>
      </p:sp>
      <p:sp>
        <p:nvSpPr>
          <p:cNvPr id="28" name="Rectangle 27"/>
          <p:cNvSpPr/>
          <p:nvPr/>
        </p:nvSpPr>
        <p:spPr>
          <a:xfrm>
            <a:off x="548640" y="3566160"/>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593592"/>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Agritech (Tara)</a:t>
            </a:r>
          </a:p>
        </p:txBody>
      </p:sp>
      <p:sp>
        <p:nvSpPr>
          <p:cNvPr id="30" name="TextBox 29"/>
          <p:cNvSpPr txBox="1"/>
          <p:nvPr/>
        </p:nvSpPr>
        <p:spPr>
          <a:xfrm>
            <a:off x="3291840" y="3593592"/>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31" name="TextBox 30"/>
          <p:cNvSpPr txBox="1"/>
          <p:nvPr/>
        </p:nvSpPr>
        <p:spPr>
          <a:xfrm>
            <a:off x="6065520" y="3593592"/>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none</a:t>
            </a:r>
          </a:p>
        </p:txBody>
      </p:sp>
      <p:sp>
        <p:nvSpPr>
          <p:cNvPr id="32" name="TextBox 31"/>
          <p:cNvSpPr txBox="1"/>
          <p:nvPr/>
        </p:nvSpPr>
        <p:spPr>
          <a:xfrm>
            <a:off x="8839200" y="3593592"/>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1.8K</a:t>
            </a:r>
          </a:p>
        </p:txBody>
      </p:sp>
      <p:sp>
        <p:nvSpPr>
          <p:cNvPr id="33" name="TextBox 32"/>
          <p:cNvSpPr txBox="1"/>
          <p:nvPr/>
        </p:nvSpPr>
        <p:spPr>
          <a:xfrm>
            <a:off x="640080" y="3941064"/>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Bubber Sher</a:t>
            </a:r>
          </a:p>
        </p:txBody>
      </p:sp>
      <p:sp>
        <p:nvSpPr>
          <p:cNvPr id="34" name="TextBox 33"/>
          <p:cNvSpPr txBox="1"/>
          <p:nvPr/>
        </p:nvSpPr>
        <p:spPr>
          <a:xfrm>
            <a:off x="3291840" y="3941064"/>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35" name="TextBox 34"/>
          <p:cNvSpPr txBox="1"/>
          <p:nvPr/>
        </p:nvSpPr>
        <p:spPr>
          <a:xfrm>
            <a:off x="6065520" y="3941064"/>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none</a:t>
            </a:r>
          </a:p>
        </p:txBody>
      </p:sp>
      <p:sp>
        <p:nvSpPr>
          <p:cNvPr id="36" name="TextBox 35"/>
          <p:cNvSpPr txBox="1"/>
          <p:nvPr/>
        </p:nvSpPr>
        <p:spPr>
          <a:xfrm>
            <a:off x="8839200" y="3941064"/>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none</a:t>
            </a:r>
          </a:p>
        </p:txBody>
      </p:sp>
      <p:sp>
        <p:nvSpPr>
          <p:cNvPr id="37" name="Rectangle 36"/>
          <p:cNvSpPr/>
          <p:nvPr/>
        </p:nvSpPr>
        <p:spPr>
          <a:xfrm>
            <a:off x="548640" y="5943600"/>
            <a:ext cx="11064240" cy="71323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6062472"/>
            <a:ext cx="10607040" cy="548640"/>
          </a:xfrm>
          <a:prstGeom prst="rect">
            <a:avLst/>
          </a:prstGeom>
          <a:noFill/>
        </p:spPr>
        <p:txBody>
          <a:bodyPr wrap="square" lIns="0" rIns="0" tIns="0" bIns="0">
            <a:spAutoFit/>
          </a:bodyPr>
          <a:lstStyle/>
          <a:p>
            <a:pPr algn="l">
              <a:spcAft>
                <a:spcPts val="0"/>
              </a:spcAft>
            </a:pPr>
            <a:r>
              <a:rPr sz="1250" b="1">
                <a:solidFill>
                  <a:srgbClr val="FFFFFF"/>
                </a:solidFill>
                <a:latin typeface="Segoe UI"/>
              </a:rPr>
              <a:t>Sarsabz has the largest owned audience in the category. FFC, Agritech and Bubber Sher barely compete on owned channels at all.</a:t>
            </a:r>
          </a:p>
        </p:txBody>
      </p:sp>
      <p:sp>
        <p:nvSpPr>
          <p:cNvPr id="39" name="TextBox 38"/>
          <p:cNvSpPr txBox="1"/>
          <p:nvPr/>
        </p:nvSpPr>
        <p:spPr>
          <a:xfrm>
            <a:off x="548640" y="6711696"/>
            <a:ext cx="11064240" cy="274320"/>
          </a:xfrm>
          <a:prstGeom prst="rect">
            <a:avLst/>
          </a:prstGeom>
          <a:noFill/>
        </p:spPr>
        <p:txBody>
          <a:bodyPr wrap="square" lIns="0" rIns="0" tIns="0" bIns="0">
            <a:spAutoFit/>
          </a:bodyPr>
          <a:lstStyle/>
          <a:p>
            <a:pPr algn="l">
              <a:spcAft>
                <a:spcPts val="600"/>
              </a:spcAft>
            </a:pPr>
            <a:r>
              <a:rPr sz="900" b="0">
                <a:solidFill>
                  <a:srgbClr val="6B7480"/>
                </a:solidFill>
                <a:latin typeface="Segoe UI"/>
              </a:rPr>
              <a:t>n/v = not verified; none = searched, no official account found. The 'Bubber Sher' Facebook page is a rock band and is excluded. Followers are reach, not engagement.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Claims only one brand makes - and the one nobody makes</a:t>
            </a:r>
          </a:p>
        </p:txBody>
      </p:sp>
      <p:sp>
        <p:nvSpPr>
          <p:cNvPr id="4" name="Rectangle 3"/>
          <p:cNvSpPr/>
          <p:nvPr/>
        </p:nvSpPr>
        <p:spPr>
          <a:xfrm>
            <a:off x="54864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81328"/>
            <a:ext cx="3566160" cy="411480"/>
          </a:xfrm>
          <a:prstGeom prst="rect">
            <a:avLst/>
          </a:prstGeom>
          <a:noFill/>
        </p:spPr>
        <p:txBody>
          <a:bodyPr wrap="square" lIns="0" rIns="0" tIns="0" bIns="0">
            <a:spAutoFit/>
          </a:bodyPr>
          <a:lstStyle/>
          <a:p>
            <a:pPr algn="l">
              <a:spcAft>
                <a:spcPts val="600"/>
              </a:spcAft>
            </a:pPr>
            <a:r>
              <a:rPr sz="1400" b="1">
                <a:solidFill>
                  <a:srgbClr val="102A43"/>
                </a:solidFill>
                <a:latin typeface="Segoe UI"/>
              </a:rPr>
              <a:t>Only Sarsabz</a:t>
            </a:r>
          </a:p>
        </p:txBody>
      </p:sp>
      <p:sp>
        <p:nvSpPr>
          <p:cNvPr id="6" name="TextBox 5"/>
          <p:cNvSpPr txBox="1"/>
          <p:nvPr/>
        </p:nvSpPr>
        <p:spPr>
          <a:xfrm>
            <a:off x="548640" y="1920240"/>
            <a:ext cx="3566160" cy="640080"/>
          </a:xfrm>
          <a:prstGeom prst="rect">
            <a:avLst/>
          </a:prstGeom>
          <a:noFill/>
        </p:spPr>
        <p:txBody>
          <a:bodyPr wrap="square" lIns="0" rIns="0" tIns="0" bIns="0">
            <a:spAutoFit/>
          </a:bodyPr>
          <a:lstStyle/>
          <a:p>
            <a:pPr algn="l">
              <a:spcAft>
                <a:spcPts val="600"/>
              </a:spcAft>
            </a:pPr>
            <a:r>
              <a:rPr sz="3000" b="1">
                <a:solidFill>
                  <a:srgbClr val="C8102E"/>
                </a:solidFill>
                <a:latin typeface="Segoe UI"/>
              </a:rPr>
              <a:t>15</a:t>
            </a:r>
          </a:p>
        </p:txBody>
      </p:sp>
      <p:sp>
        <p:nvSpPr>
          <p:cNvPr id="7" name="TextBox 6"/>
          <p:cNvSpPr txBox="1"/>
          <p:nvPr/>
        </p:nvSpPr>
        <p:spPr>
          <a:xfrm>
            <a:off x="548640" y="2606040"/>
            <a:ext cx="3566160" cy="548640"/>
          </a:xfrm>
          <a:prstGeom prst="rect">
            <a:avLst/>
          </a:prstGeom>
          <a:noFill/>
        </p:spPr>
        <p:txBody>
          <a:bodyPr wrap="square" lIns="0" rIns="0" tIns="0" bIns="0">
            <a:spAutoFit/>
          </a:bodyPr>
          <a:lstStyle/>
          <a:p>
            <a:pPr algn="l">
              <a:spcAft>
                <a:spcPts val="600"/>
              </a:spcAft>
            </a:pPr>
            <a:r>
              <a:rPr sz="1050" b="0">
                <a:solidFill>
                  <a:srgbClr val="6B7480"/>
                </a:solidFill>
                <a:latin typeface="Segoe UI"/>
              </a:rPr>
              <a:t>yield-claim uploads. Engro makes none.</a:t>
            </a:r>
          </a:p>
        </p:txBody>
      </p:sp>
      <p:sp>
        <p:nvSpPr>
          <p:cNvPr id="8" name="TextBox 7"/>
          <p:cNvSpPr txBox="1"/>
          <p:nvPr/>
        </p:nvSpPr>
        <p:spPr>
          <a:xfrm>
            <a:off x="548640" y="320040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Yield claim</a:t>
            </a:r>
          </a:p>
        </p:txBody>
      </p:sp>
      <p:sp>
        <p:nvSpPr>
          <p:cNvPr id="9" name="TextBox 8"/>
          <p:cNvSpPr txBox="1"/>
          <p:nvPr/>
        </p:nvSpPr>
        <p:spPr>
          <a:xfrm>
            <a:off x="3291840" y="320040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15</a:t>
            </a:r>
          </a:p>
        </p:txBody>
      </p:sp>
      <p:sp>
        <p:nvSpPr>
          <p:cNvPr id="10" name="TextBox 9"/>
          <p:cNvSpPr txBox="1"/>
          <p:nvPr/>
        </p:nvSpPr>
        <p:spPr>
          <a:xfrm>
            <a:off x="548640" y="356616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National identity</a:t>
            </a:r>
          </a:p>
        </p:txBody>
      </p:sp>
      <p:sp>
        <p:nvSpPr>
          <p:cNvPr id="11" name="TextBox 10"/>
          <p:cNvSpPr txBox="1"/>
          <p:nvPr/>
        </p:nvSpPr>
        <p:spPr>
          <a:xfrm>
            <a:off x="3291840" y="356616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22</a:t>
            </a:r>
          </a:p>
        </p:txBody>
      </p:sp>
      <p:sp>
        <p:nvSpPr>
          <p:cNvPr id="12" name="TextBox 11"/>
          <p:cNvSpPr txBox="1"/>
          <p:nvPr/>
        </p:nvSpPr>
        <p:spPr>
          <a:xfrm>
            <a:off x="548640" y="393192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Multan Sultans</a:t>
            </a:r>
          </a:p>
        </p:txBody>
      </p:sp>
      <p:sp>
        <p:nvSpPr>
          <p:cNvPr id="13" name="TextBox 12"/>
          <p:cNvSpPr txBox="1"/>
          <p:nvPr/>
        </p:nvSpPr>
        <p:spPr>
          <a:xfrm>
            <a:off x="3291840" y="393192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22</a:t>
            </a:r>
          </a:p>
        </p:txBody>
      </p:sp>
      <p:sp>
        <p:nvSpPr>
          <p:cNvPr id="14" name="TextBox 13"/>
          <p:cNvSpPr txBox="1"/>
          <p:nvPr/>
        </p:nvSpPr>
        <p:spPr>
          <a:xfrm>
            <a:off x="548640" y="429768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Women in farming</a:t>
            </a:r>
          </a:p>
        </p:txBody>
      </p:sp>
      <p:sp>
        <p:nvSpPr>
          <p:cNvPr id="15" name="TextBox 14"/>
          <p:cNvSpPr txBox="1"/>
          <p:nvPr/>
        </p:nvSpPr>
        <p:spPr>
          <a:xfrm>
            <a:off x="3291840" y="429768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8</a:t>
            </a:r>
          </a:p>
        </p:txBody>
      </p:sp>
      <p:sp>
        <p:nvSpPr>
          <p:cNvPr id="16" name="Rectangle 15"/>
          <p:cNvSpPr/>
          <p:nvPr/>
        </p:nvSpPr>
        <p:spPr>
          <a:xfrm>
            <a:off x="448056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481328"/>
            <a:ext cx="3566160" cy="411480"/>
          </a:xfrm>
          <a:prstGeom prst="rect">
            <a:avLst/>
          </a:prstGeom>
          <a:noFill/>
        </p:spPr>
        <p:txBody>
          <a:bodyPr wrap="square" lIns="0" rIns="0" tIns="0" bIns="0">
            <a:spAutoFit/>
          </a:bodyPr>
          <a:lstStyle/>
          <a:p>
            <a:pPr algn="l">
              <a:spcAft>
                <a:spcPts val="600"/>
              </a:spcAft>
            </a:pPr>
            <a:r>
              <a:rPr sz="1400" b="1">
                <a:solidFill>
                  <a:srgbClr val="102A43"/>
                </a:solidFill>
                <a:latin typeface="Segoe UI"/>
              </a:rPr>
              <a:t>Only Engro</a:t>
            </a:r>
          </a:p>
        </p:txBody>
      </p:sp>
      <p:sp>
        <p:nvSpPr>
          <p:cNvPr id="18" name="TextBox 17"/>
          <p:cNvSpPr txBox="1"/>
          <p:nvPr/>
        </p:nvSpPr>
        <p:spPr>
          <a:xfrm>
            <a:off x="4480560" y="1920240"/>
            <a:ext cx="3566160" cy="640080"/>
          </a:xfrm>
          <a:prstGeom prst="rect">
            <a:avLst/>
          </a:prstGeom>
          <a:noFill/>
        </p:spPr>
        <p:txBody>
          <a:bodyPr wrap="square" lIns="0" rIns="0" tIns="0" bIns="0">
            <a:spAutoFit/>
          </a:bodyPr>
          <a:lstStyle/>
          <a:p>
            <a:pPr algn="l">
              <a:spcAft>
                <a:spcPts val="600"/>
              </a:spcAft>
            </a:pPr>
            <a:r>
              <a:rPr sz="3000" b="1">
                <a:solidFill>
                  <a:srgbClr val="C8102E"/>
                </a:solidFill>
                <a:latin typeface="Segoe UI"/>
              </a:rPr>
              <a:t>44</a:t>
            </a:r>
          </a:p>
        </p:txBody>
      </p:sp>
      <p:sp>
        <p:nvSpPr>
          <p:cNvPr id="19" name="TextBox 18"/>
          <p:cNvSpPr txBox="1"/>
          <p:nvPr/>
        </p:nvSpPr>
        <p:spPr>
          <a:xfrm>
            <a:off x="4480560" y="2606040"/>
            <a:ext cx="3566160" cy="548640"/>
          </a:xfrm>
          <a:prstGeom prst="rect">
            <a:avLst/>
          </a:prstGeom>
          <a:noFill/>
        </p:spPr>
        <p:txBody>
          <a:bodyPr wrap="square" lIns="0" rIns="0" tIns="0" bIns="0">
            <a:spAutoFit/>
          </a:bodyPr>
          <a:lstStyle/>
          <a:p>
            <a:pPr algn="l">
              <a:spcAft>
                <a:spcPts val="600"/>
              </a:spcAft>
            </a:pPr>
            <a:r>
              <a:rPr sz="1050" b="0">
                <a:solidFill>
                  <a:srgbClr val="6B7480"/>
                </a:solidFill>
                <a:latin typeface="Segoe UI"/>
              </a:rPr>
              <a:t>advisory uploads. Sarsabz makes 3.</a:t>
            </a:r>
          </a:p>
        </p:txBody>
      </p:sp>
      <p:sp>
        <p:nvSpPr>
          <p:cNvPr id="20" name="TextBox 19"/>
          <p:cNvSpPr txBox="1"/>
          <p:nvPr/>
        </p:nvSpPr>
        <p:spPr>
          <a:xfrm>
            <a:off x="4480560" y="320040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Advisory uploads</a:t>
            </a:r>
          </a:p>
        </p:txBody>
      </p:sp>
      <p:sp>
        <p:nvSpPr>
          <p:cNvPr id="21" name="TextBox 20"/>
          <p:cNvSpPr txBox="1"/>
          <p:nvPr/>
        </p:nvSpPr>
        <p:spPr>
          <a:xfrm>
            <a:off x="7223760" y="320040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44</a:t>
            </a:r>
          </a:p>
        </p:txBody>
      </p:sp>
      <p:sp>
        <p:nvSpPr>
          <p:cNvPr id="22" name="TextBox 21"/>
          <p:cNvSpPr txBox="1"/>
          <p:nvPr/>
        </p:nvSpPr>
        <p:spPr>
          <a:xfrm>
            <a:off x="4480560" y="356616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Named agronomist</a:t>
            </a:r>
          </a:p>
        </p:txBody>
      </p:sp>
      <p:sp>
        <p:nvSpPr>
          <p:cNvPr id="23" name="TextBox 22"/>
          <p:cNvSpPr txBox="1"/>
          <p:nvPr/>
        </p:nvSpPr>
        <p:spPr>
          <a:xfrm>
            <a:off x="7223760" y="356616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31</a:t>
            </a:r>
          </a:p>
        </p:txBody>
      </p:sp>
      <p:sp>
        <p:nvSpPr>
          <p:cNvPr id="24" name="TextBox 23"/>
          <p:cNvSpPr txBox="1"/>
          <p:nvPr/>
        </p:nvSpPr>
        <p:spPr>
          <a:xfrm>
            <a:off x="4480560" y="393192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Cost-saving claim</a:t>
            </a:r>
          </a:p>
        </p:txBody>
      </p:sp>
      <p:sp>
        <p:nvSpPr>
          <p:cNvPr id="25" name="TextBox 24"/>
          <p:cNvSpPr txBox="1"/>
          <p:nvPr/>
        </p:nvSpPr>
        <p:spPr>
          <a:xfrm>
            <a:off x="7223760" y="393192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6</a:t>
            </a:r>
          </a:p>
        </p:txBody>
      </p:sp>
      <p:sp>
        <p:nvSpPr>
          <p:cNvPr id="26" name="TextBox 25"/>
          <p:cNvSpPr txBox="1"/>
          <p:nvPr/>
        </p:nvSpPr>
        <p:spPr>
          <a:xfrm>
            <a:off x="4480560" y="429768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Authenticity claim</a:t>
            </a:r>
          </a:p>
        </p:txBody>
      </p:sp>
      <p:sp>
        <p:nvSpPr>
          <p:cNvPr id="27" name="TextBox 26"/>
          <p:cNvSpPr txBox="1"/>
          <p:nvPr/>
        </p:nvSpPr>
        <p:spPr>
          <a:xfrm>
            <a:off x="7223760" y="429768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3</a:t>
            </a:r>
          </a:p>
        </p:txBody>
      </p:sp>
      <p:sp>
        <p:nvSpPr>
          <p:cNvPr id="28" name="Rectangle 27"/>
          <p:cNvSpPr/>
          <p:nvPr/>
        </p:nvSpPr>
        <p:spPr>
          <a:xfrm>
            <a:off x="841248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1481328"/>
            <a:ext cx="3566160" cy="411480"/>
          </a:xfrm>
          <a:prstGeom prst="rect">
            <a:avLst/>
          </a:prstGeom>
          <a:noFill/>
        </p:spPr>
        <p:txBody>
          <a:bodyPr wrap="square" lIns="0" rIns="0" tIns="0" bIns="0">
            <a:spAutoFit/>
          </a:bodyPr>
          <a:lstStyle/>
          <a:p>
            <a:pPr algn="l">
              <a:spcAft>
                <a:spcPts val="600"/>
              </a:spcAft>
            </a:pPr>
            <a:r>
              <a:rPr sz="1400" b="1">
                <a:solidFill>
                  <a:srgbClr val="102A43"/>
                </a:solidFill>
                <a:latin typeface="Segoe UI"/>
              </a:rPr>
              <a:t>Nobody</a:t>
            </a:r>
          </a:p>
        </p:txBody>
      </p:sp>
      <p:sp>
        <p:nvSpPr>
          <p:cNvPr id="30" name="TextBox 29"/>
          <p:cNvSpPr txBox="1"/>
          <p:nvPr/>
        </p:nvSpPr>
        <p:spPr>
          <a:xfrm>
            <a:off x="8412480" y="1920240"/>
            <a:ext cx="3566160" cy="640080"/>
          </a:xfrm>
          <a:prstGeom prst="rect">
            <a:avLst/>
          </a:prstGeom>
          <a:noFill/>
        </p:spPr>
        <p:txBody>
          <a:bodyPr wrap="square" lIns="0" rIns="0" tIns="0" bIns="0">
            <a:spAutoFit/>
          </a:bodyPr>
          <a:lstStyle/>
          <a:p>
            <a:pPr algn="l">
              <a:spcAft>
                <a:spcPts val="600"/>
              </a:spcAft>
            </a:pPr>
            <a:r>
              <a:rPr sz="3000" b="1">
                <a:solidFill>
                  <a:srgbClr val="C8102E"/>
                </a:solidFill>
                <a:latin typeface="Segoe UI"/>
              </a:rPr>
              <a:t>0</a:t>
            </a:r>
          </a:p>
        </p:txBody>
      </p:sp>
      <p:sp>
        <p:nvSpPr>
          <p:cNvPr id="31" name="TextBox 30"/>
          <p:cNvSpPr txBox="1"/>
          <p:nvPr/>
        </p:nvSpPr>
        <p:spPr>
          <a:xfrm>
            <a:off x="8412480" y="2606040"/>
            <a:ext cx="3566160" cy="548640"/>
          </a:xfrm>
          <a:prstGeom prst="rect">
            <a:avLst/>
          </a:prstGeom>
          <a:noFill/>
        </p:spPr>
        <p:txBody>
          <a:bodyPr wrap="square" lIns="0" rIns="0" tIns="0" bIns="0">
            <a:spAutoFit/>
          </a:bodyPr>
          <a:lstStyle/>
          <a:p>
            <a:pPr algn="l">
              <a:spcAft>
                <a:spcPts val="600"/>
              </a:spcAft>
            </a:pPr>
            <a:r>
              <a:rPr sz="1050" b="0">
                <a:solidFill>
                  <a:srgbClr val="6B7480"/>
                </a:solidFill>
                <a:latin typeface="Segoe UI"/>
              </a:rPr>
              <a:t>uploads showing a yield result beside the old way - in titles, thumbnails or descriptions.</a:t>
            </a:r>
          </a:p>
        </p:txBody>
      </p:sp>
      <p:sp>
        <p:nvSpPr>
          <p:cNvPr id="32" name="TextBox 31"/>
          <p:cNvSpPr txBox="1"/>
          <p:nvPr/>
        </p:nvSpPr>
        <p:spPr>
          <a:xfrm>
            <a:off x="8412480" y="320040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Side-by-side field</a:t>
            </a:r>
          </a:p>
        </p:txBody>
      </p:sp>
      <p:sp>
        <p:nvSpPr>
          <p:cNvPr id="33" name="TextBox 32"/>
          <p:cNvSpPr txBox="1"/>
          <p:nvPr/>
        </p:nvSpPr>
        <p:spPr>
          <a:xfrm>
            <a:off x="11155680" y="320040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0</a:t>
            </a:r>
          </a:p>
        </p:txBody>
      </p:sp>
      <p:sp>
        <p:nvSpPr>
          <p:cNvPr id="34" name="TextBox 33"/>
          <p:cNvSpPr txBox="1"/>
          <p:nvPr/>
        </p:nvSpPr>
        <p:spPr>
          <a:xfrm>
            <a:off x="8412480" y="356616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Published demo plot</a:t>
            </a:r>
          </a:p>
        </p:txBody>
      </p:sp>
      <p:sp>
        <p:nvSpPr>
          <p:cNvPr id="35" name="TextBox 34"/>
          <p:cNvSpPr txBox="1"/>
          <p:nvPr/>
        </p:nvSpPr>
        <p:spPr>
          <a:xfrm>
            <a:off x="11155680" y="356616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0</a:t>
            </a:r>
          </a:p>
        </p:txBody>
      </p:sp>
      <p:sp>
        <p:nvSpPr>
          <p:cNvPr id="36" name="TextBox 35"/>
          <p:cNvSpPr txBox="1"/>
          <p:nvPr/>
        </p:nvSpPr>
        <p:spPr>
          <a:xfrm>
            <a:off x="8412480" y="393192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NP vs DAP price gap</a:t>
            </a:r>
          </a:p>
        </p:txBody>
      </p:sp>
      <p:sp>
        <p:nvSpPr>
          <p:cNvPr id="37" name="TextBox 36"/>
          <p:cNvSpPr txBox="1"/>
          <p:nvPr/>
        </p:nvSpPr>
        <p:spPr>
          <a:xfrm>
            <a:off x="11155680" y="393192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0</a:t>
            </a:r>
          </a:p>
        </p:txBody>
      </p:sp>
      <p:sp>
        <p:nvSpPr>
          <p:cNvPr id="38" name="Rectangle 37"/>
          <p:cNvSpPr/>
          <p:nvPr/>
        </p:nvSpPr>
        <p:spPr>
          <a:xfrm>
            <a:off x="548640" y="5806440"/>
            <a:ext cx="11064240" cy="731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943600"/>
            <a:ext cx="10607040" cy="594360"/>
          </a:xfrm>
          <a:prstGeom prst="rect">
            <a:avLst/>
          </a:prstGeom>
          <a:noFill/>
        </p:spPr>
        <p:txBody>
          <a:bodyPr wrap="square" lIns="0" rIns="0" tIns="0" bIns="0">
            <a:spAutoFit/>
          </a:bodyPr>
          <a:lstStyle/>
          <a:p>
            <a:pPr algn="l">
              <a:spcAft>
                <a:spcPts val="0"/>
              </a:spcAft>
            </a:pPr>
            <a:r>
              <a:rPr sz="1250" b="1">
                <a:solidFill>
                  <a:srgbClr val="102A43"/>
                </a:solidFill>
                <a:latin typeface="Segoe UI"/>
              </a:rPr>
              <a:t>The open ground is proof: a result on a real field, beside DAP and urea.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863840" cy="457200"/>
          </a:xfrm>
          <a:prstGeom prst="rect">
            <a:avLst/>
          </a:prstGeom>
          <a:noFill/>
        </p:spPr>
        <p:txBody>
          <a:bodyPr wrap="square" lIns="0" rIns="0" tIns="0" bIns="0">
            <a:spAutoFit/>
          </a:bodyPr>
          <a:lstStyle/>
          <a:p>
            <a:pPr algn="l">
              <a:spcAft>
                <a:spcPts val="600"/>
              </a:spcAft>
            </a:pPr>
            <a:r>
              <a:rPr sz="2200" b="1">
                <a:solidFill>
                  <a:srgbClr val="FFFFFF"/>
                </a:solidFill>
                <a:latin typeface="Segoe UI"/>
              </a:rPr>
              <a:t>Sarsabz</a:t>
            </a:r>
          </a:p>
        </p:txBody>
      </p:sp>
      <p:sp>
        <p:nvSpPr>
          <p:cNvPr id="4" name="TextBox 3"/>
          <p:cNvSpPr txBox="1"/>
          <p:nvPr/>
        </p:nvSpPr>
        <p:spPr>
          <a:xfrm>
            <a:off x="502920" y="658368"/>
            <a:ext cx="7863840" cy="320040"/>
          </a:xfrm>
          <a:prstGeom prst="rect">
            <a:avLst/>
          </a:prstGeom>
          <a:noFill/>
        </p:spPr>
        <p:txBody>
          <a:bodyPr wrap="square" lIns="0" rIns="0" tIns="0" bIns="0">
            <a:spAutoFit/>
          </a:bodyPr>
          <a:lstStyle/>
          <a:p>
            <a:pPr algn="l">
              <a:spcAft>
                <a:spcPts val="600"/>
              </a:spcAft>
            </a:pPr>
            <a:r>
              <a:rPr sz="1200" b="0">
                <a:solidFill>
                  <a:srgbClr val="9FB4C7"/>
                </a:solidFill>
                <a:latin typeface="Segoe UI"/>
              </a:rPr>
              <a:t>@Sarsabz   ·   CLIENT   ·   396K YouTube followers   ·   90 ads coded</a:t>
            </a:r>
          </a:p>
        </p:txBody>
      </p:sp>
      <p:pic>
        <p:nvPicPr>
          <p:cNvPr id="5" name="Picture 4" descr="Sarsabz.jpg"/>
          <p:cNvPicPr>
            <a:picLocks noChangeAspect="1"/>
          </p:cNvPicPr>
          <p:nvPr/>
        </p:nvPicPr>
        <p:blipFill>
          <a:blip r:embed="rId2"/>
          <a:stretch>
            <a:fillRect/>
          </a:stretch>
        </p:blipFill>
        <p:spPr>
          <a:xfrm>
            <a:off x="502920" y="1371600"/>
            <a:ext cx="6126480" cy="3879605"/>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1600200"/>
            <a:ext cx="4754880" cy="822960"/>
          </a:xfrm>
          <a:prstGeom prst="rect">
            <a:avLst/>
          </a:prstGeom>
          <a:noFill/>
        </p:spPr>
        <p:txBody>
          <a:bodyPr wrap="square" lIns="0" rIns="0" tIns="0" bIns="0">
            <a:spAutoFit/>
          </a:bodyPr>
          <a:lstStyle/>
          <a:p>
            <a:pPr algn="l">
              <a:spcAft>
                <a:spcPts val="600"/>
              </a:spcAft>
            </a:pPr>
            <a:r>
              <a:rPr sz="1700" b="1">
                <a:solidFill>
                  <a:srgbClr val="102A43"/>
                </a:solidFill>
                <a:latin typeface="Segoe UI"/>
              </a:rPr>
              <a:t>Talks at values, and proves almost nothing it claims.</a:t>
            </a:r>
          </a:p>
        </p:txBody>
      </p:sp>
      <p:sp>
        <p:nvSpPr>
          <p:cNvPr id="8" name="TextBox 7"/>
          <p:cNvSpPr txBox="1"/>
          <p:nvPr/>
        </p:nvSpPr>
        <p:spPr>
          <a:xfrm>
            <a:off x="6949440" y="2560320"/>
            <a:ext cx="4754880" cy="2286000"/>
          </a:xfrm>
          <a:prstGeom prst="rect">
            <a:avLst/>
          </a:prstGeom>
          <a:noFill/>
        </p:spPr>
        <p:txBody>
          <a:bodyPr wrap="square" lIns="0" rIns="0" tIns="0" bIns="0">
            <a:spAutoFit/>
          </a:bodyPr>
          <a:lstStyle/>
          <a:p>
            <a:pPr algn="l">
              <a:spcAft>
                <a:spcPts val="700"/>
              </a:spcAft>
            </a:pPr>
            <a:r>
              <a:rPr sz="1150" b="0">
                <a:solidFill>
                  <a:srgbClr val="1A1A1A"/>
                </a:solidFill>
                <a:latin typeface="Segoe UI"/>
              </a:rPr>
              <a:t>·  10 of 11 '10% se bhi ziyada izaafi paidawaar' films show nothing but the badge - one walking-farmer template re-cut for wheat, maize, sugarcane, cotton and rice.</a:t>
            </a:r>
          </a:p>
          <a:p>
            <a:pPr algn="l">
              <a:spcAft>
                <a:spcPts val="700"/>
              </a:spcAft>
            </a:pPr>
            <a:r>
              <a:rPr sz="1150" b="0">
                <a:solidFill>
                  <a:srgbClr val="1A1A1A"/>
                </a:solidFill>
                <a:latin typeface="Segoe UI"/>
              </a:rPr>
              <a:t>·  'Jeet' means three things: Sarsabz Ki Jeet (a competition win), 'Nitrophos ko laga aur jeeta ja' (a lucky draw), 'Jeet ka naam, Sarsabz Ke Sultan' (cricket).</a:t>
            </a:r>
          </a:p>
          <a:p>
            <a:pPr algn="l">
              <a:spcAft>
                <a:spcPts val="700"/>
              </a:spcAft>
            </a:pPr>
            <a:r>
              <a:rPr sz="1150" b="0">
                <a:solidFill>
                  <a:srgbClr val="1A1A1A"/>
                </a:solidFill>
                <a:latin typeface="Segoe UI"/>
              </a:rPr>
              <a:t>·  22 Multan Sultans uploads and 17 Dil Se Dekho contest posts - 43% of output, cast young, with no farmer and no product.</a:t>
            </a:r>
          </a:p>
          <a:p>
            <a:pPr algn="l">
              <a:spcAft>
                <a:spcPts val="700"/>
              </a:spcAft>
            </a:pPr>
            <a:r>
              <a:rPr sz="1150" b="0">
                <a:solidFill>
                  <a:srgbClr val="1A1A1A"/>
                </a:solidFill>
                <a:latin typeface="Segoe UI"/>
              </a:rPr>
              <a:t>·  The proof it does have is strong: Ki Jeet names winners and yields - '69 man 38 kilo fi-acre', '40 mein se 34 azlaa'.</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69440" y="5120640"/>
            <a:ext cx="4514880" cy="1097280"/>
          </a:xfrm>
          <a:prstGeom prst="rect">
            <a:avLst/>
          </a:prstGeom>
          <a:noFill/>
        </p:spPr>
        <p:txBody>
          <a:bodyPr wrap="square" lIns="0" rIns="0" tIns="0" bIns="0">
            <a:spAutoFit/>
          </a:bodyPr>
          <a:lstStyle/>
          <a:p>
            <a:pPr algn="l">
              <a:spcAft>
                <a:spcPts val="400"/>
              </a:spcAft>
            </a:pPr>
            <a:r>
              <a:rPr sz="1200" b="0">
                <a:solidFill>
                  <a:srgbClr val="102A43"/>
                </a:solidFill>
                <a:latin typeface="Segoe UI"/>
              </a:rPr>
              <a:t>The largest owned audience in the category puts its media weight on a yield promise it proves in 5 of 15 uploads, and its volume on content that says nothing about the bag.</a:t>
            </a:r>
          </a:p>
        </p:txBody>
      </p:sp>
      <p:sp>
        <p:nvSpPr>
          <p:cNvPr id="11" name="TextBox 10"/>
          <p:cNvSpPr txBox="1"/>
          <p:nvPr/>
        </p:nvSpPr>
        <p:spPr>
          <a:xfrm>
            <a:off x="6949440" y="6355080"/>
            <a:ext cx="4754880" cy="457200"/>
          </a:xfrm>
          <a:prstGeom prst="rect">
            <a:avLst/>
          </a:prstGeom>
          <a:noFill/>
        </p:spPr>
        <p:txBody>
          <a:bodyPr wrap="square" lIns="0" rIns="0" tIns="0" bIns="0">
            <a:spAutoFit/>
          </a:bodyPr>
          <a:lstStyle/>
          <a:p>
            <a:pPr algn="l">
              <a:spcAft>
                <a:spcPts val="0"/>
              </a:spcAft>
            </a:pPr>
            <a:r>
              <a:rPr sz="1050" b="0">
                <a:solidFill>
                  <a:srgbClr val="C8102E"/>
                </a:solidFill>
                <a:latin typeface="Segoe UI"/>
              </a:rPr>
              <a:t>WHY:  with the only CAN and 93% of NP, Sarsabz has had almost no one to argue with on its own products.</a:t>
            </a:r>
          </a:p>
        </p:txBody>
      </p:sp>
      <p:sp>
        <p:nvSpPr>
          <p:cNvPr id="12" name="TextBox 11"/>
          <p:cNvSpPr txBox="1"/>
          <p:nvPr/>
        </p:nvSpPr>
        <p:spPr>
          <a:xfrm>
            <a:off x="502920" y="6355080"/>
            <a:ext cx="612648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54/90 no proof device   ·   5/90 address the core objection   ·   0/90 brand-building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863840" cy="457200"/>
          </a:xfrm>
          <a:prstGeom prst="rect">
            <a:avLst/>
          </a:prstGeom>
          <a:noFill/>
        </p:spPr>
        <p:txBody>
          <a:bodyPr wrap="square" lIns="0" rIns="0" tIns="0" bIns="0">
            <a:spAutoFit/>
          </a:bodyPr>
          <a:lstStyle/>
          <a:p>
            <a:pPr algn="l">
              <a:spcAft>
                <a:spcPts val="600"/>
              </a:spcAft>
            </a:pPr>
            <a:r>
              <a:rPr sz="2200" b="1">
                <a:solidFill>
                  <a:srgbClr val="FFFFFF"/>
                </a:solidFill>
                <a:latin typeface="Segoe UI"/>
              </a:rPr>
              <a:t>Engro Fertilizers</a:t>
            </a:r>
          </a:p>
        </p:txBody>
      </p:sp>
      <p:sp>
        <p:nvSpPr>
          <p:cNvPr id="4" name="TextBox 3"/>
          <p:cNvSpPr txBox="1"/>
          <p:nvPr/>
        </p:nvSpPr>
        <p:spPr>
          <a:xfrm>
            <a:off x="502920" y="658368"/>
            <a:ext cx="7863840" cy="320040"/>
          </a:xfrm>
          <a:prstGeom prst="rect">
            <a:avLst/>
          </a:prstGeom>
          <a:noFill/>
        </p:spPr>
        <p:txBody>
          <a:bodyPr wrap="square" lIns="0" rIns="0" tIns="0" bIns="0">
            <a:spAutoFit/>
          </a:bodyPr>
          <a:lstStyle/>
          <a:p>
            <a:pPr algn="l">
              <a:spcAft>
                <a:spcPts val="600"/>
              </a:spcAft>
            </a:pPr>
            <a:r>
              <a:rPr sz="1200" b="0">
                <a:solidFill>
                  <a:srgbClr val="9FB4C7"/>
                </a:solidFill>
                <a:latin typeface="Segoe UI"/>
              </a:rPr>
              <a:t>@engrofertilizerbrands   ·   DIRECT COMPETITOR   ·   81.2K YouTube followers   ·   110 ads coded</a:t>
            </a:r>
          </a:p>
        </p:txBody>
      </p:sp>
      <p:pic>
        <p:nvPicPr>
          <p:cNvPr id="5" name="Picture 4" descr="engrofertilizerbrands.jpg"/>
          <p:cNvPicPr>
            <a:picLocks noChangeAspect="1"/>
          </p:cNvPicPr>
          <p:nvPr/>
        </p:nvPicPr>
        <p:blipFill>
          <a:blip r:embed="rId2"/>
          <a:stretch>
            <a:fillRect/>
          </a:stretch>
        </p:blipFill>
        <p:spPr>
          <a:xfrm>
            <a:off x="502920" y="1371600"/>
            <a:ext cx="6126480" cy="3879605"/>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1600200"/>
            <a:ext cx="4754880" cy="822960"/>
          </a:xfrm>
          <a:prstGeom prst="rect">
            <a:avLst/>
          </a:prstGeom>
          <a:noFill/>
        </p:spPr>
        <p:txBody>
          <a:bodyPr wrap="square" lIns="0" rIns="0" tIns="0" bIns="0">
            <a:spAutoFit/>
          </a:bodyPr>
          <a:lstStyle/>
          <a:p>
            <a:pPr algn="l">
              <a:spcAft>
                <a:spcPts val="600"/>
              </a:spcAft>
            </a:pPr>
            <a:r>
              <a:rPr sz="1700" b="1">
                <a:solidFill>
                  <a:srgbClr val="102A43"/>
                </a:solidFill>
                <a:latin typeface="Segoe UI"/>
              </a:rPr>
              <a:t>Owns advice - and answers the farmer's question in 58% of uploads.</a:t>
            </a:r>
          </a:p>
        </p:txBody>
      </p:sp>
      <p:sp>
        <p:nvSpPr>
          <p:cNvPr id="8" name="TextBox 7"/>
          <p:cNvSpPr txBox="1"/>
          <p:nvPr/>
        </p:nvSpPr>
        <p:spPr>
          <a:xfrm>
            <a:off x="6949440" y="2560320"/>
            <a:ext cx="4754880" cy="2286000"/>
          </a:xfrm>
          <a:prstGeom prst="rect">
            <a:avLst/>
          </a:prstGeom>
          <a:noFill/>
        </p:spPr>
        <p:txBody>
          <a:bodyPr wrap="square" lIns="0" rIns="0" tIns="0" bIns="0">
            <a:spAutoFit/>
          </a:bodyPr>
          <a:lstStyle/>
          <a:p>
            <a:pPr algn="l">
              <a:spcAft>
                <a:spcPts val="700"/>
              </a:spcAft>
            </a:pPr>
            <a:r>
              <a:rPr sz="1150" b="0">
                <a:solidFill>
                  <a:srgbClr val="1A1A1A"/>
                </a:solidFill>
                <a:latin typeface="Segoe UI"/>
              </a:rPr>
              <a:t>·  Engro Kahanian: a named agronomist solving one crop problem per film - 'Pani Ki Kami Ka Hal', 'Soil Testing Ki Ehmiyat'.</a:t>
            </a:r>
          </a:p>
          <a:p>
            <a:pPr algn="l">
              <a:spcAft>
                <a:spcPts val="700"/>
              </a:spcAft>
            </a:pPr>
            <a:r>
              <a:rPr sz="1150" b="0">
                <a:solidFill>
                  <a:srgbClr val="1A1A1A"/>
                </a:solidFill>
                <a:latin typeface="Segoe UI"/>
              </a:rPr>
              <a:t>·  'Kam Kharch, Zyada Paidawar!' - an 89-minute podcast on saving and profit in maize and rice.</a:t>
            </a:r>
          </a:p>
          <a:p>
            <a:pPr algn="l">
              <a:spcAft>
                <a:spcPts val="700"/>
              </a:spcAft>
            </a:pPr>
            <a:r>
              <a:rPr sz="1150" b="0">
                <a:solidFill>
                  <a:srgbClr val="1A1A1A"/>
                </a:solidFill>
                <a:latin typeface="Segoe UI"/>
              </a:rPr>
              <a:t>·  Zinc explained with arithmetic; 'DAP Bharosa Seal - Chamkay Toh Asal, Na Chamkay Toh Naqal', verified by SMS.</a:t>
            </a:r>
          </a:p>
          <a:p>
            <a:pPr algn="l">
              <a:spcAft>
                <a:spcPts val="700"/>
              </a:spcAft>
            </a:pPr>
            <a:r>
              <a:rPr sz="1150" b="0">
                <a:solidFill>
                  <a:srgbClr val="1A1A1A"/>
                </a:solidFill>
                <a:latin typeface="Segoe UI"/>
              </a:rPr>
              <a:t>·  Engro Markaz and Mitti Mahir - retail centre, app and soil test: 28 of 110 uploads drive to an owned service.</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69440" y="5120640"/>
            <a:ext cx="4514880" cy="1097280"/>
          </a:xfrm>
          <a:prstGeom prst="rect">
            <a:avLst/>
          </a:prstGeom>
          <a:noFill/>
        </p:spPr>
        <p:txBody>
          <a:bodyPr wrap="square" lIns="0" rIns="0" tIns="0" bIns="0">
            <a:spAutoFit/>
          </a:bodyPr>
          <a:lstStyle/>
          <a:p>
            <a:pPr algn="l">
              <a:spcAft>
                <a:spcPts val="400"/>
              </a:spcAft>
            </a:pPr>
            <a:r>
              <a:rPr sz="1200" b="0">
                <a:solidFill>
                  <a:srgbClr val="102A43"/>
                </a:solidFill>
                <a:latin typeface="Segoe UI"/>
              </a:rPr>
              <a:t>Engro sells near-commodity urea and DAP, so it competes on everything around the bag. It has built the most complete farmer-facing service story in the category - and now sells NP+ and imported TSP, inside Fatima's categories.</a:t>
            </a:r>
          </a:p>
        </p:txBody>
      </p:sp>
      <p:sp>
        <p:nvSpPr>
          <p:cNvPr id="11" name="TextBox 10"/>
          <p:cNvSpPr txBox="1"/>
          <p:nvPr/>
        </p:nvSpPr>
        <p:spPr>
          <a:xfrm>
            <a:off x="6949440" y="6355080"/>
            <a:ext cx="4754880" cy="457200"/>
          </a:xfrm>
          <a:prstGeom prst="rect">
            <a:avLst/>
          </a:prstGeom>
          <a:noFill/>
        </p:spPr>
        <p:txBody>
          <a:bodyPr wrap="square" lIns="0" rIns="0" tIns="0" bIns="0">
            <a:spAutoFit/>
          </a:bodyPr>
          <a:lstStyle/>
          <a:p>
            <a:pPr algn="l">
              <a:spcAft>
                <a:spcPts val="0"/>
              </a:spcAft>
            </a:pPr>
            <a:r>
              <a:rPr sz="1050" b="0">
                <a:solidFill>
                  <a:srgbClr val="C8102E"/>
                </a:solidFill>
                <a:latin typeface="Segoe UI"/>
              </a:rPr>
              <a:t>WHY:  commodity product, differentiated service - the advice is the product.</a:t>
            </a:r>
          </a:p>
        </p:txBody>
      </p:sp>
      <p:sp>
        <p:nvSpPr>
          <p:cNvPr id="12" name="TextBox 11"/>
          <p:cNvSpPr txBox="1"/>
          <p:nvPr/>
        </p:nvSpPr>
        <p:spPr>
          <a:xfrm>
            <a:off x="502920" y="6355080"/>
            <a:ext cx="612648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36/110 no proof device   ·   64/110 address the core objection   ·   10/110 brand-building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3716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10424160" cy="1280160"/>
          </a:xfrm>
          <a:prstGeom prst="rect">
            <a:avLst/>
          </a:prstGeom>
          <a:noFill/>
        </p:spPr>
        <p:txBody>
          <a:bodyPr wrap="square" lIns="0" rIns="0" tIns="0" bIns="0">
            <a:spAutoFit/>
          </a:bodyPr>
          <a:lstStyle/>
          <a:p>
            <a:pPr algn="l">
              <a:spcAft>
                <a:spcPts val="600"/>
              </a:spcAft>
            </a:pPr>
            <a:r>
              <a:rPr sz="3800" b="1">
                <a:solidFill>
                  <a:srgbClr val="FFFFFF"/>
                </a:solidFill>
                <a:latin typeface="Segoe UI"/>
              </a:rPr>
              <a:t>The vacant territory is proof on a real field.</a:t>
            </a:r>
          </a:p>
        </p:txBody>
      </p:sp>
      <p:sp>
        <p:nvSpPr>
          <p:cNvPr id="5" name="TextBox 4"/>
          <p:cNvSpPr txBox="1"/>
          <p:nvPr/>
        </p:nvSpPr>
        <p:spPr>
          <a:xfrm>
            <a:off x="822960" y="3017520"/>
            <a:ext cx="10424160" cy="2377440"/>
          </a:xfrm>
          <a:prstGeom prst="rect">
            <a:avLst/>
          </a:prstGeom>
          <a:noFill/>
        </p:spPr>
        <p:txBody>
          <a:bodyPr wrap="square" lIns="0" rIns="0" tIns="0" bIns="0">
            <a:spAutoFit/>
          </a:bodyPr>
          <a:lstStyle/>
          <a:p>
            <a:pPr algn="l">
              <a:spcAft>
                <a:spcPts val="1200"/>
              </a:spcAft>
            </a:pPr>
            <a:r>
              <a:rPr sz="1500" b="0">
                <a:solidFill>
                  <a:srgbClr val="C7D4E0"/>
                </a:solidFill>
                <a:latin typeface="Segoe UI"/>
              </a:rPr>
              <a:t>Engro owns advice. Sarsabz owns the loudest promise. Nobody shows the result beside the old way.</a:t>
            </a:r>
          </a:p>
          <a:p>
            <a:pPr algn="l">
              <a:spcAft>
                <a:spcPts val="1200"/>
              </a:spcAft>
            </a:pPr>
            <a:r>
              <a:rPr sz="1500" b="0">
                <a:solidFill>
                  <a:srgbClr val="C7D4E0"/>
                </a:solidFill>
                <a:latin typeface="Segoe UI"/>
              </a:rPr>
              <a:t>Sarsabz is the only brand that can: the only CAN, 93% of NP, 500+ demo plots, and Ki Jeet winners in 34 of 40 districts.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424160" cy="640080"/>
          </a:xfrm>
          <a:prstGeom prst="rect">
            <a:avLst/>
          </a:prstGeom>
          <a:noFill/>
        </p:spPr>
        <p:txBody>
          <a:bodyPr wrap="square" lIns="0" rIns="0" tIns="0" bIns="0">
            <a:spAutoFit/>
          </a:bodyPr>
          <a:lstStyle/>
          <a:p>
            <a:pPr algn="l">
              <a:spcAft>
                <a:spcPts val="200"/>
              </a:spcAft>
            </a:pPr>
            <a:r>
              <a:rPr sz="4000" b="1">
                <a:solidFill>
                  <a:srgbClr val="FFFFFF"/>
                </a:solidFill>
                <a:latin typeface="Segoe UI"/>
              </a:rPr>
              <a:t>The Brand Meaning Ladder</a:t>
            </a:r>
          </a:p>
        </p:txBody>
      </p:sp>
      <p:sp>
        <p:nvSpPr>
          <p:cNvPr id="5" name="TextBox 4"/>
          <p:cNvSpPr txBox="1"/>
          <p:nvPr/>
        </p:nvSpPr>
        <p:spPr>
          <a:xfrm>
            <a:off x="822960" y="3246120"/>
            <a:ext cx="10424160" cy="1280160"/>
          </a:xfrm>
          <a:prstGeom prst="rect">
            <a:avLst/>
          </a:prstGeom>
          <a:noFill/>
        </p:spPr>
        <p:txBody>
          <a:bodyPr wrap="square" lIns="0" rIns="0" tIns="0" bIns="0">
            <a:spAutoFit/>
          </a:bodyPr>
          <a:lstStyle/>
          <a:p>
            <a:pPr algn="l">
              <a:spcAft>
                <a:spcPts val="0"/>
              </a:spcAft>
            </a:pPr>
            <a:r>
              <a:rPr sz="1800" b="0">
                <a:solidFill>
                  <a:srgbClr val="9FB4C7"/>
                </a:solidFill>
                <a:latin typeface="Segoe UI"/>
              </a:rPr>
              <a:t>A simple way to understand how farmers see a brand - from what it is and does, to what it means to them.</a:t>
            </a:r>
          </a:p>
          <a:p>
            <a:pPr algn="l">
              <a:spcAft>
                <a:spcPts val="0"/>
              </a:spcAft>
            </a:pPr>
            <a:r>
              <a:rPr sz="1800" b="0">
                <a:solidFill>
                  <a:srgbClr val="9FB4C7"/>
                </a:solidFill>
                <a:latin typeface="Segoe UI"/>
              </a:rPr>
              <a:t/>
            </a:r>
          </a:p>
          <a:p>
            <a:pPr algn="l">
              <a:spcAft>
                <a:spcPts val="0"/>
              </a:spcAft>
            </a:pPr>
            <a:r>
              <a:rPr sz="1800" b="0">
                <a:solidFill>
                  <a:srgbClr val="9FB4C7"/>
                </a:solidFill>
                <a:latin typeface="Segoe UI"/>
              </a:rPr>
              <a:t>From functional benefits → to emotions → to values and purpose.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457200"/>
          </a:xfrm>
          <a:prstGeom prst="rect">
            <a:avLst/>
          </a:prstGeom>
          <a:noFill/>
        </p:spPr>
        <p:txBody>
          <a:bodyPr wrap="square" lIns="0" rIns="0" tIns="0" bIns="0">
            <a:spAutoFit/>
          </a:bodyPr>
          <a:lstStyle/>
          <a:p>
            <a:pPr algn="l">
              <a:spcAft>
                <a:spcPts val="200"/>
              </a:spcAft>
            </a:pPr>
            <a:r>
              <a:rPr sz="2000" b="1">
                <a:solidFill>
                  <a:srgbClr val="FFFFFF"/>
                </a:solidFill>
                <a:latin typeface="Segoe UI"/>
              </a:rPr>
              <a:t>Levels of branding: where the category is, and where Sarsabz is talking</a:t>
            </a:r>
          </a:p>
        </p:txBody>
      </p:sp>
      <p:sp>
        <p:nvSpPr>
          <p:cNvPr id="4" name="TextBox 3"/>
          <p:cNvSpPr txBox="1"/>
          <p:nvPr/>
        </p:nvSpPr>
        <p:spPr>
          <a:xfrm>
            <a:off x="548640" y="1005840"/>
            <a:ext cx="11064240" cy="320040"/>
          </a:xfrm>
          <a:prstGeom prst="rect">
            <a:avLst/>
          </a:prstGeom>
          <a:noFill/>
        </p:spPr>
        <p:txBody>
          <a:bodyPr wrap="square" lIns="0" rIns="0" tIns="0" bIns="0">
            <a:spAutoFit/>
          </a:bodyPr>
          <a:lstStyle/>
          <a:p>
            <a:pPr algn="l">
              <a:spcAft>
                <a:spcPts val="200"/>
              </a:spcAft>
            </a:pPr>
            <a:r>
              <a:rPr sz="1050" b="1">
                <a:solidFill>
                  <a:srgbClr val="102A43"/>
                </a:solidFill>
                <a:latin typeface="Segoe UI"/>
              </a:rPr>
              <a:t>Each brand sits on the level most of its coded posts occupy (mean in brackets). Computed from 200 coded uploads - 90 Sarsabz, 110 Engro - not asserted.</a:t>
            </a:r>
          </a:p>
        </p:txBody>
      </p:sp>
      <p:sp>
        <p:nvSpPr>
          <p:cNvPr id="5" name="TextBox 4"/>
          <p:cNvSpPr txBox="1"/>
          <p:nvPr/>
        </p:nvSpPr>
        <p:spPr>
          <a:xfrm>
            <a:off x="658368" y="1417320"/>
            <a:ext cx="265176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3566160" y="1417320"/>
            <a:ext cx="475488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BRANDS AT THIS LEVEL (MEAN LEVEL)</a:t>
            </a:r>
          </a:p>
        </p:txBody>
      </p:sp>
      <p:sp>
        <p:nvSpPr>
          <p:cNvPr id="7" name="TextBox 6"/>
          <p:cNvSpPr txBox="1"/>
          <p:nvPr/>
        </p:nvSpPr>
        <p:spPr>
          <a:xfrm>
            <a:off x="8503920" y="1417320"/>
            <a:ext cx="301752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
            </a:r>
          </a:p>
        </p:txBody>
      </p:sp>
      <p:sp>
        <p:nvSpPr>
          <p:cNvPr id="8" name="Rectangle 7"/>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071616"/>
            <a:ext cx="10607040" cy="457200"/>
          </a:xfrm>
          <a:prstGeom prst="rect">
            <a:avLst/>
          </a:prstGeom>
          <a:noFill/>
        </p:spPr>
        <p:txBody>
          <a:bodyPr wrap="square" lIns="0" rIns="0" tIns="0" bIns="0">
            <a:spAutoFit/>
          </a:bodyPr>
          <a:lstStyle/>
          <a:p>
            <a:pPr algn="l">
              <a:spcAft>
                <a:spcPts val="200"/>
              </a:spcAft>
            </a:pPr>
            <a:r>
              <a:rPr sz="1100" b="1">
                <a:solidFill>
                  <a:srgbClr val="FFFFFF"/>
                </a:solidFill>
                <a:latin typeface="Segoe UI"/>
              </a:rPr>
              <a:t>Sarsabz talks at the level of values while Engro occupies benefits - and farmers judge at benefits and below. The ladder does not let a brand skip.</a:t>
            </a:r>
          </a:p>
        </p:txBody>
      </p:sp>
      <p:sp>
        <p:nvSpPr>
          <p:cNvPr id="10" name="TextBox 9"/>
          <p:cNvSpPr txBox="1"/>
          <p:nvPr/>
        </p:nvSpPr>
        <p:spPr>
          <a:xfrm>
            <a:off x="548640" y="6583680"/>
            <a:ext cx="11064240" cy="256032"/>
          </a:xfrm>
          <a:prstGeom prst="rect">
            <a:avLst/>
          </a:prstGeom>
          <a:noFill/>
        </p:spPr>
        <p:txBody>
          <a:bodyPr wrap="square" lIns="0" rIns="0" tIns="0" bIns="0">
            <a:spAutoFit/>
          </a:bodyPr>
          <a:lstStyle/>
          <a:p>
            <a:pPr algn="l">
              <a:spcAft>
                <a:spcPts val="200"/>
              </a:spcAft>
            </a:pPr>
            <a:r>
              <a:rPr sz="800" b="0">
                <a:solidFill>
                  <a:srgbClr val="6B7480"/>
                </a:solidFill>
                <a:latin typeface="Segoe UI"/>
              </a:rPr>
              <a:t>Framework: Brand Meaning Ladder. Placement = modal level across each brand's coded uploads, mean in brackets (ladder_levels.csv, levels.csv). Window 15 Sep 2024 - 15 Sep 2026, owned YouTube only. Sarsabz is flagged split: modal L5, mean 3.2.</a:t>
            </a:r>
          </a:p>
        </p:txBody>
      </p:sp>
      <p:sp>
        <p:nvSpPr>
          <p:cNvPr id="11" name="Rectangle 10"/>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28216"/>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6. Mission / philosophy</a:t>
            </a:r>
          </a:p>
          <a:p>
            <a:pPr algn="l">
              <a:spcAft>
                <a:spcPts val="200"/>
              </a:spcAft>
            </a:pPr>
            <a:r>
              <a:rPr sz="850" b="0">
                <a:solidFill>
                  <a:srgbClr val="6B7480"/>
                </a:solidFill>
                <a:latin typeface="Segoe UI"/>
              </a:rPr>
              <a:t>"I change things you would like to"</a:t>
            </a:r>
          </a:p>
        </p:txBody>
      </p:sp>
      <p:sp>
        <p:nvSpPr>
          <p:cNvPr id="13" name="TextBox 12"/>
          <p:cNvSpPr txBox="1"/>
          <p:nvPr/>
        </p:nvSpPr>
        <p:spPr>
          <a:xfrm>
            <a:off x="3566160" y="1755648"/>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Nobody in this category.</a:t>
            </a:r>
          </a:p>
        </p:txBody>
      </p:sp>
      <p:sp>
        <p:nvSpPr>
          <p:cNvPr id="14" name="Rectangle 13"/>
          <p:cNvSpPr/>
          <p:nvPr/>
        </p:nvSpPr>
        <p:spPr>
          <a:xfrm>
            <a:off x="548640" y="2377440"/>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377440"/>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441448"/>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5. Human values / way of life</a:t>
            </a:r>
          </a:p>
          <a:p>
            <a:pPr algn="l">
              <a:spcAft>
                <a:spcPts val="200"/>
              </a:spcAft>
            </a:pPr>
            <a:r>
              <a:rPr sz="850" b="0">
                <a:solidFill>
                  <a:srgbClr val="6B7480"/>
                </a:solidFill>
                <a:latin typeface="Segoe UI"/>
              </a:rPr>
              <a:t>"I think like you do"</a:t>
            </a:r>
          </a:p>
        </p:txBody>
      </p:sp>
      <p:sp>
        <p:nvSpPr>
          <p:cNvPr id="17" name="TextBox 16"/>
          <p:cNvSpPr txBox="1"/>
          <p:nvPr/>
        </p:nvSpPr>
        <p:spPr>
          <a:xfrm>
            <a:off x="3566160" y="2468880"/>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Sarsabz (3.2, split) - 30 of 90 uploads - Dil Se Dekho, Tabeer, national days.</a:t>
            </a:r>
          </a:p>
        </p:txBody>
      </p:sp>
      <p:sp>
        <p:nvSpPr>
          <p:cNvPr id="18" name="TextBox 17"/>
          <p:cNvSpPr txBox="1"/>
          <p:nvPr/>
        </p:nvSpPr>
        <p:spPr>
          <a:xfrm>
            <a:off x="8503920" y="2468880"/>
            <a:ext cx="301752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WHERE SARSABZ IS TALKING</a:t>
            </a:r>
          </a:p>
        </p:txBody>
      </p:sp>
      <p:sp>
        <p:nvSpPr>
          <p:cNvPr id="19" name="Rectangle 18"/>
          <p:cNvSpPr/>
          <p:nvPr/>
        </p:nvSpPr>
        <p:spPr>
          <a:xfrm>
            <a:off x="548640" y="3090672"/>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090672"/>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154679"/>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4. Psychological territory</a:t>
            </a:r>
          </a:p>
          <a:p>
            <a:pPr algn="l">
              <a:spcAft>
                <a:spcPts val="200"/>
              </a:spcAft>
            </a:pPr>
            <a:r>
              <a:rPr sz="850" b="0">
                <a:solidFill>
                  <a:srgbClr val="6B7480"/>
                </a:solidFill>
                <a:latin typeface="Segoe UI"/>
              </a:rPr>
              <a:t>"I am like you; you are like me"</a:t>
            </a:r>
          </a:p>
        </p:txBody>
      </p:sp>
      <p:sp>
        <p:nvSpPr>
          <p:cNvPr id="22" name="TextBox 21"/>
          <p:cNvSpPr txBox="1"/>
          <p:nvPr/>
        </p:nvSpPr>
        <p:spPr>
          <a:xfrm>
            <a:off x="3566160" y="3182112"/>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Salam Kissan sits here - 12 uploads, and the only rung Sarsabz genuinely owns.</a:t>
            </a:r>
          </a:p>
        </p:txBody>
      </p:sp>
      <p:sp>
        <p:nvSpPr>
          <p:cNvPr id="23" name="TextBox 22"/>
          <p:cNvSpPr txBox="1"/>
          <p:nvPr/>
        </p:nvSpPr>
        <p:spPr>
          <a:xfrm>
            <a:off x="8503920" y="3182112"/>
            <a:ext cx="301752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THE ASSET SARSABZ OWNS</a:t>
            </a:r>
          </a:p>
        </p:txBody>
      </p:sp>
      <p:sp>
        <p:nvSpPr>
          <p:cNvPr id="24" name="Rectangle 23"/>
          <p:cNvSpPr/>
          <p:nvPr/>
        </p:nvSpPr>
        <p:spPr>
          <a:xfrm>
            <a:off x="548640" y="3803904"/>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3904"/>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867912"/>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3. Product benefits</a:t>
            </a:r>
          </a:p>
          <a:p>
            <a:pPr algn="l">
              <a:spcAft>
                <a:spcPts val="200"/>
              </a:spcAft>
            </a:pPr>
            <a:r>
              <a:rPr sz="850" b="0">
                <a:solidFill>
                  <a:srgbClr val="6B7480"/>
                </a:solidFill>
                <a:latin typeface="Segoe UI"/>
              </a:rPr>
              <a:t>"Here is what I can do for you"</a:t>
            </a:r>
          </a:p>
        </p:txBody>
      </p:sp>
      <p:sp>
        <p:nvSpPr>
          <p:cNvPr id="27" name="TextBox 26"/>
          <p:cNvSpPr txBox="1"/>
          <p:nvPr/>
        </p:nvSpPr>
        <p:spPr>
          <a:xfrm>
            <a:off x="3566160" y="3895344"/>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Engro (2.4) - 50 of 110 uploads - expert crop advice, soil testing, cost per acre. Sarsabz: 18.</a:t>
            </a:r>
          </a:p>
        </p:txBody>
      </p:sp>
      <p:sp>
        <p:nvSpPr>
          <p:cNvPr id="28" name="TextBox 27"/>
          <p:cNvSpPr txBox="1"/>
          <p:nvPr/>
        </p:nvSpPr>
        <p:spPr>
          <a:xfrm>
            <a:off x="8503920" y="3895344"/>
            <a:ext cx="301752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WHERE THE CATEGORY SITS - AND WHERE SARSABZ MUST EARN</a:t>
            </a:r>
          </a:p>
        </p:txBody>
      </p:sp>
      <p:sp>
        <p:nvSpPr>
          <p:cNvPr id="29" name="Rectangle 28"/>
          <p:cNvSpPr/>
          <p:nvPr/>
        </p:nvSpPr>
        <p:spPr>
          <a:xfrm>
            <a:off x="548640" y="4517136"/>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17136"/>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4581144"/>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2. Product attributes</a:t>
            </a:r>
          </a:p>
          <a:p>
            <a:pPr algn="l">
              <a:spcAft>
                <a:spcPts val="200"/>
              </a:spcAft>
            </a:pPr>
            <a:r>
              <a:rPr sz="850" b="0">
                <a:solidFill>
                  <a:srgbClr val="6B7480"/>
                </a:solidFill>
                <a:latin typeface="Segoe UI"/>
              </a:rPr>
              <a:t>"Reason to buy me"</a:t>
            </a:r>
          </a:p>
        </p:txBody>
      </p:sp>
      <p:sp>
        <p:nvSpPr>
          <p:cNvPr id="32" name="TextBox 31"/>
          <p:cNvSpPr txBox="1"/>
          <p:nvPr/>
        </p:nvSpPr>
        <p:spPr>
          <a:xfrm>
            <a:off x="3566160" y="4608576"/>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Engro 35 uploads: bio-active zinc, blends, the DAP Bharosa seal. Sarsabz: 5.</a:t>
            </a:r>
          </a:p>
        </p:txBody>
      </p:sp>
      <p:sp>
        <p:nvSpPr>
          <p:cNvPr id="33" name="TextBox 32"/>
          <p:cNvSpPr txBox="1"/>
          <p:nvPr/>
        </p:nvSpPr>
        <p:spPr>
          <a:xfrm>
            <a:off x="8503920" y="4608576"/>
            <a:ext cx="301752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WHERE SARSABZ MUST PROVE</a:t>
            </a:r>
          </a:p>
        </p:txBody>
      </p:sp>
      <p:sp>
        <p:nvSpPr>
          <p:cNvPr id="34" name="Rectangle 33"/>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294376"/>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1. Product identification</a:t>
            </a:r>
          </a:p>
          <a:p>
            <a:pPr algn="l">
              <a:spcAft>
                <a:spcPts val="200"/>
              </a:spcAft>
            </a:pPr>
            <a:r>
              <a:rPr sz="850" b="0">
                <a:solidFill>
                  <a:srgbClr val="6B7480"/>
                </a:solidFill>
                <a:latin typeface="Segoe UI"/>
              </a:rPr>
              <a:t>"I am here"</a:t>
            </a:r>
          </a:p>
        </p:txBody>
      </p:sp>
      <p:sp>
        <p:nvSpPr>
          <p:cNvPr id="36" name="TextBox 35"/>
          <p:cNvSpPr txBox="1"/>
          <p:nvPr/>
        </p:nvSpPr>
        <p:spPr>
          <a:xfrm>
            <a:off x="3566160" y="5321808"/>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Sarsabz 25 uploads: Multan Sultans, Ramzan, corporate. Engro: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457200"/>
          </a:xfrm>
          <a:prstGeom prst="rect">
            <a:avLst/>
          </a:prstGeom>
          <a:noFill/>
        </p:spPr>
        <p:txBody>
          <a:bodyPr wrap="square" lIns="0" rIns="0" tIns="0" bIns="0">
            <a:spAutoFit/>
          </a:bodyPr>
          <a:lstStyle/>
          <a:p>
            <a:pPr algn="l">
              <a:spcAft>
                <a:spcPts val="200"/>
              </a:spcAft>
            </a:pPr>
            <a:r>
              <a:rPr sz="2000" b="1">
                <a:solidFill>
                  <a:srgbClr val="FFFFFF"/>
                </a:solidFill>
                <a:latin typeface="Segoe UI"/>
              </a:rPr>
              <a:t>The Brand Meaning Ladder for fertilizer: the factors at each level</a:t>
            </a:r>
          </a:p>
        </p:txBody>
      </p:sp>
      <p:sp>
        <p:nvSpPr>
          <p:cNvPr id="4" name="TextBox 3"/>
          <p:cNvSpPr txBox="1"/>
          <p:nvPr/>
        </p:nvSpPr>
        <p:spPr>
          <a:xfrm>
            <a:off x="548640" y="1005840"/>
            <a:ext cx="11064240" cy="320040"/>
          </a:xfrm>
          <a:prstGeom prst="rect">
            <a:avLst/>
          </a:prstGeom>
          <a:noFill/>
        </p:spPr>
        <p:txBody>
          <a:bodyPr wrap="square" lIns="0" rIns="0" tIns="0" bIns="0">
            <a:spAutoFit/>
          </a:bodyPr>
          <a:lstStyle/>
          <a:p>
            <a:pPr algn="l">
              <a:spcAft>
                <a:spcPts val="200"/>
              </a:spcAft>
            </a:pPr>
            <a:r>
              <a:rPr sz="1050" b="1">
                <a:solidFill>
                  <a:srgbClr val="102A43"/>
                </a:solidFill>
                <a:latin typeface="Segoe UI"/>
              </a:rPr>
              <a:t>Current = seen in the 200 coded uploads.  Potential = relevant to fertilizer, not yet claimed.  Unsupported = little link to the category.  † = added for this category from farmer evidence.</a:t>
            </a:r>
          </a:p>
        </p:txBody>
      </p:sp>
      <p:sp>
        <p:nvSpPr>
          <p:cNvPr id="5" name="TextBox 4"/>
          <p:cNvSpPr txBox="1"/>
          <p:nvPr/>
        </p:nvSpPr>
        <p:spPr>
          <a:xfrm>
            <a:off x="658368" y="1417320"/>
            <a:ext cx="173736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377440" y="1417320"/>
            <a:ext cx="315468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CURRENT</a:t>
            </a:r>
          </a:p>
        </p:txBody>
      </p:sp>
      <p:sp>
        <p:nvSpPr>
          <p:cNvPr id="7" name="TextBox 6"/>
          <p:cNvSpPr txBox="1"/>
          <p:nvPr/>
        </p:nvSpPr>
        <p:spPr>
          <a:xfrm>
            <a:off x="5669280" y="1417320"/>
            <a:ext cx="420624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POTENTIAL</a:t>
            </a:r>
          </a:p>
        </p:txBody>
      </p:sp>
      <p:sp>
        <p:nvSpPr>
          <p:cNvPr id="8" name="TextBox 7"/>
          <p:cNvSpPr txBox="1"/>
          <p:nvPr/>
        </p:nvSpPr>
        <p:spPr>
          <a:xfrm>
            <a:off x="10012680" y="1417320"/>
            <a:ext cx="150876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UNSUPPORTED</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071616"/>
            <a:ext cx="10607040" cy="457200"/>
          </a:xfrm>
          <a:prstGeom prst="rect">
            <a:avLst/>
          </a:prstGeom>
          <a:noFill/>
        </p:spPr>
        <p:txBody>
          <a:bodyPr wrap="square" lIns="0" rIns="0" tIns="0" bIns="0">
            <a:spAutoFit/>
          </a:bodyPr>
          <a:lstStyle/>
          <a:p>
            <a:pPr algn="l">
              <a:spcAft>
                <a:spcPts val="200"/>
              </a:spcAft>
            </a:pPr>
            <a:r>
              <a:rPr sz="1100" b="1">
                <a:solidFill>
                  <a:srgbClr val="FFFFFF"/>
                </a:solidFill>
                <a:latin typeface="Segoe UI"/>
              </a:rPr>
              <a:t>Current factors cluster at levels 1-3 and at 5. The gap is level 2-3 proof - and higher is not better: a factor is only worth owning if it is relevant, credible, distinctive and defensible.</a:t>
            </a:r>
          </a:p>
        </p:txBody>
      </p:sp>
      <p:sp>
        <p:nvSpPr>
          <p:cNvPr id="11" name="TextBox 10"/>
          <p:cNvSpPr txBox="1"/>
          <p:nvPr/>
        </p:nvSpPr>
        <p:spPr>
          <a:xfrm>
            <a:off x="548640" y="6583680"/>
            <a:ext cx="11064240" cy="256032"/>
          </a:xfrm>
          <a:prstGeom prst="rect">
            <a:avLst/>
          </a:prstGeom>
          <a:noFill/>
        </p:spPr>
        <p:txBody>
          <a:bodyPr wrap="square" lIns="0" rIns="0" tIns="0" bIns="0">
            <a:spAutoFit/>
          </a:bodyPr>
          <a:lstStyle/>
          <a:p>
            <a:pPr algn="l">
              <a:spcAft>
                <a:spcPts val="200"/>
              </a:spcAft>
            </a:pPr>
            <a:r>
              <a:rPr sz="800" b="0">
                <a:solidFill>
                  <a:srgbClr val="6B7480"/>
                </a:solidFill>
                <a:latin typeface="Segoe UI"/>
              </a:rPr>
              <a:t>Framework: Brand Meaning Ladder - factor lists per level. Current factors: 200 coded uploads (codes_window.csv, Sarsabz + Engro). † additions: 1,433 farmer comments (comments/analysis.md) and the category read.</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0" y="1664208"/>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28216"/>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5" name="TextBox 14"/>
          <p:cNvSpPr txBox="1"/>
          <p:nvPr/>
        </p:nvSpPr>
        <p:spPr>
          <a:xfrm>
            <a:off x="2377440" y="1728216"/>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No brand states a purpose in 200 uploads</a:t>
            </a:r>
          </a:p>
        </p:txBody>
      </p:sp>
      <p:sp>
        <p:nvSpPr>
          <p:cNvPr id="16" name="TextBox 15"/>
          <p:cNvSpPr txBox="1"/>
          <p:nvPr/>
        </p:nvSpPr>
        <p:spPr>
          <a:xfrm>
            <a:off x="5669280" y="1728216"/>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National food security  ·  A farming livelihood that pays  ·  Restoring the soil for the next generation  ·  Closing the yield gap</a:t>
            </a:r>
          </a:p>
        </p:txBody>
      </p:sp>
      <p:sp>
        <p:nvSpPr>
          <p:cNvPr id="17" name="TextBox 16"/>
          <p:cNvSpPr txBox="1"/>
          <p:nvPr/>
        </p:nvSpPr>
        <p:spPr>
          <a:xfrm>
            <a:off x="10012680" y="1728216"/>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Climate leadership without a farm-level mechanism  ·  Global development language</a:t>
            </a:r>
          </a:p>
        </p:txBody>
      </p:sp>
      <p:sp>
        <p:nvSpPr>
          <p:cNvPr id="18" name="Rectangle 17"/>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0" y="2377440"/>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441448"/>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5. Human values / way of life</a:t>
            </a:r>
          </a:p>
          <a:p>
            <a:pPr algn="l">
              <a:spcAft>
                <a:spcPts val="200"/>
              </a:spcAft>
            </a:pPr>
            <a:r>
              <a:rPr sz="850" b="0">
                <a:solidFill>
                  <a:srgbClr val="6B7480"/>
                </a:solidFill>
                <a:latin typeface="Segoe UI"/>
              </a:rPr>
              <a:t>"What do you believe?"</a:t>
            </a:r>
          </a:p>
        </p:txBody>
      </p:sp>
      <p:sp>
        <p:nvSpPr>
          <p:cNvPr id="21" name="TextBox 20"/>
          <p:cNvSpPr txBox="1"/>
          <p:nvPr/>
        </p:nvSpPr>
        <p:spPr>
          <a:xfrm>
            <a:off x="2377440" y="2441448"/>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National identity (Sarsabz 22)  ·  Women in farming (Sarsabz 8)  ·  Food security framing (Engro corporate)</a:t>
            </a:r>
          </a:p>
        </p:txBody>
      </p:sp>
      <p:sp>
        <p:nvSpPr>
          <p:cNvPr id="22" name="TextBox 21"/>
          <p:cNvSpPr txBox="1"/>
          <p:nvPr/>
        </p:nvSpPr>
        <p:spPr>
          <a:xfrm>
            <a:off x="5669280" y="2441448"/>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Straight dealing with the farmer †  ·  Knowledge shared, not sold †  ·  Progress you can measure</a:t>
            </a:r>
          </a:p>
        </p:txBody>
      </p:sp>
      <p:sp>
        <p:nvSpPr>
          <p:cNvPr id="23" name="TextBox 22"/>
          <p:cNvSpPr txBox="1"/>
          <p:nvPr/>
        </p:nvSpPr>
        <p:spPr>
          <a:xfrm>
            <a:off x="10012680" y="2441448"/>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Sustainability language with no farm proof  ·  Urban lifestyle values</a:t>
            </a:r>
          </a:p>
        </p:txBody>
      </p:sp>
      <p:sp>
        <p:nvSpPr>
          <p:cNvPr id="24" name="Rectangle 23"/>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0" y="3090672"/>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154679"/>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4. Psychological associations</a:t>
            </a:r>
          </a:p>
          <a:p>
            <a:pPr algn="l">
              <a:spcAft>
                <a:spcPts val="200"/>
              </a:spcAft>
            </a:pPr>
            <a:r>
              <a:rPr sz="850" b="0">
                <a:solidFill>
                  <a:srgbClr val="6B7480"/>
                </a:solidFill>
                <a:latin typeface="Segoe UI"/>
              </a:rPr>
              <a:t>"What does choosing you say about me?"</a:t>
            </a:r>
          </a:p>
        </p:txBody>
      </p:sp>
      <p:sp>
        <p:nvSpPr>
          <p:cNvPr id="27" name="TextBox 26"/>
          <p:cNvSpPr txBox="1"/>
          <p:nvPr/>
        </p:nvSpPr>
        <p:spPr>
          <a:xfrm>
            <a:off x="2377440" y="3154679"/>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The farmer as someone worth saluting (Salam Kissan 12)  ·  The winning farmer (Ki Jeet)  ·  Cricket fandom (Multan Sultans 22)</a:t>
            </a:r>
          </a:p>
        </p:txBody>
      </p:sp>
      <p:sp>
        <p:nvSpPr>
          <p:cNvPr id="28" name="TextBox 27"/>
          <p:cNvSpPr txBox="1"/>
          <p:nvPr/>
        </p:nvSpPr>
        <p:spPr>
          <a:xfrm>
            <a:off x="5669280" y="3154679"/>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The progressive farmer others copy †  ·  The farmer who tests rather than guesses †  ·  Respected by the company he buys from †</a:t>
            </a:r>
          </a:p>
        </p:txBody>
      </p:sp>
      <p:sp>
        <p:nvSpPr>
          <p:cNvPr id="29" name="TextBox 28"/>
          <p:cNvSpPr txBox="1"/>
          <p:nvPr/>
        </p:nvSpPr>
        <p:spPr>
          <a:xfrm>
            <a:off x="10012680" y="3154679"/>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Luxury or status display  ·  Urban aspiration</a:t>
            </a:r>
          </a:p>
        </p:txBody>
      </p:sp>
      <p:sp>
        <p:nvSpPr>
          <p:cNvPr id="30" name="Rectangle 29"/>
          <p:cNvSpPr/>
          <p:nvPr/>
        </p:nvSpPr>
        <p:spPr>
          <a:xfrm>
            <a:off x="548640" y="3803904"/>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0" y="3803904"/>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3867912"/>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3. Product benefits</a:t>
            </a:r>
          </a:p>
          <a:p>
            <a:pPr algn="l">
              <a:spcAft>
                <a:spcPts val="200"/>
              </a:spcAft>
            </a:pPr>
            <a:r>
              <a:rPr sz="850" b="0">
                <a:solidFill>
                  <a:srgbClr val="6B7480"/>
                </a:solidFill>
                <a:latin typeface="Segoe UI"/>
              </a:rPr>
              <a:t>"What does it do for me?"</a:t>
            </a:r>
          </a:p>
        </p:txBody>
      </p:sp>
      <p:sp>
        <p:nvSpPr>
          <p:cNvPr id="33" name="TextBox 32"/>
          <p:cNvSpPr txBox="1"/>
          <p:nvPr/>
        </p:nvSpPr>
        <p:spPr>
          <a:xfrm>
            <a:off x="2377440" y="3867912"/>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More yield (Sarsabz 15)  ·  Expert crop advice (Engro 44)  ·  Less cost, more profit (Engro 6)  ·  Soil tested, not guessed (Engro Mitti Mahir)</a:t>
            </a:r>
          </a:p>
        </p:txBody>
      </p:sp>
      <p:sp>
        <p:nvSpPr>
          <p:cNvPr id="34" name="TextBox 33"/>
          <p:cNvSpPr txBox="1"/>
          <p:nvPr/>
        </p:nvSpPr>
        <p:spPr>
          <a:xfrm>
            <a:off x="5669280" y="3867912"/>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Switching without waste: what replaces DAP, mixed with what †  ·  A cheaper bag that yields more †  ·  An answer when you ask †</a:t>
            </a:r>
          </a:p>
        </p:txBody>
      </p:sp>
      <p:sp>
        <p:nvSpPr>
          <p:cNvPr id="35" name="TextBox 34"/>
          <p:cNvSpPr txBox="1"/>
          <p:nvPr/>
        </p:nvSpPr>
        <p:spPr>
          <a:xfrm>
            <a:off x="10012680" y="3867912"/>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Convenience claims with no delivery  ·  Time saving</a:t>
            </a:r>
          </a:p>
        </p:txBody>
      </p:sp>
      <p:sp>
        <p:nvSpPr>
          <p:cNvPr id="36" name="Rectangle 35"/>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286000" y="4517136"/>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581144"/>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2. Product attributes</a:t>
            </a:r>
          </a:p>
          <a:p>
            <a:pPr algn="l">
              <a:spcAft>
                <a:spcPts val="200"/>
              </a:spcAft>
            </a:pPr>
            <a:r>
              <a:rPr sz="850" b="0">
                <a:solidFill>
                  <a:srgbClr val="6B7480"/>
                </a:solidFill>
                <a:latin typeface="Segoe UI"/>
              </a:rPr>
              <a:t>"What do you have?"</a:t>
            </a:r>
          </a:p>
        </p:txBody>
      </p:sp>
      <p:sp>
        <p:nvSpPr>
          <p:cNvPr id="39" name="TextBox 38"/>
          <p:cNvSpPr txBox="1"/>
          <p:nvPr/>
        </p:nvSpPr>
        <p:spPr>
          <a:xfrm>
            <a:off x="2377440" y="4581144"/>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Bio-active zinc coating (Engro)  ·  Blends and micronutrients (Engro Zarkhez)  ·  Anti-counterfeit seal (Engro DAP)  ·  Prize draws (both)  ·  Nitrate + calcium (Sarsabz CAN)</a:t>
            </a:r>
          </a:p>
        </p:txBody>
      </p:sp>
      <p:sp>
        <p:nvSpPr>
          <p:cNvPr id="40" name="TextBox 39"/>
          <p:cNvSpPr txBox="1"/>
          <p:nvPr/>
        </p:nvSpPr>
        <p:spPr>
          <a:xfrm>
            <a:off x="5669280" y="4581144"/>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The 500+ demo plots, published †  ·  The NP-to-DAP price gap, stated †  ·  Sarsabz's own authenticity sticker, revived †  ·  Compatibility: what NP and CAN can be mixed with †</a:t>
            </a:r>
          </a:p>
        </p:txBody>
      </p:sp>
      <p:sp>
        <p:nvSpPr>
          <p:cNvPr id="41" name="TextBox 40"/>
          <p:cNvSpPr txBox="1"/>
          <p:nvPr/>
        </p:nvSpPr>
        <p:spPr>
          <a:xfrm>
            <a:off x="10012680" y="4581144"/>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Packaging design  ·  Plant capacity</a:t>
            </a:r>
          </a:p>
        </p:txBody>
      </p:sp>
      <p:sp>
        <p:nvSpPr>
          <p:cNvPr id="42" name="Rectangle 41"/>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286000" y="5230368"/>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294376"/>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1. Product identification</a:t>
            </a:r>
          </a:p>
          <a:p>
            <a:pPr algn="l">
              <a:spcAft>
                <a:spcPts val="200"/>
              </a:spcAft>
            </a:pPr>
            <a:r>
              <a:rPr sz="850" b="0">
                <a:solidFill>
                  <a:srgbClr val="6B7480"/>
                </a:solidFill>
                <a:latin typeface="Segoe UI"/>
              </a:rPr>
              <a:t>"Who are you?"</a:t>
            </a:r>
          </a:p>
        </p:txBody>
      </p:sp>
      <p:sp>
        <p:nvSpPr>
          <p:cNvPr id="45" name="TextBox 44"/>
          <p:cNvSpPr txBox="1"/>
          <p:nvPr/>
        </p:nvSpPr>
        <p:spPr>
          <a:xfrm>
            <a:off x="2377440" y="5294376"/>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Brand name and bag  ·  Heritage and national days  ·  Sponsorship (Multan Sultans)  ·  Festive films (Ramzan)</a:t>
            </a:r>
          </a:p>
        </p:txBody>
      </p:sp>
      <p:sp>
        <p:nvSpPr>
          <p:cNvPr id="46" name="TextBox 45"/>
          <p:cNvSpPr txBox="1"/>
          <p:nvPr/>
        </p:nvSpPr>
        <p:spPr>
          <a:xfrm>
            <a:off x="5669280" y="5294376"/>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Sarsabz as the name on NP and CAN †  ·  Recall: farmers say 'Nitrophos', not 'Sarsabz' †</a:t>
            </a:r>
          </a:p>
        </p:txBody>
      </p:sp>
      <p:sp>
        <p:nvSpPr>
          <p:cNvPr id="47" name="TextBox 46"/>
          <p:cNvSpPr txBox="1"/>
          <p:nvPr/>
        </p:nvSpPr>
        <p:spPr>
          <a:xfrm>
            <a:off x="10012680" y="5294376"/>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Corporate plant imagery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457200"/>
          </a:xfrm>
          <a:prstGeom prst="rect">
            <a:avLst/>
          </a:prstGeom>
          <a:noFill/>
        </p:spPr>
        <p:txBody>
          <a:bodyPr wrap="square" lIns="0" rIns="0" tIns="0" bIns="0">
            <a:spAutoFit/>
          </a:bodyPr>
          <a:lstStyle/>
          <a:p>
            <a:pPr algn="l">
              <a:spcAft>
                <a:spcPts val="200"/>
              </a:spcAft>
            </a:pPr>
            <a:r>
              <a:rPr sz="2400" b="1">
                <a:solidFill>
                  <a:srgbClr val="FFFFFF"/>
                </a:solidFill>
                <a:latin typeface="Segoe UI"/>
              </a:rPr>
              <a:t>How the Brand Meaning Ladder works in fertilizer</a:t>
            </a:r>
          </a:p>
        </p:txBody>
      </p:sp>
      <p:sp>
        <p:nvSpPr>
          <p:cNvPr id="4" name="TextBox 3"/>
          <p:cNvSpPr txBox="1"/>
          <p:nvPr/>
        </p:nvSpPr>
        <p:spPr>
          <a:xfrm>
            <a:off x="548640" y="1005840"/>
            <a:ext cx="11064240" cy="320040"/>
          </a:xfrm>
          <a:prstGeom prst="rect">
            <a:avLst/>
          </a:prstGeom>
          <a:noFill/>
        </p:spPr>
        <p:txBody>
          <a:bodyPr wrap="square" lIns="0" rIns="0" tIns="0" bIns="0">
            <a:spAutoFit/>
          </a:bodyPr>
          <a:lstStyle/>
          <a:p>
            <a:pPr algn="l">
              <a:spcAft>
                <a:spcPts val="200"/>
              </a:spcAft>
            </a:pPr>
            <a:r>
              <a:rPr sz="1050" b="1">
                <a:solidFill>
                  <a:srgbClr val="102A43"/>
                </a:solidFill>
                <a:latin typeface="Segoe UI"/>
              </a:rPr>
              <a:t>What brands publish (200 coded uploads) against what farmers judge on (1,433 comments on independent agronomy channels). Levels are depth of meaning, not stages: higher is not better.</a:t>
            </a:r>
          </a:p>
        </p:txBody>
      </p:sp>
      <p:sp>
        <p:nvSpPr>
          <p:cNvPr id="5" name="TextBox 4"/>
          <p:cNvSpPr txBox="1"/>
          <p:nvPr/>
        </p:nvSpPr>
        <p:spPr>
          <a:xfrm>
            <a:off x="658368" y="1417320"/>
            <a:ext cx="146304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194560" y="1417320"/>
            <a:ext cx="411480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WHAT BRANDS CLAIM</a:t>
            </a:r>
          </a:p>
        </p:txBody>
      </p:sp>
      <p:sp>
        <p:nvSpPr>
          <p:cNvPr id="7" name="TextBox 6"/>
          <p:cNvSpPr txBox="1"/>
          <p:nvPr/>
        </p:nvSpPr>
        <p:spPr>
          <a:xfrm>
            <a:off x="6400800" y="1417320"/>
            <a:ext cx="251460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WHAT CUSTOMERS JUDGE ON</a:t>
            </a:r>
          </a:p>
        </p:txBody>
      </p:sp>
      <p:sp>
        <p:nvSpPr>
          <p:cNvPr id="8" name="TextBox 7"/>
          <p:cNvSpPr txBox="1"/>
          <p:nvPr/>
        </p:nvSpPr>
        <p:spPr>
          <a:xfrm>
            <a:off x="9098280" y="1417320"/>
            <a:ext cx="237744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OPEN - NOBODY CLAIMS</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071616"/>
            <a:ext cx="10607040" cy="457200"/>
          </a:xfrm>
          <a:prstGeom prst="rect">
            <a:avLst/>
          </a:prstGeom>
          <a:noFill/>
        </p:spPr>
        <p:txBody>
          <a:bodyPr wrap="square" lIns="0" rIns="0" tIns="0" bIns="0">
            <a:spAutoFit/>
          </a:bodyPr>
          <a:lstStyle/>
          <a:p>
            <a:pPr algn="l">
              <a:spcAft>
                <a:spcPts val="200"/>
              </a:spcAft>
            </a:pPr>
            <a:r>
              <a:rPr sz="1100" b="1">
                <a:solidFill>
                  <a:srgbClr val="FFFFFF"/>
                </a:solidFill>
                <a:latin typeface="Segoe UI"/>
              </a:rPr>
              <a:t>Farmers judge at levels 2 and 3. Engro is there with 50 benefit uploads and 31 named experts. Sarsabz is at level 5 with 30.</a:t>
            </a:r>
          </a:p>
        </p:txBody>
      </p:sp>
      <p:sp>
        <p:nvSpPr>
          <p:cNvPr id="11" name="TextBox 10"/>
          <p:cNvSpPr txBox="1"/>
          <p:nvPr/>
        </p:nvSpPr>
        <p:spPr>
          <a:xfrm>
            <a:off x="548640" y="6583680"/>
            <a:ext cx="11064240" cy="256032"/>
          </a:xfrm>
          <a:prstGeom prst="rect">
            <a:avLst/>
          </a:prstGeom>
          <a:noFill/>
        </p:spPr>
        <p:txBody>
          <a:bodyPr wrap="square" lIns="0" rIns="0" tIns="0" bIns="0">
            <a:spAutoFit/>
          </a:bodyPr>
          <a:lstStyle/>
          <a:p>
            <a:pPr algn="l">
              <a:spcAft>
                <a:spcPts val="200"/>
              </a:spcAft>
            </a:pPr>
            <a:r>
              <a:rPr sz="800" b="0">
                <a:solidFill>
                  <a:srgbClr val="6B7480"/>
                </a:solidFill>
                <a:latin typeface="Segoe UI"/>
              </a:rPr>
              <a:t>Framework: Brand Meaning Ladder. Counts = uploads whose main claim is that factor, of 200 coded (codes_window.csv); a claim can sit at more than one level, so counts show where factors appear, not per-level totals. Farmer evidence: 1,433 comments, self-selected corpus, not research.</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06840" y="1664208"/>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28216"/>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5" name="TextBox 14"/>
          <p:cNvSpPr txBox="1"/>
          <p:nvPr/>
        </p:nvSpPr>
        <p:spPr>
          <a:xfrm>
            <a:off x="2194560" y="1728216"/>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No brand states a purpose. Food security appears in corporate webinars, not in farmer-facing work.</a:t>
            </a:r>
          </a:p>
        </p:txBody>
      </p:sp>
      <p:sp>
        <p:nvSpPr>
          <p:cNvPr id="16" name="TextBox 15"/>
          <p:cNvSpPr txBox="1"/>
          <p:nvPr/>
        </p:nvSpPr>
        <p:spPr>
          <a:xfrm>
            <a:off x="6400800" y="1728216"/>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Not raised. Farmers talk about this season's crop, not the nation's food supply.</a:t>
            </a:r>
          </a:p>
        </p:txBody>
      </p:sp>
      <p:sp>
        <p:nvSpPr>
          <p:cNvPr id="17" name="TextBox 16"/>
          <p:cNvSpPr txBox="1"/>
          <p:nvPr/>
        </p:nvSpPr>
        <p:spPr>
          <a:xfrm>
            <a:off x="9098280" y="1728216"/>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National food security made personal: the yield gap on this farm, closed.</a:t>
            </a:r>
          </a:p>
        </p:txBody>
      </p:sp>
      <p:sp>
        <p:nvSpPr>
          <p:cNvPr id="18" name="Rectangle 17"/>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06840" y="2377440"/>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441448"/>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5. Values / way of life</a:t>
            </a:r>
          </a:p>
          <a:p>
            <a:pPr algn="l">
              <a:spcAft>
                <a:spcPts val="200"/>
              </a:spcAft>
            </a:pPr>
            <a:r>
              <a:rPr sz="850" b="0">
                <a:solidFill>
                  <a:srgbClr val="6B7480"/>
                </a:solidFill>
                <a:latin typeface="Segoe UI"/>
              </a:rPr>
              <a:t>"What do you believe?"</a:t>
            </a:r>
          </a:p>
        </p:txBody>
      </p:sp>
      <p:sp>
        <p:nvSpPr>
          <p:cNvPr id="21" name="TextBox 20"/>
          <p:cNvSpPr txBox="1"/>
          <p:nvPr/>
        </p:nvSpPr>
        <p:spPr>
          <a:xfrm>
            <a:off x="2194560" y="2441448"/>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Sarsabz: national identity (22 uploads) and women in farming (8). Engro: 1.</a:t>
            </a:r>
          </a:p>
        </p:txBody>
      </p:sp>
      <p:sp>
        <p:nvSpPr>
          <p:cNvPr id="22" name="TextBox 21"/>
          <p:cNvSpPr txBox="1"/>
          <p:nvPr/>
        </p:nvSpPr>
        <p:spPr>
          <a:xfrm>
            <a:off x="6400800" y="2441448"/>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Fairness and straight dealing, named by its absence: creators are suspected of taking company money; farmers ask for written proof.</a:t>
            </a:r>
          </a:p>
        </p:txBody>
      </p:sp>
      <p:sp>
        <p:nvSpPr>
          <p:cNvPr id="23" name="TextBox 22"/>
          <p:cNvSpPr txBox="1"/>
          <p:nvPr/>
        </p:nvSpPr>
        <p:spPr>
          <a:xfrm>
            <a:off x="9098280" y="2441448"/>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Knowledge shared rather than sold; straight dealing with the farmer.</a:t>
            </a:r>
          </a:p>
        </p:txBody>
      </p:sp>
      <p:sp>
        <p:nvSpPr>
          <p:cNvPr id="24" name="Rectangle 23"/>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840" y="3090672"/>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154679"/>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4. Psychological</a:t>
            </a:r>
          </a:p>
          <a:p>
            <a:pPr algn="l">
              <a:spcAft>
                <a:spcPts val="200"/>
              </a:spcAft>
            </a:pPr>
            <a:r>
              <a:rPr sz="850" b="0">
                <a:solidFill>
                  <a:srgbClr val="6B7480"/>
                </a:solidFill>
                <a:latin typeface="Segoe UI"/>
              </a:rPr>
              <a:t>"What does choosing you say about me?"</a:t>
            </a:r>
          </a:p>
        </p:txBody>
      </p:sp>
      <p:sp>
        <p:nvSpPr>
          <p:cNvPr id="27" name="TextBox 26"/>
          <p:cNvSpPr txBox="1"/>
          <p:nvPr/>
        </p:nvSpPr>
        <p:spPr>
          <a:xfrm>
            <a:off x="2194560" y="3154679"/>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Sarsabz owns the salute to the farmer (Salam Kissan, 12 uploads, Kissan Day now official). Engro: the shaandar kissan, named, 6 uploads.</a:t>
            </a:r>
          </a:p>
        </p:txBody>
      </p:sp>
      <p:sp>
        <p:nvSpPr>
          <p:cNvPr id="28" name="TextBox 27"/>
          <p:cNvSpPr txBox="1"/>
          <p:nvPr/>
        </p:nvSpPr>
        <p:spPr>
          <a:xfrm>
            <a:off x="6400800" y="3154679"/>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Farmers post their own plans and yields for peer judgement - 63-68 maunds stated with inputs. Identity is earned by results, not by being saluted.</a:t>
            </a:r>
          </a:p>
        </p:txBody>
      </p:sp>
      <p:sp>
        <p:nvSpPr>
          <p:cNvPr id="29" name="TextBox 28"/>
          <p:cNvSpPr txBox="1"/>
          <p:nvPr/>
        </p:nvSpPr>
        <p:spPr>
          <a:xfrm>
            <a:off x="9098280" y="3154679"/>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The farmer others copy because his field proves it.</a:t>
            </a:r>
          </a:p>
        </p:txBody>
      </p:sp>
      <p:sp>
        <p:nvSpPr>
          <p:cNvPr id="30" name="Rectangle 29"/>
          <p:cNvSpPr/>
          <p:nvPr/>
        </p:nvSpPr>
        <p:spPr>
          <a:xfrm>
            <a:off x="548640" y="3803904"/>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06840" y="3803904"/>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3867912"/>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3. Benefits</a:t>
            </a:r>
          </a:p>
          <a:p>
            <a:pPr algn="l">
              <a:spcAft>
                <a:spcPts val="200"/>
              </a:spcAft>
            </a:pPr>
            <a:r>
              <a:rPr sz="850" b="0">
                <a:solidFill>
                  <a:srgbClr val="6B7480"/>
                </a:solidFill>
                <a:latin typeface="Segoe UI"/>
              </a:rPr>
              <a:t>"What does it do for me?"</a:t>
            </a:r>
          </a:p>
        </p:txBody>
      </p:sp>
      <p:sp>
        <p:nvSpPr>
          <p:cNvPr id="33" name="TextBox 32"/>
          <p:cNvSpPr txBox="1"/>
          <p:nvPr/>
        </p:nvSpPr>
        <p:spPr>
          <a:xfrm>
            <a:off x="2194560" y="3867912"/>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Engro: expert crop advice (44), cost saving (6), soil testing. Sarsabz: yield (15), advisory (3).</a:t>
            </a:r>
          </a:p>
        </p:txBody>
      </p:sp>
      <p:sp>
        <p:nvSpPr>
          <p:cNvPr id="34" name="TextBox 33"/>
          <p:cNvSpPr txBox="1"/>
          <p:nvPr/>
        </p:nvSpPr>
        <p:spPr>
          <a:xfrm>
            <a:off x="6400800" y="3867912"/>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This is where farmers live: 220 comments on what can be mixed with what, 163 on timing and dose, 149 on flood vs broadcast.</a:t>
            </a:r>
          </a:p>
        </p:txBody>
      </p:sp>
      <p:sp>
        <p:nvSpPr>
          <p:cNvPr id="35" name="TextBox 34"/>
          <p:cNvSpPr txBox="1"/>
          <p:nvPr/>
        </p:nvSpPr>
        <p:spPr>
          <a:xfrm>
            <a:off x="9098280" y="3867912"/>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Switching without waste: what replaces DAP, in what quantity, mixed with what, on which irrigation.</a:t>
            </a:r>
          </a:p>
        </p:txBody>
      </p:sp>
      <p:sp>
        <p:nvSpPr>
          <p:cNvPr id="36" name="Rectangle 35"/>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06840" y="4517136"/>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581144"/>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2. Attributes</a:t>
            </a:r>
          </a:p>
          <a:p>
            <a:pPr algn="l">
              <a:spcAft>
                <a:spcPts val="200"/>
              </a:spcAft>
            </a:pPr>
            <a:r>
              <a:rPr sz="850" b="0">
                <a:solidFill>
                  <a:srgbClr val="6B7480"/>
                </a:solidFill>
                <a:latin typeface="Segoe UI"/>
              </a:rPr>
              <a:t>"What do you have?"</a:t>
            </a:r>
          </a:p>
        </p:txBody>
      </p:sp>
      <p:sp>
        <p:nvSpPr>
          <p:cNvPr id="39" name="TextBox 38"/>
          <p:cNvSpPr txBox="1"/>
          <p:nvPr/>
        </p:nvSpPr>
        <p:spPr>
          <a:xfrm>
            <a:off x="2194560" y="4581144"/>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Engro: bio-active zinc, blends, the DAP Bharosa seal, 35 uploads. Sarsabz: 5, mostly prize draws.</a:t>
            </a:r>
          </a:p>
        </p:txBody>
      </p:sp>
      <p:sp>
        <p:nvSpPr>
          <p:cNvPr id="40" name="TextBox 39"/>
          <p:cNvSpPr txBox="1"/>
          <p:nvPr/>
        </p:nvSpPr>
        <p:spPr>
          <a:xfrm>
            <a:off x="6400800" y="4581144"/>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Counterfeit DAP, the price per bag, whether NP works in sandy soil. No comment mentions the 10% promise; one asks whether CAN raises yield at all.</a:t>
            </a:r>
          </a:p>
        </p:txBody>
      </p:sp>
      <p:sp>
        <p:nvSpPr>
          <p:cNvPr id="41" name="TextBox 40"/>
          <p:cNvSpPr txBox="1"/>
          <p:nvPr/>
        </p:nvSpPr>
        <p:spPr>
          <a:xfrm>
            <a:off x="9098280" y="4581144"/>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The demo-plot data published; the NP-to-DAP price gap stated; Sarsabz's own sticker used to verify, not to enter a draw.</a:t>
            </a:r>
          </a:p>
        </p:txBody>
      </p:sp>
      <p:sp>
        <p:nvSpPr>
          <p:cNvPr id="42" name="Rectangle 41"/>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06840" y="5230368"/>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294376"/>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1. Identification</a:t>
            </a:r>
          </a:p>
          <a:p>
            <a:pPr algn="l">
              <a:spcAft>
                <a:spcPts val="200"/>
              </a:spcAft>
            </a:pPr>
            <a:r>
              <a:rPr sz="850" b="0">
                <a:solidFill>
                  <a:srgbClr val="6B7480"/>
                </a:solidFill>
                <a:latin typeface="Segoe UI"/>
              </a:rPr>
              <a:t>"Who are you?"</a:t>
            </a:r>
          </a:p>
        </p:txBody>
      </p:sp>
      <p:sp>
        <p:nvSpPr>
          <p:cNvPr id="45" name="TextBox 44"/>
          <p:cNvSpPr txBox="1"/>
          <p:nvPr/>
        </p:nvSpPr>
        <p:spPr>
          <a:xfrm>
            <a:off x="2194560" y="5294376"/>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Sarsabz: 25 uploads - cricket, Ramzan, corporate. Largest owned audience in the category: 1.2M TikTok, 396K YouTube.</a:t>
            </a:r>
          </a:p>
        </p:txBody>
      </p:sp>
      <p:sp>
        <p:nvSpPr>
          <p:cNvPr id="46" name="TextBox 45"/>
          <p:cNvSpPr txBox="1"/>
          <p:nvPr/>
        </p:nvSpPr>
        <p:spPr>
          <a:xfrm>
            <a:off x="6400800" y="5294376"/>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Farmers name the product, not the brand: CAN 193 mentions, NP 147, Sarsabz 15. Engro Zabardast is named 89 times.</a:t>
            </a:r>
          </a:p>
        </p:txBody>
      </p:sp>
      <p:sp>
        <p:nvSpPr>
          <p:cNvPr id="47" name="TextBox 46"/>
          <p:cNvSpPr txBox="1"/>
          <p:nvPr/>
        </p:nvSpPr>
        <p:spPr>
          <a:xfrm>
            <a:off x="9098280" y="5294376"/>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Putting the Sarsabz name on the products farmers already discuss.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457200"/>
          </a:xfrm>
          <a:prstGeom prst="rect">
            <a:avLst/>
          </a:prstGeom>
          <a:noFill/>
        </p:spPr>
        <p:txBody>
          <a:bodyPr wrap="square" lIns="0" rIns="0" tIns="0" bIns="0">
            <a:spAutoFit/>
          </a:bodyPr>
          <a:lstStyle/>
          <a:p>
            <a:pPr algn="l">
              <a:spcAft>
                <a:spcPts val="200"/>
              </a:spcAft>
            </a:pPr>
            <a:r>
              <a:rPr sz="2000" b="1">
                <a:solidFill>
                  <a:srgbClr val="FFFFFF"/>
                </a:solidFill>
                <a:latin typeface="Segoe UI"/>
              </a:rPr>
              <a:t>Sarsabz's Brand Meaning Ladder: the category's factors, and where to stand</a:t>
            </a:r>
          </a:p>
        </p:txBody>
      </p:sp>
      <p:sp>
        <p:nvSpPr>
          <p:cNvPr id="4" name="TextBox 3"/>
          <p:cNvSpPr txBox="1"/>
          <p:nvPr/>
        </p:nvSpPr>
        <p:spPr>
          <a:xfrm>
            <a:off x="548640" y="1005840"/>
            <a:ext cx="11064240" cy="320040"/>
          </a:xfrm>
          <a:prstGeom prst="rect">
            <a:avLst/>
          </a:prstGeom>
          <a:noFill/>
        </p:spPr>
        <p:txBody>
          <a:bodyPr wrap="square" lIns="0" rIns="0" tIns="0" bIns="0">
            <a:spAutoFit/>
          </a:bodyPr>
          <a:lstStyle/>
          <a:p>
            <a:pPr algn="l">
              <a:spcAft>
                <a:spcPts val="200"/>
              </a:spcAft>
            </a:pPr>
            <a:r>
              <a:rPr sz="1050" b="1">
                <a:solidFill>
                  <a:srgbClr val="102A43"/>
                </a:solidFill>
                <a:latin typeface="Segoe UI"/>
              </a:rPr>
              <a:t>Sarsabz says = its 90 coded uploads by level (modal L5, mean 3.2, flagged split). Farmers say = 1,433 comments. Higher is not better - the target is the deepest level Sarsabz can prove.</a:t>
            </a:r>
          </a:p>
        </p:txBody>
      </p:sp>
      <p:sp>
        <p:nvSpPr>
          <p:cNvPr id="5" name="TextBox 4"/>
          <p:cNvSpPr txBox="1"/>
          <p:nvPr/>
        </p:nvSpPr>
        <p:spPr>
          <a:xfrm>
            <a:off x="658368" y="1417320"/>
            <a:ext cx="169164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331720" y="1417320"/>
            <a:ext cx="461772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FACTORS IN THE CATEGORY</a:t>
            </a:r>
          </a:p>
        </p:txBody>
      </p:sp>
      <p:sp>
        <p:nvSpPr>
          <p:cNvPr id="7" name="TextBox 6"/>
          <p:cNvSpPr txBox="1"/>
          <p:nvPr/>
        </p:nvSpPr>
        <p:spPr>
          <a:xfrm>
            <a:off x="7086600" y="1417320"/>
            <a:ext cx="278892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SARSABZ TODAY</a:t>
            </a:r>
          </a:p>
        </p:txBody>
      </p:sp>
      <p:sp>
        <p:nvSpPr>
          <p:cNvPr id="8" name="TextBox 7"/>
          <p:cNvSpPr txBox="1"/>
          <p:nvPr/>
        </p:nvSpPr>
        <p:spPr>
          <a:xfrm>
            <a:off x="10012680" y="1417320"/>
            <a:ext cx="160020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PLACEMENT</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071616"/>
            <a:ext cx="10607040" cy="457200"/>
          </a:xfrm>
          <a:prstGeom prst="rect">
            <a:avLst/>
          </a:prstGeom>
          <a:noFill/>
        </p:spPr>
        <p:txBody>
          <a:bodyPr wrap="square" lIns="0" rIns="0" tIns="0" bIns="0">
            <a:spAutoFit/>
          </a:bodyPr>
          <a:lstStyle/>
          <a:p>
            <a:pPr algn="l">
              <a:spcAft>
                <a:spcPts val="200"/>
              </a:spcAft>
            </a:pPr>
            <a:r>
              <a:rPr sz="1100" b="1">
                <a:solidFill>
                  <a:srgbClr val="FFFFFF"/>
                </a:solidFill>
                <a:latin typeface="Segoe UI"/>
              </a:rPr>
              <a:t>Place Sarsabz at Level 3, on proof rather than advice: the 10% shown on a farmer's own field, beside a cheaper bag. Engro owns advice; no brand shows a yield result side by side on a farm. Levels 4 and 5 are earned from there.</a:t>
            </a:r>
          </a:p>
        </p:txBody>
      </p:sp>
      <p:sp>
        <p:nvSpPr>
          <p:cNvPr id="11" name="TextBox 10"/>
          <p:cNvSpPr txBox="1"/>
          <p:nvPr/>
        </p:nvSpPr>
        <p:spPr>
          <a:xfrm>
            <a:off x="548640" y="6583680"/>
            <a:ext cx="11064240" cy="256032"/>
          </a:xfrm>
          <a:prstGeom prst="rect">
            <a:avLst/>
          </a:prstGeom>
          <a:noFill/>
        </p:spPr>
        <p:txBody>
          <a:bodyPr wrap="square" lIns="0" rIns="0" tIns="0" bIns="0">
            <a:spAutoFit/>
          </a:bodyPr>
          <a:lstStyle/>
          <a:p>
            <a:pPr algn="l">
              <a:spcAft>
                <a:spcPts val="200"/>
              </a:spcAft>
            </a:pPr>
            <a:r>
              <a:rPr sz="800" b="0">
                <a:solidFill>
                  <a:srgbClr val="6B7480"/>
                </a:solidFill>
                <a:latin typeface="Segoe UI"/>
              </a:rPr>
              <a:t>Framework: Brand Meaning Ladder. Sarsabz levels: levels.csv, classified from codes_window.csv (90 uploads). Farmer evidence: comments/analysis.md - 1,433 comments, self-selected, not a satisfaction measure. Competitor placement: Engro only; FFC Sona, Bubber Sher and Agritech have no official channel.</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728216"/>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4" name="TextBox 13"/>
          <p:cNvSpPr txBox="1"/>
          <p:nvPr/>
        </p:nvSpPr>
        <p:spPr>
          <a:xfrm>
            <a:off x="2331720" y="1728216"/>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None - no brand states a purpose in 200 uploads.</a:t>
            </a:r>
          </a:p>
          <a:p>
            <a:pPr algn="l">
              <a:spcAft>
                <a:spcPts val="200"/>
              </a:spcAft>
            </a:pPr>
            <a:r>
              <a:rPr sz="850" b="1">
                <a:solidFill>
                  <a:srgbClr val="1A1A1A"/>
                </a:solidFill>
                <a:latin typeface="Segoe UI"/>
              </a:rPr>
              <a:t>Open:  </a:t>
            </a:r>
            <a:r>
              <a:rPr sz="850" b="0">
                <a:solidFill>
                  <a:srgbClr val="1A1A1A"/>
                </a:solidFill>
                <a:latin typeface="Segoe UI"/>
              </a:rPr>
              <a:t>National food security, made personal.</a:t>
            </a:r>
          </a:p>
        </p:txBody>
      </p:sp>
      <p:sp>
        <p:nvSpPr>
          <p:cNvPr id="15" name="TextBox 14"/>
          <p:cNvSpPr txBox="1"/>
          <p:nvPr/>
        </p:nvSpPr>
        <p:spPr>
          <a:xfrm>
            <a:off x="7086600" y="1728216"/>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0 posts.</a:t>
            </a:r>
          </a:p>
          <a:p>
            <a:pPr algn="l">
              <a:spcAft>
                <a:spcPts val="200"/>
              </a:spcAft>
            </a:pPr>
            <a:r>
              <a:rPr sz="850" b="1">
                <a:solidFill>
                  <a:srgbClr val="1A1A1A"/>
                </a:solidFill>
                <a:latin typeface="Segoe UI"/>
              </a:rPr>
              <a:t>Heard:  </a:t>
            </a:r>
            <a:r>
              <a:rPr sz="850" b="0">
                <a:solidFill>
                  <a:srgbClr val="1A1A1A"/>
                </a:solidFill>
                <a:latin typeface="Segoe UI"/>
              </a:rPr>
              <a:t>NOT RAISED BY FARMERS.</a:t>
            </a:r>
          </a:p>
        </p:txBody>
      </p:sp>
      <p:sp>
        <p:nvSpPr>
          <p:cNvPr id="16" name="TextBox 15"/>
          <p:cNvSpPr txBox="1"/>
          <p:nvPr/>
        </p:nvSpPr>
        <p:spPr>
          <a:xfrm>
            <a:off x="10012680" y="1755648"/>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NOT NOW</a:t>
            </a:r>
          </a:p>
          <a:p>
            <a:pPr algn="l">
              <a:spcAft>
                <a:spcPts val="200"/>
              </a:spcAft>
            </a:pPr>
            <a:r>
              <a:rPr sz="850" b="0">
                <a:solidFill>
                  <a:srgbClr val="1A1A1A"/>
                </a:solidFill>
                <a:latin typeface="Segoe UI"/>
              </a:rPr>
              <a:t>no permission yet</a:t>
            </a:r>
          </a:p>
        </p:txBody>
      </p:sp>
      <p:sp>
        <p:nvSpPr>
          <p:cNvPr id="17" name="Rectangle 16"/>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441448"/>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5. Values / way of life</a:t>
            </a:r>
          </a:p>
          <a:p>
            <a:pPr algn="l">
              <a:spcAft>
                <a:spcPts val="200"/>
              </a:spcAft>
            </a:pPr>
            <a:r>
              <a:rPr sz="850" b="0">
                <a:solidFill>
                  <a:srgbClr val="6B7480"/>
                </a:solidFill>
                <a:latin typeface="Segoe UI"/>
              </a:rPr>
              <a:t>"What do you believe?"</a:t>
            </a:r>
          </a:p>
        </p:txBody>
      </p:sp>
      <p:sp>
        <p:nvSpPr>
          <p:cNvPr id="19" name="TextBox 18"/>
          <p:cNvSpPr txBox="1"/>
          <p:nvPr/>
        </p:nvSpPr>
        <p:spPr>
          <a:xfrm>
            <a:off x="2331720" y="2441448"/>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National identity (22), women in farming (8).</a:t>
            </a:r>
          </a:p>
          <a:p>
            <a:pPr algn="l">
              <a:spcAft>
                <a:spcPts val="200"/>
              </a:spcAft>
            </a:pPr>
            <a:r>
              <a:rPr sz="850" b="1">
                <a:solidFill>
                  <a:srgbClr val="1A1A1A"/>
                </a:solidFill>
                <a:latin typeface="Segoe UI"/>
              </a:rPr>
              <a:t>Open:  </a:t>
            </a:r>
            <a:r>
              <a:rPr sz="850" b="0">
                <a:solidFill>
                  <a:srgbClr val="1A1A1A"/>
                </a:solidFill>
                <a:latin typeface="Segoe UI"/>
              </a:rPr>
              <a:t>Straight dealing; knowledge shared, not sold.</a:t>
            </a:r>
          </a:p>
        </p:txBody>
      </p:sp>
      <p:sp>
        <p:nvSpPr>
          <p:cNvPr id="20" name="TextBox 19"/>
          <p:cNvSpPr txBox="1"/>
          <p:nvPr/>
        </p:nvSpPr>
        <p:spPr>
          <a:xfrm>
            <a:off x="7086600" y="2441448"/>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30 posts - Dil Se Dekho, Tabeer, national days - the largest block at any level.</a:t>
            </a:r>
          </a:p>
          <a:p>
            <a:pPr algn="l">
              <a:spcAft>
                <a:spcPts val="200"/>
              </a:spcAft>
            </a:pPr>
            <a:r>
              <a:rPr sz="850" b="1">
                <a:solidFill>
                  <a:srgbClr val="1A1A1A"/>
                </a:solidFill>
                <a:latin typeface="Segoe UI"/>
              </a:rPr>
              <a:t>Heard:  </a:t>
            </a:r>
            <a:r>
              <a:rPr sz="850" b="0">
                <a:solidFill>
                  <a:srgbClr val="1A1A1A"/>
                </a:solidFill>
                <a:latin typeface="Segoe UI"/>
              </a:rPr>
              <a:t>Not established - farmers name Sarsabz 15 times in 1,433 comments.</a:t>
            </a:r>
          </a:p>
        </p:txBody>
      </p:sp>
      <p:sp>
        <p:nvSpPr>
          <p:cNvPr id="21" name="TextBox 20"/>
          <p:cNvSpPr txBox="1"/>
          <p:nvPr/>
        </p:nvSpPr>
        <p:spPr>
          <a:xfrm>
            <a:off x="10012680" y="2468880"/>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LATER</a:t>
            </a:r>
          </a:p>
          <a:p>
            <a:pPr algn="l">
              <a:spcAft>
                <a:spcPts val="200"/>
              </a:spcAft>
            </a:pPr>
            <a:r>
              <a:rPr sz="850" b="0">
                <a:solidFill>
                  <a:srgbClr val="1A1A1A"/>
                </a:solidFill>
                <a:latin typeface="Segoe UI"/>
              </a:rPr>
              <a:t>over-claimed today; earn it from level 3</a:t>
            </a:r>
          </a:p>
        </p:txBody>
      </p:sp>
      <p:sp>
        <p:nvSpPr>
          <p:cNvPr id="22" name="Rectangle 21"/>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154679"/>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4. Psychological</a:t>
            </a:r>
          </a:p>
          <a:p>
            <a:pPr algn="l">
              <a:spcAft>
                <a:spcPts val="200"/>
              </a:spcAft>
            </a:pPr>
            <a:r>
              <a:rPr sz="850" b="0">
                <a:solidFill>
                  <a:srgbClr val="6B7480"/>
                </a:solidFill>
                <a:latin typeface="Segoe UI"/>
              </a:rPr>
              <a:t>"What does choosing you say about me?"</a:t>
            </a:r>
          </a:p>
        </p:txBody>
      </p:sp>
      <p:sp>
        <p:nvSpPr>
          <p:cNvPr id="24" name="TextBox 23"/>
          <p:cNvSpPr txBox="1"/>
          <p:nvPr/>
        </p:nvSpPr>
        <p:spPr>
          <a:xfrm>
            <a:off x="2331720" y="3154679"/>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Salam Kissan (12); Ki Jeet's winning farmer; cricket (22).</a:t>
            </a:r>
          </a:p>
          <a:p>
            <a:pPr algn="l">
              <a:spcAft>
                <a:spcPts val="200"/>
              </a:spcAft>
            </a:pPr>
            <a:r>
              <a:rPr sz="850" b="1">
                <a:solidFill>
                  <a:srgbClr val="1A1A1A"/>
                </a:solidFill>
                <a:latin typeface="Segoe UI"/>
              </a:rPr>
              <a:t>Open:  </a:t>
            </a:r>
            <a:r>
              <a:rPr sz="850" b="0">
                <a:solidFill>
                  <a:srgbClr val="1A1A1A"/>
                </a:solidFill>
                <a:latin typeface="Segoe UI"/>
              </a:rPr>
              <a:t>The farmer others copy because his field proves it.</a:t>
            </a:r>
          </a:p>
        </p:txBody>
      </p:sp>
      <p:sp>
        <p:nvSpPr>
          <p:cNvPr id="25" name="TextBox 24"/>
          <p:cNvSpPr txBox="1"/>
          <p:nvPr/>
        </p:nvSpPr>
        <p:spPr>
          <a:xfrm>
            <a:off x="7086600" y="3154679"/>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12 posts - Salam Kissan, 15.7M views; Kissan Day is now official.</a:t>
            </a:r>
          </a:p>
          <a:p>
            <a:pPr algn="l">
              <a:spcAft>
                <a:spcPts val="200"/>
              </a:spcAft>
            </a:pPr>
            <a:r>
              <a:rPr sz="850" b="1">
                <a:solidFill>
                  <a:srgbClr val="1A1A1A"/>
                </a:solidFill>
                <a:latin typeface="Segoe UI"/>
              </a:rPr>
              <a:t>Heard:  </a:t>
            </a:r>
            <a:r>
              <a:rPr sz="850" b="0">
                <a:solidFill>
                  <a:srgbClr val="1A1A1A"/>
                </a:solidFill>
                <a:latin typeface="Segoe UI"/>
              </a:rPr>
              <a:t>Real but generic - farmers respect results, not salutes.</a:t>
            </a:r>
          </a:p>
        </p:txBody>
      </p:sp>
      <p:sp>
        <p:nvSpPr>
          <p:cNvPr id="26" name="TextBox 25"/>
          <p:cNvSpPr txBox="1"/>
          <p:nvPr/>
        </p:nvSpPr>
        <p:spPr>
          <a:xfrm>
            <a:off x="10012680" y="3182112"/>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HOLD</a:t>
            </a:r>
          </a:p>
          <a:p>
            <a:pPr algn="l">
              <a:spcAft>
                <a:spcPts val="200"/>
              </a:spcAft>
            </a:pPr>
            <a:r>
              <a:rPr sz="850" b="0">
                <a:solidFill>
                  <a:srgbClr val="1A1A1A"/>
                </a:solidFill>
                <a:latin typeface="Segoe UI"/>
              </a:rPr>
              <a:t>Salam Kissan is genuinely owned</a:t>
            </a:r>
          </a:p>
        </p:txBody>
      </p:sp>
      <p:sp>
        <p:nvSpPr>
          <p:cNvPr id="27" name="Rectangle 26"/>
          <p:cNvSpPr/>
          <p:nvPr/>
        </p:nvSpPr>
        <p:spPr>
          <a:xfrm>
            <a:off x="548640" y="3803904"/>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3904"/>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867912"/>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3. Benefits</a:t>
            </a:r>
          </a:p>
          <a:p>
            <a:pPr algn="l">
              <a:spcAft>
                <a:spcPts val="200"/>
              </a:spcAft>
            </a:pPr>
            <a:r>
              <a:rPr sz="850" b="0">
                <a:solidFill>
                  <a:srgbClr val="6B7480"/>
                </a:solidFill>
                <a:latin typeface="Segoe UI"/>
              </a:rPr>
              <a:t>"What does it do for me?"</a:t>
            </a:r>
          </a:p>
        </p:txBody>
      </p:sp>
      <p:sp>
        <p:nvSpPr>
          <p:cNvPr id="30" name="TextBox 29"/>
          <p:cNvSpPr txBox="1"/>
          <p:nvPr/>
        </p:nvSpPr>
        <p:spPr>
          <a:xfrm>
            <a:off x="2331720" y="3867912"/>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Yield (Sarsabz 15); expert advice and cost saving (Engro 50).</a:t>
            </a:r>
          </a:p>
          <a:p>
            <a:pPr algn="l">
              <a:spcAft>
                <a:spcPts val="200"/>
              </a:spcAft>
            </a:pPr>
            <a:r>
              <a:rPr sz="850" b="1">
                <a:solidFill>
                  <a:srgbClr val="1A1A1A"/>
                </a:solidFill>
                <a:latin typeface="Segoe UI"/>
              </a:rPr>
              <a:t>Open:  </a:t>
            </a:r>
            <a:r>
              <a:rPr sz="850" b="0">
                <a:solidFill>
                  <a:srgbClr val="1A1A1A"/>
                </a:solidFill>
                <a:latin typeface="Segoe UI"/>
              </a:rPr>
              <a:t>Switching without waste: what replaces DAP, mixed with what, on which irrigation.</a:t>
            </a:r>
          </a:p>
        </p:txBody>
      </p:sp>
      <p:sp>
        <p:nvSpPr>
          <p:cNvPr id="31" name="TextBox 30"/>
          <p:cNvSpPr txBox="1"/>
          <p:nvPr/>
        </p:nvSpPr>
        <p:spPr>
          <a:xfrm>
            <a:off x="7086600" y="3867912"/>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18 posts - 10 of 11 yield films offer no proof beyond the badge.</a:t>
            </a:r>
          </a:p>
          <a:p>
            <a:pPr algn="l">
              <a:spcAft>
                <a:spcPts val="200"/>
              </a:spcAft>
            </a:pPr>
            <a:r>
              <a:rPr sz="850" b="1">
                <a:solidFill>
                  <a:srgbClr val="1A1A1A"/>
                </a:solidFill>
                <a:latin typeface="Segoe UI"/>
              </a:rPr>
              <a:t>Heard:  </a:t>
            </a:r>
            <a:r>
              <a:rPr sz="850" b="0">
                <a:solidFill>
                  <a:srgbClr val="1A1A1A"/>
                </a:solidFill>
                <a:latin typeface="Segoe UI"/>
              </a:rPr>
              <a:t>Strong demand - 220 mixing comments, 163 on timing, 16 on NP vs DAP.</a:t>
            </a:r>
          </a:p>
        </p:txBody>
      </p:sp>
      <p:sp>
        <p:nvSpPr>
          <p:cNvPr id="32" name="TextBox 31"/>
          <p:cNvSpPr txBox="1"/>
          <p:nvPr/>
        </p:nvSpPr>
        <p:spPr>
          <a:xfrm>
            <a:off x="10012680" y="3895344"/>
            <a:ext cx="150876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PLACE SARSABZ HERE</a:t>
            </a:r>
          </a:p>
          <a:p>
            <a:pPr algn="l">
              <a:spcAft>
                <a:spcPts val="200"/>
              </a:spcAft>
            </a:pPr>
            <a:r>
              <a:rPr sz="850" b="0">
                <a:solidFill>
                  <a:srgbClr val="1A1A1A"/>
                </a:solidFill>
                <a:latin typeface="Segoe UI"/>
              </a:rPr>
              <a:t>proof on the farmer's own field</a:t>
            </a:r>
          </a:p>
        </p:txBody>
      </p:sp>
      <p:sp>
        <p:nvSpPr>
          <p:cNvPr id="33" name="Rectangle 32"/>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581144"/>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2. Attributes</a:t>
            </a:r>
          </a:p>
          <a:p>
            <a:pPr algn="l">
              <a:spcAft>
                <a:spcPts val="200"/>
              </a:spcAft>
            </a:pPr>
            <a:r>
              <a:rPr sz="850" b="0">
                <a:solidFill>
                  <a:srgbClr val="6B7480"/>
                </a:solidFill>
                <a:latin typeface="Segoe UI"/>
              </a:rPr>
              <a:t>"What do you have?"</a:t>
            </a:r>
          </a:p>
        </p:txBody>
      </p:sp>
      <p:sp>
        <p:nvSpPr>
          <p:cNvPr id="35" name="TextBox 34"/>
          <p:cNvSpPr txBox="1"/>
          <p:nvPr/>
        </p:nvSpPr>
        <p:spPr>
          <a:xfrm>
            <a:off x="2331720" y="4581144"/>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Bio-active zinc, blends, anti-counterfeit seal (Engro 35); prize draws.</a:t>
            </a:r>
          </a:p>
          <a:p>
            <a:pPr algn="l">
              <a:spcAft>
                <a:spcPts val="200"/>
              </a:spcAft>
            </a:pPr>
            <a:r>
              <a:rPr sz="850" b="1">
                <a:solidFill>
                  <a:srgbClr val="1A1A1A"/>
                </a:solidFill>
                <a:latin typeface="Segoe UI"/>
              </a:rPr>
              <a:t>Open:  </a:t>
            </a:r>
            <a:r>
              <a:rPr sz="850" b="0">
                <a:solidFill>
                  <a:srgbClr val="1A1A1A"/>
                </a:solidFill>
                <a:latin typeface="Segoe UI"/>
              </a:rPr>
              <a:t>The 500+ demo plots published; the NP-to-DAP price gap; the sticker used to verify.</a:t>
            </a:r>
          </a:p>
        </p:txBody>
      </p:sp>
      <p:sp>
        <p:nvSpPr>
          <p:cNvPr id="36" name="TextBox 35"/>
          <p:cNvSpPr txBox="1"/>
          <p:nvPr/>
        </p:nvSpPr>
        <p:spPr>
          <a:xfrm>
            <a:off x="7086600" y="4581144"/>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5 posts - mostly the Nitrophos prize scheme.</a:t>
            </a:r>
          </a:p>
          <a:p>
            <a:pPr algn="l">
              <a:spcAft>
                <a:spcPts val="200"/>
              </a:spcAft>
            </a:pPr>
            <a:r>
              <a:rPr sz="850" b="1">
                <a:solidFill>
                  <a:srgbClr val="1A1A1A"/>
                </a:solidFill>
                <a:latin typeface="Segoe UI"/>
              </a:rPr>
              <a:t>Heard:  </a:t>
            </a:r>
            <a:r>
              <a:rPr sz="850" b="0">
                <a:solidFill>
                  <a:srgbClr val="1A1A1A"/>
                </a:solidFill>
                <a:latin typeface="Segoe UI"/>
              </a:rPr>
              <a:t>Mixed - counterfeit fear attaches to DAP; NP doubted in sandy soil.</a:t>
            </a:r>
          </a:p>
        </p:txBody>
      </p:sp>
      <p:sp>
        <p:nvSpPr>
          <p:cNvPr id="37" name="TextBox 36"/>
          <p:cNvSpPr txBox="1"/>
          <p:nvPr/>
        </p:nvSpPr>
        <p:spPr>
          <a:xfrm>
            <a:off x="10012680" y="4608576"/>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PROVE</a:t>
            </a:r>
          </a:p>
          <a:p>
            <a:pPr algn="l">
              <a:spcAft>
                <a:spcPts val="200"/>
              </a:spcAft>
            </a:pPr>
            <a:r>
              <a:rPr sz="850" b="0">
                <a:solidFill>
                  <a:srgbClr val="1A1A1A"/>
                </a:solidFill>
                <a:latin typeface="Segoe UI"/>
              </a:rPr>
              <a:t>publish the plots and the price gap</a:t>
            </a:r>
          </a:p>
        </p:txBody>
      </p:sp>
      <p:sp>
        <p:nvSpPr>
          <p:cNvPr id="38" name="Rectangle 37"/>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294376"/>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1. Identification</a:t>
            </a:r>
          </a:p>
          <a:p>
            <a:pPr algn="l">
              <a:spcAft>
                <a:spcPts val="200"/>
              </a:spcAft>
            </a:pPr>
            <a:r>
              <a:rPr sz="850" b="0">
                <a:solidFill>
                  <a:srgbClr val="6B7480"/>
                </a:solidFill>
                <a:latin typeface="Segoe UI"/>
              </a:rPr>
              <a:t>"Who are you?"</a:t>
            </a:r>
          </a:p>
        </p:txBody>
      </p:sp>
      <p:sp>
        <p:nvSpPr>
          <p:cNvPr id="40" name="TextBox 39"/>
          <p:cNvSpPr txBox="1"/>
          <p:nvPr/>
        </p:nvSpPr>
        <p:spPr>
          <a:xfrm>
            <a:off x="2331720" y="5294376"/>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Name, bag, heritage, cricket, Ramzan.</a:t>
            </a:r>
          </a:p>
          <a:p>
            <a:pPr algn="l">
              <a:spcAft>
                <a:spcPts val="200"/>
              </a:spcAft>
            </a:pPr>
            <a:r>
              <a:rPr sz="850" b="1">
                <a:solidFill>
                  <a:srgbClr val="1A1A1A"/>
                </a:solidFill>
                <a:latin typeface="Segoe UI"/>
              </a:rPr>
              <a:t>Open:  </a:t>
            </a:r>
            <a:r>
              <a:rPr sz="850" b="0">
                <a:solidFill>
                  <a:srgbClr val="1A1A1A"/>
                </a:solidFill>
                <a:latin typeface="Segoe UI"/>
              </a:rPr>
              <a:t>Put the Sarsabz name on the products farmers already discuss.</a:t>
            </a:r>
          </a:p>
        </p:txBody>
      </p:sp>
      <p:sp>
        <p:nvSpPr>
          <p:cNvPr id="41" name="TextBox 40"/>
          <p:cNvSpPr txBox="1"/>
          <p:nvPr/>
        </p:nvSpPr>
        <p:spPr>
          <a:xfrm>
            <a:off x="7086600" y="5294376"/>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25 posts - cricket, Ramzan, corporate; 1.2M TikTok followers, the category's largest.</a:t>
            </a:r>
          </a:p>
          <a:p>
            <a:pPr algn="l">
              <a:spcAft>
                <a:spcPts val="200"/>
              </a:spcAft>
            </a:pPr>
            <a:r>
              <a:rPr sz="850" b="1">
                <a:solidFill>
                  <a:srgbClr val="1A1A1A"/>
                </a:solidFill>
                <a:latin typeface="Segoe UI"/>
              </a:rPr>
              <a:t>Heard:  </a:t>
            </a:r>
            <a:r>
              <a:rPr sz="850" b="0">
                <a:solidFill>
                  <a:srgbClr val="1A1A1A"/>
                </a:solidFill>
                <a:latin typeface="Segoe UI"/>
              </a:rPr>
              <a:t>Weak for the brand, strong for the product - CAN 193, NP 147, Sarsabz 15.</a:t>
            </a:r>
          </a:p>
        </p:txBody>
      </p:sp>
      <p:sp>
        <p:nvSpPr>
          <p:cNvPr id="42" name="TextBox 41"/>
          <p:cNvSpPr txBox="1"/>
          <p:nvPr/>
        </p:nvSpPr>
        <p:spPr>
          <a:xfrm>
            <a:off x="10012680" y="5321808"/>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HOLD</a:t>
            </a:r>
          </a:p>
          <a:p>
            <a:pPr algn="l">
              <a:spcAft>
                <a:spcPts val="200"/>
              </a:spcAft>
            </a:pPr>
            <a:r>
              <a:rPr sz="850" b="0">
                <a:solidFill>
                  <a:srgbClr val="1A1A1A"/>
                </a:solidFill>
                <a:latin typeface="Segoe UI"/>
              </a:rPr>
              <a:t>reach is not the problem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424160" cy="914400"/>
          </a:xfrm>
          <a:prstGeom prst="rect">
            <a:avLst/>
          </a:prstGeom>
          <a:noFill/>
        </p:spPr>
        <p:txBody>
          <a:bodyPr wrap="square" lIns="0" rIns="0" t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rIns="0" t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1  ·  CONSUMER INSIGHT  ·  FROM THE FARMER CONVERSATION</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farmers feel, that the category ignores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“Farmers don't doubt that Nitrophos and CAN work, but they won't bet a season on a switch nobody has shown them how to make without waste.”</a:t>
            </a:r>
          </a:p>
        </p:txBody>
      </p:sp>
      <p:sp>
        <p:nvSpPr>
          <p:cNvPr id="7" name="TextBox 6"/>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Mixing is the largest subject in the file: 220 of 1,433 comments, 83 about NP or CAN, 33 putting Nitrophos beside Engro Zabardast.</a:t>
            </a:r>
          </a:p>
          <a:p>
            <a:pPr algn="l">
              <a:spcAft>
                <a:spcPts val="700"/>
              </a:spcAft>
            </a:pPr>
            <a:r>
              <a:rPr sz="1100" b="0" i="0">
                <a:solidFill>
                  <a:srgbClr val="1A1A1A"/>
                </a:solidFill>
                <a:latin typeface="Segoe UI"/>
              </a:rPr>
              <a:t>·  "Zabrdast urea ma zink ha aur np ma phosphorus ha to akthy dalen gy to zink phosphorus to fix ho jay ge" (together they lock up).</a:t>
            </a:r>
          </a:p>
          <a:p>
            <a:pPr algn="l">
              <a:spcAft>
                <a:spcPts val="700"/>
              </a:spcAft>
            </a:pPr>
            <a:r>
              <a:rPr sz="1100" b="0" i="0">
                <a:solidFill>
                  <a:srgbClr val="1A1A1A"/>
                </a:solidFill>
                <a:latin typeface="Segoe UI"/>
              </a:rPr>
              <a:t>·  Translated from Urdu: "How many bags of Sarsabz Nitrophos give the same result as one DAP, or can it not replace DAP?"</a:t>
            </a:r>
          </a:p>
          <a:p>
            <a:pPr algn="l">
              <a:spcAft>
                <a:spcPts val="700"/>
              </a:spcAft>
            </a:pPr>
            <a:r>
              <a:rPr sz="1100" b="0" i="0">
                <a:solidFill>
                  <a:srgbClr val="1A1A1A"/>
                </a:solidFill>
                <a:latin typeface="Segoe UI"/>
              </a:rPr>
              <a:t>·  "Fatima fertilizer walon ne NP+CAN+ZINC SULFATE mila ke chatta kiya hai... aap bol rahai in ko aapus main na milaain" (Fatima mixed them; you say don't).</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The fear is waste, not failure. Nobody questions whether NP and CAN raise yield; they ask whether mixing will lock it up.</a:t>
            </a:r>
          </a:p>
          <a:p>
            <a:pPr algn="l">
              <a:spcAft>
                <a:spcPts val="600"/>
              </a:spcAft>
            </a:pPr>
            <a:r>
              <a:rPr sz="1050" b="0" i="0">
                <a:solidFill>
                  <a:srgbClr val="102A43"/>
                </a:solidFill>
                <a:latin typeface="Segoe UI"/>
              </a:rPr>
              <a:t>No comment mentions the 10% promise. One asks whether CAN raises yield at all.</a:t>
            </a:r>
          </a:p>
          <a:p>
            <a:pPr algn="l">
              <a:spcAft>
                <a:spcPts val="600"/>
              </a:spcAft>
            </a:pPr>
            <a:r>
              <a:rPr sz="1050" b="0" i="0">
                <a:solidFill>
                  <a:srgbClr val="102A43"/>
                </a:solidFill>
                <a:latin typeface="Segoe UI"/>
              </a:rPr>
              <a:t>Farmers are getting contradictory advice - including Fatima's own field practice against the creators they watch.</a:t>
            </a:r>
          </a:p>
        </p:txBody>
      </p:sp>
      <p:sp>
        <p:nvSpPr>
          <p:cNvPr id="12" name="TextBox 11"/>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1,433 YouTube comments on independent agronomy channels (comments/analysis.md). Self-selected corpus, channels not supplied - not a measure of what most farmers think. Translations labelled.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2  ·  CATEGORY INSIGHT  ·  FROM COMPETITORS' OWNED CHANNELS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“Engro has made itself the farmer's adviser and Sarsabz makes the loudest yield promise, but no brand shows the result on a real field beside the old way.”</a:t>
            </a:r>
          </a:p>
        </p:txBody>
      </p:sp>
      <p:sp>
        <p:nvSpPr>
          <p:cNvPr id="7" name="TextBox 6"/>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Engro answers a farmer objection in 58% of its 110 uploads; Sarsabz in 6% of its 90.</a:t>
            </a:r>
          </a:p>
          <a:p>
            <a:pPr algn="l">
              <a:spcAft>
                <a:spcPts val="700"/>
              </a:spcAft>
            </a:pPr>
            <a:r>
              <a:rPr sz="1100" b="0" i="0">
                <a:solidFill>
                  <a:srgbClr val="1A1A1A"/>
                </a:solidFill>
                <a:latin typeface="Segoe UI"/>
              </a:rPr>
              <a:t>·  Engro: 44 advisory uploads, 31 with a named agronomist, soil testing, a cost-per-acre podcast, retail centres and an app.</a:t>
            </a:r>
          </a:p>
          <a:p>
            <a:pPr algn="l">
              <a:spcAft>
                <a:spcPts val="700"/>
              </a:spcAft>
            </a:pPr>
            <a:r>
              <a:rPr sz="1100" b="0" i="0">
                <a:solidFill>
                  <a:srgbClr val="1A1A1A"/>
                </a:solidFill>
                <a:latin typeface="Segoe UI"/>
              </a:rPr>
              <a:t>·  Sarsabz makes the yield claim 15 times, Engro 0 - and 10 of Sarsabz's 11 '10%' films offer nothing but the badge.</a:t>
            </a:r>
          </a:p>
          <a:p>
            <a:pPr algn="l">
              <a:spcAft>
                <a:spcPts val="700"/>
              </a:spcAft>
            </a:pPr>
            <a:r>
              <a:rPr sz="1100" b="0" i="0">
                <a:solidFill>
                  <a:srgbClr val="1A1A1A"/>
                </a:solidFill>
                <a:latin typeface="Segoe UI"/>
              </a:rPr>
              <a:t>·  FFC Sona, Bubber Sher and Agritech Tara have no official YouTube channel.</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WHY THE CATEGORY BEHAVES THIS WAY</a:t>
            </a:r>
          </a:p>
        </p:txBody>
      </p:sp>
      <p:sp>
        <p:nvSpPr>
          <p:cNvPr id="11" name="TextBox 10"/>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Urea and DAP are near-commodities, so Engro competes on what comes with the bag: a zinc coating, advice, a service.</a:t>
            </a:r>
          </a:p>
          <a:p>
            <a:pPr algn="l">
              <a:spcAft>
                <a:spcPts val="600"/>
              </a:spcAft>
            </a:pPr>
            <a:r>
              <a:rPr sz="1050" b="0" i="0">
                <a:solidFill>
                  <a:srgbClr val="102A43"/>
                </a:solidFill>
                <a:latin typeface="Segoe UI"/>
              </a:rPr>
              <a:t>Sarsabz sells products no rival makes at scale - the only CAN and 93% of NP - so proof is its natural ground, and the one it is not using.</a:t>
            </a:r>
          </a:p>
          <a:p>
            <a:pPr algn="l">
              <a:spcAft>
                <a:spcPts val="600"/>
              </a:spcAft>
            </a:pPr>
            <a:r>
              <a:rPr sz="1050" b="0" i="0">
                <a:solidFill>
                  <a:srgbClr val="102A43"/>
                </a:solidFill>
                <a:latin typeface="Segoe UI"/>
              </a:rPr>
              <a:t>The space is not empty because it failed: Ki Jeet, the closest thing to field proof, carries Sarsabz's biggest product films (8.2M, 7.5M views).</a:t>
            </a:r>
          </a:p>
        </p:txBody>
      </p:sp>
      <p:sp>
        <p:nvSpPr>
          <p:cNvPr id="12" name="TextBox 11"/>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200 owned YouTube uploads coded on the same schema, 15 Sep 2024 - 15 Sep 2026 (scan/scan_findings.md); presence sweep 15 Sep 2026. Views are bought media weight, not share of voice.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3  ·  BRAND INSIGHT  ·  FROM THE BRIEF AND MARKET DATA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“Sarsabz holds proof no rival can produce - the only CAN and 93% of NP in Pakistan, 500+ demo plots, Ki Jeet winners in 34 districts - but keeps it off screen, so farmers know the product and forget the name.”</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0" y="987552"/>
            <a:ext cx="1645920" cy="201168"/>
          </a:xfrm>
          <a:prstGeom prst="rect">
            <a:avLst/>
          </a:prstGeom>
          <a:noFill/>
        </p:spPr>
        <p:txBody>
          <a:bodyPr wrap="square" lIns="0" rIns="0" t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The asset: Fatima Group holds 93% of NP and is the sole CAN producer; Engro holds 6% of NP (CCP Table 11, NFDC 2022-23).</a:t>
            </a:r>
          </a:p>
          <a:p>
            <a:pPr algn="l">
              <a:spcAft>
                <a:spcPts val="700"/>
              </a:spcAft>
            </a:pPr>
            <a:r>
              <a:rPr sz="1100" b="0" i="0">
                <a:solidFill>
                  <a:srgbClr val="1A1A1A"/>
                </a:solidFill>
                <a:latin typeface="Segoe UI"/>
              </a:rPr>
              <a:t>·  The proof exists: the promise is "documented by... 500+ demo plots" (brief p5); Ki Jeet wins in 34 of 40 districts. No plot appears in 90 uploads.</a:t>
            </a:r>
          </a:p>
          <a:p>
            <a:pPr algn="l">
              <a:spcAft>
                <a:spcPts val="700"/>
              </a:spcAft>
            </a:pPr>
            <a:r>
              <a:rPr sz="1100" b="0" i="0">
                <a:solidFill>
                  <a:srgbClr val="1A1A1A"/>
                </a:solidFill>
                <a:latin typeface="Segoe UI"/>
              </a:rPr>
              <a:t>·  The name is missing: farmers mention CAN 193 times and NP 147 times, Sarsabz 15 times.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Brief: the brand "evolved from being a product-focused brand to a farmer-centric brand" (p13). Evidence: farmers judge at product level, and Engro is winning there.</a:t>
            </a:r>
          </a:p>
          <a:p>
            <a:pPr algn="l">
              <a:spcAft>
                <a:spcPts val="600"/>
              </a:spcAft>
            </a:pPr>
            <a:r>
              <a:rPr sz="1050" b="0" i="0">
                <a:solidFill>
                  <a:srgbClr val="102A43"/>
                </a:solidFill>
                <a:latin typeface="Segoe UI"/>
              </a:rPr>
              <a:t>Brief: 22% top-of-mind "exceeded competition's TOM awareness by 6%" (p29). Chart: true against Competitor 2 only - Competitor 1 is at 62%.</a:t>
            </a:r>
          </a:p>
          <a:p>
            <a:pPr algn="l">
              <a:spcAft>
                <a:spcPts val="600"/>
              </a:spcAft>
            </a:pPr>
            <a:r>
              <a:rPr sz="1050" b="0" i="0">
                <a:solidFill>
                  <a:srgbClr val="102A43"/>
                </a:solidFill>
                <a:latin typeface="Segoe UI"/>
              </a:rPr>
              <a:t>The brief's own pillar is "Experts" (p5). On screen, Sarsabz shows 0 named agronomists; Engro shows 31.</a:t>
            </a:r>
          </a:p>
        </p:txBody>
      </p:sp>
      <p:sp>
        <p:nvSpPr>
          <p:cNvPr id="14" name="TextBox 13"/>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Fatima Creative Marketing Brief 2026 (pp.5, 13, 29); CCP Competition Assessment, DRAFT, Jul 2025. PROVISIONAL: demo-plot data, current product share and the brand-health study method were not supplied.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Farmers won't bet a season on a switch nobody has shown them how to make without waste.</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Engro advises and Sarsabz asserts, but nobody shows the result beside the old way.</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9"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Sarsabz holds proof no rival can produce, but keeps it off screen - farmers know the product and forget the name.</a:t>
            </a:r>
          </a:p>
        </p:txBody>
      </p:sp>
      <p:sp>
        <p:nvSpPr>
          <p:cNvPr id="14" name="TextBox 13"/>
          <p:cNvSpPr txBox="1"/>
          <p:nvPr/>
        </p:nvSpPr>
        <p:spPr>
          <a:xfrm>
            <a:off x="548640" y="3017520"/>
            <a:ext cx="11064240" cy="457200"/>
          </a:xfrm>
          <a:prstGeom prst="rect">
            <a:avLst/>
          </a:prstGeom>
          <a:noFill/>
        </p:spPr>
        <p:txBody>
          <a:bodyPr wrap="square" lIns="0" rIns="0" t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639312"/>
            <a:ext cx="105156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rIns="0" tIns="0" bIns="0">
            <a:spAutoFit/>
          </a:bodyPr>
          <a:lstStyle/>
          <a:p>
            <a:pPr algn="l">
              <a:spcAft>
                <a:spcPts val="0"/>
              </a:spcAft>
            </a:pPr>
            <a:r>
              <a:rPr sz="3200" b="1" i="0">
                <a:solidFill>
                  <a:srgbClr val="FFFFFF"/>
                </a:solidFill>
                <a:latin typeface="Segoe UI"/>
              </a:rPr>
              <a:t>Sarsabz proves itself on a field like yours.</a:t>
            </a:r>
          </a:p>
        </p:txBody>
      </p:sp>
      <p:sp>
        <p:nvSpPr>
          <p:cNvPr id="18" name="TextBox 17"/>
          <p:cNvSpPr txBox="1"/>
          <p:nvPr/>
        </p:nvSpPr>
        <p:spPr>
          <a:xfrm>
            <a:off x="548640" y="5166360"/>
            <a:ext cx="11064240" cy="822960"/>
          </a:xfrm>
          <a:prstGeom prst="rect">
            <a:avLst/>
          </a:prstGeom>
          <a:noFill/>
        </p:spPr>
        <p:txBody>
          <a:bodyPr wrap="square" lIns="0" rIns="0" tIns="0" bIns="0">
            <a:spAutoFit/>
          </a:bodyPr>
          <a:lstStyle/>
          <a:p>
            <a:pPr algn="l">
              <a:spcAft>
                <a:spcPts val="0"/>
              </a:spcAft>
            </a:pPr>
            <a:r>
              <a:rPr sz="1400" b="0" i="0">
                <a:solidFill>
                  <a:srgbClr val="1A1A1A"/>
                </a:solidFill>
                <a:latin typeface="Segoe UI"/>
              </a:rPr>
              <a:t>The 10% stops being a badge and becomes a result a farmer can see on a field like his - with the recipe that produced it: what replaced DAP, what it was mixed with, on which irrigation, on what soil.</a:t>
            </a:r>
          </a:p>
        </p:txBody>
      </p:sp>
      <p:sp>
        <p:nvSpPr>
          <p:cNvPr id="19" name="TextBox 18"/>
          <p:cNvSpPr txBox="1"/>
          <p:nvPr/>
        </p:nvSpPr>
        <p:spPr>
          <a:xfrm>
            <a:off x="548640" y="6035040"/>
            <a:ext cx="11064240" cy="548640"/>
          </a:xfrm>
          <a:prstGeom prst="rect">
            <a:avLst/>
          </a:prstGeom>
          <a:noFill/>
        </p:spPr>
        <p:txBody>
          <a:bodyPr wrap="square" lIns="0" rIns="0" t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 without the farmer it is demo-plot PR nobody asked for, without the category it is Engro's advice, without the brand anyone could promise a demo, but only Sarsabz makes the NP and CAN on the winning side of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rIns="0" tIns="0" bIns="0">
            <a:spAutoFit/>
          </a:bodyPr>
          <a:lstStyle/>
          <a:p>
            <a:pPr algn="l">
              <a:spcAft>
                <a:spcPts val="0"/>
              </a:spcAft>
            </a:pPr>
            <a:r>
              <a:rPr sz="1600" b="1" i="0">
                <a:solidFill>
                  <a:srgbClr val="102A43"/>
                </a:solidFill>
                <a:latin typeface="Segoe UI"/>
              </a:rPr>
              <a:t>Re-frame Sarsabz from a yield promise farmers take on trust to the proof they can see and copy, by putting its demo plots and winning farmers side by side with DAP + urea on fields like theirs, and publishing the recipe behind every result.</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93008"/>
            <a:ext cx="62179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rIns="0" tIns="0" bIns="0">
            <a:spAutoFit/>
          </a:bodyPr>
          <a:lstStyle/>
          <a:p>
            <a:pPr algn="l">
              <a:spcAft>
                <a:spcPts val="0"/>
              </a:spcAft>
            </a:pPr>
            <a:r>
              <a:rPr sz="1900" b="1" i="0">
                <a:solidFill>
                  <a:srgbClr val="C8102E"/>
                </a:solidFill>
                <a:latin typeface="Segoe UI"/>
              </a:rPr>
              <a:t>Position Sarsabz as  </a:t>
            </a:r>
            <a:r>
              <a:rPr sz="1900" b="1" i="0">
                <a:solidFill>
                  <a:srgbClr val="C8102E"/>
                </a:solidFill>
                <a:latin typeface="Segoe UI"/>
              </a:rPr>
              <a:t>THE PROOF, NOT THE PROMISE.</a:t>
            </a:r>
          </a:p>
        </p:txBody>
      </p:sp>
      <p:sp>
        <p:nvSpPr>
          <p:cNvPr id="10" name="TextBox 9"/>
          <p:cNvSpPr txBox="1"/>
          <p:nvPr/>
        </p:nvSpPr>
        <p:spPr>
          <a:xfrm>
            <a:off x="548640" y="480060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rIns="0" t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answers the largest subject in the farmer conversation - how to switch without waste.</a:t>
            </a:r>
          </a:p>
          <a:p>
            <a:pPr algn="l">
              <a:spcAft>
                <a:spcPts val="500"/>
              </a:spcAft>
            </a:pPr>
            <a:r>
              <a:rPr sz="1100" b="1" i="0">
                <a:solidFill>
                  <a:srgbClr val="1A1A1A"/>
                </a:solidFill>
                <a:latin typeface="Segoe UI"/>
              </a:rPr>
              <a:t>Distinctive:  </a:t>
            </a:r>
            <a:r>
              <a:rPr sz="1100" b="0" i="0">
                <a:solidFill>
                  <a:srgbClr val="1A1A1A"/>
                </a:solidFill>
                <a:latin typeface="Segoe UI"/>
              </a:rPr>
              <a:t>Engro advises, Sarsabz asserts, and nobody in 200 uploads shows a result beside the old way.</a:t>
            </a:r>
          </a:p>
          <a:p>
            <a:pPr algn="l">
              <a:spcAft>
                <a:spcPts val="500"/>
              </a:spcAft>
            </a:pPr>
            <a:r>
              <a:rPr sz="1100" b="1" i="0">
                <a:solidFill>
                  <a:srgbClr val="1A1A1A"/>
                </a:solidFill>
                <a:latin typeface="Segoe UI"/>
              </a:rPr>
              <a:t>Ownable:  </a:t>
            </a:r>
            <a:r>
              <a:rPr sz="1100" b="0" i="0">
                <a:solidFill>
                  <a:srgbClr val="1A1A1A"/>
                </a:solidFill>
                <a:latin typeface="Segoe UI"/>
              </a:rPr>
              <a:t>only the maker of 93% of NP and all of CAN can put those products on the winning side of the comparison.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7033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rIns="0" tIns="0" bIns="0">
            <a:spAutoFit/>
          </a:bodyPr>
          <a:lstStyle/>
          <a:p>
            <a:pPr algn="l">
              <a:spcAft>
                <a:spcPts val="900"/>
              </a:spcAft>
            </a:pPr>
            <a:r>
              <a:rPr sz="1050" b="1" i="0">
                <a:solidFill>
                  <a:srgbClr val="102A43"/>
                </a:solidFill>
                <a:latin typeface="Segoe UI"/>
              </a:rPr>
              <a:t>Recommended - A. Sarsabz proves itself on a field like yours.  </a:t>
            </a:r>
            <a:r>
              <a:rPr sz="1050" b="0" i="0">
                <a:solidFill>
                  <a:srgbClr val="102A43"/>
                </a:solidFill>
                <a:latin typeface="Segoe UI"/>
              </a:rPr>
              <a:t>Built on all three insights. Needs Fatima to publish plot results - including the ones that fell short.</a:t>
            </a:r>
          </a:p>
          <a:p>
            <a:pPr algn="l">
              <a:spcAft>
                <a:spcPts val="900"/>
              </a:spcAft>
            </a:pPr>
            <a:r>
              <a:rPr sz="1050" b="1" i="0">
                <a:solidFill>
                  <a:srgbClr val="102A43"/>
                </a:solidFill>
                <a:latin typeface="Segoe UI"/>
              </a:rPr>
              <a:t>B. The farmer's trusted adviser.  </a:t>
            </a:r>
            <a:r>
              <a:rPr sz="1050" b="0" i="0">
                <a:solidFill>
                  <a:srgbClr val="102A43"/>
                </a:solidFill>
                <a:latin typeface="Segoe UI"/>
              </a:rPr>
              <a:t>Engro's territory: 44 advisory uploads, 31 named experts. Sarsabz would arrive second in a space Engro already owns.</a:t>
            </a:r>
          </a:p>
          <a:p>
            <a:pPr algn="l">
              <a:spcAft>
                <a:spcPts val="900"/>
              </a:spcAft>
            </a:pPr>
            <a:r>
              <a:rPr sz="1050" b="1" i="0">
                <a:solidFill>
                  <a:srgbClr val="102A43"/>
                </a:solidFill>
                <a:latin typeface="Segoe UI"/>
              </a:rPr>
              <a:t>C. Saluting the farmer - Sarsabz Pakistan.  </a:t>
            </a:r>
            <a:r>
              <a:rPr sz="1050" b="0" i="0">
                <a:solidFill>
                  <a:srgbClr val="102A43"/>
                </a:solidFill>
                <a:latin typeface="Segoe UI"/>
              </a:rPr>
              <a:t>Where the brand talks today (30 of 90 uploads) and right for Salam Kissan. But farmers name Sarsabz 15 times in 1,433 comments; a salute does not sell a switch.</a:t>
            </a:r>
          </a:p>
          <a:p>
            <a:pPr algn="l">
              <a:spcAft>
                <a:spcPts val="900"/>
              </a:spcAft>
            </a:pPr>
            <a:r>
              <a:rPr sz="1050" b="1" i="0">
                <a:solidFill>
                  <a:srgbClr val="102A43"/>
                </a:solidFill>
                <a:latin typeface="Segoe UI"/>
              </a:rPr>
              <a:t>Swap test:  </a:t>
            </a:r>
            <a:r>
              <a:rPr sz="1050" b="0" i="0">
                <a:solidFill>
                  <a:srgbClr val="102A43"/>
                </a:solidFill>
                <a:latin typeface="Segoe UI"/>
              </a:rPr>
              <a:t>Engro could film a demo plot. It cannot put NP and CAN on the winning side - it has 6% of NP and no CAN. Lead with that.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it asks of Fatima, and how it lives in media</a:t>
            </a:r>
          </a:p>
        </p:txBody>
      </p:sp>
      <p:sp>
        <p:nvSpPr>
          <p:cNvPr id="5" name="TextBox 4"/>
          <p:cNvSpPr txBox="1"/>
          <p:nvPr/>
        </p:nvSpPr>
        <p:spPr>
          <a:xfrm>
            <a:off x="548640" y="1234440"/>
            <a:ext cx="548640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18488"/>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1  Publish the plots</a:t>
            </a:r>
          </a:p>
        </p:txBody>
      </p:sp>
      <p:sp>
        <p:nvSpPr>
          <p:cNvPr id="8" name="TextBox 7"/>
          <p:cNvSpPr txBox="1"/>
          <p:nvPr/>
        </p:nvSpPr>
        <p:spPr>
          <a:xfrm>
            <a:off x="731520" y="1920240"/>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Demo-plot results by crop, district and soil - including those under 10%.</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23160"/>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2  Correct Ki Jeet</a:t>
            </a:r>
          </a:p>
        </p:txBody>
      </p:sp>
      <p:sp>
        <p:nvSpPr>
          <p:cNvPr id="11" name="TextBox 10"/>
          <p:cNvSpPr txBox="1"/>
          <p:nvPr/>
        </p:nvSpPr>
        <p:spPr>
          <a:xfrm>
            <a:off x="731520" y="2724912"/>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State winners' yields and inputs; drop 'proved 10%'; verify before saying 'all winners'.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27832"/>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3  One mixing answer</a:t>
            </a:r>
          </a:p>
        </p:txBody>
      </p:sp>
      <p:sp>
        <p:nvSpPr>
          <p:cNvPr id="14" name="TextBox 13"/>
          <p:cNvSpPr txBox="1"/>
          <p:nvPr/>
        </p:nvSpPr>
        <p:spPr>
          <a:xfrm>
            <a:off x="731520" y="3529584"/>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An official NP and CAN compatibility and timing guide, so field staff and creators agree.</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32503"/>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4  Name the recipe</a:t>
            </a:r>
          </a:p>
        </p:txBody>
      </p:sp>
      <p:sp>
        <p:nvSpPr>
          <p:cNvPr id="17" name="TextBox 16"/>
          <p:cNvSpPr txBox="1"/>
          <p:nvPr/>
        </p:nvSpPr>
        <p:spPr>
          <a:xfrm>
            <a:off x="731520" y="4334255"/>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Every proof film names the farmer, district, soil, inputs and maunds.</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37175"/>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5  Answer in the thread</a:t>
            </a:r>
          </a:p>
        </p:txBody>
      </p:sp>
      <p:sp>
        <p:nvSpPr>
          <p:cNvPr id="20" name="TextBox 19"/>
          <p:cNvSpPr txBox="1"/>
          <p:nvPr/>
        </p:nvSpPr>
        <p:spPr>
          <a:xfrm>
            <a:off x="731520" y="5138927"/>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Agronomists staffing the Sarsabz Pakistan App and comment replies.</a:t>
            </a:r>
          </a:p>
        </p:txBody>
      </p:sp>
      <p:sp>
        <p:nvSpPr>
          <p:cNvPr id="21" name="TextBox 20"/>
          <p:cNvSpPr txBox="1"/>
          <p:nvPr/>
        </p:nvSpPr>
        <p:spPr>
          <a:xfrm>
            <a:off x="6400800" y="1234440"/>
            <a:ext cx="52120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rIns="0" tIns="0" bIns="0">
            <a:spAutoFit/>
          </a:bodyPr>
          <a:lstStyle/>
          <a:p>
            <a:pPr algn="l">
              <a:spcAft>
                <a:spcPts val="0"/>
              </a:spcAft>
            </a:pPr>
            <a:r>
              <a:rPr sz="1300" b="1" i="1">
                <a:solidFill>
                  <a:srgbClr val="102A43"/>
                </a:solidFill>
                <a:latin typeface="Segoe UI"/>
              </a:rPr>
              <a:t>“The switch is decided in agronomy creators' comment threads, where farmers ask strangers what the maker should be telling them - and suspect the answers are paid.”</a:t>
            </a:r>
          </a:p>
        </p:txBody>
      </p:sp>
      <p:sp>
        <p:nvSpPr>
          <p:cNvPr id="23" name="TextBox 22"/>
          <p:cNvSpPr txBox="1"/>
          <p:nvPr/>
        </p:nvSpPr>
        <p:spPr>
          <a:xfrm>
            <a:off x="6400800" y="2423160"/>
            <a:ext cx="5212080" cy="3291840"/>
          </a:xfrm>
          <a:prstGeom prst="rect">
            <a:avLst/>
          </a:prstGeom>
          <a:noFill/>
        </p:spPr>
        <p:txBody>
          <a:bodyPr wrap="square" lIns="0" rIns="0" tIns="0" bIns="0">
            <a:spAutoFit/>
          </a:bodyPr>
          <a:lstStyle/>
          <a:p>
            <a:pPr algn="l">
              <a:spcAft>
                <a:spcPts val="900"/>
              </a:spcAft>
            </a:pPr>
            <a:r>
              <a:rPr sz="1150" b="1" i="0">
                <a:solidFill>
                  <a:srgbClr val="1A1A1A"/>
                </a:solidFill>
                <a:latin typeface="Segoe UI"/>
              </a:rPr>
              <a:t>Show the field, not the badge.  </a:t>
            </a:r>
            <a:r>
              <a:rPr sz="1150" b="0" i="0">
                <a:solidFill>
                  <a:srgbClr val="1A1A1A"/>
                </a:solidFill>
                <a:latin typeface="Segoe UI"/>
              </a:rPr>
              <a:t>Every yield claim points to a named plot or farmer.</a:t>
            </a:r>
          </a:p>
          <a:p>
            <a:pPr algn="l">
              <a:spcAft>
                <a:spcPts val="900"/>
              </a:spcAft>
            </a:pPr>
            <a:r>
              <a:rPr sz="1150" b="1" i="0">
                <a:solidFill>
                  <a:srgbClr val="1A1A1A"/>
                </a:solidFill>
                <a:latin typeface="Segoe UI"/>
              </a:rPr>
              <a:t>Short points to long.  </a:t>
            </a:r>
            <a:r>
              <a:rPr sz="1150" b="0" i="0">
                <a:solidFill>
                  <a:srgbClr val="1A1A1A"/>
                </a:solidFill>
                <a:latin typeface="Segoe UI"/>
              </a:rPr>
              <a:t>The 15-second cut carries the result; the funded long cut carries the recipe.</a:t>
            </a:r>
          </a:p>
          <a:p>
            <a:pPr algn="l">
              <a:spcAft>
                <a:spcPts val="900"/>
              </a:spcAft>
            </a:pPr>
            <a:r>
              <a:rPr sz="1150" b="1" i="0">
                <a:solidFill>
                  <a:srgbClr val="1A1A1A"/>
                </a:solidFill>
                <a:latin typeface="Segoe UI"/>
              </a:rPr>
              <a:t>Be in the creator thread, disclosed.  </a:t>
            </a:r>
            <a:r>
              <a:rPr sz="1150" b="0" i="0">
                <a:solidFill>
                  <a:srgbClr val="1A1A1A"/>
                </a:solidFill>
                <a:latin typeface="Segoe UI"/>
              </a:rPr>
              <a:t>Farmers suspect paid advice - label every partnership.</a:t>
            </a:r>
          </a:p>
          <a:p>
            <a:pPr algn="l">
              <a:spcAft>
                <a:spcPts val="900"/>
              </a:spcAft>
            </a:pPr>
            <a:r>
              <a:rPr sz="1150" b="1" i="0">
                <a:solidFill>
                  <a:srgbClr val="1A1A1A"/>
                </a:solidFill>
                <a:latin typeface="Segoe UI"/>
              </a:rPr>
              <a:t>Use the reach for proof.  </a:t>
            </a:r>
            <a:r>
              <a:rPr sz="1150" b="0" i="0">
                <a:solidFill>
                  <a:srgbClr val="1A1A1A"/>
                </a:solidFill>
                <a:latin typeface="Segoe UI"/>
              </a:rPr>
              <a:t>1.2M on TikTok and 396K on YouTube - proof clips, not prizes.</a:t>
            </a:r>
          </a:p>
          <a:p>
            <a:pPr algn="l">
              <a:spcAft>
                <a:spcPts val="900"/>
              </a:spcAft>
            </a:pPr>
            <a:r>
              <a:rPr sz="1150" b="1" i="0">
                <a:solidFill>
                  <a:srgbClr val="1A1A1A"/>
                </a:solidFill>
                <a:latin typeface="Segoe UI"/>
              </a:rPr>
              <a:t>The dealer is the last field.  </a:t>
            </a:r>
            <a:r>
              <a:rPr sz="1150" b="0" i="0">
                <a:solidFill>
                  <a:srgbClr val="1A1A1A"/>
                </a:solidFill>
                <a:latin typeface="Segoe UI"/>
              </a:rPr>
              <a:t>AgriMart and dealers carry the side-by-side at the point of sale.</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916168"/>
            <a:ext cx="10607040" cy="548640"/>
          </a:xfrm>
          <a:prstGeom prst="rect">
            <a:avLst/>
          </a:prstGeom>
          <a:noFill/>
        </p:spPr>
        <p:txBody>
          <a:bodyPr wrap="square" lIns="0" rIns="0" tIns="0" bIns="0">
            <a:spAutoFit/>
          </a:bodyPr>
          <a:lstStyle/>
          <a:p>
            <a:pPr algn="l">
              <a:spcAft>
                <a:spcPts val="0"/>
              </a:spcAft>
            </a:pPr>
            <a:r>
              <a:rPr sz="1250" b="1" i="0">
                <a:solidFill>
                  <a:srgbClr val="FFFFFF"/>
                </a:solidFill>
                <a:latin typeface="Segoe UI"/>
              </a:rPr>
              <a:t>If Fatima will not publish plot results, the idea becomes an assertion again. Run Ki Jeet winner stories with corrected claims instead, and state the trade-off.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424160" cy="548640"/>
          </a:xfrm>
          <a:prstGeom prst="rect">
            <a:avLst/>
          </a:prstGeom>
          <a:noFill/>
        </p:spPr>
        <p:txBody>
          <a:bodyPr wrap="square" lIns="0" rIns="0" tIns="0" bIns="0">
            <a:spAutoFit/>
          </a:bodyPr>
          <a:lstStyle/>
          <a:p>
            <a:pPr algn="l">
              <a:spcAft>
                <a:spcPts val="600"/>
              </a:spcAft>
            </a:pPr>
            <a:r>
              <a:rPr sz="2200" b="0" i="0">
                <a:solidFill>
                  <a:srgbClr val="9FB4C7"/>
                </a:solidFill>
                <a:latin typeface="Segoe UI"/>
              </a:rPr>
              <a:t>The campaign</a:t>
            </a:r>
          </a:p>
        </p:txBody>
      </p:sp>
      <p:sp>
        <p:nvSpPr>
          <p:cNvPr id="5" name="TextBox 4"/>
          <p:cNvSpPr txBox="1"/>
          <p:nvPr/>
        </p:nvSpPr>
        <p:spPr>
          <a:xfrm>
            <a:off x="822960" y="2697480"/>
            <a:ext cx="10607040" cy="1097280"/>
          </a:xfrm>
          <a:prstGeom prst="rect">
            <a:avLst/>
          </a:prstGeom>
          <a:noFill/>
        </p:spPr>
        <p:txBody>
          <a:bodyPr wrap="square" lIns="0" rIns="0" tIns="0" bIns="0">
            <a:spAutoFit/>
          </a:bodyPr>
          <a:lstStyle/>
          <a:p>
            <a:pPr algn="l">
              <a:spcAft>
                <a:spcPts val="600"/>
              </a:spcAft>
            </a:pPr>
            <a:r>
              <a:rPr sz="4800" b="1" i="0">
                <a:solidFill>
                  <a:srgbClr val="FFFFFF"/>
                </a:solidFill>
                <a:latin typeface="Segoe UI"/>
              </a:rPr>
              <a:t>Dus Feesad Aur. Khet Gawah Hai.</a:t>
            </a:r>
          </a:p>
        </p:txBody>
      </p:sp>
      <p:sp>
        <p:nvSpPr>
          <p:cNvPr id="6" name="TextBox 5"/>
          <p:cNvSpPr txBox="1"/>
          <p:nvPr/>
        </p:nvSpPr>
        <p:spPr>
          <a:xfrm>
            <a:off x="822960" y="3840480"/>
            <a:ext cx="10424160" cy="457200"/>
          </a:xfrm>
          <a:prstGeom prst="rect">
            <a:avLst/>
          </a:prstGeom>
          <a:noFill/>
        </p:spPr>
        <p:txBody>
          <a:bodyPr wrap="square" lIns="0" rIns="0" tIns="0" bIns="0">
            <a:spAutoFit/>
          </a:bodyPr>
          <a:lstStyle/>
          <a:p>
            <a:pPr algn="l">
              <a:spcAft>
                <a:spcPts val="600"/>
              </a:spcAft>
            </a:pPr>
            <a:r>
              <a:rPr sz="2000" b="0" i="1">
                <a:solidFill>
                  <a:srgbClr val="9FB4C7"/>
                </a:solidFill>
                <a:latin typeface="Segoe UI"/>
              </a:rPr>
              <a:t>Ten percent more. The field is the witness.</a:t>
            </a:r>
          </a:p>
        </p:txBody>
      </p:sp>
      <p:sp>
        <p:nvSpPr>
          <p:cNvPr id="7" name="TextBox 6"/>
          <p:cNvSpPr txBox="1"/>
          <p:nvPr/>
        </p:nvSpPr>
        <p:spPr>
          <a:xfrm>
            <a:off x="822960" y="5760720"/>
            <a:ext cx="10424160" cy="365760"/>
          </a:xfrm>
          <a:prstGeom prst="rect">
            <a:avLst/>
          </a:prstGeom>
          <a:noFill/>
        </p:spPr>
        <p:txBody>
          <a:bodyPr wrap="square" lIns="0" rIns="0" tIns="0" bIns="0">
            <a:spAutoFit/>
          </a:bodyPr>
          <a:lstStyle/>
          <a:p>
            <a:pPr algn="l">
              <a:spcAft>
                <a:spcPts val="600"/>
              </a:spcAft>
            </a:pPr>
            <a:r>
              <a:rPr sz="1300" b="0" i="0">
                <a:solidFill>
                  <a:srgbClr val="9FB4C7"/>
                </a:solidFill>
                <a:latin typeface="Segoe UI"/>
              </a:rPr>
              <a:t>Tactical campaign for the 10% promise  ·  from the Big Idea: Sarsabz proves itself on a field like yours.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THE CHAIN</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Each step earns the next: an asset rivals can't copy, resolving a tension the category avoids, in a space nobody holds.</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Sources: Fatima Creative Marketing Brief 2026; 200 coded owned-YouTube uploads; 1,433 farmer comments; Sarsabz channel archive (401 uploads). Plot numbers and timings are proposals, not client facts.</a:t>
            </a:r>
          </a:p>
        </p:txBody>
      </p:sp>
      <p:sp>
        <p:nvSpPr>
          <p:cNvPr id="8" name="Rectangle 7"/>
          <p:cNvSpPr/>
          <p:nvPr/>
        </p:nvSpPr>
        <p:spPr>
          <a:xfrm>
            <a:off x="548640" y="1188720"/>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89888"/>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298448"/>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The only CAN and 93% of NP in Pakistan, 500+ demo plots, and Ki Jeet winners in 34 of 40 districts. Engro holds 6% of NP and no CAN.</a:t>
            </a:r>
          </a:p>
        </p:txBody>
      </p:sp>
      <p:sp>
        <p:nvSpPr>
          <p:cNvPr id="11" name="Rectangle 10"/>
          <p:cNvSpPr/>
          <p:nvPr/>
        </p:nvSpPr>
        <p:spPr>
          <a:xfrm>
            <a:off x="548640" y="1938528"/>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39696"/>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048256"/>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Farmers don't doubt that NP and CAN work, but they won't bet a season on a switch nobody has shown them how to make without waste.</a:t>
            </a:r>
          </a:p>
        </p:txBody>
      </p:sp>
      <p:sp>
        <p:nvSpPr>
          <p:cNvPr id="14" name="Rectangle 13"/>
          <p:cNvSpPr/>
          <p:nvPr/>
        </p:nvSpPr>
        <p:spPr>
          <a:xfrm>
            <a:off x="548640" y="2688336"/>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889504"/>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2798064"/>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Proof on a real field - a result beside the old way. Engro owns advice; no brand in 200 uploads shows the comparison.</a:t>
            </a:r>
          </a:p>
        </p:txBody>
      </p:sp>
      <p:sp>
        <p:nvSpPr>
          <p:cNvPr id="17" name="Rectangle 16"/>
          <p:cNvSpPr/>
          <p:nvPr/>
        </p:nvSpPr>
        <p:spPr>
          <a:xfrm>
            <a:off x="548640" y="343814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639312"/>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547872"/>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Sarsabz puts its NP and CAN beside your usual DAP and urea on a field like yours, weighs both, and publishes the result and the recipe - whatever it shows.</a:t>
            </a:r>
          </a:p>
        </p:txBody>
      </p:sp>
      <p:sp>
        <p:nvSpPr>
          <p:cNvPr id="20" name="Rectangle 19"/>
          <p:cNvSpPr/>
          <p:nvPr/>
        </p:nvSpPr>
        <p:spPr>
          <a:xfrm>
            <a:off x="548640" y="4187952"/>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187952"/>
            <a:ext cx="54864" cy="7132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389120"/>
            <a:ext cx="1828800" cy="365760"/>
          </a:xfrm>
          <a:prstGeom prst="rect">
            <a:avLst/>
          </a:prstGeom>
          <a:noFill/>
        </p:spPr>
        <p:txBody>
          <a:bodyPr wrap="square" lIns="0" rIns="0" t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297680"/>
            <a:ext cx="877824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Dus Feesad Aur. Khet Gawah Hai.  -  Ten percent more. The field is the witness.</a:t>
            </a:r>
          </a:p>
        </p:txBody>
      </p:sp>
      <p:sp>
        <p:nvSpPr>
          <p:cNvPr id="24" name="Rectangle 23"/>
          <p:cNvSpPr/>
          <p:nvPr/>
        </p:nvSpPr>
        <p:spPr>
          <a:xfrm>
            <a:off x="548640" y="493776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38928"/>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MECHANIC</a:t>
            </a:r>
          </a:p>
        </p:txBody>
      </p:sp>
      <p:sp>
        <p:nvSpPr>
          <p:cNvPr id="26" name="TextBox 25"/>
          <p:cNvSpPr txBox="1"/>
          <p:nvPr/>
        </p:nvSpPr>
        <p:spPr>
          <a:xfrm>
            <a:off x="2651760" y="5047488"/>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Do Khet (two fields, one farmer, one soil), Kaanta Din (harvest weigh-in, on camera), and a Nuskha (the recipe) - repeated every crop, season and district.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THE LINE</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Revive the line Sarsabz already owns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Recommended: Dus Feesad Aur. Khet Gawah Hai. - an owned line, with a sign-off that makes the field, not the brand, the one making the claim.</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Archive: 'Dus Feesad Aur! | Wheat Crop' (2018, 370K views); 'Dus Feesad Aur | Rice Crop TVC' (2021, 1.8M views); 'Khaad Muft He Samjho | Cotton' (2022, 1.1M views). Script mix from 1,433 farmer comments.</a:t>
            </a:r>
          </a:p>
        </p:txBody>
      </p:sp>
      <p:sp>
        <p:nvSpPr>
          <p:cNvPr id="8" name="Rectangle 7"/>
          <p:cNvSpPr/>
          <p:nvPr/>
        </p:nvSpPr>
        <p:spPr>
          <a:xfrm>
            <a:off x="548640" y="1234440"/>
            <a:ext cx="54864" cy="1234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34440"/>
            <a:ext cx="5669280" cy="731520"/>
          </a:xfrm>
          <a:prstGeom prst="rect">
            <a:avLst/>
          </a:prstGeom>
          <a:noFill/>
        </p:spPr>
        <p:txBody>
          <a:bodyPr wrap="square" lIns="0" rIns="0" tIns="0" bIns="0">
            <a:spAutoFit/>
          </a:bodyPr>
          <a:lstStyle/>
          <a:p>
            <a:pPr algn="l">
              <a:spcAft>
                <a:spcPts val="0"/>
              </a:spcAft>
            </a:pPr>
            <a:r>
              <a:rPr sz="3000" b="1" i="0">
                <a:solidFill>
                  <a:srgbClr val="102A43"/>
                </a:solidFill>
                <a:latin typeface="Segoe UI"/>
              </a:rPr>
              <a:t>Dus Feesad Aur. Khet Gawah Hai.</a:t>
            </a:r>
          </a:p>
        </p:txBody>
      </p:sp>
      <p:sp>
        <p:nvSpPr>
          <p:cNvPr id="10" name="TextBox 9"/>
          <p:cNvSpPr txBox="1"/>
          <p:nvPr/>
        </p:nvSpPr>
        <p:spPr>
          <a:xfrm>
            <a:off x="777240" y="2011680"/>
            <a:ext cx="5669280" cy="365760"/>
          </a:xfrm>
          <a:prstGeom prst="rect">
            <a:avLst/>
          </a:prstGeom>
          <a:noFill/>
        </p:spPr>
        <p:txBody>
          <a:bodyPr wrap="square" lIns="0" rIns="0" tIns="0" bIns="0">
            <a:spAutoFit/>
          </a:bodyPr>
          <a:lstStyle/>
          <a:p>
            <a:pPr algn="l">
              <a:spcAft>
                <a:spcPts val="0"/>
              </a:spcAft>
            </a:pPr>
            <a:r>
              <a:rPr sz="1500" b="0" i="1">
                <a:solidFill>
                  <a:srgbClr val="6B7480"/>
                </a:solidFill>
                <a:latin typeface="Segoe UI"/>
              </a:rPr>
              <a:t>Ten percent more. The field is the witness.</a:t>
            </a:r>
          </a:p>
        </p:txBody>
      </p:sp>
      <p:sp>
        <p:nvSpPr>
          <p:cNvPr id="11" name="TextBox 10"/>
          <p:cNvSpPr txBox="1"/>
          <p:nvPr/>
        </p:nvSpPr>
        <p:spPr>
          <a:xfrm>
            <a:off x="548640" y="2743200"/>
            <a:ext cx="5852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WHY THIS LINE</a:t>
            </a:r>
          </a:p>
        </p:txBody>
      </p:sp>
      <p:sp>
        <p:nvSpPr>
          <p:cNvPr id="12" name="TextBox 11"/>
          <p:cNvSpPr txBox="1"/>
          <p:nvPr/>
        </p:nvSpPr>
        <p:spPr>
          <a:xfrm>
            <a:off x="548640" y="3063240"/>
            <a:ext cx="5852160" cy="2651760"/>
          </a:xfrm>
          <a:prstGeom prst="rect">
            <a:avLst/>
          </a:prstGeom>
          <a:noFill/>
        </p:spPr>
        <p:txBody>
          <a:bodyPr wrap="square" lIns="0" rIns="0" tIns="0" bIns="0">
            <a:spAutoFit/>
          </a:bodyPr>
          <a:lstStyle/>
          <a:p>
            <a:pPr algn="l">
              <a:spcAft>
                <a:spcPts val="900"/>
              </a:spcAft>
            </a:pPr>
            <a:r>
              <a:rPr sz="1150" b="0" i="0">
                <a:solidFill>
                  <a:srgbClr val="1A1A1A"/>
                </a:solidFill>
                <a:latin typeface="Segoe UI"/>
              </a:rPr>
              <a:t>·  'Dus Feesad Aur' is a line Sarsabz already owns: a 2018 wheat film and a 2021 rice TVC with 1.8M views. It has been dormant since 2021. Reviving it is cheaper than a new line and honours the brand's own history.</a:t>
            </a:r>
          </a:p>
          <a:p>
            <a:pPr algn="l">
              <a:spcAft>
                <a:spcPts val="900"/>
              </a:spcAft>
            </a:pPr>
            <a:r>
              <a:rPr sz="1150" b="0" i="0">
                <a:solidFill>
                  <a:srgbClr val="1A1A1A"/>
                </a:solidFill>
                <a:latin typeface="Segoe UI"/>
              </a:rPr>
              <a:t>·  'Khet Gawah Hai' turns the promise into testimony. The field, not the brand, makes the claim - the answer to farmers who suspect paid advice.</a:t>
            </a:r>
          </a:p>
          <a:p>
            <a:pPr algn="l">
              <a:spcAft>
                <a:spcPts val="900"/>
              </a:spcAft>
            </a:pPr>
            <a:r>
              <a:rPr sz="1150" b="0" i="0">
                <a:solidFill>
                  <a:srgbClr val="1A1A1A"/>
                </a:solidFill>
                <a:latin typeface="Segoe UI"/>
              </a:rPr>
              <a:t>·  Written as farmers write: 1,025 of 1,433 comments are in Roman Urdu.</a:t>
            </a:r>
          </a:p>
        </p:txBody>
      </p:sp>
      <p:sp>
        <p:nvSpPr>
          <p:cNvPr id="13" name="Rectangle 12"/>
          <p:cNvSpPr/>
          <p:nvPr/>
        </p:nvSpPr>
        <p:spPr>
          <a:xfrm>
            <a:off x="6766560" y="1234440"/>
            <a:ext cx="48463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371600"/>
            <a:ext cx="43891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LINES CONSIDERED</a:t>
            </a:r>
          </a:p>
        </p:txBody>
      </p:sp>
      <p:sp>
        <p:nvSpPr>
          <p:cNvPr id="15" name="TextBox 14"/>
          <p:cNvSpPr txBox="1"/>
          <p:nvPr/>
        </p:nvSpPr>
        <p:spPr>
          <a:xfrm>
            <a:off x="6995160" y="1737360"/>
            <a:ext cx="4389120" cy="274320"/>
          </a:xfrm>
          <a:prstGeom prst="rect">
            <a:avLst/>
          </a:prstGeom>
          <a:noFill/>
        </p:spPr>
        <p:txBody>
          <a:bodyPr wrap="square" lIns="0" rIns="0" tIns="0" bIns="0">
            <a:spAutoFit/>
          </a:bodyPr>
          <a:lstStyle/>
          <a:p>
            <a:pPr algn="l">
              <a:spcAft>
                <a:spcPts val="0"/>
              </a:spcAft>
            </a:pPr>
            <a:r>
              <a:rPr sz="1100" b="1" i="0">
                <a:solidFill>
                  <a:srgbClr val="C8102E"/>
                </a:solidFill>
                <a:latin typeface="Segoe UI"/>
              </a:rPr>
              <a:t>Recommended - A. Dus Feesad Aur. Khet Gawah Hai.</a:t>
            </a:r>
          </a:p>
        </p:txBody>
      </p:sp>
      <p:sp>
        <p:nvSpPr>
          <p:cNvPr id="16" name="TextBox 15"/>
          <p:cNvSpPr txBox="1"/>
          <p:nvPr/>
        </p:nvSpPr>
        <p:spPr>
          <a:xfrm>
            <a:off x="6995160" y="2011679"/>
            <a:ext cx="4389120" cy="548640"/>
          </a:xfrm>
          <a:prstGeom prst="rect">
            <a:avLst/>
          </a:prstGeom>
          <a:noFill/>
        </p:spPr>
        <p:txBody>
          <a:bodyPr wrap="square" lIns="0" rIns="0" tIns="0" bIns="0">
            <a:spAutoFit/>
          </a:bodyPr>
          <a:lstStyle/>
          <a:p>
            <a:pPr algn="l">
              <a:spcAft>
                <a:spcPts val="0"/>
              </a:spcAft>
            </a:pPr>
            <a:r>
              <a:rPr sz="1000" b="0" i="0">
                <a:solidFill>
                  <a:srgbClr val="1A1A1A"/>
                </a:solidFill>
                <a:latin typeface="Segoe UI"/>
              </a:rPr>
              <a:t>Owned line plus a proof sign-off. Only works if the plot results are published.</a:t>
            </a:r>
          </a:p>
        </p:txBody>
      </p:sp>
      <p:sp>
        <p:nvSpPr>
          <p:cNvPr id="17" name="TextBox 16"/>
          <p:cNvSpPr txBox="1"/>
          <p:nvPr/>
        </p:nvSpPr>
        <p:spPr>
          <a:xfrm>
            <a:off x="6995160" y="2560320"/>
            <a:ext cx="4389120" cy="274320"/>
          </a:xfrm>
          <a:prstGeom prst="rect">
            <a:avLst/>
          </a:prstGeom>
          <a:noFill/>
        </p:spPr>
        <p:txBody>
          <a:bodyPr wrap="square" lIns="0" rIns="0" tIns="0" bIns="0">
            <a:spAutoFit/>
          </a:bodyPr>
          <a:lstStyle/>
          <a:p>
            <a:pPr algn="l">
              <a:spcAft>
                <a:spcPts val="0"/>
              </a:spcAft>
            </a:pPr>
            <a:r>
              <a:rPr sz="1100" b="1" i="0">
                <a:solidFill>
                  <a:srgbClr val="102A43"/>
                </a:solidFill>
                <a:latin typeface="Segoe UI"/>
              </a:rPr>
              <a:t>B. Pehle Dekho, Phir Daalo (See first, then apply).</a:t>
            </a:r>
          </a:p>
        </p:txBody>
      </p:sp>
      <p:sp>
        <p:nvSpPr>
          <p:cNvPr id="18" name="TextBox 17"/>
          <p:cNvSpPr txBox="1"/>
          <p:nvPr/>
        </p:nvSpPr>
        <p:spPr>
          <a:xfrm>
            <a:off x="6995160" y="2834639"/>
            <a:ext cx="4389120" cy="548640"/>
          </a:xfrm>
          <a:prstGeom prst="rect">
            <a:avLst/>
          </a:prstGeom>
          <a:noFill/>
        </p:spPr>
        <p:txBody>
          <a:bodyPr wrap="square" lIns="0" rIns="0" tIns="0" bIns="0">
            <a:spAutoFit/>
          </a:bodyPr>
          <a:lstStyle/>
          <a:p>
            <a:pPr algn="l">
              <a:spcAft>
                <a:spcPts val="0"/>
              </a:spcAft>
            </a:pPr>
            <a:r>
              <a:rPr sz="1000" b="0" i="0">
                <a:solidFill>
                  <a:srgbClr val="1A1A1A"/>
                </a:solidFill>
                <a:latin typeface="Segoe UI"/>
              </a:rPr>
              <a:t>Clear instruction, but a new line with no equity - and any brand could say it.</a:t>
            </a:r>
          </a:p>
        </p:txBody>
      </p:sp>
      <p:sp>
        <p:nvSpPr>
          <p:cNvPr id="19" name="TextBox 18"/>
          <p:cNvSpPr txBox="1"/>
          <p:nvPr/>
        </p:nvSpPr>
        <p:spPr>
          <a:xfrm>
            <a:off x="6995160" y="3383279"/>
            <a:ext cx="4389120" cy="274320"/>
          </a:xfrm>
          <a:prstGeom prst="rect">
            <a:avLst/>
          </a:prstGeom>
          <a:noFill/>
        </p:spPr>
        <p:txBody>
          <a:bodyPr wrap="square" lIns="0" rIns="0" tIns="0" bIns="0">
            <a:spAutoFit/>
          </a:bodyPr>
          <a:lstStyle/>
          <a:p>
            <a:pPr algn="l">
              <a:spcAft>
                <a:spcPts val="0"/>
              </a:spcAft>
            </a:pPr>
            <a:r>
              <a:rPr sz="1100" b="1" i="0">
                <a:solidFill>
                  <a:srgbClr val="102A43"/>
                </a:solidFill>
                <a:latin typeface="Segoe UI"/>
              </a:rPr>
              <a:t>C. Revive 'Khaad Muft He Samjho'.</a:t>
            </a:r>
          </a:p>
        </p:txBody>
      </p:sp>
      <p:sp>
        <p:nvSpPr>
          <p:cNvPr id="20" name="TextBox 19"/>
          <p:cNvSpPr txBox="1"/>
          <p:nvPr/>
        </p:nvSpPr>
        <p:spPr>
          <a:xfrm>
            <a:off x="6995160" y="3657599"/>
            <a:ext cx="4389120" cy="548640"/>
          </a:xfrm>
          <a:prstGeom prst="rect">
            <a:avLst/>
          </a:prstGeom>
          <a:noFill/>
        </p:spPr>
        <p:txBody>
          <a:bodyPr wrap="square" lIns="0" rIns="0" tIns="0" bIns="0">
            <a:spAutoFit/>
          </a:bodyPr>
          <a:lstStyle/>
          <a:p>
            <a:pPr algn="l">
              <a:spcAft>
                <a:spcPts val="0"/>
              </a:spcAft>
            </a:pPr>
            <a:r>
              <a:rPr sz="1000" b="0" i="0">
                <a:solidFill>
                  <a:srgbClr val="1A1A1A"/>
                </a:solidFill>
                <a:latin typeface="Segoe UI"/>
              </a:rPr>
              <a:t>Owned value line (1.1M views, 2022), but a 'free fertilizer' claim invites a price fight Engro is already running ('Kam Kharch, Zyada Paidawar').</a:t>
            </a:r>
          </a:p>
        </p:txBody>
      </p:sp>
      <p:sp>
        <p:nvSpPr>
          <p:cNvPr id="21" name="TextBox 20"/>
          <p:cNvSpPr txBox="1"/>
          <p:nvPr/>
        </p:nvSpPr>
        <p:spPr>
          <a:xfrm>
            <a:off x="6995160" y="4206240"/>
            <a:ext cx="4389120" cy="274320"/>
          </a:xfrm>
          <a:prstGeom prst="rect">
            <a:avLst/>
          </a:prstGeom>
          <a:noFill/>
        </p:spPr>
        <p:txBody>
          <a:bodyPr wrap="square" lIns="0" rIns="0" tIns="0" bIns="0">
            <a:spAutoFit/>
          </a:bodyPr>
          <a:lstStyle/>
          <a:p>
            <a:pPr algn="l">
              <a:spcAft>
                <a:spcPts val="0"/>
              </a:spcAft>
            </a:pPr>
            <a:r>
              <a:rPr sz="1100" b="1" i="0">
                <a:solidFill>
                  <a:srgbClr val="102A43"/>
                </a:solidFill>
                <a:latin typeface="Segoe UI"/>
              </a:rPr>
              <a:t>D. Keep '10% Se Bhi Ziyada Izaafi Paidawaar'.</a:t>
            </a:r>
          </a:p>
        </p:txBody>
      </p:sp>
      <p:sp>
        <p:nvSpPr>
          <p:cNvPr id="22" name="TextBox 21"/>
          <p:cNvSpPr txBox="1"/>
          <p:nvPr/>
        </p:nvSpPr>
        <p:spPr>
          <a:xfrm>
            <a:off x="6995160" y="4480559"/>
            <a:ext cx="4389120" cy="548640"/>
          </a:xfrm>
          <a:prstGeom prst="rect">
            <a:avLst/>
          </a:prstGeom>
          <a:noFill/>
        </p:spPr>
        <p:txBody>
          <a:bodyPr wrap="square" lIns="0" rIns="0" tIns="0" bIns="0">
            <a:spAutoFit/>
          </a:bodyPr>
          <a:lstStyle/>
          <a:p>
            <a:pPr algn="l">
              <a:spcAft>
                <a:spcPts val="0"/>
              </a:spcAft>
            </a:pPr>
            <a:r>
              <a:rPr sz="1000" b="0" i="0">
                <a:solidFill>
                  <a:srgbClr val="1A1A1A"/>
                </a:solidFill>
                <a:latin typeface="Segoe UI"/>
              </a:rPr>
              <a:t>The brief's own wording - but it is the badge 10 of 11 films already carry without proof.</a:t>
            </a:r>
          </a:p>
        </p:txBody>
      </p:sp>
      <p:sp>
        <p:nvSpPr>
          <p:cNvPr id="23" name="TextBox 22"/>
          <p:cNvSpPr txBox="1"/>
          <p:nvPr/>
        </p:nvSpPr>
        <p:spPr>
          <a:xfrm>
            <a:off x="6995160" y="4983480"/>
            <a:ext cx="4389120" cy="640080"/>
          </a:xfrm>
          <a:prstGeom prst="rect">
            <a:avLst/>
          </a:prstGeom>
          <a:noFill/>
        </p:spPr>
        <p:txBody>
          <a:bodyPr wrap="square" lIns="0" rIns="0" tIns="0" bIns="0">
            <a:spAutoFit/>
          </a:bodyPr>
          <a:lstStyle/>
          <a:p>
            <a:pPr algn="l">
              <a:spcAft>
                <a:spcPts val="0"/>
              </a:spcAft>
            </a:pPr>
            <a:r>
              <a:rPr sz="1000" b="1" i="0">
                <a:solidFill>
                  <a:srgbClr val="102A43"/>
                </a:solidFill>
                <a:latin typeface="Segoe UI"/>
              </a:rPr>
              <a:t>Swap test: Engro could say 'Khet Gawah Hai', but its field would show urea and DAP. Only Sarsabz can put NP and CAN on the winning side.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THE MECHANIC</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Do Khet, Kaanta Din, Nuskha: the idea that refreshes itself</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Every result is published - including any under 10%. That is what makes the field a witness rather than an advert.</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Sources: Fatima Creative Marketing Brief 2026; 200 coded owned-YouTube uploads; 1,433 farmer comments; Sarsabz channel archive (401 uploads). Plot numbers and timings are proposals, not client facts.</a:t>
            </a:r>
          </a:p>
        </p:txBody>
      </p:sp>
      <p:sp>
        <p:nvSpPr>
          <p:cNvPr id="8" name="Rectangle 7"/>
          <p:cNvSpPr/>
          <p:nvPr/>
        </p:nvSpPr>
        <p:spPr>
          <a:xfrm>
            <a:off x="548640"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08760"/>
            <a:ext cx="35204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STEP 1</a:t>
            </a:r>
          </a:p>
        </p:txBody>
      </p:sp>
      <p:sp>
        <p:nvSpPr>
          <p:cNvPr id="10" name="TextBox 9"/>
          <p:cNvSpPr txBox="1"/>
          <p:nvPr/>
        </p:nvSpPr>
        <p:spPr>
          <a:xfrm>
            <a:off x="548640" y="1783080"/>
            <a:ext cx="3520440" cy="548640"/>
          </a:xfrm>
          <a:prstGeom prst="rect">
            <a:avLst/>
          </a:prstGeom>
          <a:noFill/>
        </p:spPr>
        <p:txBody>
          <a:bodyPr wrap="square" lIns="0" rIns="0" tIns="0" bIns="0">
            <a:spAutoFit/>
          </a:bodyPr>
          <a:lstStyle/>
          <a:p>
            <a:pPr algn="l">
              <a:spcAft>
                <a:spcPts val="0"/>
              </a:spcAft>
            </a:pPr>
            <a:r>
              <a:rPr sz="2600" b="1" i="0">
                <a:solidFill>
                  <a:srgbClr val="102A43"/>
                </a:solidFill>
                <a:latin typeface="Segoe UI"/>
              </a:rPr>
              <a:t>Do Khet</a:t>
            </a:r>
          </a:p>
        </p:txBody>
      </p:sp>
      <p:sp>
        <p:nvSpPr>
          <p:cNvPr id="11" name="TextBox 10"/>
          <p:cNvSpPr txBox="1"/>
          <p:nvPr/>
        </p:nvSpPr>
        <p:spPr>
          <a:xfrm>
            <a:off x="548640" y="2377440"/>
            <a:ext cx="3520440" cy="365760"/>
          </a:xfrm>
          <a:prstGeom prst="rect">
            <a:avLst/>
          </a:prstGeom>
          <a:noFill/>
        </p:spPr>
        <p:txBody>
          <a:bodyPr wrap="square" lIns="0" rIns="0" tIns="0" bIns="0">
            <a:spAutoFit/>
          </a:bodyPr>
          <a:lstStyle/>
          <a:p>
            <a:pPr algn="l">
              <a:spcAft>
                <a:spcPts val="0"/>
              </a:spcAft>
            </a:pPr>
            <a:r>
              <a:rPr sz="1300" b="0" i="1">
                <a:solidFill>
                  <a:srgbClr val="C8102E"/>
                </a:solidFill>
                <a:latin typeface="Segoe UI"/>
              </a:rPr>
              <a:t>Two fields</a:t>
            </a:r>
          </a:p>
        </p:txBody>
      </p:sp>
      <p:sp>
        <p:nvSpPr>
          <p:cNvPr id="12" name="TextBox 11"/>
          <p:cNvSpPr txBox="1"/>
          <p:nvPr/>
        </p:nvSpPr>
        <p:spPr>
          <a:xfrm>
            <a:off x="548640" y="2880360"/>
            <a:ext cx="3520440" cy="2286000"/>
          </a:xfrm>
          <a:prstGeom prst="rect">
            <a:avLst/>
          </a:prstGeom>
          <a:noFill/>
        </p:spPr>
        <p:txBody>
          <a:bodyPr wrap="square" lIns="0" rIns="0" tIns="0" bIns="0">
            <a:spAutoFit/>
          </a:bodyPr>
          <a:lstStyle/>
          <a:p>
            <a:pPr algn="l">
              <a:spcAft>
                <a:spcPts val="0"/>
              </a:spcAft>
            </a:pPr>
            <a:r>
              <a:rPr sz="1250" b="0" i="0">
                <a:solidFill>
                  <a:srgbClr val="1A1A1A"/>
                </a:solidFill>
                <a:latin typeface="Segoe UI"/>
              </a:rPr>
              <a:t>One farmer, one soil, split down the middle: his usual DAP and urea on one side, Sarsabz NP and CAN on the other. Chosen with the farmer, not by the brand.</a:t>
            </a:r>
          </a:p>
        </p:txBody>
      </p:sp>
      <p:sp>
        <p:nvSpPr>
          <p:cNvPr id="13" name="Rectangle 12"/>
          <p:cNvSpPr/>
          <p:nvPr/>
        </p:nvSpPr>
        <p:spPr>
          <a:xfrm>
            <a:off x="4325112"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1508760"/>
            <a:ext cx="35204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STEP 2</a:t>
            </a:r>
          </a:p>
        </p:txBody>
      </p:sp>
      <p:sp>
        <p:nvSpPr>
          <p:cNvPr id="15" name="TextBox 14"/>
          <p:cNvSpPr txBox="1"/>
          <p:nvPr/>
        </p:nvSpPr>
        <p:spPr>
          <a:xfrm>
            <a:off x="4325112" y="1783080"/>
            <a:ext cx="3520440" cy="548640"/>
          </a:xfrm>
          <a:prstGeom prst="rect">
            <a:avLst/>
          </a:prstGeom>
          <a:noFill/>
        </p:spPr>
        <p:txBody>
          <a:bodyPr wrap="square" lIns="0" rIns="0" tIns="0" bIns="0">
            <a:spAutoFit/>
          </a:bodyPr>
          <a:lstStyle/>
          <a:p>
            <a:pPr algn="l">
              <a:spcAft>
                <a:spcPts val="0"/>
              </a:spcAft>
            </a:pPr>
            <a:r>
              <a:rPr sz="2600" b="1" i="0">
                <a:solidFill>
                  <a:srgbClr val="102A43"/>
                </a:solidFill>
                <a:latin typeface="Segoe UI"/>
              </a:rPr>
              <a:t>Kaanta Din</a:t>
            </a:r>
          </a:p>
        </p:txBody>
      </p:sp>
      <p:sp>
        <p:nvSpPr>
          <p:cNvPr id="16" name="TextBox 15"/>
          <p:cNvSpPr txBox="1"/>
          <p:nvPr/>
        </p:nvSpPr>
        <p:spPr>
          <a:xfrm>
            <a:off x="4325112" y="2377440"/>
            <a:ext cx="3520440" cy="365760"/>
          </a:xfrm>
          <a:prstGeom prst="rect">
            <a:avLst/>
          </a:prstGeom>
          <a:noFill/>
        </p:spPr>
        <p:txBody>
          <a:bodyPr wrap="square" lIns="0" rIns="0" tIns="0" bIns="0">
            <a:spAutoFit/>
          </a:bodyPr>
          <a:lstStyle/>
          <a:p>
            <a:pPr algn="l">
              <a:spcAft>
                <a:spcPts val="0"/>
              </a:spcAft>
            </a:pPr>
            <a:r>
              <a:rPr sz="1300" b="0" i="1">
                <a:solidFill>
                  <a:srgbClr val="C8102E"/>
                </a:solidFill>
                <a:latin typeface="Segoe UI"/>
              </a:rPr>
              <a:t>Weighing day</a:t>
            </a:r>
          </a:p>
        </p:txBody>
      </p:sp>
      <p:sp>
        <p:nvSpPr>
          <p:cNvPr id="17" name="TextBox 16"/>
          <p:cNvSpPr txBox="1"/>
          <p:nvPr/>
        </p:nvSpPr>
        <p:spPr>
          <a:xfrm>
            <a:off x="4325112" y="2880360"/>
            <a:ext cx="3520440" cy="2286000"/>
          </a:xfrm>
          <a:prstGeom prst="rect">
            <a:avLst/>
          </a:prstGeom>
          <a:noFill/>
        </p:spPr>
        <p:txBody>
          <a:bodyPr wrap="square" lIns="0" rIns="0" tIns="0" bIns="0">
            <a:spAutoFit/>
          </a:bodyPr>
          <a:lstStyle/>
          <a:p>
            <a:pPr algn="l">
              <a:spcAft>
                <a:spcPts val="0"/>
              </a:spcAft>
            </a:pPr>
            <a:r>
              <a:rPr sz="1250" b="0" i="0">
                <a:solidFill>
                  <a:srgbClr val="1A1A1A"/>
                </a:solidFill>
                <a:latin typeface="Segoe UI"/>
              </a:rPr>
              <a:t>Both halves harvested and weighed on camera, in front of neighbours, with an Agriculture Department or university officer reading the scale.</a:t>
            </a:r>
          </a:p>
        </p:txBody>
      </p:sp>
      <p:sp>
        <p:nvSpPr>
          <p:cNvPr id="18" name="Rectangle 17"/>
          <p:cNvSpPr/>
          <p:nvPr/>
        </p:nvSpPr>
        <p:spPr>
          <a:xfrm>
            <a:off x="8101583"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508760"/>
            <a:ext cx="35204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STEP 3</a:t>
            </a:r>
          </a:p>
        </p:txBody>
      </p:sp>
      <p:sp>
        <p:nvSpPr>
          <p:cNvPr id="20" name="TextBox 19"/>
          <p:cNvSpPr txBox="1"/>
          <p:nvPr/>
        </p:nvSpPr>
        <p:spPr>
          <a:xfrm>
            <a:off x="8101583" y="1783080"/>
            <a:ext cx="3520440" cy="548640"/>
          </a:xfrm>
          <a:prstGeom prst="rect">
            <a:avLst/>
          </a:prstGeom>
          <a:noFill/>
        </p:spPr>
        <p:txBody>
          <a:bodyPr wrap="square" lIns="0" rIns="0" tIns="0" bIns="0">
            <a:spAutoFit/>
          </a:bodyPr>
          <a:lstStyle/>
          <a:p>
            <a:pPr algn="l">
              <a:spcAft>
                <a:spcPts val="0"/>
              </a:spcAft>
            </a:pPr>
            <a:r>
              <a:rPr sz="2600" b="1" i="0">
                <a:solidFill>
                  <a:srgbClr val="102A43"/>
                </a:solidFill>
                <a:latin typeface="Segoe UI"/>
              </a:rPr>
              <a:t>Nuskha</a:t>
            </a:r>
          </a:p>
        </p:txBody>
      </p:sp>
      <p:sp>
        <p:nvSpPr>
          <p:cNvPr id="21" name="TextBox 20"/>
          <p:cNvSpPr txBox="1"/>
          <p:nvPr/>
        </p:nvSpPr>
        <p:spPr>
          <a:xfrm>
            <a:off x="8101583" y="2377440"/>
            <a:ext cx="3520440" cy="365760"/>
          </a:xfrm>
          <a:prstGeom prst="rect">
            <a:avLst/>
          </a:prstGeom>
          <a:noFill/>
        </p:spPr>
        <p:txBody>
          <a:bodyPr wrap="square" lIns="0" rIns="0" tIns="0" bIns="0">
            <a:spAutoFit/>
          </a:bodyPr>
          <a:lstStyle/>
          <a:p>
            <a:pPr algn="l">
              <a:spcAft>
                <a:spcPts val="0"/>
              </a:spcAft>
            </a:pPr>
            <a:r>
              <a:rPr sz="1300" b="0" i="1">
                <a:solidFill>
                  <a:srgbClr val="C8102E"/>
                </a:solidFill>
                <a:latin typeface="Segoe UI"/>
              </a:rPr>
              <a:t>The recipe</a:t>
            </a:r>
          </a:p>
        </p:txBody>
      </p:sp>
      <p:sp>
        <p:nvSpPr>
          <p:cNvPr id="22" name="TextBox 21"/>
          <p:cNvSpPr txBox="1"/>
          <p:nvPr/>
        </p:nvSpPr>
        <p:spPr>
          <a:xfrm>
            <a:off x="8101583" y="2880360"/>
            <a:ext cx="3520440" cy="2286000"/>
          </a:xfrm>
          <a:prstGeom prst="rect">
            <a:avLst/>
          </a:prstGeom>
          <a:noFill/>
        </p:spPr>
        <p:txBody>
          <a:bodyPr wrap="square" lIns="0" rIns="0" tIns="0" bIns="0">
            <a:spAutoFit/>
          </a:bodyPr>
          <a:lstStyle/>
          <a:p>
            <a:pPr algn="l">
              <a:spcAft>
                <a:spcPts val="0"/>
              </a:spcAft>
            </a:pPr>
            <a:r>
              <a:rPr sz="1250" b="0" i="0">
                <a:solidFill>
                  <a:srgbClr val="1A1A1A"/>
                </a:solidFill>
                <a:latin typeface="Segoe UI"/>
              </a:rPr>
              <a:t>What replaced DAP, how many bags, what it was mixed with, which irrigation, which soil - printed, filmed and handed over with the result.</a:t>
            </a:r>
          </a:p>
        </p:txBody>
      </p:sp>
      <p:sp>
        <p:nvSpPr>
          <p:cNvPr id="23" name="TextBox 22"/>
          <p:cNvSpPr txBox="1"/>
          <p:nvPr/>
        </p:nvSpPr>
        <p:spPr>
          <a:xfrm>
            <a:off x="548640" y="5074920"/>
            <a:ext cx="11064240" cy="548640"/>
          </a:xfrm>
          <a:prstGeom prst="rect">
            <a:avLst/>
          </a:prstGeom>
          <a:noFill/>
        </p:spPr>
        <p:txBody>
          <a:bodyPr wrap="square" lIns="0" rIns="0" tIns="0" bIns="0">
            <a:spAutoFit/>
          </a:bodyPr>
          <a:lstStyle/>
          <a:p>
            <a:pPr algn="l">
              <a:spcAft>
                <a:spcPts val="0"/>
              </a:spcAft>
            </a:pPr>
            <a:r>
              <a:rPr sz="1200" b="1" i="0">
                <a:solidFill>
                  <a:srgbClr val="102A43"/>
                </a:solidFill>
                <a:latin typeface="Segoe UI"/>
              </a:rPr>
              <a:t>Repeated every crop, every season, every district - wheat and CAN top-dressing in Rabi, rice, cotton and maize in Kharif.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HOW IT TRAVELS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One mechanic across the brief's five channels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Every channel carries the same thing: a real field, both weights, and the recipe.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Channels as listed in the brief (p13). Audience figures: presence sweep 15 Sep 2026. Farmer behaviour: brief p7.</a:t>
            </a:r>
          </a:p>
        </p:txBody>
      </p:sp>
      <p:sp>
        <p:nvSpPr>
          <p:cNvPr id="8" name="TextBox 7"/>
          <p:cNvSpPr txBox="1"/>
          <p:nvPr/>
        </p:nvSpPr>
        <p:spPr>
          <a:xfrm>
            <a:off x="548640" y="1188720"/>
            <a:ext cx="1737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CHANNEL</a:t>
            </a:r>
          </a:p>
        </p:txBody>
      </p:sp>
      <p:sp>
        <p:nvSpPr>
          <p:cNvPr id="9" name="TextBox 8"/>
          <p:cNvSpPr txBox="1"/>
          <p:nvPr/>
        </p:nvSpPr>
        <p:spPr>
          <a:xfrm>
            <a:off x="2377440" y="1188720"/>
            <a:ext cx="57607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EXECUTION</a:t>
            </a:r>
          </a:p>
        </p:txBody>
      </p:sp>
      <p:sp>
        <p:nvSpPr>
          <p:cNvPr id="10" name="TextBox 9"/>
          <p:cNvSpPr txBox="1"/>
          <p:nvPr/>
        </p:nvSpPr>
        <p:spPr>
          <a:xfrm>
            <a:off x="8321040" y="1188720"/>
            <a:ext cx="32918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IT ANSWERS</a:t>
            </a:r>
          </a:p>
        </p:txBody>
      </p:sp>
      <p:sp>
        <p:nvSpPr>
          <p:cNvPr id="11" name="Rectangle 10"/>
          <p:cNvSpPr/>
          <p:nvPr/>
        </p:nvSpPr>
        <p:spPr>
          <a:xfrm>
            <a:off x="548640" y="1463039"/>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600200"/>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ATL</a:t>
            </a:r>
          </a:p>
        </p:txBody>
      </p:sp>
      <p:sp>
        <p:nvSpPr>
          <p:cNvPr id="13" name="TextBox 12"/>
          <p:cNvSpPr txBox="1"/>
          <p:nvPr/>
        </p:nvSpPr>
        <p:spPr>
          <a:xfrm>
            <a:off x="2377440" y="1554480"/>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TV and DVC: 'Do Khet' - one field, two halves, the scale, the number. 15s carries the result; 60s carries the recipe. Radio: district results read out during harvest.</a:t>
            </a:r>
          </a:p>
        </p:txBody>
      </p:sp>
      <p:sp>
        <p:nvSpPr>
          <p:cNvPr id="14" name="TextBox 13"/>
          <p:cNvSpPr txBox="1"/>
          <p:nvPr/>
        </p:nvSpPr>
        <p:spPr>
          <a:xfrm>
            <a:off x="8321040" y="1554480"/>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Farmers are exposed to terrestrial TV and radio (brief p7).</a:t>
            </a:r>
          </a:p>
        </p:txBody>
      </p:sp>
      <p:sp>
        <p:nvSpPr>
          <p:cNvPr id="15" name="TextBox 14"/>
          <p:cNvSpPr txBox="1"/>
          <p:nvPr/>
        </p:nvSpPr>
        <p:spPr>
          <a:xfrm>
            <a:off x="685800" y="2441448"/>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BTL</a:t>
            </a:r>
          </a:p>
        </p:txBody>
      </p:sp>
      <p:sp>
        <p:nvSpPr>
          <p:cNvPr id="16" name="TextBox 15"/>
          <p:cNvSpPr txBox="1"/>
          <p:nvPr/>
        </p:nvSpPr>
        <p:spPr>
          <a:xfrm>
            <a:off x="2377440" y="2395727"/>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A Nuskha card in every bag. The Nitrophos sticker code moves from the prize draw to proof: SMS it to get your district's result.</a:t>
            </a:r>
          </a:p>
        </p:txBody>
      </p:sp>
      <p:sp>
        <p:nvSpPr>
          <p:cNvPr id="17" name="TextBox 16"/>
          <p:cNvSpPr txBox="1"/>
          <p:nvPr/>
        </p:nvSpPr>
        <p:spPr>
          <a:xfrm>
            <a:off x="8321040" y="2395727"/>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220 comments ask what mixes with what.</a:t>
            </a:r>
          </a:p>
        </p:txBody>
      </p:sp>
      <p:sp>
        <p:nvSpPr>
          <p:cNvPr id="18" name="Rectangle 17"/>
          <p:cNvSpPr/>
          <p:nvPr/>
        </p:nvSpPr>
        <p:spPr>
          <a:xfrm>
            <a:off x="548640" y="3145536"/>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282696"/>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Digital</a:t>
            </a:r>
          </a:p>
        </p:txBody>
      </p:sp>
      <p:sp>
        <p:nvSpPr>
          <p:cNvPr id="20" name="TextBox 19"/>
          <p:cNvSpPr txBox="1"/>
          <p:nvPr/>
        </p:nvSpPr>
        <p:spPr>
          <a:xfrm>
            <a:off x="2377440" y="3236975"/>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Kaanta Din live on TikTok (1.2M) and YouTube (396K). Every short points to the long recipe film. The Sarsabz Pakistan App finds the nearest proof plot and lets farmers log their own.</a:t>
            </a:r>
          </a:p>
        </p:txBody>
      </p:sp>
      <p:sp>
        <p:nvSpPr>
          <p:cNvPr id="21" name="TextBox 20"/>
          <p:cNvSpPr txBox="1"/>
          <p:nvPr/>
        </p:nvSpPr>
        <p:spPr>
          <a:xfrm>
            <a:off x="8321040" y="3236975"/>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Farmers ask strangers what to mix, and suspect the answers are paid.</a:t>
            </a:r>
          </a:p>
        </p:txBody>
      </p:sp>
      <p:sp>
        <p:nvSpPr>
          <p:cNvPr id="22" name="TextBox 21"/>
          <p:cNvSpPr txBox="1"/>
          <p:nvPr/>
        </p:nvSpPr>
        <p:spPr>
          <a:xfrm>
            <a:off x="685800" y="4123944"/>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Dealer / Trade</a:t>
            </a:r>
          </a:p>
        </p:txBody>
      </p:sp>
      <p:sp>
        <p:nvSpPr>
          <p:cNvPr id="23" name="TextBox 22"/>
          <p:cNvSpPr txBox="1"/>
          <p:nvPr/>
        </p:nvSpPr>
        <p:spPr>
          <a:xfrm>
            <a:off x="2377440" y="4078224"/>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A Khet Gawah Hai board at every dealer and AgriMart: this district's plot, both weights, the recipe. The dealer becomes the last field.</a:t>
            </a:r>
          </a:p>
        </p:txBody>
      </p:sp>
      <p:sp>
        <p:nvSpPr>
          <p:cNvPr id="24" name="TextBox 23"/>
          <p:cNvSpPr txBox="1"/>
          <p:nvPr/>
        </p:nvSpPr>
        <p:spPr>
          <a:xfrm>
            <a:off x="8321040" y="4078224"/>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Farmers replicate best practices shared by fellow farmers (brief p7).</a:t>
            </a:r>
          </a:p>
        </p:txBody>
      </p:sp>
      <p:sp>
        <p:nvSpPr>
          <p:cNvPr id="25" name="Rectangle 24"/>
          <p:cNvSpPr/>
          <p:nvPr/>
        </p:nvSpPr>
        <p:spPr>
          <a:xfrm>
            <a:off x="548640" y="4828032"/>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965192"/>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On-ground</a:t>
            </a:r>
          </a:p>
        </p:txBody>
      </p:sp>
      <p:sp>
        <p:nvSpPr>
          <p:cNvPr id="27" name="TextBox 26"/>
          <p:cNvSpPr txBox="1"/>
          <p:nvPr/>
        </p:nvSpPr>
        <p:spPr>
          <a:xfrm>
            <a:off x="2377440" y="4919472"/>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Kaanta Din field days at the plots, hosted by Ki Jeet winners. The Sarsabz Kissan Convention becomes results day.</a:t>
            </a:r>
          </a:p>
        </p:txBody>
      </p:sp>
      <p:sp>
        <p:nvSpPr>
          <p:cNvPr id="28" name="TextBox 27"/>
          <p:cNvSpPr txBox="1"/>
          <p:nvPr/>
        </p:nvSpPr>
        <p:spPr>
          <a:xfrm>
            <a:off x="8321040" y="4919472"/>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High believability in word of mouth publicity (brief p7).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ACROSS A YEAR</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Rabi to Rabi: month one to month twelve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In month twelve the campaign has more proof than it started with. A platform generates work; a launch repeats itself.</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Seasons: brief p6 (Rabi Oct - Mar, Kharif Apr - Sep). Timings are a proposal to be set with Fatima agronomy.</a:t>
            </a:r>
          </a:p>
        </p:txBody>
      </p:sp>
      <p:sp>
        <p:nvSpPr>
          <p:cNvPr id="8" name="Rectangle 7"/>
          <p:cNvSpPr/>
          <p:nvPr/>
        </p:nvSpPr>
        <p:spPr>
          <a:xfrm>
            <a:off x="58521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Oct - Nov 2026</a:t>
            </a:r>
          </a:p>
        </p:txBody>
      </p:sp>
      <p:sp>
        <p:nvSpPr>
          <p:cNvPr id="10" name="TextBox 9"/>
          <p:cNvSpPr txBox="1"/>
          <p:nvPr/>
        </p:nvSpPr>
        <p:spPr>
          <a:xfrm>
            <a:off x="585216"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SOWING</a:t>
            </a:r>
          </a:p>
        </p:txBody>
      </p:sp>
      <p:sp>
        <p:nvSpPr>
          <p:cNvPr id="11" name="Rectangle 10"/>
          <p:cNvSpPr/>
          <p:nvPr/>
        </p:nvSpPr>
        <p:spPr>
          <a:xfrm>
            <a:off x="585216"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Plots planted in Ki Jeet districts. Launch 'Do Khet' 15s TV, radio and dealer boards.</a:t>
            </a:r>
          </a:p>
        </p:txBody>
      </p:sp>
      <p:sp>
        <p:nvSpPr>
          <p:cNvPr id="13" name="Rectangle 12"/>
          <p:cNvSpPr/>
          <p:nvPr/>
        </p:nvSpPr>
        <p:spPr>
          <a:xfrm>
            <a:off x="242925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29256"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Dec 2026 - Jan 2027</a:t>
            </a:r>
          </a:p>
        </p:txBody>
      </p:sp>
      <p:sp>
        <p:nvSpPr>
          <p:cNvPr id="15" name="TextBox 14"/>
          <p:cNvSpPr txBox="1"/>
          <p:nvPr/>
        </p:nvSpPr>
        <p:spPr>
          <a:xfrm>
            <a:off x="2429256"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FIRST IRRIGATIONS</a:t>
            </a:r>
          </a:p>
        </p:txBody>
      </p:sp>
      <p:sp>
        <p:nvSpPr>
          <p:cNvPr id="16" name="Rectangle 15"/>
          <p:cNvSpPr/>
          <p:nvPr/>
        </p:nvSpPr>
        <p:spPr>
          <a:xfrm>
            <a:off x="2429256"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02408"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Nuskha push: the mixing guide in bags, app and comment replies, when the questions peak.</a:t>
            </a:r>
          </a:p>
        </p:txBody>
      </p:sp>
      <p:sp>
        <p:nvSpPr>
          <p:cNvPr id="18" name="Rectangle 17"/>
          <p:cNvSpPr/>
          <p:nvPr/>
        </p:nvSpPr>
        <p:spPr>
          <a:xfrm>
            <a:off x="427329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73296"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Feb - Mar 2027</a:t>
            </a:r>
          </a:p>
        </p:txBody>
      </p:sp>
      <p:sp>
        <p:nvSpPr>
          <p:cNvPr id="20" name="TextBox 19"/>
          <p:cNvSpPr txBox="1"/>
          <p:nvPr/>
        </p:nvSpPr>
        <p:spPr>
          <a:xfrm>
            <a:off x="4273296"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GROWTH</a:t>
            </a:r>
          </a:p>
        </p:txBody>
      </p:sp>
      <p:sp>
        <p:nvSpPr>
          <p:cNvPr id="21" name="Rectangle 20"/>
          <p:cNvSpPr/>
          <p:nvPr/>
        </p:nvSpPr>
        <p:spPr>
          <a:xfrm>
            <a:off x="4273296"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6448"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Farmer diaries from the plots on TikTok and YouTube - the two halves, week by week.</a:t>
            </a:r>
          </a:p>
        </p:txBody>
      </p:sp>
      <p:sp>
        <p:nvSpPr>
          <p:cNvPr id="23" name="Rectangle 22"/>
          <p:cNvSpPr/>
          <p:nvPr/>
        </p:nvSpPr>
        <p:spPr>
          <a:xfrm>
            <a:off x="611733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17336"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Apr - May 2027</a:t>
            </a:r>
          </a:p>
        </p:txBody>
      </p:sp>
      <p:sp>
        <p:nvSpPr>
          <p:cNvPr id="25" name="TextBox 24"/>
          <p:cNvSpPr txBox="1"/>
          <p:nvPr/>
        </p:nvSpPr>
        <p:spPr>
          <a:xfrm>
            <a:off x="6117336"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HARVEST</a:t>
            </a:r>
          </a:p>
        </p:txBody>
      </p:sp>
      <p:sp>
        <p:nvSpPr>
          <p:cNvPr id="26" name="Rectangle 25"/>
          <p:cNvSpPr/>
          <p:nvPr/>
        </p:nvSpPr>
        <p:spPr>
          <a:xfrm>
            <a:off x="6117336"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0488"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Kaanta Din weigh-ins live. District results on radio and dealer boards - including any under 10%.</a:t>
            </a:r>
          </a:p>
        </p:txBody>
      </p:sp>
      <p:sp>
        <p:nvSpPr>
          <p:cNvPr id="28" name="Rectangle 27"/>
          <p:cNvSpPr/>
          <p:nvPr/>
        </p:nvSpPr>
        <p:spPr>
          <a:xfrm>
            <a:off x="7961375"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61375"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Jun - Sep 2027</a:t>
            </a:r>
          </a:p>
        </p:txBody>
      </p:sp>
      <p:sp>
        <p:nvSpPr>
          <p:cNvPr id="30" name="TextBox 29"/>
          <p:cNvSpPr txBox="1"/>
          <p:nvPr/>
        </p:nvSpPr>
        <p:spPr>
          <a:xfrm>
            <a:off x="7961375"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KHARIF</a:t>
            </a:r>
          </a:p>
        </p:txBody>
      </p:sp>
      <p:sp>
        <p:nvSpPr>
          <p:cNvPr id="31" name="Rectangle 30"/>
          <p:cNvSpPr/>
          <p:nvPr/>
        </p:nvSpPr>
        <p:spPr>
          <a:xfrm>
            <a:off x="7961375"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34527"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Rice, cotton and maize plots, including Sindh rice - where Ki Jeet has no proof yet.</a:t>
            </a:r>
          </a:p>
        </p:txBody>
      </p:sp>
      <p:sp>
        <p:nvSpPr>
          <p:cNvPr id="33" name="Rectangle 32"/>
          <p:cNvSpPr/>
          <p:nvPr/>
        </p:nvSpPr>
        <p:spPr>
          <a:xfrm>
            <a:off x="9805415" y="1280160"/>
            <a:ext cx="1770887"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05415" y="1463040"/>
            <a:ext cx="1734311" cy="457200"/>
          </a:xfrm>
          <a:prstGeom prst="rect">
            <a:avLst/>
          </a:prstGeom>
          <a:noFill/>
        </p:spPr>
        <p:txBody>
          <a:bodyPr wrap="square" lIns="0" rIns="0" tIns="0" bIns="0">
            <a:spAutoFit/>
          </a:bodyPr>
          <a:lstStyle/>
          <a:p>
            <a:pPr algn="l">
              <a:spcAft>
                <a:spcPts val="0"/>
              </a:spcAft>
            </a:pPr>
            <a:r>
              <a:rPr sz="1100" b="1" i="0">
                <a:solidFill>
                  <a:srgbClr val="C8102E"/>
                </a:solidFill>
                <a:latin typeface="Segoe UI"/>
              </a:rPr>
              <a:t>Oct 2027</a:t>
            </a:r>
          </a:p>
        </p:txBody>
      </p:sp>
      <p:sp>
        <p:nvSpPr>
          <p:cNvPr id="35" name="TextBox 34"/>
          <p:cNvSpPr txBox="1"/>
          <p:nvPr/>
        </p:nvSpPr>
        <p:spPr>
          <a:xfrm>
            <a:off x="9805415"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MONTH TWELVE</a:t>
            </a:r>
          </a:p>
        </p:txBody>
      </p:sp>
      <p:sp>
        <p:nvSpPr>
          <p:cNvPr id="36" name="Rectangle 35"/>
          <p:cNvSpPr/>
          <p:nvPr/>
        </p:nvSpPr>
        <p:spPr>
          <a:xfrm>
            <a:off x="9805415" y="2331720"/>
            <a:ext cx="1770887" cy="3246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8567"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Ki Jeet with published inputs, and the next Rabi with farmer-logged plots from the app. The idea generates new proof; it does not repeat.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EFFECTIVENESS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How we will know it worked</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Plot districts against matched districts without plots: the campaign's own design gives Fatima a control group.</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The brief asks for 'a practical and measurable approach to campaign effectiveness' (p14). Baselines marked 'requested' need client data.</a:t>
            </a:r>
          </a:p>
        </p:txBody>
      </p:sp>
      <p:sp>
        <p:nvSpPr>
          <p:cNvPr id="8" name="TextBox 7"/>
          <p:cNvSpPr txBox="1"/>
          <p:nvPr/>
        </p:nvSpPr>
        <p:spPr>
          <a:xfrm>
            <a:off x="548640" y="1188720"/>
            <a:ext cx="14630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KIND</a:t>
            </a:r>
          </a:p>
        </p:txBody>
      </p:sp>
      <p:sp>
        <p:nvSpPr>
          <p:cNvPr id="9" name="TextBox 8"/>
          <p:cNvSpPr txBox="1"/>
          <p:nvPr/>
        </p:nvSpPr>
        <p:spPr>
          <a:xfrm>
            <a:off x="2103120" y="1188720"/>
            <a:ext cx="60350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MEASURE</a:t>
            </a:r>
          </a:p>
        </p:txBody>
      </p:sp>
      <p:sp>
        <p:nvSpPr>
          <p:cNvPr id="10" name="TextBox 9"/>
          <p:cNvSpPr txBox="1"/>
          <p:nvPr/>
        </p:nvSpPr>
        <p:spPr>
          <a:xfrm>
            <a:off x="8321040" y="1188720"/>
            <a:ext cx="32918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BASELINE</a:t>
            </a:r>
          </a:p>
        </p:txBody>
      </p:sp>
      <p:sp>
        <p:nvSpPr>
          <p:cNvPr id="11" name="Rectangle 10"/>
          <p:cNvSpPr/>
          <p:nvPr/>
        </p:nvSpPr>
        <p:spPr>
          <a:xfrm>
            <a:off x="548640" y="1508760"/>
            <a:ext cx="110642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737360"/>
            <a:ext cx="1371600" cy="457200"/>
          </a:xfrm>
          <a:prstGeom prst="rect">
            <a:avLst/>
          </a:prstGeom>
          <a:noFill/>
        </p:spPr>
        <p:txBody>
          <a:bodyPr wrap="square" lIns="0" rIns="0" tIns="0" bIns="0">
            <a:spAutoFit/>
          </a:bodyPr>
          <a:lstStyle/>
          <a:p>
            <a:pPr algn="l">
              <a:spcAft>
                <a:spcPts val="0"/>
              </a:spcAft>
            </a:pPr>
            <a:r>
              <a:rPr sz="1600" b="1" i="0">
                <a:solidFill>
                  <a:srgbClr val="102A43"/>
                </a:solidFill>
                <a:latin typeface="Segoe UI"/>
              </a:rPr>
              <a:t>Leading</a:t>
            </a:r>
          </a:p>
        </p:txBody>
      </p:sp>
      <p:sp>
        <p:nvSpPr>
          <p:cNvPr id="13" name="TextBox 12"/>
          <p:cNvSpPr txBox="1"/>
          <p:nvPr/>
        </p:nvSpPr>
        <p:spPr>
          <a:xfrm>
            <a:off x="2103120" y="1691639"/>
            <a:ext cx="6035040" cy="1005840"/>
          </a:xfrm>
          <a:prstGeom prst="rect">
            <a:avLst/>
          </a:prstGeom>
          <a:noFill/>
        </p:spPr>
        <p:txBody>
          <a:bodyPr wrap="square" lIns="0" rIns="0" tIns="0" bIns="0">
            <a:spAutoFit/>
          </a:bodyPr>
          <a:lstStyle/>
          <a:p>
            <a:pPr algn="l">
              <a:spcAft>
                <a:spcPts val="0"/>
              </a:spcAft>
            </a:pPr>
            <a:r>
              <a:rPr sz="1200" b="0" i="0">
                <a:solidFill>
                  <a:srgbClr val="1A1A1A"/>
                </a:solidFill>
                <a:latin typeface="Segoe UI"/>
              </a:rPr>
              <a:t>Paired plots planted and published; Kaanta Din attendance; sticker-code result look-ups; mixing questions answered in the app and comments.</a:t>
            </a:r>
          </a:p>
        </p:txBody>
      </p:sp>
      <p:sp>
        <p:nvSpPr>
          <p:cNvPr id="14" name="TextBox 13"/>
          <p:cNvSpPr txBox="1"/>
          <p:nvPr/>
        </p:nvSpPr>
        <p:spPr>
          <a:xfrm>
            <a:off x="8321040" y="1691639"/>
            <a:ext cx="3200400" cy="1005840"/>
          </a:xfrm>
          <a:prstGeom prst="rect">
            <a:avLst/>
          </a:prstGeom>
          <a:noFill/>
        </p:spPr>
        <p:txBody>
          <a:bodyPr wrap="square" lIns="0" rIns="0" tIns="0" bIns="0">
            <a:spAutoFit/>
          </a:bodyPr>
          <a:lstStyle/>
          <a:p>
            <a:pPr algn="l">
              <a:spcAft>
                <a:spcPts val="0"/>
              </a:spcAft>
            </a:pPr>
            <a:r>
              <a:rPr sz="1150" b="1" i="0">
                <a:solidFill>
                  <a:srgbClr val="102A43"/>
                </a:solidFill>
                <a:latin typeface="Segoe UI"/>
              </a:rPr>
              <a:t>New - set at launch.</a:t>
            </a:r>
          </a:p>
        </p:txBody>
      </p:sp>
      <p:sp>
        <p:nvSpPr>
          <p:cNvPr id="15" name="Rectangle 14"/>
          <p:cNvSpPr/>
          <p:nvPr/>
        </p:nvSpPr>
        <p:spPr>
          <a:xfrm>
            <a:off x="548640" y="2834640"/>
            <a:ext cx="11064240"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63240"/>
            <a:ext cx="1371600" cy="457200"/>
          </a:xfrm>
          <a:prstGeom prst="rect">
            <a:avLst/>
          </a:prstGeom>
          <a:noFill/>
        </p:spPr>
        <p:txBody>
          <a:bodyPr wrap="square" lIns="0" rIns="0" tIns="0" bIns="0">
            <a:spAutoFit/>
          </a:bodyPr>
          <a:lstStyle/>
          <a:p>
            <a:pPr algn="l">
              <a:spcAft>
                <a:spcPts val="0"/>
              </a:spcAft>
            </a:pPr>
            <a:r>
              <a:rPr sz="1600" b="1" i="0">
                <a:solidFill>
                  <a:srgbClr val="102A43"/>
                </a:solidFill>
                <a:latin typeface="Segoe UI"/>
              </a:rPr>
              <a:t>Lagging</a:t>
            </a:r>
          </a:p>
        </p:txBody>
      </p:sp>
      <p:sp>
        <p:nvSpPr>
          <p:cNvPr id="17" name="TextBox 16"/>
          <p:cNvSpPr txBox="1"/>
          <p:nvPr/>
        </p:nvSpPr>
        <p:spPr>
          <a:xfrm>
            <a:off x="2103120" y="3017520"/>
            <a:ext cx="6035040" cy="1005840"/>
          </a:xfrm>
          <a:prstGeom prst="rect">
            <a:avLst/>
          </a:prstGeom>
          <a:noFill/>
        </p:spPr>
        <p:txBody>
          <a:bodyPr wrap="square" lIns="0" rIns="0" tIns="0" bIns="0">
            <a:spAutoFit/>
          </a:bodyPr>
          <a:lstStyle/>
          <a:p>
            <a:pPr algn="l">
              <a:spcAft>
                <a:spcPts val="0"/>
              </a:spcAft>
            </a:pPr>
            <a:r>
              <a:rPr sz="1200" b="0" i="0">
                <a:solidFill>
                  <a:srgbClr val="1A1A1A"/>
                </a:solidFill>
                <a:latin typeface="Segoe UI"/>
              </a:rPr>
              <a:t>NP and CAN offtake in plot districts against matched districts without plots.</a:t>
            </a:r>
          </a:p>
        </p:txBody>
      </p:sp>
      <p:sp>
        <p:nvSpPr>
          <p:cNvPr id="18" name="TextBox 17"/>
          <p:cNvSpPr txBox="1"/>
          <p:nvPr/>
        </p:nvSpPr>
        <p:spPr>
          <a:xfrm>
            <a:off x="8321040" y="3017520"/>
            <a:ext cx="3200400" cy="1005840"/>
          </a:xfrm>
          <a:prstGeom prst="rect">
            <a:avLst/>
          </a:prstGeom>
          <a:noFill/>
        </p:spPr>
        <p:txBody>
          <a:bodyPr wrap="square" lIns="0" rIns="0" tIns="0" bIns="0">
            <a:spAutoFit/>
          </a:bodyPr>
          <a:lstStyle/>
          <a:p>
            <a:pPr algn="l">
              <a:spcAft>
                <a:spcPts val="0"/>
              </a:spcAft>
            </a:pPr>
            <a:r>
              <a:rPr sz="1150" b="1" i="0">
                <a:solidFill>
                  <a:srgbClr val="C8102E"/>
                </a:solidFill>
                <a:latin typeface="Segoe UI"/>
              </a:rPr>
              <a:t>Client sales data - requested.</a:t>
            </a:r>
          </a:p>
        </p:txBody>
      </p:sp>
      <p:sp>
        <p:nvSpPr>
          <p:cNvPr id="19" name="Rectangle 18"/>
          <p:cNvSpPr/>
          <p:nvPr/>
        </p:nvSpPr>
        <p:spPr>
          <a:xfrm>
            <a:off x="548640" y="4160520"/>
            <a:ext cx="110642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89120"/>
            <a:ext cx="1371600" cy="457200"/>
          </a:xfrm>
          <a:prstGeom prst="rect">
            <a:avLst/>
          </a:prstGeom>
          <a:noFill/>
        </p:spPr>
        <p:txBody>
          <a:bodyPr wrap="square" lIns="0" rIns="0" tIns="0" bIns="0">
            <a:spAutoFit/>
          </a:bodyPr>
          <a:lstStyle/>
          <a:p>
            <a:pPr algn="l">
              <a:spcAft>
                <a:spcPts val="0"/>
              </a:spcAft>
            </a:pPr>
            <a:r>
              <a:rPr sz="1600" b="1" i="0">
                <a:solidFill>
                  <a:srgbClr val="102A43"/>
                </a:solidFill>
                <a:latin typeface="Segoe UI"/>
              </a:rPr>
              <a:t>Brand</a:t>
            </a:r>
          </a:p>
        </p:txBody>
      </p:sp>
      <p:sp>
        <p:nvSpPr>
          <p:cNvPr id="21" name="TextBox 20"/>
          <p:cNvSpPr txBox="1"/>
          <p:nvPr/>
        </p:nvSpPr>
        <p:spPr>
          <a:xfrm>
            <a:off x="2103120" y="4343400"/>
            <a:ext cx="6035040" cy="1005840"/>
          </a:xfrm>
          <a:prstGeom prst="rect">
            <a:avLst/>
          </a:prstGeom>
          <a:noFill/>
        </p:spPr>
        <p:txBody>
          <a:bodyPr wrap="square" lIns="0" rIns="0" tIns="0" bIns="0">
            <a:spAutoFit/>
          </a:bodyPr>
          <a:lstStyle/>
          <a:p>
            <a:pPr algn="l">
              <a:spcAft>
                <a:spcPts val="0"/>
              </a:spcAft>
            </a:pPr>
            <a:r>
              <a:rPr sz="1200" b="0" i="0">
                <a:solidFill>
                  <a:srgbClr val="1A1A1A"/>
                </a:solidFill>
                <a:latin typeface="Segoe UI"/>
              </a:rPr>
              <a:t>Top-of-mind and spontaneous awareness in the next brand health wave; farmers naming Sarsabz, not just 'Nitrophos'.</a:t>
            </a:r>
          </a:p>
        </p:txBody>
      </p:sp>
      <p:sp>
        <p:nvSpPr>
          <p:cNvPr id="22" name="TextBox 21"/>
          <p:cNvSpPr txBox="1"/>
          <p:nvPr/>
        </p:nvSpPr>
        <p:spPr>
          <a:xfrm>
            <a:off x="8321040" y="4343400"/>
            <a:ext cx="3200400" cy="1005840"/>
          </a:xfrm>
          <a:prstGeom prst="rect">
            <a:avLst/>
          </a:prstGeom>
          <a:noFill/>
        </p:spPr>
        <p:txBody>
          <a:bodyPr wrap="square" lIns="0" rIns="0" tIns="0" bIns="0">
            <a:spAutoFit/>
          </a:bodyPr>
          <a:lstStyle/>
          <a:p>
            <a:pPr algn="l">
              <a:spcAft>
                <a:spcPts val="0"/>
              </a:spcAft>
            </a:pPr>
            <a:r>
              <a:rPr sz="1150" b="1" i="0">
                <a:solidFill>
                  <a:srgbClr val="102A43"/>
                </a:solidFill>
                <a:latin typeface="Segoe UI"/>
              </a:rPr>
              <a:t>TOM 22% (brief p29); Sarsabz named in 15 of 1,433 comments.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WHY IT HOLDS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The six tests, and what the campaign asks of Fatima</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If Fatima will not publish results that fall short, do not run 'Khet Gawah Hai' - run 'Dus Feesad Aur' with corrected Ki Jeet stories, and call it a promise, not proof.</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Tests: campaign-concept skill (swap, asset, deletion, department, month twelve, room).</a:t>
            </a:r>
          </a:p>
        </p:txBody>
      </p:sp>
      <p:sp>
        <p:nvSpPr>
          <p:cNvPr id="8" name="TextBox 7"/>
          <p:cNvSpPr txBox="1"/>
          <p:nvPr/>
        </p:nvSpPr>
        <p:spPr>
          <a:xfrm>
            <a:off x="548640" y="1188720"/>
            <a:ext cx="548640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THE SIX TESTS</a:t>
            </a:r>
          </a:p>
        </p:txBody>
      </p:sp>
      <p:sp>
        <p:nvSpPr>
          <p:cNvPr id="9" name="TextBox 8"/>
          <p:cNvSpPr txBox="1"/>
          <p:nvPr/>
        </p:nvSpPr>
        <p:spPr>
          <a:xfrm>
            <a:off x="548640" y="1508760"/>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Swap</a:t>
            </a:r>
          </a:p>
        </p:txBody>
      </p:sp>
      <p:sp>
        <p:nvSpPr>
          <p:cNvPr id="10" name="TextBox 9"/>
          <p:cNvSpPr txBox="1"/>
          <p:nvPr/>
        </p:nvSpPr>
        <p:spPr>
          <a:xfrm>
            <a:off x="2011680" y="1508760"/>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Engro's field would show urea and DAP. The line is false in any other brand's mouth.</a:t>
            </a:r>
          </a:p>
        </p:txBody>
      </p:sp>
      <p:sp>
        <p:nvSpPr>
          <p:cNvPr id="11" name="TextBox 10"/>
          <p:cNvSpPr txBox="1"/>
          <p:nvPr/>
        </p:nvSpPr>
        <p:spPr>
          <a:xfrm>
            <a:off x="548640" y="2203704"/>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Asset</a:t>
            </a:r>
          </a:p>
        </p:txBody>
      </p:sp>
      <p:sp>
        <p:nvSpPr>
          <p:cNvPr id="12" name="TextBox 11"/>
          <p:cNvSpPr txBox="1"/>
          <p:nvPr/>
        </p:nvSpPr>
        <p:spPr>
          <a:xfrm>
            <a:off x="2011680" y="2203704"/>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The only CAN, 93% of NP, 500+ plots - structural, not tone.</a:t>
            </a:r>
          </a:p>
        </p:txBody>
      </p:sp>
      <p:sp>
        <p:nvSpPr>
          <p:cNvPr id="13" name="TextBox 12"/>
          <p:cNvSpPr txBox="1"/>
          <p:nvPr/>
        </p:nvSpPr>
        <p:spPr>
          <a:xfrm>
            <a:off x="548640" y="2898648"/>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Deletion</a:t>
            </a:r>
          </a:p>
        </p:txBody>
      </p:sp>
      <p:sp>
        <p:nvSpPr>
          <p:cNvPr id="14" name="TextBox 13"/>
          <p:cNvSpPr txBox="1"/>
          <p:nvPr/>
        </p:nvSpPr>
        <p:spPr>
          <a:xfrm>
            <a:off x="2011680" y="2898648"/>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Remove the audit and there is no reason to pick proof over advice. They are one argument.</a:t>
            </a:r>
          </a:p>
        </p:txBody>
      </p:sp>
      <p:sp>
        <p:nvSpPr>
          <p:cNvPr id="15" name="TextBox 14"/>
          <p:cNvSpPr txBox="1"/>
          <p:nvPr/>
        </p:nvSpPr>
        <p:spPr>
          <a:xfrm>
            <a:off x="548640" y="3593591"/>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Department</a:t>
            </a:r>
          </a:p>
        </p:txBody>
      </p:sp>
      <p:sp>
        <p:nvSpPr>
          <p:cNvPr id="16" name="TextBox 15"/>
          <p:cNvSpPr txBox="1"/>
          <p:nvPr/>
        </p:nvSpPr>
        <p:spPr>
          <a:xfrm>
            <a:off x="2011680" y="3593591"/>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Agronomy, legal, sales and the app team must act. It asks Fatima to do something, not only say it.</a:t>
            </a:r>
          </a:p>
        </p:txBody>
      </p:sp>
      <p:sp>
        <p:nvSpPr>
          <p:cNvPr id="17" name="TextBox 16"/>
          <p:cNvSpPr txBox="1"/>
          <p:nvPr/>
        </p:nvSpPr>
        <p:spPr>
          <a:xfrm>
            <a:off x="548640" y="4288536"/>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Month twelve</a:t>
            </a:r>
          </a:p>
        </p:txBody>
      </p:sp>
      <p:sp>
        <p:nvSpPr>
          <p:cNvPr id="18" name="TextBox 17"/>
          <p:cNvSpPr txBox="1"/>
          <p:nvPr/>
        </p:nvSpPr>
        <p:spPr>
          <a:xfrm>
            <a:off x="2011680" y="4288536"/>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New crops, districts and farmer-logged plots every season. A platform, not a launch.</a:t>
            </a:r>
          </a:p>
        </p:txBody>
      </p:sp>
      <p:sp>
        <p:nvSpPr>
          <p:cNvPr id="19" name="TextBox 18"/>
          <p:cNvSpPr txBox="1"/>
          <p:nvPr/>
        </p:nvSpPr>
        <p:spPr>
          <a:xfrm>
            <a:off x="548640" y="4983479"/>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Room</a:t>
            </a:r>
          </a:p>
        </p:txBody>
      </p:sp>
      <p:sp>
        <p:nvSpPr>
          <p:cNvPr id="20" name="TextBox 19"/>
          <p:cNvSpPr txBox="1"/>
          <p:nvPr/>
        </p:nvSpPr>
        <p:spPr>
          <a:xfrm>
            <a:off x="2011680" y="4983479"/>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'Ten percent more - the field is the witness.' A farmer can repeat it.</a:t>
            </a:r>
          </a:p>
        </p:txBody>
      </p:sp>
      <p:sp>
        <p:nvSpPr>
          <p:cNvPr id="21" name="Rectangle 20"/>
          <p:cNvSpPr/>
          <p:nvPr/>
        </p:nvSpPr>
        <p:spPr>
          <a:xfrm>
            <a:off x="6583680" y="1188720"/>
            <a:ext cx="5029200" cy="44805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1325880"/>
            <a:ext cx="457200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IT ASKS OF FATIMA - BEFORE LAUNCH</a:t>
            </a:r>
          </a:p>
        </p:txBody>
      </p:sp>
      <p:sp>
        <p:nvSpPr>
          <p:cNvPr id="23" name="Rectangle 22"/>
          <p:cNvSpPr/>
          <p:nvPr/>
        </p:nvSpPr>
        <p:spPr>
          <a:xfrm>
            <a:off x="6812280" y="1709928"/>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60" y="1691640"/>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1.  Publish every plot result, including those under 10%. A campaign called 'the field is the witness' cannot hide a field.</a:t>
            </a:r>
          </a:p>
        </p:txBody>
      </p:sp>
      <p:sp>
        <p:nvSpPr>
          <p:cNvPr id="25" name="Rectangle 24"/>
          <p:cNvSpPr/>
          <p:nvPr/>
        </p:nvSpPr>
        <p:spPr>
          <a:xfrm>
            <a:off x="6812280" y="2496312"/>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2478024"/>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2.  Clear the 10% claim for advertising with the plot data behind it - a question for Fatima's legal team, not an assumption.</a:t>
            </a:r>
          </a:p>
        </p:txBody>
      </p:sp>
      <p:sp>
        <p:nvSpPr>
          <p:cNvPr id="27" name="Rectangle 26"/>
          <p:cNvSpPr/>
          <p:nvPr/>
        </p:nvSpPr>
        <p:spPr>
          <a:xfrm>
            <a:off x="6812280" y="3282696"/>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3264408"/>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3.  Fatima agronomy signs the Nuskha, so field staff, dealers and creators give one answer on mixing.</a:t>
            </a:r>
          </a:p>
        </p:txBody>
      </p:sp>
      <p:sp>
        <p:nvSpPr>
          <p:cNvPr id="29" name="Rectangle 28"/>
          <p:cNvSpPr/>
          <p:nvPr/>
        </p:nvSpPr>
        <p:spPr>
          <a:xfrm>
            <a:off x="6812280" y="4069079"/>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95160" y="4050791"/>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4.  Move the Nitrophos sticker code from the prize draw to verification.</a:t>
            </a:r>
          </a:p>
        </p:txBody>
      </p:sp>
      <p:sp>
        <p:nvSpPr>
          <p:cNvPr id="31" name="Rectangle 30"/>
          <p:cNvSpPr/>
          <p:nvPr/>
        </p:nvSpPr>
        <p:spPr>
          <a:xfrm>
            <a:off x="6812280" y="4855464"/>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4837176"/>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5.  Agree an independent adjudicator - Agriculture Department or university - for the weigh-ins.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