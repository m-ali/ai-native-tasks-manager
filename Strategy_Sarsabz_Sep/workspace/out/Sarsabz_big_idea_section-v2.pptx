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103120"/>
            <a:ext cx="1463040" cy="5486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4241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</a:rPr>
              <a:t>The Big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46120"/>
            <a:ext cx="104241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9FB4C7"/>
                </a:solidFill>
                <a:latin typeface="Segoe UI"/>
              </a:rPr>
              <a:t>Consumer insight  +  Category insight  +  Brand insight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9FB4C7"/>
                </a:solidFill>
                <a:latin typeface="Segoe UI"/>
              </a:rPr>
              <a:t>Three single lines, combined into one organising thought.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FB4C7"/>
                </a:solidFill>
                <a:latin typeface="Segoe UI"/>
              </a:rPr>
              <a:t>STEP 1  ·  CONSUMER INSIGHT  ·  FROM THE FARMER CONVERSATION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</a:rPr>
              <a:t>What farmers feel, that the category ignores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73152" cy="16002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234440"/>
            <a:ext cx="10698480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102A43"/>
                </a:solidFill>
                <a:latin typeface="Segoe UI"/>
              </a:rPr>
              <a:t>“Farmers don't doubt that Nitrophos and CAN work, but they won't bet a season on a switch nobody has shown them how to make without waste.”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08960"/>
            <a:ext cx="6309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B7480"/>
                </a:solidFill>
                <a:latin typeface="Segoe UI"/>
              </a:rPr>
              <a:t>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401568"/>
            <a:ext cx="630936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·  Mixing is the largest subject in the file: 220 of 1,433 comments, 83 about NP or CAN, 33 putting Nitrophos beside Engro Zabardast.</a:t>
            </a:r>
          </a:p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·  "Zabrdast urea ma zink ha aur np ma phosphorus ha to akthy dalen gy to zink phosphorus to fix ho jay ge" (together they lock up).</a:t>
            </a:r>
          </a:p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·  Translated from Urdu: "How many bags of Sarsabz Nitrophos give the same result as one DAP, or can it not replace DAP?"</a:t>
            </a:r>
          </a:p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·  "Fatima fertilizer walon ne NP+CAN+ZINC SULFATE mila ke chatta kiya hai... aap bol rahai in ko aapus main na milaain" (Fatima mixed them; you say don't).</a:t>
            </a:r>
          </a:p>
        </p:txBody>
      </p:sp>
      <p:sp>
        <p:nvSpPr>
          <p:cNvPr id="9" name="Rectangle 8"/>
          <p:cNvSpPr/>
          <p:nvPr/>
        </p:nvSpPr>
        <p:spPr>
          <a:xfrm>
            <a:off x="7223760" y="3108960"/>
            <a:ext cx="4389120" cy="31089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52360" y="3246120"/>
            <a:ext cx="39776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B7480"/>
                </a:solidFill>
                <a:latin typeface="Segoe UI"/>
              </a:rPr>
              <a:t>WHAT THE LANGUAGE TELLS 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3566160"/>
            <a:ext cx="3977639" cy="2606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02A43"/>
                </a:solidFill>
                <a:latin typeface="Segoe UI"/>
              </a:rPr>
              <a:t>The fear is waste, not failure. Nobody questions whether NP and CAN raise yield; they ask whether mixing will lock it up.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02A43"/>
                </a:solidFill>
                <a:latin typeface="Segoe UI"/>
              </a:rPr>
              <a:t>No comment mentions the 10% promise. One asks whether CAN raises yield at all.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02A43"/>
                </a:solidFill>
                <a:latin typeface="Segoe UI"/>
              </a:rPr>
              <a:t>Farmers are getting contradictory advice - including Fatima's own field practice against the creators they watch.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B7480"/>
                </a:solidFill>
                <a:latin typeface="Segoe UI"/>
              </a:rPr>
              <a:t>Source: 1,433 YouTube comments on independent agronomy channels (comments/analysis.md). Self-selected corpus, channels not supplied - not a measure of what most farmers think. Translations labelled.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FB4C7"/>
                </a:solidFill>
                <a:latin typeface="Segoe UI"/>
              </a:rPr>
              <a:t>STEP 2  ·  CATEGORY INSIGHT  ·  FROM COMPETITORS' OWNED CHANNELS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</a:rPr>
              <a:t>What everyone else does, and what it leaves open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73152" cy="16002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234440"/>
            <a:ext cx="10698480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102A43"/>
                </a:solidFill>
                <a:latin typeface="Segoe UI"/>
              </a:rPr>
              <a:t>“Engro has made itself the farmer's adviser and Sarsabz makes the loudest yield promise, but no brand shows the result on a real field beside the old way.”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08960"/>
            <a:ext cx="6309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B7480"/>
                </a:solidFill>
                <a:latin typeface="Segoe UI"/>
              </a:rPr>
              <a:t>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401568"/>
            <a:ext cx="630936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·  Engro answers a farmer objection in 58% of its 110 uploads; Sarsabz in 6% of its 90.</a:t>
            </a:r>
          </a:p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·  Engro: 44 advisory uploads, 31 with a named agronomist, soil testing, a cost-per-acre podcast, retail centres and an app.</a:t>
            </a:r>
          </a:p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·  Sarsabz makes the yield claim 15 times, Engro 0 - and 10 of Sarsabz's 11 '10%' films offer nothing but the badge.</a:t>
            </a:r>
          </a:p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·  FFC Sona, Bubber Sher and Agritech Tara have no official YouTube channel.</a:t>
            </a:r>
          </a:p>
        </p:txBody>
      </p:sp>
      <p:sp>
        <p:nvSpPr>
          <p:cNvPr id="9" name="Rectangle 8"/>
          <p:cNvSpPr/>
          <p:nvPr/>
        </p:nvSpPr>
        <p:spPr>
          <a:xfrm>
            <a:off x="7223760" y="3108960"/>
            <a:ext cx="4389120" cy="31089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52360" y="3246120"/>
            <a:ext cx="39776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B7480"/>
                </a:solidFill>
                <a:latin typeface="Segoe UI"/>
              </a:rPr>
              <a:t>WHY THE CATEGORY BEHAVES THIS 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3566160"/>
            <a:ext cx="3977639" cy="2606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02A43"/>
                </a:solidFill>
                <a:latin typeface="Segoe UI"/>
              </a:rPr>
              <a:t>Urea and DAP are near-commodities, so Engro competes on what comes with the bag: a zinc coating, advice, a service.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02A43"/>
                </a:solidFill>
                <a:latin typeface="Segoe UI"/>
              </a:rPr>
              <a:t>Sarsabz sells products no rival makes at scale - the only CAN and 93% of NP - so proof is its natural ground, and the one it is not using.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02A43"/>
                </a:solidFill>
                <a:latin typeface="Segoe UI"/>
              </a:rPr>
              <a:t>The space is not empty because it failed: Ki Jeet, the closest thing to field proof, carries Sarsabz's biggest product films (8.2M, 7.5M views).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B7480"/>
                </a:solidFill>
                <a:latin typeface="Segoe UI"/>
              </a:rPr>
              <a:t>Source: 200 owned YouTube uploads coded on the same schema, 15 Sep 2024 - 15 Sep 2026 (scan/scan_findings.md); presence sweep 15 Sep 2026. Views are bought media weight, not share of voice.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FB4C7"/>
                </a:solidFill>
                <a:latin typeface="Segoe UI"/>
              </a:rPr>
              <a:t>STEP 3  ·  BRAND INSIGHT  ·  FROM THE BRIEF AND MARKET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</a:rPr>
              <a:t>What Sarsabz has, and what it faces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73152" cy="16002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234440"/>
            <a:ext cx="10698480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102A43"/>
                </a:solidFill>
                <a:latin typeface="Segoe UI"/>
              </a:rPr>
              <a:t>“Sarsabz holds proof no rival can produce - the only CAN and 93% of NP in Pakistan, 500+ demo plots, Ki Jeet winners in 34 districts - but keeps it off screen, so farmers know the product and forget the name.”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9966960" y="960120"/>
            <a:ext cx="1645920" cy="23774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66960" y="98755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PROVISIONAL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08960"/>
            <a:ext cx="6309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B7480"/>
                </a:solidFill>
                <a:latin typeface="Segoe UI"/>
              </a:rPr>
              <a:t>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01568"/>
            <a:ext cx="630936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·  The asset: Fatima Group holds 93% of NP and is the sole CAN producer; Engro holds 6% of NP (CCP Table 11, NFDC 2022-23).</a:t>
            </a:r>
          </a:p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·  The proof exists: the promise is "documented by... 500+ demo plots" (brief p5); Ki Jeet wins in 34 of 40 districts. No plot appears in 90 uploads.</a:t>
            </a:r>
          </a:p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·  The name is missing: farmers mention CAN 193 times and NP 147 times, Sarsabz 15 times.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23760" y="3108960"/>
            <a:ext cx="4389120" cy="31089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52360" y="3246120"/>
            <a:ext cx="39776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B7480"/>
                </a:solidFill>
                <a:latin typeface="Segoe UI"/>
              </a:rPr>
              <a:t>WHERE THE BRIEF AND THE EVIDENCE DISAGREE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0" y="3566160"/>
            <a:ext cx="3977639" cy="2606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02A43"/>
                </a:solidFill>
                <a:latin typeface="Segoe UI"/>
              </a:rPr>
              <a:t>Brief: the brand "evolved from being a product-focused brand to a farmer-centric brand" (p13). Evidence: farmers judge at product level, and Engro is winning there.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02A43"/>
                </a:solidFill>
                <a:latin typeface="Segoe UI"/>
              </a:rPr>
              <a:t>Brief: 22% top-of-mind "exceeded competition's TOM awareness by 6%" (p29). Chart: true against Competitor 2 only - Competitor 1 is at 62%.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02A43"/>
                </a:solidFill>
                <a:latin typeface="Segoe UI"/>
              </a:rPr>
              <a:t>The brief's own pillar is "Experts" (p5). On screen, Sarsabz shows 0 named agronomists; Engro shows 31.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B7480"/>
                </a:solidFill>
                <a:latin typeface="Segoe UI"/>
              </a:rPr>
              <a:t>Source: Fatima Creative Marketing Brief 2026 (pp.5, 13, 29); CCP Competition Assessment, DRAFT, Jul 2025. PROVISIONAL: demo-plot data, current product share and the brand-health study method were not supplied.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FB4C7"/>
                </a:solidFill>
                <a:latin typeface="Segoe UI"/>
              </a:rPr>
              <a:t>STEP 4  ·  THE BIG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</a:rPr>
              <a:t>Three insights, one organising thought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3566160" cy="457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B7480"/>
                </a:solidFill>
                <a:latin typeface="Segoe UI"/>
              </a:rPr>
              <a:t>CONSUMER INSIGHT  ·  Relevant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35661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02A43"/>
                </a:solidFill>
                <a:latin typeface="Segoe UI"/>
              </a:rPr>
              <a:t>Farmers won't bet a season on a switch nobody has shown them how to make without waste.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79" y="1234440"/>
            <a:ext cx="3566160" cy="457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79" y="141732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B7480"/>
                </a:solidFill>
                <a:latin typeface="Segoe UI"/>
              </a:rPr>
              <a:t>CATEGORY INSIGHT  ·  Distinctive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79" y="1737360"/>
            <a:ext cx="35661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02A43"/>
                </a:solidFill>
                <a:latin typeface="Segoe UI"/>
              </a:rPr>
              <a:t>Engro advises and Sarsabz asserts, but nobody shows the result beside the old way.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19" y="1234440"/>
            <a:ext cx="3566160" cy="457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19" y="141732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B7480"/>
                </a:solidFill>
                <a:latin typeface="Segoe UI"/>
              </a:rPr>
              <a:t>BRAND INSIGHT  ·  Ownable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9" y="1737360"/>
            <a:ext cx="35661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02A43"/>
                </a:solidFill>
                <a:latin typeface="Segoe UI"/>
              </a:rPr>
              <a:t>Sarsabz holds proof no rival can produce, but keeps it off screen - farmers know the product and forget the name.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01752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C8102E"/>
                </a:solidFill>
                <a:latin typeface="Segoe UI"/>
              </a:rPr>
              <a:t>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520440"/>
            <a:ext cx="11064240" cy="141732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63931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FB4C7"/>
                </a:solidFill>
                <a:latin typeface="Segoe UI"/>
              </a:rPr>
              <a:t>THE BIG IDEA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93192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Segoe UI"/>
              </a:rPr>
              <a:t>Sarsabz proves itself on a field like yours.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16636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Segoe UI"/>
              </a:rPr>
              <a:t>The 10% stops being a badge and becomes a result a farmer can see on a field like his - with the recipe that produced it: what replaced DAP, what it was mixed with, on which irrigation, on what soil.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0350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6B7480"/>
                </a:solidFill>
                <a:latin typeface="Segoe UI"/>
              </a:rPr>
              <a:t>Test:  </a:t>
            </a:r>
            <a:r>
              <a:rPr sz="1050" b="0" i="0">
                <a:solidFill>
                  <a:srgbClr val="6B7480"/>
                </a:solidFill>
                <a:latin typeface="Segoe UI"/>
              </a:rPr>
              <a:t>remove any one insight and the idea fails - without the farmer it is demo-plot PR nobody asked for, without the category it is Engro's advice, without the brand anyone could promise a demo, but only Sarsabz makes the NP and CAN on the winning side of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FB4C7"/>
                </a:solidFill>
                <a:latin typeface="Segoe UI"/>
              </a:rPr>
              <a:t>FROM IDEA TO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</a:rPr>
              <a:t>Strategy statement and comms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B7480"/>
                </a:solidFill>
                <a:latin typeface="Segoe UI"/>
              </a:rPr>
              <a:t>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58368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02A43"/>
                </a:solidFill>
                <a:latin typeface="Segoe UI"/>
              </a:rPr>
              <a:t>Re-frame Sarsabz from a yield promise farmers take on trust to the proof they can see and copy, by putting its demo plots and winning farmers side by side with DAP + urea on fields like theirs, and publishing the recipe behind every result.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383280"/>
            <a:ext cx="6583680" cy="118872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493008"/>
            <a:ext cx="6217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B7480"/>
                </a:solidFill>
                <a:latin typeface="Segoe UI"/>
              </a:rPr>
              <a:t>COMMS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767328"/>
            <a:ext cx="6217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C8102E"/>
                </a:solidFill>
                <a:latin typeface="Segoe UI"/>
              </a:rPr>
              <a:t>Position Sarsabz as  </a:t>
            </a:r>
            <a:r>
              <a:rPr sz="1900" b="1" i="0">
                <a:solidFill>
                  <a:srgbClr val="C8102E"/>
                </a:solidFill>
                <a:latin typeface="Segoe UI"/>
              </a:rPr>
              <a:t>THE PROOF, NOT THE PROMISE.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800600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B7480"/>
                </a:solidFill>
                <a:latin typeface="Segoe UI"/>
              </a:rPr>
              <a:t>WHY IT HOLDS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074920"/>
            <a:ext cx="65836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A1A1A"/>
                </a:solidFill>
                <a:latin typeface="Segoe UI"/>
              </a:rPr>
              <a:t>Relevant:  </a:t>
            </a:r>
            <a:r>
              <a:rPr sz="1100" b="0" i="0">
                <a:solidFill>
                  <a:srgbClr val="1A1A1A"/>
                </a:solidFill>
                <a:latin typeface="Segoe UI"/>
              </a:rPr>
              <a:t>answers the largest subject in the farmer conversation - how to switch without waste.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A1A1A"/>
                </a:solidFill>
                <a:latin typeface="Segoe UI"/>
              </a:rPr>
              <a:t>Distinctive:  </a:t>
            </a:r>
            <a:r>
              <a:rPr sz="1100" b="0" i="0">
                <a:solidFill>
                  <a:srgbClr val="1A1A1A"/>
                </a:solidFill>
                <a:latin typeface="Segoe UI"/>
              </a:rPr>
              <a:t>Engro advises, Sarsabz asserts, and nobody in 200 uploads shows a result beside the old way.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A1A1A"/>
                </a:solidFill>
                <a:latin typeface="Segoe UI"/>
              </a:rPr>
              <a:t>Ownable:  </a:t>
            </a:r>
            <a:r>
              <a:rPr sz="1100" b="0" i="0">
                <a:solidFill>
                  <a:srgbClr val="1A1A1A"/>
                </a:solidFill>
                <a:latin typeface="Segoe UI"/>
              </a:rPr>
              <a:t>only the maker of 93% of NP and all of CAN can put those products on the winning side of the comparison.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79" y="1234440"/>
            <a:ext cx="4114800" cy="530352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26679" y="1371600"/>
            <a:ext cx="3703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B7480"/>
                </a:solidFill>
                <a:latin typeface="Segoe UI"/>
              </a:rPr>
              <a:t>ALTERNATIVES CONSIDERED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79" y="1691640"/>
            <a:ext cx="370332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050" b="1" i="0">
                <a:solidFill>
                  <a:srgbClr val="102A43"/>
                </a:solidFill>
                <a:latin typeface="Segoe UI"/>
              </a:rPr>
              <a:t>Recommended - A. Sarsabz proves itself on a field like yours.  </a:t>
            </a:r>
            <a:r>
              <a:rPr sz="1050" b="0" i="0">
                <a:solidFill>
                  <a:srgbClr val="102A43"/>
                </a:solidFill>
                <a:latin typeface="Segoe UI"/>
              </a:rPr>
              <a:t>Built on all three insights. Needs Fatima to publish plot results - including the ones that fell short.</a:t>
            </a:r>
          </a:p>
          <a:p>
            <a:pPr algn="l">
              <a:spcAft>
                <a:spcPts val="900"/>
              </a:spcAft>
            </a:pPr>
            <a:r>
              <a:rPr sz="1050" b="1" i="0">
                <a:solidFill>
                  <a:srgbClr val="102A43"/>
                </a:solidFill>
                <a:latin typeface="Segoe UI"/>
              </a:rPr>
              <a:t>B. The farmer's trusted adviser.  </a:t>
            </a:r>
            <a:r>
              <a:rPr sz="1050" b="0" i="0">
                <a:solidFill>
                  <a:srgbClr val="102A43"/>
                </a:solidFill>
                <a:latin typeface="Segoe UI"/>
              </a:rPr>
              <a:t>Engro's territory: 44 advisory uploads, 31 named experts. Sarsabz would arrive second in a space Engro already owns.</a:t>
            </a:r>
          </a:p>
          <a:p>
            <a:pPr algn="l">
              <a:spcAft>
                <a:spcPts val="900"/>
              </a:spcAft>
            </a:pPr>
            <a:r>
              <a:rPr sz="1050" b="1" i="0">
                <a:solidFill>
                  <a:srgbClr val="102A43"/>
                </a:solidFill>
                <a:latin typeface="Segoe UI"/>
              </a:rPr>
              <a:t>C. Saluting the farmer - Sarsabz Pakistan.  </a:t>
            </a:r>
            <a:r>
              <a:rPr sz="1050" b="0" i="0">
                <a:solidFill>
                  <a:srgbClr val="102A43"/>
                </a:solidFill>
                <a:latin typeface="Segoe UI"/>
              </a:rPr>
              <a:t>Where the brand talks today (30 of 90 uploads) and right for Salam Kissan. But farmers name Sarsabz 15 times in 1,433 comments; a salute does not sell a switch.</a:t>
            </a:r>
          </a:p>
          <a:p>
            <a:pPr algn="l">
              <a:spcAft>
                <a:spcPts val="900"/>
              </a:spcAft>
            </a:pPr>
            <a:r>
              <a:rPr sz="1050" b="1" i="0">
                <a:solidFill>
                  <a:srgbClr val="102A43"/>
                </a:solidFill>
                <a:latin typeface="Segoe UI"/>
              </a:rPr>
              <a:t>Swap test:  </a:t>
            </a:r>
            <a:r>
              <a:rPr sz="1050" b="0" i="0">
                <a:solidFill>
                  <a:srgbClr val="102A43"/>
                </a:solidFill>
                <a:latin typeface="Segoe UI"/>
              </a:rPr>
              <a:t>Engro could film a demo plot. It cannot put NP and CAN on the winning side - it has 6% of NP and no CAN. Lead with that.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FB4C7"/>
                </a:solidFill>
                <a:latin typeface="Segoe UI"/>
              </a:rPr>
              <a:t>THE PRICE OF THE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</a:rPr>
              <a:t>What it asks of Fatima, and how it lives in media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B7480"/>
                </a:solidFill>
                <a:latin typeface="Segoe UI"/>
              </a:rPr>
              <a:t>WHAT FATIMA MUST COMMIT TO - BEFORE ANY LINE IS WRITTEN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00200"/>
            <a:ext cx="45720" cy="65836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1848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02A43"/>
                </a:solidFill>
                <a:latin typeface="Segoe UI"/>
              </a:rPr>
              <a:t>1  Publish the plots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Demo-plot results by crop, district and soil - including those under 10%.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04872"/>
            <a:ext cx="45720" cy="65836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42316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02A43"/>
                </a:solidFill>
                <a:latin typeface="Segoe UI"/>
              </a:rPr>
              <a:t>2  Correct Ki Jeet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724912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State winners' yields and inputs; drop 'proved 10%'; verify before saying 'all winners'.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209544"/>
            <a:ext cx="45720" cy="65836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227832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02A43"/>
                </a:solidFill>
                <a:latin typeface="Segoe UI"/>
              </a:rPr>
              <a:t>3  One mixing answer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529584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An official NP and CAN compatibility and timing guide, so field staff and creators agree.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014215"/>
            <a:ext cx="45720" cy="65836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032503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02A43"/>
                </a:solidFill>
                <a:latin typeface="Segoe UI"/>
              </a:rPr>
              <a:t>4  Name the recipe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334255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Every proof film names the farmer, district, soil, inputs and maunds.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818888"/>
            <a:ext cx="45720" cy="65836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837175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02A43"/>
                </a:solidFill>
                <a:latin typeface="Segoe UI"/>
              </a:rPr>
              <a:t>5  Answer in the thread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138927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Agronomists staffing the Sarsabz Pakistan App and comment replies.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23444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B7480"/>
                </a:solidFill>
                <a:latin typeface="Segoe UI"/>
              </a:rPr>
              <a:t>MEDIA PRINCIPLES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1554480"/>
            <a:ext cx="52120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1">
                <a:solidFill>
                  <a:srgbClr val="102A43"/>
                </a:solidFill>
                <a:latin typeface="Segoe UI"/>
              </a:rPr>
              <a:t>“The switch is decided in agronomy creators' comment threads, where farmers ask strangers what the maker should be telling them - and suspect the answers are paid.”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423160"/>
            <a:ext cx="521208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150" b="1" i="0">
                <a:solidFill>
                  <a:srgbClr val="1A1A1A"/>
                </a:solidFill>
                <a:latin typeface="Segoe UI"/>
              </a:rPr>
              <a:t>Show the field, not the badge.  </a:t>
            </a:r>
            <a:r>
              <a:rPr sz="1150" b="0" i="0">
                <a:solidFill>
                  <a:srgbClr val="1A1A1A"/>
                </a:solidFill>
                <a:latin typeface="Segoe UI"/>
              </a:rPr>
              <a:t>Every yield claim points to a named plot or farmer.</a:t>
            </a:r>
          </a:p>
          <a:p>
            <a:pPr algn="l">
              <a:spcAft>
                <a:spcPts val="900"/>
              </a:spcAft>
            </a:pPr>
            <a:r>
              <a:rPr sz="1150" b="1" i="0">
                <a:solidFill>
                  <a:srgbClr val="1A1A1A"/>
                </a:solidFill>
                <a:latin typeface="Segoe UI"/>
              </a:rPr>
              <a:t>Short points to long.  </a:t>
            </a:r>
            <a:r>
              <a:rPr sz="1150" b="0" i="0">
                <a:solidFill>
                  <a:srgbClr val="1A1A1A"/>
                </a:solidFill>
                <a:latin typeface="Segoe UI"/>
              </a:rPr>
              <a:t>The 15-second cut carries the result; the funded long cut carries the recipe.</a:t>
            </a:r>
          </a:p>
          <a:p>
            <a:pPr algn="l">
              <a:spcAft>
                <a:spcPts val="900"/>
              </a:spcAft>
            </a:pPr>
            <a:r>
              <a:rPr sz="1150" b="1" i="0">
                <a:solidFill>
                  <a:srgbClr val="1A1A1A"/>
                </a:solidFill>
                <a:latin typeface="Segoe UI"/>
              </a:rPr>
              <a:t>Be in the creator thread, disclosed.  </a:t>
            </a:r>
            <a:r>
              <a:rPr sz="1150" b="0" i="0">
                <a:solidFill>
                  <a:srgbClr val="1A1A1A"/>
                </a:solidFill>
                <a:latin typeface="Segoe UI"/>
              </a:rPr>
              <a:t>Farmers suspect paid advice - label every partnership.</a:t>
            </a:r>
          </a:p>
          <a:p>
            <a:pPr algn="l">
              <a:spcAft>
                <a:spcPts val="900"/>
              </a:spcAft>
            </a:pPr>
            <a:r>
              <a:rPr sz="1150" b="1" i="0">
                <a:solidFill>
                  <a:srgbClr val="1A1A1A"/>
                </a:solidFill>
                <a:latin typeface="Segoe UI"/>
              </a:rPr>
              <a:t>Use the reach for proof.  </a:t>
            </a:r>
            <a:r>
              <a:rPr sz="1150" b="0" i="0">
                <a:solidFill>
                  <a:srgbClr val="1A1A1A"/>
                </a:solidFill>
                <a:latin typeface="Segoe UI"/>
              </a:rPr>
              <a:t>1.2M on TikTok and 396K on YouTube - proof clips, not prizes.</a:t>
            </a:r>
          </a:p>
          <a:p>
            <a:pPr algn="l">
              <a:spcAft>
                <a:spcPts val="900"/>
              </a:spcAft>
            </a:pPr>
            <a:r>
              <a:rPr sz="1150" b="1" i="0">
                <a:solidFill>
                  <a:srgbClr val="1A1A1A"/>
                </a:solidFill>
                <a:latin typeface="Segoe UI"/>
              </a:rPr>
              <a:t>The dealer is the last field.  </a:t>
            </a:r>
            <a:r>
              <a:rPr sz="1150" b="0" i="0">
                <a:solidFill>
                  <a:srgbClr val="1A1A1A"/>
                </a:solidFill>
                <a:latin typeface="Segoe UI"/>
              </a:rPr>
              <a:t>AgriMart and dealers carry the side-by-side at the point of sale.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806440"/>
            <a:ext cx="11064240" cy="73152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916168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If Fatima will not publish plot results, the idea becomes an assertion again. Run Ki Jeet winner stories with corrected claims instead, and state the trade-off.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