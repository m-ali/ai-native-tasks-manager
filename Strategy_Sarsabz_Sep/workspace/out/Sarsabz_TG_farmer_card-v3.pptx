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The Sarsabz farmer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760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FB4C7"/>
                </a:solidFill>
                <a:latin typeface="Segoe UI"/>
              </a:rPr>
              <a:t>Male, 25-55  ·  Punjab and Sindh  ·  12-150+ acres  ·  50%+ of income from farming  (brief p23)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201168"/>
            <a:ext cx="1828800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26517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COMPOSITE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65760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27101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WHO HE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618488"/>
            <a:ext cx="3291840" cy="1591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Head of a farming household. Brief p23: male, 25-55, Punjab and Sindh, 12-150+ acres, half or more of income from farming.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Brief p6 describes a wider buyer: 18-60, SEC A to upper D, minimum secondary education. The two definitions differ - settle it with the client.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Farming is a family identity: commenters introduce themselves through a father or grandfather who farmed.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74720"/>
            <a:ext cx="3657600" cy="2331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3474720"/>
            <a:ext cx="54864" cy="2331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360273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INTERESTS AND AFFINITY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950208"/>
            <a:ext cx="3291840" cy="19928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 dirty="0">
                <a:solidFill>
                  <a:srgbClr val="1A1A1A"/>
                </a:solidFill>
                <a:latin typeface="Segoe UI"/>
              </a:rPr>
              <a:t>Avid Political News Readers  -  i264  (121 users)</a:t>
            </a:r>
          </a:p>
          <a:p>
            <a:pPr algn="l">
              <a:spcAft>
                <a:spcPts val="600"/>
              </a:spcAft>
            </a:pPr>
            <a:r>
              <a:rPr sz="1050" b="0" i="0" dirty="0">
                <a:solidFill>
                  <a:srgbClr val="1A1A1A"/>
                </a:solidFill>
                <a:latin typeface="Segoe UI"/>
              </a:rPr>
              <a:t>Cricket Enthusiasts  -  i185  (91 users)</a:t>
            </a:r>
          </a:p>
          <a:p>
            <a:pPr algn="l">
              <a:spcAft>
                <a:spcPts val="600"/>
              </a:spcAft>
            </a:pPr>
            <a:r>
              <a:rPr sz="1050" b="0" i="0" dirty="0">
                <a:solidFill>
                  <a:srgbClr val="1A1A1A"/>
                </a:solidFill>
                <a:latin typeface="Segoe UI"/>
              </a:rPr>
              <a:t>Auto Enthusiasts  -  i183  (79 users)</a:t>
            </a:r>
          </a:p>
          <a:p>
            <a:pPr algn="l">
              <a:spcAft>
                <a:spcPts val="600"/>
              </a:spcAft>
            </a:pPr>
            <a:r>
              <a:rPr sz="1050" b="0" i="0" dirty="0">
                <a:solidFill>
                  <a:srgbClr val="1A1A1A"/>
                </a:solidFill>
                <a:latin typeface="Segoe UI"/>
              </a:rPr>
              <a:t>Avid Business News Readers  -  i161  (70 users)</a:t>
            </a:r>
          </a:p>
          <a:p>
            <a:pPr algn="l">
              <a:spcAft>
                <a:spcPts val="600"/>
              </a:spcAft>
            </a:pPr>
            <a:r>
              <a:rPr sz="1050" b="0" i="0" dirty="0">
                <a:solidFill>
                  <a:srgbClr val="1A1A1A"/>
                </a:solidFill>
                <a:latin typeface="Segoe UI"/>
              </a:rPr>
              <a:t>Banking &amp; Finance / Avid Investors  -  i159  (113 users)</a:t>
            </a:r>
          </a:p>
          <a:p>
            <a:pPr algn="l">
              <a:spcAft>
                <a:spcPts val="600"/>
              </a:spcAft>
            </a:pPr>
            <a:r>
              <a:rPr sz="1050" b="0" i="0" dirty="0">
                <a:solidFill>
                  <a:srgbClr val="1A1A1A"/>
                </a:solidFill>
                <a:latin typeface="Segoe UI"/>
              </a:rPr>
              <a:t>Avid News Readers (all)  -  i126  (141 users)</a:t>
            </a:r>
          </a:p>
          <a:p>
            <a:pPr algn="l">
              <a:spcAft>
                <a:spcPts val="600"/>
              </a:spcAft>
            </a:pPr>
            <a:endParaRPr lang="en-US" sz="1050" b="0" i="0" dirty="0">
              <a:solidFill>
                <a:srgbClr val="1A1A1A"/>
              </a:solidFill>
              <a:latin typeface="Segoe UI"/>
            </a:endParaRPr>
          </a:p>
          <a:p>
            <a:pPr algn="l">
              <a:spcAft>
                <a:spcPts val="600"/>
              </a:spcAft>
            </a:pPr>
            <a:r>
              <a:rPr sz="1050" b="0" i="0" dirty="0">
                <a:solidFill>
                  <a:srgbClr val="1A1A1A"/>
                </a:solidFill>
                <a:latin typeface="Segoe UI"/>
              </a:rPr>
              <a:t>A website audience, not a farmer sample - treat as directional.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143000"/>
            <a:ext cx="4206240" cy="17373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1143000"/>
            <a:ext cx="54864" cy="17373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1271016"/>
            <a:ext cx="38404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BEHAVIOURAL MINDSET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618488"/>
            <a:ext cx="3840479" cy="113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Judges at product level, on what he has seen work on land like his.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Asks strangers in comment threads what the maker should be telling him, and suspects the answers are paid for.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Fears waste more than failure: not whether NP and CAN work, but what will lock up if he mixes them.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017520"/>
            <a:ext cx="4206240" cy="2788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51960" y="3017520"/>
            <a:ext cx="54864" cy="27889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3145536"/>
            <a:ext cx="38404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PAIN POINTS (6)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493008"/>
            <a:ext cx="3840479" cy="21854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Will it lock up if I mix it: Whether NP with zinc urea, sulphur or potash reacts and wastes the bag.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Give me the dose for my soil, not the country: Wants a per-acre, per-irrigation plan for his soil and district.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Every expert says something different: Creators contradict each other and Fatima's own field practice.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Nobody answers me: He asks under videos and asks for a WhatsApp number.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bag is expensive, and sometimes not there: Price and supply surface even under a tribute film.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Show me proof, in words I use: Asks for written evidence; says the advice he gets is too English.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1143000"/>
            <a:ext cx="315468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41080" y="1143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42248" y="1271016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BUYING TRIGGERS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8" y="1618488"/>
            <a:ext cx="2788920" cy="1591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irrigation calendar: Buys against sowing and first irrigation: Rabi Oct-Mar, Kharif Apr-Sep.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result on a field like his: Yield in maunds, from a named farmer in a district he knows.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recipe he can copy: What replaced DAP, mixed with what, on which irrigation, on what soil.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Being addressed, not thanked: Response is strongest where farmers and families are the voice.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3474720"/>
            <a:ext cx="3154680" cy="2331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41080" y="3474720"/>
            <a:ext cx="54864" cy="2331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42248" y="3602736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WHERE TO REACH HIM (EVIDENCED, NO SURVEY)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8" y="3950208"/>
            <a:ext cx="2788920" cy="17282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Traditional: TV, radio, OOH - the profile template's frame; no rural survey supplied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YouTube: evidenced: agronomy creators, and the brand's anthems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TikTok: brief p23 calls the target TikTok-engaged; unverified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Facebook, Instagram: in the template's frame; not evidenced for this audience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Dealer and trade counter: the last conversation before the bag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Sarsabz Pakistan App: 800,000+ downloads claimed (brief p7)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943600"/>
            <a:ext cx="1138428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04418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He is not waiting to be persuaded that the product works. He is waiting to be shown how to use it without losing a season - and to be heard, not thanked.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46520"/>
            <a:ext cx="113842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Fatima brief 2026, pp.6, 7, 23  ·  1,433 farmer comments (case2_audit/comments/analysis.md, theme_counts.csv)  ·  1,572 Salam Kissan comments (case1_salam_kissan/comments/comment_findings.md)  ·  76-upload archive (case1_salam_kissan/archive/archive_findings.md)  ·  GA4 interests export, brandsynario.com Punjab visitors (data/reference/Punjab.csv)  ·  No media survey supplied, so no percentages are shown; ask Fatima for TGI or Gallup  ·  The name and composite framing are a device; no individual farmer is described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695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M. Ali</cp:lastModifiedBy>
  <cp:revision>2</cp:revision>
  <dcterms:created xsi:type="dcterms:W3CDTF">2013-01-27T09:14:16Z</dcterms:created>
  <dcterms:modified xsi:type="dcterms:W3CDTF">2026-09-16T10:21:53Z</dcterms:modified>
  <cp:category/>
</cp:coreProperties>
</file>