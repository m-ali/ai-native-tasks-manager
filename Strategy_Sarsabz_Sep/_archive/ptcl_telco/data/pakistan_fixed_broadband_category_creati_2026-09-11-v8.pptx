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5" d="100"/>
          <a:sy n="65" d="100"/>
        </p:scale>
        <p:origin x="81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424160" cy="1280160"/>
          </a:xfrm>
          <a:prstGeom prst="rect">
            <a:avLst/>
          </a:prstGeom>
          <a:noFill/>
        </p:spPr>
        <p:txBody>
          <a:bodyPr wrap="square" lIns="0" tIns="0" rIns="0" bIns="0">
            <a:spAutoFit/>
          </a:bodyPr>
          <a:lstStyle/>
          <a:p>
            <a:pPr algn="l">
              <a:spcAft>
                <a:spcPts val="600"/>
              </a:spcAft>
            </a:pPr>
            <a:r>
              <a:rPr sz="3800" b="1">
                <a:solidFill>
                  <a:srgbClr val="FFFFFF"/>
                </a:solidFill>
                <a:latin typeface="Segoe UI"/>
              </a:rPr>
              <a:t>Pakistan fixed broadband - category creative scan</a:t>
            </a:r>
          </a:p>
        </p:txBody>
      </p:sp>
      <p:sp>
        <p:nvSpPr>
          <p:cNvPr id="4" name="TextBox 3"/>
          <p:cNvSpPr txBox="1"/>
          <p:nvPr/>
        </p:nvSpPr>
        <p:spPr>
          <a:xfrm>
            <a:off x="822960" y="3200400"/>
            <a:ext cx="10424160" cy="548640"/>
          </a:xfrm>
          <a:prstGeom prst="rect">
            <a:avLst/>
          </a:prstGeom>
          <a:noFill/>
        </p:spPr>
        <p:txBody>
          <a:bodyPr wrap="square" lIns="0" tIns="0" rIns="0" bIns="0">
            <a:spAutoFit/>
          </a:bodyPr>
          <a:lstStyle/>
          <a:p>
            <a:pPr algn="l">
              <a:spcAft>
                <a:spcPts val="600"/>
              </a:spcAft>
            </a:pPr>
            <a:r>
              <a:rPr sz="1900" b="0">
                <a:solidFill>
                  <a:srgbClr val="9FB4C7"/>
                </a:solidFill>
                <a:latin typeface="Segoe UI"/>
              </a:rPr>
              <a:t>A brand-by-brand communications scan</a:t>
            </a:r>
          </a:p>
        </p:txBody>
      </p:sp>
      <p:sp>
        <p:nvSpPr>
          <p:cNvPr id="5" name="TextBox 4"/>
          <p:cNvSpPr txBox="1"/>
          <p:nvPr/>
        </p:nvSpPr>
        <p:spPr>
          <a:xfrm>
            <a:off x="822960" y="5120640"/>
            <a:ext cx="10424160" cy="914400"/>
          </a:xfrm>
          <a:prstGeom prst="rect">
            <a:avLst/>
          </a:prstGeom>
          <a:noFill/>
        </p:spPr>
        <p:txBody>
          <a:bodyPr wrap="square" lIns="0" tIns="0" rIns="0" bIns="0">
            <a:spAutoFit/>
          </a:bodyPr>
          <a:lstStyle/>
          <a:p>
            <a:pPr algn="l">
              <a:spcAft>
                <a:spcPts val="600"/>
              </a:spcAft>
            </a:pPr>
            <a:r>
              <a:rPr sz="1300" b="0">
                <a:solidFill>
                  <a:srgbClr val="9FB4C7"/>
                </a:solidFill>
                <a:latin typeface="Segoe UI"/>
              </a:rPr>
              <a:t>336 posts  ·  14 brands  ·  collected 2026-09-11</a:t>
            </a:r>
          </a:p>
          <a:p>
            <a:pPr algn="l">
              <a:spcAft>
                <a:spcPts val="600"/>
              </a:spcAft>
            </a:pPr>
            <a:r>
              <a:rPr sz="1300" b="0">
                <a:solidFill>
                  <a:srgbClr val="9FB4C7"/>
                </a:solidFill>
                <a:latin typeface="Segoe UI"/>
              </a:rPr>
              <a:t>PTCL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91440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How the category talks</a:t>
            </a:r>
          </a:p>
        </p:txBody>
      </p:sp>
      <p:sp>
        <p:nvSpPr>
          <p:cNvPr id="4" name="Rectangle 3"/>
          <p:cNvSpPr/>
          <p:nvPr/>
        </p:nvSpPr>
        <p:spPr>
          <a:xfrm>
            <a:off x="548640"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0"/>
            <a:ext cx="2697480" cy="822960"/>
          </a:xfrm>
          <a:prstGeom prst="rect">
            <a:avLst/>
          </a:prstGeom>
          <a:noFill/>
        </p:spPr>
        <p:txBody>
          <a:bodyPr wrap="square" lIns="0" tIns="0" rIns="0" bIns="0">
            <a:spAutoFit/>
          </a:bodyPr>
          <a:lstStyle/>
          <a:p>
            <a:pPr algn="l">
              <a:spcAft>
                <a:spcPts val="600"/>
              </a:spcAft>
            </a:pPr>
            <a:r>
              <a:rPr sz="4000" b="1">
                <a:solidFill>
                  <a:srgbClr val="102A43"/>
                </a:solidFill>
                <a:latin typeface="Segoe UI"/>
              </a:rPr>
              <a:t>68%</a:t>
            </a:r>
          </a:p>
        </p:txBody>
      </p:sp>
      <p:sp>
        <p:nvSpPr>
          <p:cNvPr id="6" name="TextBox 5"/>
          <p:cNvSpPr txBox="1"/>
          <p:nvPr/>
        </p:nvSpPr>
        <p:spPr>
          <a:xfrm>
            <a:off x="548640" y="2514600"/>
            <a:ext cx="2697480" cy="640080"/>
          </a:xfrm>
          <a:prstGeom prst="rect">
            <a:avLst/>
          </a:prstGeom>
          <a:noFill/>
        </p:spPr>
        <p:txBody>
          <a:bodyPr wrap="square" lIns="0" tIns="0" rIns="0" bIns="0">
            <a:spAutoFit/>
          </a:bodyPr>
          <a:lstStyle/>
          <a:p>
            <a:pPr algn="l">
              <a:spcAft>
                <a:spcPts val="600"/>
              </a:spcAft>
            </a:pPr>
            <a:r>
              <a:rPr sz="1300" b="1">
                <a:solidFill>
                  <a:srgbClr val="1A1A1A"/>
                </a:solidFill>
                <a:latin typeface="Segoe UI"/>
              </a:rPr>
              <a:t>of ads prove nothing</a:t>
            </a:r>
          </a:p>
        </p:txBody>
      </p:sp>
      <p:sp>
        <p:nvSpPr>
          <p:cNvPr id="7" name="TextBox 6"/>
          <p:cNvSpPr txBox="1"/>
          <p:nvPr/>
        </p:nvSpPr>
        <p:spPr>
          <a:xfrm>
            <a:off x="548640" y="3200400"/>
            <a:ext cx="2697480" cy="1188720"/>
          </a:xfrm>
          <a:prstGeom prst="rect">
            <a:avLst/>
          </a:prstGeom>
          <a:noFill/>
        </p:spPr>
        <p:txBody>
          <a:bodyPr wrap="square" lIns="0" tIns="0" rIns="0" bIns="0">
            <a:spAutoFit/>
          </a:bodyPr>
          <a:lstStyle/>
          <a:p>
            <a:pPr algn="l">
              <a:spcAft>
                <a:spcPts val="600"/>
              </a:spcAft>
            </a:pPr>
            <a:r>
              <a:rPr sz="1100" b="0">
                <a:solidFill>
                  <a:srgbClr val="6B7480"/>
                </a:solidFill>
                <a:latin typeface="Segoe UI"/>
              </a:rPr>
              <a:t>229 of 336. No statistic, rating, testimonial or guarantee.</a:t>
            </a:r>
          </a:p>
        </p:txBody>
      </p:sp>
      <p:sp>
        <p:nvSpPr>
          <p:cNvPr id="8" name="Rectangle 7"/>
          <p:cNvSpPr/>
          <p:nvPr/>
        </p:nvSpPr>
        <p:spPr>
          <a:xfrm>
            <a:off x="3401568"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01568" y="1645920"/>
            <a:ext cx="2697480" cy="822960"/>
          </a:xfrm>
          <a:prstGeom prst="rect">
            <a:avLst/>
          </a:prstGeom>
          <a:noFill/>
        </p:spPr>
        <p:txBody>
          <a:bodyPr wrap="square" lIns="0" tIns="0" rIns="0" bIns="0">
            <a:spAutoFit/>
          </a:bodyPr>
          <a:lstStyle/>
          <a:p>
            <a:pPr algn="l">
              <a:spcAft>
                <a:spcPts val="600"/>
              </a:spcAft>
            </a:pPr>
            <a:r>
              <a:rPr sz="4000" b="1">
                <a:solidFill>
                  <a:srgbClr val="102A43"/>
                </a:solidFill>
                <a:latin typeface="Segoe UI"/>
              </a:rPr>
              <a:t>20%</a:t>
            </a:r>
          </a:p>
        </p:txBody>
      </p:sp>
      <p:sp>
        <p:nvSpPr>
          <p:cNvPr id="10" name="TextBox 9"/>
          <p:cNvSpPr txBox="1"/>
          <p:nvPr/>
        </p:nvSpPr>
        <p:spPr>
          <a:xfrm>
            <a:off x="3401568" y="2514600"/>
            <a:ext cx="2697480" cy="640080"/>
          </a:xfrm>
          <a:prstGeom prst="rect">
            <a:avLst/>
          </a:prstGeom>
          <a:noFill/>
        </p:spPr>
        <p:txBody>
          <a:bodyPr wrap="square" lIns="0" tIns="0" rIns="0" bIns="0">
            <a:spAutoFit/>
          </a:bodyPr>
          <a:lstStyle/>
          <a:p>
            <a:pPr algn="l">
              <a:spcAft>
                <a:spcPts val="600"/>
              </a:spcAft>
            </a:pPr>
            <a:r>
              <a:rPr sz="1300" b="1">
                <a:solidFill>
                  <a:srgbClr val="1A1A1A"/>
                </a:solidFill>
                <a:latin typeface="Segoe UI"/>
              </a:rPr>
              <a:t>is brand-building</a:t>
            </a:r>
          </a:p>
        </p:txBody>
      </p:sp>
      <p:sp>
        <p:nvSpPr>
          <p:cNvPr id="11" name="TextBox 10"/>
          <p:cNvSpPr txBox="1"/>
          <p:nvPr/>
        </p:nvSpPr>
        <p:spPr>
          <a:xfrm>
            <a:off x="3401568" y="3200400"/>
            <a:ext cx="2697480" cy="1188720"/>
          </a:xfrm>
          <a:prstGeom prst="rect">
            <a:avLst/>
          </a:prstGeom>
          <a:noFill/>
        </p:spPr>
        <p:txBody>
          <a:bodyPr wrap="square" lIns="0" tIns="0" rIns="0" bIns="0">
            <a:spAutoFit/>
          </a:bodyPr>
          <a:lstStyle/>
          <a:p>
            <a:pPr algn="l">
              <a:spcAft>
                <a:spcPts val="600"/>
              </a:spcAft>
            </a:pPr>
            <a:r>
              <a:rPr sz="1100" b="0">
                <a:solidFill>
                  <a:srgbClr val="6B7480"/>
                </a:solidFill>
                <a:latin typeface="Segoe UI"/>
              </a:rPr>
              <a:t>67 of 336. The rest is promotion, PR, calendar and recruitment.</a:t>
            </a:r>
          </a:p>
        </p:txBody>
      </p:sp>
      <p:sp>
        <p:nvSpPr>
          <p:cNvPr id="12" name="Rectangle 11"/>
          <p:cNvSpPr/>
          <p:nvPr/>
        </p:nvSpPr>
        <p:spPr>
          <a:xfrm>
            <a:off x="6254496"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54496" y="1645920"/>
            <a:ext cx="2697480" cy="822960"/>
          </a:xfrm>
          <a:prstGeom prst="rect">
            <a:avLst/>
          </a:prstGeom>
          <a:noFill/>
        </p:spPr>
        <p:txBody>
          <a:bodyPr wrap="square" lIns="0" tIns="0" rIns="0" bIns="0">
            <a:spAutoFit/>
          </a:bodyPr>
          <a:lstStyle/>
          <a:p>
            <a:pPr algn="l">
              <a:spcAft>
                <a:spcPts val="600"/>
              </a:spcAft>
            </a:pPr>
            <a:r>
              <a:rPr sz="4000" b="1">
                <a:solidFill>
                  <a:srgbClr val="102A43"/>
                </a:solidFill>
                <a:latin typeface="Segoe UI"/>
              </a:rPr>
              <a:t>6%</a:t>
            </a:r>
          </a:p>
        </p:txBody>
      </p:sp>
      <p:sp>
        <p:nvSpPr>
          <p:cNvPr id="14" name="TextBox 13"/>
          <p:cNvSpPr txBox="1"/>
          <p:nvPr/>
        </p:nvSpPr>
        <p:spPr>
          <a:xfrm>
            <a:off x="6254496" y="2514600"/>
            <a:ext cx="2697480" cy="640080"/>
          </a:xfrm>
          <a:prstGeom prst="rect">
            <a:avLst/>
          </a:prstGeom>
          <a:noFill/>
        </p:spPr>
        <p:txBody>
          <a:bodyPr wrap="square" lIns="0" tIns="0" rIns="0" bIns="0">
            <a:spAutoFit/>
          </a:bodyPr>
          <a:lstStyle/>
          <a:p>
            <a:pPr algn="l">
              <a:spcAft>
                <a:spcPts val="600"/>
              </a:spcAft>
            </a:pPr>
            <a:r>
              <a:rPr sz="1300" b="1">
                <a:solidFill>
                  <a:srgbClr val="1A1A1A"/>
                </a:solidFill>
                <a:latin typeface="Segoe UI"/>
              </a:rPr>
              <a:t>drives to an owned app</a:t>
            </a:r>
          </a:p>
        </p:txBody>
      </p:sp>
      <p:sp>
        <p:nvSpPr>
          <p:cNvPr id="15" name="TextBox 14"/>
          <p:cNvSpPr txBox="1"/>
          <p:nvPr/>
        </p:nvSpPr>
        <p:spPr>
          <a:xfrm>
            <a:off x="6254496" y="3200400"/>
            <a:ext cx="2697480" cy="1188720"/>
          </a:xfrm>
          <a:prstGeom prst="rect">
            <a:avLst/>
          </a:prstGeom>
          <a:noFill/>
        </p:spPr>
        <p:txBody>
          <a:bodyPr wrap="square" lIns="0" tIns="0" rIns="0" bIns="0">
            <a:spAutoFit/>
          </a:bodyPr>
          <a:lstStyle/>
          <a:p>
            <a:pPr algn="l">
              <a:spcAft>
                <a:spcPts val="600"/>
              </a:spcAft>
            </a:pPr>
            <a:r>
              <a:rPr sz="1100" b="0">
                <a:solidFill>
                  <a:srgbClr val="6B7480"/>
                </a:solidFill>
                <a:latin typeface="Segoe UI"/>
              </a:rPr>
              <a:t>21 of 336 exist to move people into an ecosystem.</a:t>
            </a:r>
          </a:p>
        </p:txBody>
      </p:sp>
      <p:sp>
        <p:nvSpPr>
          <p:cNvPr id="16" name="Rectangle 15"/>
          <p:cNvSpPr/>
          <p:nvPr/>
        </p:nvSpPr>
        <p:spPr>
          <a:xfrm>
            <a:off x="9107424"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07424" y="1645920"/>
            <a:ext cx="2697480" cy="822960"/>
          </a:xfrm>
          <a:prstGeom prst="rect">
            <a:avLst/>
          </a:prstGeom>
          <a:noFill/>
        </p:spPr>
        <p:txBody>
          <a:bodyPr wrap="square" lIns="0" tIns="0" rIns="0" bIns="0">
            <a:spAutoFit/>
          </a:bodyPr>
          <a:lstStyle/>
          <a:p>
            <a:pPr algn="l">
              <a:spcAft>
                <a:spcPts val="600"/>
              </a:spcAft>
            </a:pPr>
            <a:r>
              <a:rPr sz="4000" b="1">
                <a:solidFill>
                  <a:srgbClr val="102A43"/>
                </a:solidFill>
                <a:latin typeface="Segoe UI"/>
              </a:rPr>
              <a:t>0</a:t>
            </a:r>
          </a:p>
        </p:txBody>
      </p:sp>
      <p:sp>
        <p:nvSpPr>
          <p:cNvPr id="18" name="TextBox 17"/>
          <p:cNvSpPr txBox="1"/>
          <p:nvPr/>
        </p:nvSpPr>
        <p:spPr>
          <a:xfrm>
            <a:off x="9107424" y="2514600"/>
            <a:ext cx="2697480" cy="640080"/>
          </a:xfrm>
          <a:prstGeom prst="rect">
            <a:avLst/>
          </a:prstGeom>
          <a:noFill/>
        </p:spPr>
        <p:txBody>
          <a:bodyPr wrap="square" lIns="0" tIns="0" rIns="0" bIns="0">
            <a:spAutoFit/>
          </a:bodyPr>
          <a:lstStyle/>
          <a:p>
            <a:pPr algn="l">
              <a:spcAft>
                <a:spcPts val="600"/>
              </a:spcAft>
            </a:pPr>
            <a:r>
              <a:rPr sz="1300" b="1">
                <a:solidFill>
                  <a:srgbClr val="1A1A1A"/>
                </a:solidFill>
                <a:latin typeface="Segoe UI"/>
              </a:rPr>
              <a:t>ads cast for over-60s</a:t>
            </a:r>
          </a:p>
        </p:txBody>
      </p:sp>
      <p:sp>
        <p:nvSpPr>
          <p:cNvPr id="19" name="TextBox 18"/>
          <p:cNvSpPr txBox="1"/>
          <p:nvPr/>
        </p:nvSpPr>
        <p:spPr>
          <a:xfrm>
            <a:off x="9107424" y="3200400"/>
            <a:ext cx="2697480" cy="1188720"/>
          </a:xfrm>
          <a:prstGeom prst="rect">
            <a:avLst/>
          </a:prstGeom>
          <a:noFill/>
        </p:spPr>
        <p:txBody>
          <a:bodyPr wrap="square" lIns="0" tIns="0" rIns="0" bIns="0">
            <a:spAutoFit/>
          </a:bodyPr>
          <a:lstStyle/>
          <a:p>
            <a:pPr algn="l">
              <a:spcAft>
                <a:spcPts val="600"/>
              </a:spcAft>
            </a:pPr>
            <a:r>
              <a:rPr sz="1100" b="0">
                <a:solidFill>
                  <a:srgbClr val="6B7480"/>
                </a:solidFill>
                <a:latin typeface="Segoe UI"/>
              </a:rPr>
              <a:t>Of 336, in a category selling retirement and legacy.</a:t>
            </a:r>
          </a:p>
        </p:txBody>
      </p:sp>
      <p:sp>
        <p:nvSpPr>
          <p:cNvPr id="20" name="TextBox 19"/>
          <p:cNvSpPr txBox="1"/>
          <p:nvPr/>
        </p:nvSpPr>
        <p:spPr>
          <a:xfrm>
            <a:off x="548640" y="4572000"/>
            <a:ext cx="11064240" cy="1828800"/>
          </a:xfrm>
          <a:prstGeom prst="rect">
            <a:avLst/>
          </a:prstGeom>
          <a:noFill/>
        </p:spPr>
        <p:txBody>
          <a:bodyPr wrap="square" lIns="0" tIns="0" rIns="0" bIns="0">
            <a:spAutoFit/>
          </a:bodyPr>
          <a:lstStyle/>
          <a:p>
            <a:pPr algn="l">
              <a:spcAft>
                <a:spcPts val="800"/>
              </a:spcAft>
            </a:pPr>
            <a:r>
              <a:rPr sz="1700" b="1">
                <a:solidFill>
                  <a:srgbClr val="1A1A1A"/>
                </a:solidFill>
                <a:latin typeface="Segoe UI"/>
              </a:rPr>
              <a:t>336 posts, 24 per brand, collected logged-out on 11 September 2026. Equal N by construction, so share of voice is not measurable and is not presented anywhere here.</a:t>
            </a:r>
          </a:p>
          <a:p>
            <a:pPr algn="l">
              <a:spcAft>
                <a:spcPts val="800"/>
              </a:spcAft>
            </a:pPr>
            <a:r>
              <a:rPr sz="1400" b="0">
                <a:solidFill>
                  <a:srgbClr val="1A1A1A"/>
                </a:solidFill>
                <a:latin typeface="Segoe UI"/>
              </a:rPr>
              <a:t>Everything in this deck is ORGANIC, owned-channel output. It says nothing about media spend, reach or weight. Only the Meta Ad Library shows paid creative.</a:t>
            </a:r>
          </a:p>
          <a:p>
            <a:pPr algn="l">
              <a:spcAft>
                <a:spcPts val="800"/>
              </a:spcAft>
            </a:pPr>
            <a:r>
              <a:rPr sz="1400" b="0">
                <a:solidFill>
                  <a:srgbClr val="1A1A1A"/>
                </a:solidFill>
                <a:latin typeface="Segoe UI"/>
              </a:rPr>
              <a:t>Three brands in scope have no Instagram at all: PTCL Business, Cybernet and Fiberlink. Those absences are findings and are recorded, not dropped.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0584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What a message map cannot see</a:t>
            </a:r>
          </a:p>
        </p:txBody>
      </p:sp>
      <p:sp>
        <p:nvSpPr>
          <p:cNvPr id="4" name="Rectangle 3"/>
          <p:cNvSpPr/>
          <p:nvPr/>
        </p:nvSpPr>
        <p:spPr>
          <a:xfrm>
            <a:off x="54864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81328"/>
            <a:ext cx="3566160" cy="365760"/>
          </a:xfrm>
          <a:prstGeom prst="rect">
            <a:avLst/>
          </a:prstGeom>
          <a:noFill/>
        </p:spPr>
        <p:txBody>
          <a:bodyPr wrap="square" lIns="0" tIns="0" rIns="0" bIns="0">
            <a:spAutoFit/>
          </a:bodyPr>
          <a:lstStyle/>
          <a:p>
            <a:pPr algn="l">
              <a:spcAft>
                <a:spcPts val="600"/>
              </a:spcAft>
            </a:pPr>
            <a:r>
              <a:rPr sz="1400" b="1">
                <a:solidFill>
                  <a:srgbClr val="102A43"/>
                </a:solidFill>
                <a:latin typeface="Segoe UI"/>
              </a:rPr>
              <a:t>Converging on an app</a:t>
            </a:r>
          </a:p>
        </p:txBody>
      </p:sp>
      <p:sp>
        <p:nvSpPr>
          <p:cNvPr id="6" name="TextBox 5"/>
          <p:cNvSpPr txBox="1"/>
          <p:nvPr/>
        </p:nvSpPr>
        <p:spPr>
          <a:xfrm>
            <a:off x="548640" y="1901952"/>
            <a:ext cx="356616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output driving to an owned ecosystem</a:t>
            </a:r>
          </a:p>
        </p:txBody>
      </p:sp>
      <p:sp>
        <p:nvSpPr>
          <p:cNvPr id="7" name="TextBox 6"/>
          <p:cNvSpPr txBox="1"/>
          <p:nvPr/>
        </p:nvSpPr>
        <p:spPr>
          <a:xfrm>
            <a:off x="548640" y="2377440"/>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Zong</a:t>
            </a:r>
          </a:p>
        </p:txBody>
      </p:sp>
      <p:sp>
        <p:nvSpPr>
          <p:cNvPr id="8" name="TextBox 7"/>
          <p:cNvSpPr txBox="1"/>
          <p:nvPr/>
        </p:nvSpPr>
        <p:spPr>
          <a:xfrm>
            <a:off x="2743200" y="2377440"/>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12/24  ·  50%</a:t>
            </a:r>
          </a:p>
        </p:txBody>
      </p:sp>
      <p:sp>
        <p:nvSpPr>
          <p:cNvPr id="9" name="TextBox 8"/>
          <p:cNvSpPr txBox="1"/>
          <p:nvPr/>
        </p:nvSpPr>
        <p:spPr>
          <a:xfrm>
            <a:off x="548640" y="2761488"/>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Nayatel</a:t>
            </a:r>
          </a:p>
        </p:txBody>
      </p:sp>
      <p:sp>
        <p:nvSpPr>
          <p:cNvPr id="10" name="TextBox 9"/>
          <p:cNvSpPr txBox="1"/>
          <p:nvPr/>
        </p:nvSpPr>
        <p:spPr>
          <a:xfrm>
            <a:off x="2743200" y="2761488"/>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6/24  ·  25%</a:t>
            </a:r>
          </a:p>
        </p:txBody>
      </p:sp>
      <p:sp>
        <p:nvSpPr>
          <p:cNvPr id="11" name="TextBox 10"/>
          <p:cNvSpPr txBox="1"/>
          <p:nvPr/>
        </p:nvSpPr>
        <p:spPr>
          <a:xfrm>
            <a:off x="548640" y="3145536"/>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Optix</a:t>
            </a:r>
          </a:p>
        </p:txBody>
      </p:sp>
      <p:sp>
        <p:nvSpPr>
          <p:cNvPr id="12" name="TextBox 11"/>
          <p:cNvSpPr txBox="1"/>
          <p:nvPr/>
        </p:nvSpPr>
        <p:spPr>
          <a:xfrm>
            <a:off x="2743200" y="3145536"/>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2/24  ·  8%</a:t>
            </a:r>
          </a:p>
        </p:txBody>
      </p:sp>
      <p:sp>
        <p:nvSpPr>
          <p:cNvPr id="13" name="TextBox 12"/>
          <p:cNvSpPr txBox="1"/>
          <p:nvPr/>
        </p:nvSpPr>
        <p:spPr>
          <a:xfrm>
            <a:off x="548640" y="3529584"/>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Transworld Home</a:t>
            </a:r>
          </a:p>
        </p:txBody>
      </p:sp>
      <p:sp>
        <p:nvSpPr>
          <p:cNvPr id="14" name="TextBox 13"/>
          <p:cNvSpPr txBox="1"/>
          <p:nvPr/>
        </p:nvSpPr>
        <p:spPr>
          <a:xfrm>
            <a:off x="2743200" y="3529584"/>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1/24  ·  4%</a:t>
            </a:r>
          </a:p>
        </p:txBody>
      </p:sp>
      <p:sp>
        <p:nvSpPr>
          <p:cNvPr id="15" name="TextBox 14"/>
          <p:cNvSpPr txBox="1"/>
          <p:nvPr/>
        </p:nvSpPr>
        <p:spPr>
          <a:xfrm>
            <a:off x="548640" y="3913632"/>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PTCL</a:t>
            </a:r>
          </a:p>
        </p:txBody>
      </p:sp>
      <p:sp>
        <p:nvSpPr>
          <p:cNvPr id="16" name="TextBox 15"/>
          <p:cNvSpPr txBox="1"/>
          <p:nvPr/>
        </p:nvSpPr>
        <p:spPr>
          <a:xfrm>
            <a:off x="2743200" y="3913632"/>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0/24  ·  0%</a:t>
            </a:r>
          </a:p>
        </p:txBody>
      </p:sp>
      <p:sp>
        <p:nvSpPr>
          <p:cNvPr id="17" name="TextBox 16"/>
          <p:cNvSpPr txBox="1"/>
          <p:nvPr/>
        </p:nvSpPr>
        <p:spPr>
          <a:xfrm>
            <a:off x="548640" y="4297680"/>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StormFiber</a:t>
            </a:r>
          </a:p>
        </p:txBody>
      </p:sp>
      <p:sp>
        <p:nvSpPr>
          <p:cNvPr id="18" name="TextBox 17"/>
          <p:cNvSpPr txBox="1"/>
          <p:nvPr/>
        </p:nvSpPr>
        <p:spPr>
          <a:xfrm>
            <a:off x="2743200" y="4297680"/>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0/24  ·  0%</a:t>
            </a:r>
          </a:p>
        </p:txBody>
      </p:sp>
      <p:sp>
        <p:nvSpPr>
          <p:cNvPr id="19" name="TextBox 18"/>
          <p:cNvSpPr txBox="1"/>
          <p:nvPr/>
        </p:nvSpPr>
        <p:spPr>
          <a:xfrm>
            <a:off x="548640" y="4681728"/>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Wateen</a:t>
            </a:r>
          </a:p>
        </p:txBody>
      </p:sp>
      <p:sp>
        <p:nvSpPr>
          <p:cNvPr id="20" name="TextBox 19"/>
          <p:cNvSpPr txBox="1"/>
          <p:nvPr/>
        </p:nvSpPr>
        <p:spPr>
          <a:xfrm>
            <a:off x="2743200" y="4681728"/>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0/24  ·  0%</a:t>
            </a:r>
          </a:p>
        </p:txBody>
      </p:sp>
      <p:sp>
        <p:nvSpPr>
          <p:cNvPr id="21" name="Rectangle 20"/>
          <p:cNvSpPr/>
          <p:nvPr/>
        </p:nvSpPr>
        <p:spPr>
          <a:xfrm>
            <a:off x="448056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80560" y="1481328"/>
            <a:ext cx="3566160" cy="365760"/>
          </a:xfrm>
          <a:prstGeom prst="rect">
            <a:avLst/>
          </a:prstGeom>
          <a:noFill/>
        </p:spPr>
        <p:txBody>
          <a:bodyPr wrap="square" lIns="0" tIns="0" rIns="0" bIns="0">
            <a:spAutoFit/>
          </a:bodyPr>
          <a:lstStyle/>
          <a:p>
            <a:pPr algn="l">
              <a:spcAft>
                <a:spcPts val="600"/>
              </a:spcAft>
            </a:pPr>
            <a:r>
              <a:rPr sz="1400" b="1">
                <a:solidFill>
                  <a:srgbClr val="102A43"/>
                </a:solidFill>
                <a:latin typeface="Segoe UI"/>
              </a:rPr>
              <a:t>Brand-building share</a:t>
            </a:r>
          </a:p>
        </p:txBody>
      </p:sp>
      <p:sp>
        <p:nvSpPr>
          <p:cNvPr id="23" name="TextBox 22"/>
          <p:cNvSpPr txBox="1"/>
          <p:nvPr/>
        </p:nvSpPr>
        <p:spPr>
          <a:xfrm>
            <a:off x="4480560" y="1901952"/>
            <a:ext cx="356616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everything else is promotion, PR, calendar, recruitment</a:t>
            </a:r>
          </a:p>
        </p:txBody>
      </p:sp>
      <p:sp>
        <p:nvSpPr>
          <p:cNvPr id="24" name="TextBox 23"/>
          <p:cNvSpPr txBox="1"/>
          <p:nvPr/>
        </p:nvSpPr>
        <p:spPr>
          <a:xfrm>
            <a:off x="4480560" y="2377440"/>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PTCL</a:t>
            </a:r>
          </a:p>
        </p:txBody>
      </p:sp>
      <p:sp>
        <p:nvSpPr>
          <p:cNvPr id="25" name="TextBox 24"/>
          <p:cNvSpPr txBox="1"/>
          <p:nvPr/>
        </p:nvSpPr>
        <p:spPr>
          <a:xfrm>
            <a:off x="6675120" y="2377440"/>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14/24  ·  58%</a:t>
            </a:r>
          </a:p>
        </p:txBody>
      </p:sp>
      <p:sp>
        <p:nvSpPr>
          <p:cNvPr id="26" name="TextBox 25"/>
          <p:cNvSpPr txBox="1"/>
          <p:nvPr/>
        </p:nvSpPr>
        <p:spPr>
          <a:xfrm>
            <a:off x="4480560" y="2761488"/>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Transworld Home</a:t>
            </a:r>
          </a:p>
        </p:txBody>
      </p:sp>
      <p:sp>
        <p:nvSpPr>
          <p:cNvPr id="27" name="TextBox 26"/>
          <p:cNvSpPr txBox="1"/>
          <p:nvPr/>
        </p:nvSpPr>
        <p:spPr>
          <a:xfrm>
            <a:off x="6675120" y="2761488"/>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9/24  ·  38%</a:t>
            </a:r>
          </a:p>
        </p:txBody>
      </p:sp>
      <p:sp>
        <p:nvSpPr>
          <p:cNvPr id="28" name="TextBox 27"/>
          <p:cNvSpPr txBox="1"/>
          <p:nvPr/>
        </p:nvSpPr>
        <p:spPr>
          <a:xfrm>
            <a:off x="4480560" y="3145536"/>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Nayatel</a:t>
            </a:r>
          </a:p>
        </p:txBody>
      </p:sp>
      <p:sp>
        <p:nvSpPr>
          <p:cNvPr id="29" name="TextBox 28"/>
          <p:cNvSpPr txBox="1"/>
          <p:nvPr/>
        </p:nvSpPr>
        <p:spPr>
          <a:xfrm>
            <a:off x="6675120" y="3145536"/>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8/24  ·  33%</a:t>
            </a:r>
          </a:p>
        </p:txBody>
      </p:sp>
      <p:sp>
        <p:nvSpPr>
          <p:cNvPr id="30" name="TextBox 29"/>
          <p:cNvSpPr txBox="1"/>
          <p:nvPr/>
        </p:nvSpPr>
        <p:spPr>
          <a:xfrm>
            <a:off x="4480560" y="3529584"/>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Jazz</a:t>
            </a:r>
          </a:p>
        </p:txBody>
      </p:sp>
      <p:sp>
        <p:nvSpPr>
          <p:cNvPr id="31" name="TextBox 30"/>
          <p:cNvSpPr txBox="1"/>
          <p:nvPr/>
        </p:nvSpPr>
        <p:spPr>
          <a:xfrm>
            <a:off x="6675120" y="3529584"/>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8/24  ·  33%</a:t>
            </a:r>
          </a:p>
        </p:txBody>
      </p:sp>
      <p:sp>
        <p:nvSpPr>
          <p:cNvPr id="32" name="TextBox 31"/>
          <p:cNvSpPr txBox="1"/>
          <p:nvPr/>
        </p:nvSpPr>
        <p:spPr>
          <a:xfrm>
            <a:off x="4480560" y="3913632"/>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Ufone</a:t>
            </a:r>
          </a:p>
        </p:txBody>
      </p:sp>
      <p:sp>
        <p:nvSpPr>
          <p:cNvPr id="33" name="TextBox 32"/>
          <p:cNvSpPr txBox="1"/>
          <p:nvPr/>
        </p:nvSpPr>
        <p:spPr>
          <a:xfrm>
            <a:off x="6675120" y="3913632"/>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8/24  ·  33%</a:t>
            </a:r>
          </a:p>
        </p:txBody>
      </p:sp>
      <p:sp>
        <p:nvSpPr>
          <p:cNvPr id="34" name="TextBox 33"/>
          <p:cNvSpPr txBox="1"/>
          <p:nvPr/>
        </p:nvSpPr>
        <p:spPr>
          <a:xfrm>
            <a:off x="4480560" y="4297680"/>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Tapmad</a:t>
            </a:r>
          </a:p>
        </p:txBody>
      </p:sp>
      <p:sp>
        <p:nvSpPr>
          <p:cNvPr id="35" name="TextBox 34"/>
          <p:cNvSpPr txBox="1"/>
          <p:nvPr/>
        </p:nvSpPr>
        <p:spPr>
          <a:xfrm>
            <a:off x="6675120" y="4297680"/>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5/24  ·  21%</a:t>
            </a:r>
          </a:p>
        </p:txBody>
      </p:sp>
      <p:sp>
        <p:nvSpPr>
          <p:cNvPr id="36" name="TextBox 35"/>
          <p:cNvSpPr txBox="1"/>
          <p:nvPr/>
        </p:nvSpPr>
        <p:spPr>
          <a:xfrm>
            <a:off x="4480560" y="4681728"/>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StormFiber</a:t>
            </a:r>
          </a:p>
        </p:txBody>
      </p:sp>
      <p:sp>
        <p:nvSpPr>
          <p:cNvPr id="37" name="TextBox 36"/>
          <p:cNvSpPr txBox="1"/>
          <p:nvPr/>
        </p:nvSpPr>
        <p:spPr>
          <a:xfrm>
            <a:off x="6675120" y="4681728"/>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4/24  ·  17%</a:t>
            </a:r>
          </a:p>
        </p:txBody>
      </p:sp>
      <p:sp>
        <p:nvSpPr>
          <p:cNvPr id="38" name="Rectangle 37"/>
          <p:cNvSpPr/>
          <p:nvPr/>
        </p:nvSpPr>
        <p:spPr>
          <a:xfrm>
            <a:off x="841248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12480" y="1481328"/>
            <a:ext cx="3566160" cy="365760"/>
          </a:xfrm>
          <a:prstGeom prst="rect">
            <a:avLst/>
          </a:prstGeom>
          <a:noFill/>
        </p:spPr>
        <p:txBody>
          <a:bodyPr wrap="square" lIns="0" tIns="0" rIns="0" bIns="0">
            <a:spAutoFit/>
          </a:bodyPr>
          <a:lstStyle/>
          <a:p>
            <a:pPr algn="l">
              <a:spcAft>
                <a:spcPts val="600"/>
              </a:spcAft>
            </a:pPr>
            <a:r>
              <a:rPr sz="1400" b="1">
                <a:solidFill>
                  <a:srgbClr val="102A43"/>
                </a:solidFill>
                <a:latin typeface="Segoe UI"/>
              </a:rPr>
              <a:t>Talking to customers, not itself</a:t>
            </a:r>
          </a:p>
        </p:txBody>
      </p:sp>
      <p:sp>
        <p:nvSpPr>
          <p:cNvPr id="40" name="TextBox 39"/>
          <p:cNvSpPr txBox="1"/>
          <p:nvPr/>
        </p:nvSpPr>
        <p:spPr>
          <a:xfrm>
            <a:off x="8412480" y="1901952"/>
            <a:ext cx="356616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ads with a customer in frame</a:t>
            </a:r>
          </a:p>
        </p:txBody>
      </p:sp>
      <p:sp>
        <p:nvSpPr>
          <p:cNvPr id="41" name="TextBox 40"/>
          <p:cNvSpPr txBox="1"/>
          <p:nvPr/>
        </p:nvSpPr>
        <p:spPr>
          <a:xfrm>
            <a:off x="8412480" y="2377440"/>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Optix</a:t>
            </a:r>
          </a:p>
        </p:txBody>
      </p:sp>
      <p:sp>
        <p:nvSpPr>
          <p:cNvPr id="42" name="TextBox 41"/>
          <p:cNvSpPr txBox="1"/>
          <p:nvPr/>
        </p:nvSpPr>
        <p:spPr>
          <a:xfrm>
            <a:off x="10607040" y="2377440"/>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16/24  ·  67%</a:t>
            </a:r>
          </a:p>
        </p:txBody>
      </p:sp>
      <p:sp>
        <p:nvSpPr>
          <p:cNvPr id="43" name="TextBox 42"/>
          <p:cNvSpPr txBox="1"/>
          <p:nvPr/>
        </p:nvSpPr>
        <p:spPr>
          <a:xfrm>
            <a:off x="8412480" y="2761488"/>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Transworld Home</a:t>
            </a:r>
          </a:p>
        </p:txBody>
      </p:sp>
      <p:sp>
        <p:nvSpPr>
          <p:cNvPr id="44" name="TextBox 43"/>
          <p:cNvSpPr txBox="1"/>
          <p:nvPr/>
        </p:nvSpPr>
        <p:spPr>
          <a:xfrm>
            <a:off x="10607040" y="2761488"/>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13/24  ·  54%</a:t>
            </a:r>
          </a:p>
        </p:txBody>
      </p:sp>
      <p:sp>
        <p:nvSpPr>
          <p:cNvPr id="45" name="TextBox 44"/>
          <p:cNvSpPr txBox="1"/>
          <p:nvPr/>
        </p:nvSpPr>
        <p:spPr>
          <a:xfrm>
            <a:off x="8412480" y="3145536"/>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Zong</a:t>
            </a:r>
          </a:p>
        </p:txBody>
      </p:sp>
      <p:sp>
        <p:nvSpPr>
          <p:cNvPr id="46" name="TextBox 45"/>
          <p:cNvSpPr txBox="1"/>
          <p:nvPr/>
        </p:nvSpPr>
        <p:spPr>
          <a:xfrm>
            <a:off x="10607040" y="3145536"/>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12/24  ·  50%</a:t>
            </a:r>
          </a:p>
        </p:txBody>
      </p:sp>
      <p:sp>
        <p:nvSpPr>
          <p:cNvPr id="47" name="TextBox 46"/>
          <p:cNvSpPr txBox="1"/>
          <p:nvPr/>
        </p:nvSpPr>
        <p:spPr>
          <a:xfrm>
            <a:off x="8412480" y="3529584"/>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StormFiber</a:t>
            </a:r>
          </a:p>
        </p:txBody>
      </p:sp>
      <p:sp>
        <p:nvSpPr>
          <p:cNvPr id="48" name="TextBox 47"/>
          <p:cNvSpPr txBox="1"/>
          <p:nvPr/>
        </p:nvSpPr>
        <p:spPr>
          <a:xfrm>
            <a:off x="10607040" y="3529584"/>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8/24  ·  33%</a:t>
            </a:r>
          </a:p>
        </p:txBody>
      </p:sp>
      <p:sp>
        <p:nvSpPr>
          <p:cNvPr id="49" name="TextBox 48"/>
          <p:cNvSpPr txBox="1"/>
          <p:nvPr/>
        </p:nvSpPr>
        <p:spPr>
          <a:xfrm>
            <a:off x="8412480" y="3913632"/>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Worldcall</a:t>
            </a:r>
          </a:p>
        </p:txBody>
      </p:sp>
      <p:sp>
        <p:nvSpPr>
          <p:cNvPr id="50" name="TextBox 49"/>
          <p:cNvSpPr txBox="1"/>
          <p:nvPr/>
        </p:nvSpPr>
        <p:spPr>
          <a:xfrm>
            <a:off x="10607040" y="3913632"/>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6/24  ·  25%</a:t>
            </a:r>
          </a:p>
        </p:txBody>
      </p:sp>
      <p:sp>
        <p:nvSpPr>
          <p:cNvPr id="51" name="TextBox 50"/>
          <p:cNvSpPr txBox="1"/>
          <p:nvPr/>
        </p:nvSpPr>
        <p:spPr>
          <a:xfrm>
            <a:off x="8412480" y="4297680"/>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Ufone</a:t>
            </a:r>
          </a:p>
        </p:txBody>
      </p:sp>
      <p:sp>
        <p:nvSpPr>
          <p:cNvPr id="52" name="TextBox 51"/>
          <p:cNvSpPr txBox="1"/>
          <p:nvPr/>
        </p:nvSpPr>
        <p:spPr>
          <a:xfrm>
            <a:off x="10607040" y="4297680"/>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6/24  ·  25%</a:t>
            </a:r>
          </a:p>
        </p:txBody>
      </p:sp>
      <p:sp>
        <p:nvSpPr>
          <p:cNvPr id="53" name="TextBox 52"/>
          <p:cNvSpPr txBox="1"/>
          <p:nvPr/>
        </p:nvSpPr>
        <p:spPr>
          <a:xfrm>
            <a:off x="8412480" y="4681728"/>
            <a:ext cx="214884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PTCL</a:t>
            </a:r>
          </a:p>
        </p:txBody>
      </p:sp>
      <p:sp>
        <p:nvSpPr>
          <p:cNvPr id="54" name="TextBox 53"/>
          <p:cNvSpPr txBox="1"/>
          <p:nvPr/>
        </p:nvSpPr>
        <p:spPr>
          <a:xfrm>
            <a:off x="10607040" y="4681728"/>
            <a:ext cx="137160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5/24  ·  21%</a:t>
            </a:r>
          </a:p>
        </p:txBody>
      </p:sp>
      <p:sp>
        <p:nvSpPr>
          <p:cNvPr id="55" name="TextBox 54"/>
          <p:cNvSpPr txBox="1"/>
          <p:nvPr/>
        </p:nvSpPr>
        <p:spPr>
          <a:xfrm>
            <a:off x="548640" y="5257800"/>
            <a:ext cx="11064240" cy="1280160"/>
          </a:xfrm>
          <a:prstGeom prst="rect">
            <a:avLst/>
          </a:prstGeom>
          <a:noFill/>
        </p:spPr>
        <p:txBody>
          <a:bodyPr wrap="square" lIns="0" tIns="0" rIns="0" bIns="0">
            <a:spAutoFit/>
          </a:bodyPr>
          <a:lstStyle/>
          <a:p>
            <a:pPr algn="l">
              <a:spcAft>
                <a:spcPts val="800"/>
              </a:spcAft>
            </a:pPr>
            <a:r>
              <a:rPr sz="1300" b="0">
                <a:solidFill>
                  <a:srgbClr val="1A1A1A"/>
                </a:solidFill>
                <a:latin typeface="Segoe UI"/>
              </a:rPr>
              <a:t>68% of the category's creative carries no proof device of any kind.</a:t>
            </a:r>
          </a:p>
          <a:p>
            <a:pPr algn="l">
              <a:spcAft>
                <a:spcPts val="800"/>
              </a:spcAft>
            </a:pPr>
            <a:r>
              <a:rPr sz="1300" b="0">
                <a:solidFill>
                  <a:srgbClr val="1A1A1A"/>
                </a:solidFill>
                <a:latin typeface="Segoe UI"/>
              </a:rPr>
              <a:t>Only 19% of posts answer a customer objection. PTCL's figure is zero of 24.</a:t>
            </a:r>
          </a:p>
          <a:p>
            <a:pPr algn="l">
              <a:spcAft>
                <a:spcPts val="800"/>
              </a:spcAft>
            </a:pPr>
            <a:r>
              <a:rPr sz="1300" b="0">
                <a:solidFill>
                  <a:srgbClr val="1A1A1A"/>
                </a:solidFill>
                <a:latin typeface="Segoe UI"/>
              </a:rPr>
              <a:t>Not one post in 336 uses an independent speed or performance result as proof.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5156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Why the category advertises streets instead of brands</a:t>
            </a:r>
          </a:p>
        </p:txBody>
      </p:sp>
      <p:sp>
        <p:nvSpPr>
          <p:cNvPr id="4" name="TextBox 3"/>
          <p:cNvSpPr txBox="1"/>
          <p:nvPr/>
        </p:nvSpPr>
        <p:spPr>
          <a:xfrm>
            <a:off x="548640" y="1234440"/>
            <a:ext cx="11064240" cy="731520"/>
          </a:xfrm>
          <a:prstGeom prst="rect">
            <a:avLst/>
          </a:prstGeom>
          <a:noFill/>
        </p:spPr>
        <p:txBody>
          <a:bodyPr wrap="square" lIns="0" tIns="0" rIns="0" bIns="0">
            <a:spAutoFit/>
          </a:bodyPr>
          <a:lstStyle/>
          <a:p>
            <a:pPr algn="l">
              <a:spcAft>
                <a:spcPts val="600"/>
              </a:spcAft>
            </a:pPr>
            <a:r>
              <a:rPr sz="1500" b="1">
                <a:solidFill>
                  <a:srgbClr val="102A43"/>
                </a:solidFill>
                <a:latin typeface="Segoe UI"/>
              </a:rPr>
              <a:t>Fixed broadband in Pakistan is a footprint business. Whether a household can buy you at all is decided by your street, not your brand - so the category's creative is a distribution announcement with a logo on it.</a:t>
            </a:r>
          </a:p>
        </p:txBody>
      </p:sp>
      <p:sp>
        <p:nvSpPr>
          <p:cNvPr id="5" name="Rectangle 4"/>
          <p:cNvSpPr/>
          <p:nvPr/>
        </p:nvSpPr>
        <p:spPr>
          <a:xfrm>
            <a:off x="548640" y="2148840"/>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295144"/>
            <a:ext cx="3017520" cy="457200"/>
          </a:xfrm>
          <a:prstGeom prst="rect">
            <a:avLst/>
          </a:prstGeom>
          <a:noFill/>
        </p:spPr>
        <p:txBody>
          <a:bodyPr wrap="square" lIns="0" tIns="0" rIns="0" bIns="0">
            <a:spAutoFit/>
          </a:bodyPr>
          <a:lstStyle/>
          <a:p>
            <a:pPr algn="l">
              <a:spcAft>
                <a:spcPts val="0"/>
              </a:spcAft>
            </a:pPr>
            <a:r>
              <a:rPr sz="1300" b="1">
                <a:solidFill>
                  <a:srgbClr val="102A43"/>
                </a:solidFill>
                <a:latin typeface="Segoe UI"/>
              </a:rPr>
              <a:t>Fixed is 2.5% of broadband</a:t>
            </a:r>
          </a:p>
        </p:txBody>
      </p:sp>
      <p:sp>
        <p:nvSpPr>
          <p:cNvPr id="7" name="TextBox 6"/>
          <p:cNvSpPr txBox="1"/>
          <p:nvPr/>
        </p:nvSpPr>
        <p:spPr>
          <a:xfrm>
            <a:off x="3749039" y="2295144"/>
            <a:ext cx="7863840" cy="731520"/>
          </a:xfrm>
          <a:prstGeom prst="rect">
            <a:avLst/>
          </a:prstGeom>
          <a:noFill/>
        </p:spPr>
        <p:txBody>
          <a:bodyPr wrap="square" lIns="0" tIns="0" rIns="0" bIns="0">
            <a:spAutoFit/>
          </a:bodyPr>
          <a:lstStyle/>
          <a:p>
            <a:pPr algn="l">
              <a:spcAft>
                <a:spcPts val="0"/>
              </a:spcAft>
            </a:pPr>
            <a:r>
              <a:rPr sz="1150" b="0">
                <a:solidFill>
                  <a:srgbClr val="1A1A1A"/>
                </a:solidFill>
                <a:latin typeface="Segoe UI"/>
              </a:rPr>
              <a:t>Of Pakistan's 150 million broadband subscriptions, 97.5% are mobile. Fixed broadband is 2.5%. The category everyone in this deck competes in is a rounding error against the mobile networks two of them also own.</a:t>
            </a:r>
          </a:p>
        </p:txBody>
      </p:sp>
      <p:sp>
        <p:nvSpPr>
          <p:cNvPr id="8" name="Rectangle 7"/>
          <p:cNvSpPr/>
          <p:nvPr/>
        </p:nvSpPr>
        <p:spPr>
          <a:xfrm>
            <a:off x="548640" y="3081528"/>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3227832"/>
            <a:ext cx="3017520" cy="457200"/>
          </a:xfrm>
          <a:prstGeom prst="rect">
            <a:avLst/>
          </a:prstGeom>
          <a:noFill/>
        </p:spPr>
        <p:txBody>
          <a:bodyPr wrap="square" lIns="0" tIns="0" rIns="0" bIns="0">
            <a:spAutoFit/>
          </a:bodyPr>
          <a:lstStyle/>
          <a:p>
            <a:pPr algn="l">
              <a:spcAft>
                <a:spcPts val="0"/>
              </a:spcAft>
            </a:pPr>
            <a:r>
              <a:rPr sz="1300" b="1">
                <a:solidFill>
                  <a:srgbClr val="102A43"/>
                </a:solidFill>
                <a:latin typeface="Segoe UI"/>
              </a:rPr>
              <a:t>Two million FTTH users, nationally</a:t>
            </a:r>
          </a:p>
        </p:txBody>
      </p:sp>
      <p:sp>
        <p:nvSpPr>
          <p:cNvPr id="10" name="TextBox 9"/>
          <p:cNvSpPr txBox="1"/>
          <p:nvPr/>
        </p:nvSpPr>
        <p:spPr>
          <a:xfrm>
            <a:off x="3749039" y="3227832"/>
            <a:ext cx="7863840" cy="731520"/>
          </a:xfrm>
          <a:prstGeom prst="rect">
            <a:avLst/>
          </a:prstGeom>
          <a:noFill/>
        </p:spPr>
        <p:txBody>
          <a:bodyPr wrap="square" lIns="0" tIns="0" rIns="0" bIns="0">
            <a:spAutoFit/>
          </a:bodyPr>
          <a:lstStyle/>
          <a:p>
            <a:pPr algn="l">
              <a:spcAft>
                <a:spcPts val="0"/>
              </a:spcAft>
            </a:pPr>
            <a:r>
              <a:rPr sz="1150" b="0">
                <a:solidFill>
                  <a:srgbClr val="1A1A1A"/>
                </a:solidFill>
                <a:latin typeface="Segoe UI"/>
              </a:rPr>
              <a:t>Fibre-to-the-home reached 2 million users in June 2025. Against roughly 35 million households, availability - not preference - is the binding constraint on growth.</a:t>
            </a:r>
          </a:p>
        </p:txBody>
      </p:sp>
      <p:sp>
        <p:nvSpPr>
          <p:cNvPr id="11" name="Rectangle 10"/>
          <p:cNvSpPr/>
          <p:nvPr/>
        </p:nvSpPr>
        <p:spPr>
          <a:xfrm>
            <a:off x="548640" y="4014216"/>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160520"/>
            <a:ext cx="3017520" cy="457200"/>
          </a:xfrm>
          <a:prstGeom prst="rect">
            <a:avLst/>
          </a:prstGeom>
          <a:noFill/>
        </p:spPr>
        <p:txBody>
          <a:bodyPr wrap="square" lIns="0" tIns="0" rIns="0" bIns="0">
            <a:spAutoFit/>
          </a:bodyPr>
          <a:lstStyle/>
          <a:p>
            <a:pPr algn="l">
              <a:spcAft>
                <a:spcPts val="0"/>
              </a:spcAft>
            </a:pPr>
            <a:r>
              <a:rPr sz="1300" b="1">
                <a:solidFill>
                  <a:srgbClr val="102A43"/>
                </a:solidFill>
                <a:latin typeface="Segoe UI"/>
              </a:rPr>
              <a:t>So coverage is the message</a:t>
            </a:r>
          </a:p>
        </p:txBody>
      </p:sp>
      <p:sp>
        <p:nvSpPr>
          <p:cNvPr id="13" name="TextBox 12"/>
          <p:cNvSpPr txBox="1"/>
          <p:nvPr/>
        </p:nvSpPr>
        <p:spPr>
          <a:xfrm>
            <a:off x="3749039" y="4160520"/>
            <a:ext cx="7863840" cy="731520"/>
          </a:xfrm>
          <a:prstGeom prst="rect">
            <a:avLst/>
          </a:prstGeom>
          <a:noFill/>
        </p:spPr>
        <p:txBody>
          <a:bodyPr wrap="square" lIns="0" tIns="0" rIns="0" bIns="0">
            <a:spAutoFit/>
          </a:bodyPr>
          <a:lstStyle/>
          <a:p>
            <a:pPr algn="l">
              <a:spcAft>
                <a:spcPts val="0"/>
              </a:spcAft>
            </a:pPr>
            <a:r>
              <a:rPr sz="1150" b="0">
                <a:solidFill>
                  <a:srgbClr val="1A1A1A"/>
                </a:solidFill>
                <a:latin typeface="Segoe UI"/>
              </a:rPr>
              <a:t>Nine of StormFiber's 24 posts name a neighbourhood. Worldcall and Optix do the same. These are not brand campaigns; they are announcements that a street is now sellable.</a:t>
            </a:r>
          </a:p>
        </p:txBody>
      </p:sp>
      <p:sp>
        <p:nvSpPr>
          <p:cNvPr id="14" name="Rectangle 13"/>
          <p:cNvSpPr/>
          <p:nvPr/>
        </p:nvSpPr>
        <p:spPr>
          <a:xfrm>
            <a:off x="548640" y="4946904"/>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5093208"/>
            <a:ext cx="3017520" cy="457200"/>
          </a:xfrm>
          <a:prstGeom prst="rect">
            <a:avLst/>
          </a:prstGeom>
          <a:noFill/>
        </p:spPr>
        <p:txBody>
          <a:bodyPr wrap="square" lIns="0" tIns="0" rIns="0" bIns="0">
            <a:spAutoFit/>
          </a:bodyPr>
          <a:lstStyle/>
          <a:p>
            <a:pPr algn="l">
              <a:spcAft>
                <a:spcPts val="0"/>
              </a:spcAft>
            </a:pPr>
            <a:r>
              <a:rPr sz="1300" b="1">
                <a:solidFill>
                  <a:srgbClr val="102A43"/>
                </a:solidFill>
                <a:latin typeface="Segoe UI"/>
              </a:rPr>
              <a:t>And meaning goes unbuilt</a:t>
            </a:r>
          </a:p>
        </p:txBody>
      </p:sp>
      <p:sp>
        <p:nvSpPr>
          <p:cNvPr id="16" name="TextBox 15"/>
          <p:cNvSpPr txBox="1"/>
          <p:nvPr/>
        </p:nvSpPr>
        <p:spPr>
          <a:xfrm>
            <a:off x="3749039" y="5093208"/>
            <a:ext cx="7863840" cy="731520"/>
          </a:xfrm>
          <a:prstGeom prst="rect">
            <a:avLst/>
          </a:prstGeom>
          <a:noFill/>
        </p:spPr>
        <p:txBody>
          <a:bodyPr wrap="square" lIns="0" tIns="0" rIns="0" bIns="0">
            <a:spAutoFit/>
          </a:bodyPr>
          <a:lstStyle/>
          <a:p>
            <a:pPr algn="l">
              <a:spcAft>
                <a:spcPts val="0"/>
              </a:spcAft>
            </a:pPr>
            <a:r>
              <a:rPr sz="1150" b="0">
                <a:solidFill>
                  <a:srgbClr val="1A1A1A"/>
                </a:solidFill>
                <a:latin typeface="Segoe UI"/>
              </a:rPr>
              <a:t>With the message space filled by availability and price, only 8 posts in 336 claim reliability and 4 claim the connected home. The layer above the network is empty because nobody in a footprint business has needed it yet.</a:t>
            </a:r>
          </a:p>
        </p:txBody>
      </p:sp>
      <p:sp>
        <p:nvSpPr>
          <p:cNvPr id="17" name="Rectangle 16"/>
          <p:cNvSpPr/>
          <p:nvPr/>
        </p:nvSpPr>
        <p:spPr>
          <a:xfrm>
            <a:off x="548640" y="5806440"/>
            <a:ext cx="11064240" cy="6858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5943600"/>
            <a:ext cx="10607040" cy="548640"/>
          </a:xfrm>
          <a:prstGeom prst="rect">
            <a:avLst/>
          </a:prstGeom>
          <a:noFill/>
        </p:spPr>
        <p:txBody>
          <a:bodyPr wrap="square" lIns="0" tIns="0" rIns="0" bIns="0">
            <a:spAutoFit/>
          </a:bodyPr>
          <a:lstStyle/>
          <a:p>
            <a:pPr algn="l">
              <a:spcAft>
                <a:spcPts val="0"/>
              </a:spcAft>
            </a:pPr>
            <a:r>
              <a:rPr sz="1250" b="1">
                <a:solidFill>
                  <a:srgbClr val="102A43"/>
                </a:solidFill>
                <a:latin typeface="Segoe UI"/>
              </a:rPr>
              <a:t>PTCL is the one brand here that does not have a footprint problem - which means the category's dominant creative behaviour solves a problem PTCL largely does not have.</a:t>
            </a:r>
          </a:p>
        </p:txBody>
      </p:sp>
      <p:sp>
        <p:nvSpPr>
          <p:cNvPr id="19" name="TextBox 18"/>
          <p:cNvSpPr txBox="1"/>
          <p:nvPr/>
        </p:nvSpPr>
        <p:spPr>
          <a:xfrm>
            <a:off x="548640" y="6537960"/>
            <a:ext cx="11064240" cy="274320"/>
          </a:xfrm>
          <a:prstGeom prst="rect">
            <a:avLst/>
          </a:prstGeom>
          <a:noFill/>
        </p:spPr>
        <p:txBody>
          <a:bodyPr wrap="square" lIns="0" tIns="0" rIns="0" bIns="0">
            <a:spAutoFit/>
          </a:bodyPr>
          <a:lstStyle/>
          <a:p>
            <a:pPr algn="l">
              <a:spcAft>
                <a:spcPts val="600"/>
              </a:spcAft>
            </a:pPr>
            <a:r>
              <a:rPr sz="900" b="0">
                <a:solidFill>
                  <a:srgbClr val="6B7480"/>
                </a:solidFill>
                <a:latin typeface="Segoe UI"/>
              </a:rPr>
              <a:t>Source: PTA Annual Report 2025 (published November 2025), figures as of June 2025 - broadband subscriptions, fixed/mobile split, FTTH users. Household estimate is ours.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5156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Who the work is cast for</a:t>
            </a:r>
          </a:p>
        </p:txBody>
      </p:sp>
      <p:sp>
        <p:nvSpPr>
          <p:cNvPr id="4" name="Rectangle 3"/>
          <p:cNvSpPr/>
          <p:nvPr/>
        </p:nvSpPr>
        <p:spPr>
          <a:xfrm>
            <a:off x="548640" y="1280160"/>
            <a:ext cx="2148840" cy="457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536192"/>
            <a:ext cx="2148840" cy="731520"/>
          </a:xfrm>
          <a:prstGeom prst="rect">
            <a:avLst/>
          </a:prstGeom>
          <a:noFill/>
        </p:spPr>
        <p:txBody>
          <a:bodyPr wrap="square" lIns="0" tIns="0" rIns="0" bIns="0">
            <a:spAutoFit/>
          </a:bodyPr>
          <a:lstStyle/>
          <a:p>
            <a:pPr algn="l">
              <a:spcAft>
                <a:spcPts val="600"/>
              </a:spcAft>
            </a:pPr>
            <a:r>
              <a:rPr sz="3400" b="1">
                <a:solidFill>
                  <a:srgbClr val="102A43"/>
                </a:solidFill>
                <a:latin typeface="Segoe UI"/>
              </a:rPr>
              <a:t>11%</a:t>
            </a:r>
          </a:p>
        </p:txBody>
      </p:sp>
      <p:sp>
        <p:nvSpPr>
          <p:cNvPr id="6" name="TextBox 5"/>
          <p:cNvSpPr txBox="1"/>
          <p:nvPr/>
        </p:nvSpPr>
        <p:spPr>
          <a:xfrm>
            <a:off x="548640" y="2331720"/>
            <a:ext cx="2148840" cy="365760"/>
          </a:xfrm>
          <a:prstGeom prst="rect">
            <a:avLst/>
          </a:prstGeom>
          <a:noFill/>
        </p:spPr>
        <p:txBody>
          <a:bodyPr wrap="square" lIns="0" tIns="0" rIns="0" bIns="0">
            <a:spAutoFit/>
          </a:bodyPr>
          <a:lstStyle/>
          <a:p>
            <a:pPr algn="l">
              <a:spcAft>
                <a:spcPts val="600"/>
              </a:spcAft>
            </a:pPr>
            <a:r>
              <a:rPr sz="1300" b="1">
                <a:solidFill>
                  <a:srgbClr val="1A1A1A"/>
                </a:solidFill>
                <a:latin typeface="Segoe UI"/>
              </a:rPr>
              <a:t>Gen Z</a:t>
            </a:r>
          </a:p>
        </p:txBody>
      </p:sp>
      <p:sp>
        <p:nvSpPr>
          <p:cNvPr id="7" name="TextBox 6"/>
          <p:cNvSpPr txBox="1"/>
          <p:nvPr/>
        </p:nvSpPr>
        <p:spPr>
          <a:xfrm>
            <a:off x="548640" y="2697480"/>
            <a:ext cx="214884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under ~28  ·  36 of 336</a:t>
            </a:r>
          </a:p>
        </p:txBody>
      </p:sp>
      <p:sp>
        <p:nvSpPr>
          <p:cNvPr id="8" name="Rectangle 7"/>
          <p:cNvSpPr/>
          <p:nvPr/>
        </p:nvSpPr>
        <p:spPr>
          <a:xfrm>
            <a:off x="2807208" y="1280160"/>
            <a:ext cx="2148840" cy="457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07208" y="1536192"/>
            <a:ext cx="2148840" cy="731520"/>
          </a:xfrm>
          <a:prstGeom prst="rect">
            <a:avLst/>
          </a:prstGeom>
          <a:noFill/>
        </p:spPr>
        <p:txBody>
          <a:bodyPr wrap="square" lIns="0" tIns="0" rIns="0" bIns="0">
            <a:spAutoFit/>
          </a:bodyPr>
          <a:lstStyle/>
          <a:p>
            <a:pPr algn="l">
              <a:spcAft>
                <a:spcPts val="600"/>
              </a:spcAft>
            </a:pPr>
            <a:r>
              <a:rPr sz="3400" b="1">
                <a:solidFill>
                  <a:srgbClr val="102A43"/>
                </a:solidFill>
                <a:latin typeface="Segoe UI"/>
              </a:rPr>
              <a:t>25%</a:t>
            </a:r>
          </a:p>
        </p:txBody>
      </p:sp>
      <p:sp>
        <p:nvSpPr>
          <p:cNvPr id="10" name="TextBox 9"/>
          <p:cNvSpPr txBox="1"/>
          <p:nvPr/>
        </p:nvSpPr>
        <p:spPr>
          <a:xfrm>
            <a:off x="2807208" y="2331720"/>
            <a:ext cx="2148840" cy="365760"/>
          </a:xfrm>
          <a:prstGeom prst="rect">
            <a:avLst/>
          </a:prstGeom>
          <a:noFill/>
        </p:spPr>
        <p:txBody>
          <a:bodyPr wrap="square" lIns="0" tIns="0" rIns="0" bIns="0">
            <a:spAutoFit/>
          </a:bodyPr>
          <a:lstStyle/>
          <a:p>
            <a:pPr algn="l">
              <a:spcAft>
                <a:spcPts val="600"/>
              </a:spcAft>
            </a:pPr>
            <a:r>
              <a:rPr sz="1300" b="1">
                <a:solidFill>
                  <a:srgbClr val="1A1A1A"/>
                </a:solidFill>
                <a:latin typeface="Segoe UI"/>
              </a:rPr>
              <a:t>Millennial</a:t>
            </a:r>
          </a:p>
        </p:txBody>
      </p:sp>
      <p:sp>
        <p:nvSpPr>
          <p:cNvPr id="11" name="TextBox 10"/>
          <p:cNvSpPr txBox="1"/>
          <p:nvPr/>
        </p:nvSpPr>
        <p:spPr>
          <a:xfrm>
            <a:off x="2807208" y="2697480"/>
            <a:ext cx="214884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~28-43  ·  85 of 336</a:t>
            </a:r>
          </a:p>
        </p:txBody>
      </p:sp>
      <p:sp>
        <p:nvSpPr>
          <p:cNvPr id="12" name="Rectangle 11"/>
          <p:cNvSpPr/>
          <p:nvPr/>
        </p:nvSpPr>
        <p:spPr>
          <a:xfrm>
            <a:off x="5065776" y="1280160"/>
            <a:ext cx="2148840" cy="457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65776" y="1536192"/>
            <a:ext cx="2148840" cy="731520"/>
          </a:xfrm>
          <a:prstGeom prst="rect">
            <a:avLst/>
          </a:prstGeom>
          <a:noFill/>
        </p:spPr>
        <p:txBody>
          <a:bodyPr wrap="square" lIns="0" tIns="0" rIns="0" bIns="0">
            <a:spAutoFit/>
          </a:bodyPr>
          <a:lstStyle/>
          <a:p>
            <a:pPr algn="l">
              <a:spcAft>
                <a:spcPts val="600"/>
              </a:spcAft>
            </a:pPr>
            <a:r>
              <a:rPr sz="3400" b="1">
                <a:solidFill>
                  <a:srgbClr val="102A43"/>
                </a:solidFill>
                <a:latin typeface="Segoe UI"/>
              </a:rPr>
              <a:t>0%</a:t>
            </a:r>
          </a:p>
        </p:txBody>
      </p:sp>
      <p:sp>
        <p:nvSpPr>
          <p:cNvPr id="14" name="TextBox 13"/>
          <p:cNvSpPr txBox="1"/>
          <p:nvPr/>
        </p:nvSpPr>
        <p:spPr>
          <a:xfrm>
            <a:off x="5065776" y="2331720"/>
            <a:ext cx="2148840" cy="365760"/>
          </a:xfrm>
          <a:prstGeom prst="rect">
            <a:avLst/>
          </a:prstGeom>
          <a:noFill/>
        </p:spPr>
        <p:txBody>
          <a:bodyPr wrap="square" lIns="0" tIns="0" rIns="0" bIns="0">
            <a:spAutoFit/>
          </a:bodyPr>
          <a:lstStyle/>
          <a:p>
            <a:pPr algn="l">
              <a:spcAft>
                <a:spcPts val="600"/>
              </a:spcAft>
            </a:pPr>
            <a:r>
              <a:rPr sz="1300" b="1">
                <a:solidFill>
                  <a:srgbClr val="1A1A1A"/>
                </a:solidFill>
                <a:latin typeface="Segoe UI"/>
              </a:rPr>
              <a:t>Gen X</a:t>
            </a:r>
          </a:p>
        </p:txBody>
      </p:sp>
      <p:sp>
        <p:nvSpPr>
          <p:cNvPr id="15" name="TextBox 14"/>
          <p:cNvSpPr txBox="1"/>
          <p:nvPr/>
        </p:nvSpPr>
        <p:spPr>
          <a:xfrm>
            <a:off x="5065776" y="2697480"/>
            <a:ext cx="214884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~44-59  ·  0 of 336</a:t>
            </a:r>
          </a:p>
        </p:txBody>
      </p:sp>
      <p:sp>
        <p:nvSpPr>
          <p:cNvPr id="16" name="Rectangle 15"/>
          <p:cNvSpPr/>
          <p:nvPr/>
        </p:nvSpPr>
        <p:spPr>
          <a:xfrm>
            <a:off x="7324344" y="1280160"/>
            <a:ext cx="214884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24344" y="1536192"/>
            <a:ext cx="2148840" cy="731520"/>
          </a:xfrm>
          <a:prstGeom prst="rect">
            <a:avLst/>
          </a:prstGeom>
          <a:noFill/>
        </p:spPr>
        <p:txBody>
          <a:bodyPr wrap="square" lIns="0" tIns="0" rIns="0" bIns="0">
            <a:spAutoFit/>
          </a:bodyPr>
          <a:lstStyle/>
          <a:p>
            <a:pPr algn="l">
              <a:spcAft>
                <a:spcPts val="600"/>
              </a:spcAft>
            </a:pPr>
            <a:r>
              <a:rPr sz="3400" b="1">
                <a:solidFill>
                  <a:srgbClr val="C8102E"/>
                </a:solidFill>
                <a:latin typeface="Segoe UI"/>
              </a:rPr>
              <a:t>0%</a:t>
            </a:r>
          </a:p>
        </p:txBody>
      </p:sp>
      <p:sp>
        <p:nvSpPr>
          <p:cNvPr id="18" name="TextBox 17"/>
          <p:cNvSpPr txBox="1"/>
          <p:nvPr/>
        </p:nvSpPr>
        <p:spPr>
          <a:xfrm>
            <a:off x="7324344" y="2331720"/>
            <a:ext cx="2148840" cy="365760"/>
          </a:xfrm>
          <a:prstGeom prst="rect">
            <a:avLst/>
          </a:prstGeom>
          <a:noFill/>
        </p:spPr>
        <p:txBody>
          <a:bodyPr wrap="square" lIns="0" tIns="0" rIns="0" bIns="0">
            <a:spAutoFit/>
          </a:bodyPr>
          <a:lstStyle/>
          <a:p>
            <a:pPr algn="l">
              <a:spcAft>
                <a:spcPts val="600"/>
              </a:spcAft>
            </a:pPr>
            <a:r>
              <a:rPr sz="1300" b="1">
                <a:solidFill>
                  <a:srgbClr val="1A1A1A"/>
                </a:solidFill>
                <a:latin typeface="Segoe UI"/>
              </a:rPr>
              <a:t>60+</a:t>
            </a:r>
          </a:p>
        </p:txBody>
      </p:sp>
      <p:sp>
        <p:nvSpPr>
          <p:cNvPr id="19" name="TextBox 18"/>
          <p:cNvSpPr txBox="1"/>
          <p:nvPr/>
        </p:nvSpPr>
        <p:spPr>
          <a:xfrm>
            <a:off x="7324344" y="2697480"/>
            <a:ext cx="214884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retirement, legacy  ·  0 of 336</a:t>
            </a:r>
          </a:p>
        </p:txBody>
      </p:sp>
      <p:sp>
        <p:nvSpPr>
          <p:cNvPr id="20" name="Rectangle 19"/>
          <p:cNvSpPr/>
          <p:nvPr/>
        </p:nvSpPr>
        <p:spPr>
          <a:xfrm>
            <a:off x="9582912" y="1280160"/>
            <a:ext cx="2148840" cy="457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82912" y="1536192"/>
            <a:ext cx="2148840" cy="731520"/>
          </a:xfrm>
          <a:prstGeom prst="rect">
            <a:avLst/>
          </a:prstGeom>
          <a:noFill/>
        </p:spPr>
        <p:txBody>
          <a:bodyPr wrap="square" lIns="0" tIns="0" rIns="0" bIns="0">
            <a:spAutoFit/>
          </a:bodyPr>
          <a:lstStyle/>
          <a:p>
            <a:pPr algn="l">
              <a:spcAft>
                <a:spcPts val="600"/>
              </a:spcAft>
            </a:pPr>
            <a:r>
              <a:rPr sz="3400" b="1">
                <a:solidFill>
                  <a:srgbClr val="102A43"/>
                </a:solidFill>
                <a:latin typeface="Segoe UI"/>
              </a:rPr>
              <a:t>64%</a:t>
            </a:r>
          </a:p>
        </p:txBody>
      </p:sp>
      <p:sp>
        <p:nvSpPr>
          <p:cNvPr id="22" name="TextBox 21"/>
          <p:cNvSpPr txBox="1"/>
          <p:nvPr/>
        </p:nvSpPr>
        <p:spPr>
          <a:xfrm>
            <a:off x="9582912" y="2331720"/>
            <a:ext cx="2148840" cy="365760"/>
          </a:xfrm>
          <a:prstGeom prst="rect">
            <a:avLst/>
          </a:prstGeom>
          <a:noFill/>
        </p:spPr>
        <p:txBody>
          <a:bodyPr wrap="square" lIns="0" tIns="0" rIns="0" bIns="0">
            <a:spAutoFit/>
          </a:bodyPr>
          <a:lstStyle/>
          <a:p>
            <a:pPr algn="l">
              <a:spcAft>
                <a:spcPts val="600"/>
              </a:spcAft>
            </a:pPr>
            <a:r>
              <a:rPr sz="1300" b="1">
                <a:solidFill>
                  <a:srgbClr val="1A1A1A"/>
                </a:solidFill>
                <a:latin typeface="Segoe UI"/>
              </a:rPr>
              <a:t>Multi-generational</a:t>
            </a:r>
          </a:p>
        </p:txBody>
      </p:sp>
      <p:sp>
        <p:nvSpPr>
          <p:cNvPr id="23" name="TextBox 22"/>
          <p:cNvSpPr txBox="1"/>
          <p:nvPr/>
        </p:nvSpPr>
        <p:spPr>
          <a:xfrm>
            <a:off x="9582912" y="2697480"/>
            <a:ext cx="214884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cast across ages  ·  215 of 336</a:t>
            </a:r>
          </a:p>
        </p:txBody>
      </p:sp>
      <p:sp>
        <p:nvSpPr>
          <p:cNvPr id="24" name="TextBox 23"/>
          <p:cNvSpPr txBox="1"/>
          <p:nvPr/>
        </p:nvSpPr>
        <p:spPr>
          <a:xfrm>
            <a:off x="548640" y="3383280"/>
            <a:ext cx="11064240" cy="1828800"/>
          </a:xfrm>
          <a:prstGeom prst="rect">
            <a:avLst/>
          </a:prstGeom>
          <a:noFill/>
        </p:spPr>
        <p:txBody>
          <a:bodyPr wrap="square" lIns="0" tIns="0" rIns="0" bIns="0">
            <a:spAutoFit/>
          </a:bodyPr>
          <a:lstStyle/>
          <a:p>
            <a:pPr algn="l">
              <a:spcAft>
                <a:spcPts val="900"/>
              </a:spcAft>
            </a:pPr>
            <a:r>
              <a:rPr sz="1300" b="0">
                <a:solidFill>
                  <a:srgbClr val="1A1A1A"/>
                </a:solidFill>
                <a:latin typeface="Segoe UI"/>
              </a:rPr>
              <a:t>Half the category's creative is cast 'mixed' - no one in particular. Tapmad is the only brand with a clearly chosen audience, and it is the only one whose feed reads as a destination rather than a noticeboard.</a:t>
            </a:r>
          </a:p>
          <a:p>
            <a:pPr algn="l">
              <a:spcAft>
                <a:spcPts val="900"/>
              </a:spcAft>
            </a:pPr>
            <a:r>
              <a:rPr sz="1300" b="0">
                <a:solidFill>
                  <a:srgbClr val="1A1A1A"/>
                </a:solidFill>
                <a:latin typeface="Segoe UI"/>
              </a:rPr>
              <a:t>Not a single post in 336 is cast for over-60s, in a category whose most loyal customers have been with PTCL for decades.</a:t>
            </a:r>
          </a:p>
        </p:txBody>
      </p:sp>
      <p:sp>
        <p:nvSpPr>
          <p:cNvPr id="25" name="Rectangle 24"/>
          <p:cNvSpPr/>
          <p:nvPr/>
        </p:nvSpPr>
        <p:spPr>
          <a:xfrm>
            <a:off x="548640" y="5897880"/>
            <a:ext cx="11064240" cy="6400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6035040"/>
            <a:ext cx="10607040" cy="457200"/>
          </a:xfrm>
          <a:prstGeom prst="rect">
            <a:avLst/>
          </a:prstGeom>
          <a:noFill/>
        </p:spPr>
        <p:txBody>
          <a:bodyPr wrap="square" lIns="0" tIns="0" rIns="0" bIns="0">
            <a:spAutoFit/>
          </a:bodyPr>
          <a:lstStyle/>
          <a:p>
            <a:pPr algn="l">
              <a:spcAft>
                <a:spcPts val="0"/>
              </a:spcAft>
            </a:pPr>
            <a:r>
              <a:rPr sz="1100" b="0">
                <a:solidFill>
                  <a:srgbClr val="102A43"/>
                </a:solidFill>
                <a:latin typeface="Segoe UI"/>
              </a:rPr>
              <a:t>Generation is inferred from casting, styling and setting. It is a read of who the work addresses, never a claim about who actually buys.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5156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The customer pulse: what people say when the brand is not listening</a:t>
            </a:r>
          </a:p>
        </p:txBody>
      </p:sp>
      <p:sp>
        <p:nvSpPr>
          <p:cNvPr id="4" name="TextBox 3"/>
          <p:cNvSpPr txBox="1"/>
          <p:nvPr/>
        </p:nvSpPr>
        <p:spPr>
          <a:xfrm>
            <a:off x="548640" y="1188720"/>
            <a:ext cx="11064240" cy="640080"/>
          </a:xfrm>
          <a:prstGeom prst="rect">
            <a:avLst/>
          </a:prstGeom>
          <a:noFill/>
        </p:spPr>
        <p:txBody>
          <a:bodyPr wrap="square" lIns="0" tIns="0" rIns="0" bIns="0">
            <a:spAutoFit/>
          </a:bodyPr>
          <a:lstStyle/>
          <a:p>
            <a:pPr algn="l">
              <a:spcAft>
                <a:spcPts val="600"/>
              </a:spcAft>
            </a:pPr>
            <a:r>
              <a:rPr sz="1400" b="1">
                <a:solidFill>
                  <a:srgbClr val="102A43"/>
                </a:solidFill>
                <a:latin typeface="Segoe UI"/>
              </a:rPr>
              <a:t>976 YouTube comments on Pakistani broadband, analysed separately. When commenters criticise other brands they say the service is slow. When they criticise PTCL they use the language of dishonesty.</a:t>
            </a:r>
          </a:p>
        </p:txBody>
      </p:sp>
      <p:sp>
        <p:nvSpPr>
          <p:cNvPr id="5" name="Rectangle 4"/>
          <p:cNvSpPr/>
          <p:nvPr/>
        </p:nvSpPr>
        <p:spPr>
          <a:xfrm>
            <a:off x="548640" y="2057400"/>
            <a:ext cx="41148" cy="10515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57400"/>
            <a:ext cx="5394960" cy="868680"/>
          </a:xfrm>
          <a:prstGeom prst="rect">
            <a:avLst/>
          </a:prstGeom>
          <a:noFill/>
        </p:spPr>
        <p:txBody>
          <a:bodyPr wrap="square" lIns="0" tIns="0" rIns="0" bIns="0">
            <a:spAutoFit/>
          </a:bodyPr>
          <a:lstStyle/>
          <a:p>
            <a:pPr algn="l">
              <a:spcAft>
                <a:spcPts val="0"/>
              </a:spcAft>
            </a:pPr>
            <a:r>
              <a:rPr sz="1150" b="0" i="1">
                <a:solidFill>
                  <a:srgbClr val="1A1A1A"/>
                </a:solidFill>
                <a:latin typeface="Segoe UI"/>
              </a:rPr>
              <a:t>“These people are frauds. First they install it cheap, then every third month they keep increasing the bill. If you ask, they say rates have gone up.”</a:t>
            </a:r>
          </a:p>
        </p:txBody>
      </p:sp>
      <p:sp>
        <p:nvSpPr>
          <p:cNvPr id="7" name="TextBox 6"/>
          <p:cNvSpPr txBox="1"/>
          <p:nvPr/>
        </p:nvSpPr>
        <p:spPr>
          <a:xfrm>
            <a:off x="777240" y="2953512"/>
            <a:ext cx="5394960" cy="274320"/>
          </a:xfrm>
          <a:prstGeom prst="rect">
            <a:avLst/>
          </a:prstGeom>
          <a:noFill/>
        </p:spPr>
        <p:txBody>
          <a:bodyPr wrap="square" lIns="0" tIns="0" rIns="0" bIns="0">
            <a:spAutoFit/>
          </a:bodyPr>
          <a:lstStyle/>
          <a:p>
            <a:pPr algn="l">
              <a:spcAft>
                <a:spcPts val="0"/>
              </a:spcAft>
            </a:pPr>
            <a:r>
              <a:rPr sz="950" b="0">
                <a:solidFill>
                  <a:srgbClr val="6B7480"/>
                </a:solidFill>
                <a:latin typeface="Segoe UI"/>
              </a:rPr>
              <a:t>Urdu, translated. The word used is fraud, not expensive.</a:t>
            </a:r>
          </a:p>
        </p:txBody>
      </p:sp>
      <p:sp>
        <p:nvSpPr>
          <p:cNvPr id="8" name="Rectangle 7"/>
          <p:cNvSpPr/>
          <p:nvPr/>
        </p:nvSpPr>
        <p:spPr>
          <a:xfrm>
            <a:off x="6309360" y="2057400"/>
            <a:ext cx="41148" cy="10515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2057400"/>
            <a:ext cx="5394960" cy="868680"/>
          </a:xfrm>
          <a:prstGeom prst="rect">
            <a:avLst/>
          </a:prstGeom>
          <a:noFill/>
        </p:spPr>
        <p:txBody>
          <a:bodyPr wrap="square" lIns="0" tIns="0" rIns="0" bIns="0">
            <a:spAutoFit/>
          </a:bodyPr>
          <a:lstStyle/>
          <a:p>
            <a:pPr algn="l">
              <a:spcAft>
                <a:spcPts val="0"/>
              </a:spcAft>
            </a:pPr>
            <a:r>
              <a:rPr sz="1150" b="0" i="1">
                <a:solidFill>
                  <a:srgbClr val="1A1A1A"/>
                </a:solidFill>
                <a:latin typeface="Segoe UI"/>
              </a:rPr>
              <a:t>“Whenever a problem arises you have to fall at their feet, and they become Pharaoh - you are caught in our clutches now, look out for yourself.”</a:t>
            </a:r>
          </a:p>
        </p:txBody>
      </p:sp>
      <p:sp>
        <p:nvSpPr>
          <p:cNvPr id="10" name="TextBox 9"/>
          <p:cNvSpPr txBox="1"/>
          <p:nvPr/>
        </p:nvSpPr>
        <p:spPr>
          <a:xfrm>
            <a:off x="6537960" y="2953512"/>
            <a:ext cx="5394960" cy="274320"/>
          </a:xfrm>
          <a:prstGeom prst="rect">
            <a:avLst/>
          </a:prstGeom>
          <a:noFill/>
        </p:spPr>
        <p:txBody>
          <a:bodyPr wrap="square" lIns="0" tIns="0" rIns="0" bIns="0">
            <a:spAutoFit/>
          </a:bodyPr>
          <a:lstStyle/>
          <a:p>
            <a:pPr algn="l">
              <a:spcAft>
                <a:spcPts val="0"/>
              </a:spcAft>
            </a:pPr>
            <a:r>
              <a:rPr sz="950" b="0">
                <a:solidFill>
                  <a:srgbClr val="6B7480"/>
                </a:solidFill>
                <a:latin typeface="Segoe UI"/>
              </a:rPr>
              <a:t>The most articulate comment in the corpus. Register: captivity, not service.</a:t>
            </a:r>
          </a:p>
        </p:txBody>
      </p:sp>
      <p:sp>
        <p:nvSpPr>
          <p:cNvPr id="11" name="Rectangle 10"/>
          <p:cNvSpPr/>
          <p:nvPr/>
        </p:nvSpPr>
        <p:spPr>
          <a:xfrm>
            <a:off x="548640" y="3383280"/>
            <a:ext cx="41148" cy="10515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83280"/>
            <a:ext cx="5394960" cy="868680"/>
          </a:xfrm>
          <a:prstGeom prst="rect">
            <a:avLst/>
          </a:prstGeom>
          <a:noFill/>
        </p:spPr>
        <p:txBody>
          <a:bodyPr wrap="square" lIns="0" tIns="0" rIns="0" bIns="0">
            <a:spAutoFit/>
          </a:bodyPr>
          <a:lstStyle/>
          <a:p>
            <a:pPr algn="l">
              <a:spcAft>
                <a:spcPts val="0"/>
              </a:spcAft>
            </a:pPr>
            <a:r>
              <a:rPr sz="1150" b="0" i="1">
                <a:solidFill>
                  <a:srgbClr val="1A1A1A"/>
                </a:solidFill>
                <a:latin typeface="Segoe UI"/>
              </a:rPr>
              <a:t>“If you want to disconnect, you have to pay the whole of the following month too. Where in the world does this happen, except PTCL?”</a:t>
            </a:r>
          </a:p>
        </p:txBody>
      </p:sp>
      <p:sp>
        <p:nvSpPr>
          <p:cNvPr id="13" name="TextBox 12"/>
          <p:cNvSpPr txBox="1"/>
          <p:nvPr/>
        </p:nvSpPr>
        <p:spPr>
          <a:xfrm>
            <a:off x="777240" y="4279392"/>
            <a:ext cx="5394960" cy="274320"/>
          </a:xfrm>
          <a:prstGeom prst="rect">
            <a:avLst/>
          </a:prstGeom>
          <a:noFill/>
        </p:spPr>
        <p:txBody>
          <a:bodyPr wrap="square" lIns="0" tIns="0" rIns="0" bIns="0">
            <a:spAutoFit/>
          </a:bodyPr>
          <a:lstStyle/>
          <a:p>
            <a:pPr algn="l">
              <a:spcAft>
                <a:spcPts val="0"/>
              </a:spcAft>
            </a:pPr>
            <a:r>
              <a:rPr sz="950" b="0">
                <a:solidFill>
                  <a:srgbClr val="6B7480"/>
                </a:solidFill>
                <a:latin typeface="Segoe UI"/>
              </a:rPr>
              <a:t>Leaving is penalised - and cited as proof of bad faith.</a:t>
            </a:r>
          </a:p>
        </p:txBody>
      </p:sp>
      <p:sp>
        <p:nvSpPr>
          <p:cNvPr id="14" name="Rectangle 13"/>
          <p:cNvSpPr/>
          <p:nvPr/>
        </p:nvSpPr>
        <p:spPr>
          <a:xfrm>
            <a:off x="6309360" y="3383280"/>
            <a:ext cx="41148" cy="10515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60" y="3383280"/>
            <a:ext cx="5394960" cy="868680"/>
          </a:xfrm>
          <a:prstGeom prst="rect">
            <a:avLst/>
          </a:prstGeom>
          <a:noFill/>
        </p:spPr>
        <p:txBody>
          <a:bodyPr wrap="square" lIns="0" tIns="0" rIns="0" bIns="0">
            <a:spAutoFit/>
          </a:bodyPr>
          <a:lstStyle/>
          <a:p>
            <a:pPr algn="l">
              <a:spcAft>
                <a:spcPts val="0"/>
              </a:spcAft>
            </a:pPr>
            <a:r>
              <a:rPr sz="1150" b="0" i="1">
                <a:solidFill>
                  <a:srgbClr val="1A1A1A"/>
                </a:solidFill>
                <a:latin typeface="Segoe UI"/>
              </a:rPr>
              <a:t>“Their internet is very good, I get 107 Mbps and it rarely breaks. I would give their service 10/10.”</a:t>
            </a:r>
          </a:p>
        </p:txBody>
      </p:sp>
      <p:sp>
        <p:nvSpPr>
          <p:cNvPr id="16" name="TextBox 15"/>
          <p:cNvSpPr txBox="1"/>
          <p:nvPr/>
        </p:nvSpPr>
        <p:spPr>
          <a:xfrm>
            <a:off x="6537960" y="4279392"/>
            <a:ext cx="5394960" cy="274320"/>
          </a:xfrm>
          <a:prstGeom prst="rect">
            <a:avLst/>
          </a:prstGeom>
          <a:noFill/>
        </p:spPr>
        <p:txBody>
          <a:bodyPr wrap="square" lIns="0" tIns="0" rIns="0" bIns="0">
            <a:spAutoFit/>
          </a:bodyPr>
          <a:lstStyle/>
          <a:p>
            <a:pPr algn="l">
              <a:spcAft>
                <a:spcPts val="0"/>
              </a:spcAft>
            </a:pPr>
            <a:r>
              <a:rPr sz="950" b="0">
                <a:solidFill>
                  <a:srgbClr val="6B7480"/>
                </a:solidFill>
                <a:latin typeface="Segoe UI"/>
              </a:rPr>
              <a:t>Same commenter: his bill went from Rs 4,000 to Rs 7,250. Even advocates are repriced.</a:t>
            </a:r>
          </a:p>
        </p:txBody>
      </p:sp>
      <p:sp>
        <p:nvSpPr>
          <p:cNvPr id="17" name="Rectangle 16"/>
          <p:cNvSpPr/>
          <p:nvPr/>
        </p:nvSpPr>
        <p:spPr>
          <a:xfrm>
            <a:off x="548640" y="4709160"/>
            <a:ext cx="41148" cy="10515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709160"/>
            <a:ext cx="5394960" cy="868680"/>
          </a:xfrm>
          <a:prstGeom prst="rect">
            <a:avLst/>
          </a:prstGeom>
          <a:noFill/>
        </p:spPr>
        <p:txBody>
          <a:bodyPr wrap="square" lIns="0" tIns="0" rIns="0" bIns="0">
            <a:spAutoFit/>
          </a:bodyPr>
          <a:lstStyle/>
          <a:p>
            <a:pPr algn="l">
              <a:spcAft>
                <a:spcPts val="0"/>
              </a:spcAft>
            </a:pPr>
            <a:r>
              <a:rPr sz="1150" b="0" i="1">
                <a:solidFill>
                  <a:srgbClr val="1A1A1A"/>
                </a:solidFill>
                <a:latin typeface="Segoe UI"/>
              </a:rPr>
              <a:t>“For all the people saying PTCL is bad, it's usually because of their location - my internet in Bahria Town Lahore is probably the best you can get.”</a:t>
            </a:r>
          </a:p>
        </p:txBody>
      </p:sp>
      <p:sp>
        <p:nvSpPr>
          <p:cNvPr id="19" name="TextBox 18"/>
          <p:cNvSpPr txBox="1"/>
          <p:nvPr/>
        </p:nvSpPr>
        <p:spPr>
          <a:xfrm>
            <a:off x="777240" y="5605272"/>
            <a:ext cx="5394960" cy="274320"/>
          </a:xfrm>
          <a:prstGeom prst="rect">
            <a:avLst/>
          </a:prstGeom>
          <a:noFill/>
        </p:spPr>
        <p:txBody>
          <a:bodyPr wrap="square" lIns="0" tIns="0" rIns="0" bIns="0">
            <a:spAutoFit/>
          </a:bodyPr>
          <a:lstStyle/>
          <a:p>
            <a:pPr algn="l">
              <a:spcAft>
                <a:spcPts val="0"/>
              </a:spcAft>
            </a:pPr>
            <a:r>
              <a:rPr sz="950" b="0">
                <a:solidFill>
                  <a:srgbClr val="6B7480"/>
                </a:solidFill>
                <a:latin typeface="Segoe UI"/>
              </a:rPr>
              <a:t>Every defence is about a postcode. Nobody defends the company.</a:t>
            </a:r>
          </a:p>
        </p:txBody>
      </p:sp>
      <p:sp>
        <p:nvSpPr>
          <p:cNvPr id="20" name="Rectangle 19"/>
          <p:cNvSpPr/>
          <p:nvPr/>
        </p:nvSpPr>
        <p:spPr>
          <a:xfrm>
            <a:off x="6309360" y="4709160"/>
            <a:ext cx="41148" cy="10515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37960" y="4709160"/>
            <a:ext cx="5394960" cy="868680"/>
          </a:xfrm>
          <a:prstGeom prst="rect">
            <a:avLst/>
          </a:prstGeom>
          <a:noFill/>
        </p:spPr>
        <p:txBody>
          <a:bodyPr wrap="square" lIns="0" tIns="0" rIns="0" bIns="0">
            <a:spAutoFit/>
          </a:bodyPr>
          <a:lstStyle/>
          <a:p>
            <a:pPr algn="l">
              <a:spcAft>
                <a:spcPts val="0"/>
              </a:spcAft>
            </a:pPr>
            <a:r>
              <a:rPr sz="1150" b="0" i="1">
                <a:solidFill>
                  <a:srgbClr val="1A1A1A"/>
                </a:solidFill>
                <a:latin typeface="Segoe UI"/>
              </a:rPr>
              <a:t>“STORM FIBER REPLIES ON FACEBOOK, CAN YOU IMAGINE, AND AT 3AM.”</a:t>
            </a:r>
          </a:p>
        </p:txBody>
      </p:sp>
      <p:sp>
        <p:nvSpPr>
          <p:cNvPr id="22" name="TextBox 21"/>
          <p:cNvSpPr txBox="1"/>
          <p:nvPr/>
        </p:nvSpPr>
        <p:spPr>
          <a:xfrm>
            <a:off x="6537960" y="5605272"/>
            <a:ext cx="5394960" cy="274320"/>
          </a:xfrm>
          <a:prstGeom prst="rect">
            <a:avLst/>
          </a:prstGeom>
          <a:noFill/>
        </p:spPr>
        <p:txBody>
          <a:bodyPr wrap="square" lIns="0" tIns="0" rIns="0" bIns="0">
            <a:spAutoFit/>
          </a:bodyPr>
          <a:lstStyle/>
          <a:p>
            <a:pPr algn="l">
              <a:spcAft>
                <a:spcPts val="0"/>
              </a:spcAft>
            </a:pPr>
            <a:r>
              <a:rPr sz="950" b="0">
                <a:solidFill>
                  <a:srgbClr val="6B7480"/>
                </a:solidFill>
                <a:latin typeface="Segoe UI"/>
              </a:rPr>
              <a:t>The single most admired competitor behaviour in the corpus is answering.</a:t>
            </a:r>
          </a:p>
        </p:txBody>
      </p:sp>
      <p:sp>
        <p:nvSpPr>
          <p:cNvPr id="23" name="Rectangle 22"/>
          <p:cNvSpPr/>
          <p:nvPr/>
        </p:nvSpPr>
        <p:spPr>
          <a:xfrm>
            <a:off x="548640" y="5943600"/>
            <a:ext cx="11064240" cy="6858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6080760"/>
            <a:ext cx="10607040" cy="548640"/>
          </a:xfrm>
          <a:prstGeom prst="rect">
            <a:avLst/>
          </a:prstGeom>
          <a:noFill/>
        </p:spPr>
        <p:txBody>
          <a:bodyPr wrap="square" lIns="0" tIns="0" rIns="0" bIns="0">
            <a:spAutoFit/>
          </a:bodyPr>
          <a:lstStyle/>
          <a:p>
            <a:pPr algn="l">
              <a:spcAft>
                <a:spcPts val="0"/>
              </a:spcAft>
            </a:pPr>
            <a:r>
              <a:rPr sz="1250" b="1">
                <a:solidFill>
                  <a:srgbClr val="102A43"/>
                </a:solidFill>
                <a:latin typeface="Segoe UI"/>
              </a:rPr>
              <a:t>Nobody in 976 comments says PTCL is fair, modern, or on their side. The brand has no equity independent of whether the individual line happens to work.</a:t>
            </a:r>
          </a:p>
        </p:txBody>
      </p:sp>
      <p:sp>
        <p:nvSpPr>
          <p:cNvPr id="25" name="TextBox 24"/>
          <p:cNvSpPr txBox="1"/>
          <p:nvPr/>
        </p:nvSpPr>
        <p:spPr>
          <a:xfrm>
            <a:off x="548640" y="6675120"/>
            <a:ext cx="11064240" cy="274320"/>
          </a:xfrm>
          <a:prstGeom prst="rect">
            <a:avLst/>
          </a:prstGeom>
          <a:noFill/>
        </p:spPr>
        <p:txBody>
          <a:bodyPr wrap="square" lIns="0" tIns="0" rIns="0" bIns="0">
            <a:spAutoFit/>
          </a:bodyPr>
          <a:lstStyle/>
          <a:p>
            <a:pPr algn="l">
              <a:spcAft>
                <a:spcPts val="600"/>
              </a:spcAft>
            </a:pPr>
            <a:r>
              <a:rPr sz="900" b="0">
                <a:solidFill>
                  <a:srgbClr val="6B7480"/>
                </a:solidFill>
                <a:latin typeface="Segoe UI"/>
              </a:rPr>
              <a:t>Source: COMMENTS.xlsx, 976 comments analysed, all 92 PTCL mentions read. Self-selected corpus - not a satisfaction measure. Full analysis in the consumer conversation document.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5156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Where the audience actually is</a:t>
            </a:r>
          </a:p>
        </p:txBody>
      </p:sp>
      <p:sp>
        <p:nvSpPr>
          <p:cNvPr id="4" name="TextBox 3"/>
          <p:cNvSpPr txBox="1"/>
          <p:nvPr/>
        </p:nvSpPr>
        <p:spPr>
          <a:xfrm>
            <a:off x="548640" y="1097280"/>
            <a:ext cx="11064240" cy="548640"/>
          </a:xfrm>
          <a:prstGeom prst="rect">
            <a:avLst/>
          </a:prstGeom>
          <a:noFill/>
        </p:spPr>
        <p:txBody>
          <a:bodyPr wrap="square" lIns="0" tIns="0" rIns="0" bIns="0">
            <a:spAutoFit/>
          </a:bodyPr>
          <a:lstStyle/>
          <a:p>
            <a:pPr algn="l">
              <a:spcAft>
                <a:spcPts val="400"/>
              </a:spcAft>
            </a:pPr>
            <a:r>
              <a:rPr sz="1300" b="1">
                <a:solidFill>
                  <a:srgbClr val="102A43"/>
                </a:solidFill>
                <a:latin typeface="Segoe UI"/>
              </a:rPr>
              <a:t>Follower and subscriber counts, collected logged-out on 11 September 2026. This scan read Instagram - which every brand here is an order of magnitude smaller on.</a:t>
            </a:r>
          </a:p>
        </p:txBody>
      </p:sp>
      <p:sp>
        <p:nvSpPr>
          <p:cNvPr id="5" name="TextBox 4"/>
          <p:cNvSpPr txBox="1"/>
          <p:nvPr/>
        </p:nvSpPr>
        <p:spPr>
          <a:xfrm>
            <a:off x="548640" y="1783080"/>
            <a:ext cx="2743200" cy="274320"/>
          </a:xfrm>
          <a:prstGeom prst="rect">
            <a:avLst/>
          </a:prstGeom>
          <a:noFill/>
        </p:spPr>
        <p:txBody>
          <a:bodyPr wrap="square" lIns="0" tIns="0" rIns="0" bIns="0">
            <a:spAutoFit/>
          </a:bodyPr>
          <a:lstStyle/>
          <a:p>
            <a:pPr algn="l">
              <a:spcAft>
                <a:spcPts val="600"/>
              </a:spcAft>
            </a:pPr>
            <a:r>
              <a:rPr sz="1100" b="1">
                <a:solidFill>
                  <a:srgbClr val="6B7480"/>
                </a:solidFill>
                <a:latin typeface="Segoe UI"/>
              </a:rPr>
              <a:t>Brand</a:t>
            </a:r>
          </a:p>
        </p:txBody>
      </p:sp>
      <p:sp>
        <p:nvSpPr>
          <p:cNvPr id="6" name="TextBox 5"/>
          <p:cNvSpPr txBox="1"/>
          <p:nvPr/>
        </p:nvSpPr>
        <p:spPr>
          <a:xfrm>
            <a:off x="3291840" y="1783080"/>
            <a:ext cx="20802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Instagram</a:t>
            </a:r>
          </a:p>
        </p:txBody>
      </p:sp>
      <p:sp>
        <p:nvSpPr>
          <p:cNvPr id="7" name="TextBox 6"/>
          <p:cNvSpPr txBox="1"/>
          <p:nvPr/>
        </p:nvSpPr>
        <p:spPr>
          <a:xfrm>
            <a:off x="5372100" y="1783080"/>
            <a:ext cx="20802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Facebook</a:t>
            </a:r>
          </a:p>
        </p:txBody>
      </p:sp>
      <p:sp>
        <p:nvSpPr>
          <p:cNvPr id="8" name="TextBox 7"/>
          <p:cNvSpPr txBox="1"/>
          <p:nvPr/>
        </p:nvSpPr>
        <p:spPr>
          <a:xfrm>
            <a:off x="7452360" y="1783080"/>
            <a:ext cx="20802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YouTube</a:t>
            </a:r>
          </a:p>
        </p:txBody>
      </p:sp>
      <p:sp>
        <p:nvSpPr>
          <p:cNvPr id="9" name="TextBox 8"/>
          <p:cNvSpPr txBox="1"/>
          <p:nvPr/>
        </p:nvSpPr>
        <p:spPr>
          <a:xfrm>
            <a:off x="9532620" y="1783080"/>
            <a:ext cx="20802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TikTok</a:t>
            </a:r>
          </a:p>
        </p:txBody>
      </p:sp>
      <p:sp>
        <p:nvSpPr>
          <p:cNvPr id="10" name="Rectangle 9"/>
          <p:cNvSpPr/>
          <p:nvPr/>
        </p:nvSpPr>
        <p:spPr>
          <a:xfrm>
            <a:off x="548640" y="2093976"/>
            <a:ext cx="11064240" cy="182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2176272"/>
            <a:ext cx="11064240" cy="26191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203704"/>
            <a:ext cx="2743200" cy="261910"/>
          </a:xfrm>
          <a:prstGeom prst="rect">
            <a:avLst/>
          </a:prstGeom>
          <a:noFill/>
        </p:spPr>
        <p:txBody>
          <a:bodyPr wrap="square" lIns="0" tIns="0" rIns="0" bIns="0">
            <a:spAutoFit/>
          </a:bodyPr>
          <a:lstStyle/>
          <a:p>
            <a:pPr algn="l">
              <a:spcAft>
                <a:spcPts val="0"/>
              </a:spcAft>
            </a:pPr>
            <a:r>
              <a:rPr sz="1000" b="1">
                <a:solidFill>
                  <a:srgbClr val="102A43"/>
                </a:solidFill>
                <a:latin typeface="Segoe UI"/>
              </a:rPr>
              <a:t>PTCL</a:t>
            </a:r>
          </a:p>
        </p:txBody>
      </p:sp>
      <p:sp>
        <p:nvSpPr>
          <p:cNvPr id="13" name="TextBox 12"/>
          <p:cNvSpPr txBox="1"/>
          <p:nvPr/>
        </p:nvSpPr>
        <p:spPr>
          <a:xfrm>
            <a:off x="3291840" y="220370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91K</a:t>
            </a:r>
          </a:p>
        </p:txBody>
      </p:sp>
      <p:sp>
        <p:nvSpPr>
          <p:cNvPr id="14" name="TextBox 13"/>
          <p:cNvSpPr txBox="1"/>
          <p:nvPr/>
        </p:nvSpPr>
        <p:spPr>
          <a:xfrm>
            <a:off x="5372100" y="220370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1.3M</a:t>
            </a:r>
          </a:p>
        </p:txBody>
      </p:sp>
      <p:sp>
        <p:nvSpPr>
          <p:cNvPr id="15" name="TextBox 14"/>
          <p:cNvSpPr txBox="1"/>
          <p:nvPr/>
        </p:nvSpPr>
        <p:spPr>
          <a:xfrm>
            <a:off x="7452360" y="2203704"/>
            <a:ext cx="2080260" cy="261910"/>
          </a:xfrm>
          <a:prstGeom prst="rect">
            <a:avLst/>
          </a:prstGeom>
          <a:noFill/>
        </p:spPr>
        <p:txBody>
          <a:bodyPr wrap="square" lIns="0" tIns="0" rIns="0" bIns="0">
            <a:spAutoFit/>
          </a:bodyPr>
          <a:lstStyle/>
          <a:p>
            <a:pPr algn="r">
              <a:spcAft>
                <a:spcPts val="0"/>
              </a:spcAft>
            </a:pPr>
            <a:r>
              <a:rPr sz="1000" b="1">
                <a:solidFill>
                  <a:srgbClr val="C8102E"/>
                </a:solidFill>
                <a:latin typeface="Segoe UI"/>
              </a:rPr>
              <a:t>43K</a:t>
            </a:r>
          </a:p>
        </p:txBody>
      </p:sp>
      <p:sp>
        <p:nvSpPr>
          <p:cNvPr id="16" name="TextBox 15"/>
          <p:cNvSpPr txBox="1"/>
          <p:nvPr/>
        </p:nvSpPr>
        <p:spPr>
          <a:xfrm>
            <a:off x="9532620" y="220370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none</a:t>
            </a:r>
          </a:p>
        </p:txBody>
      </p:sp>
      <p:sp>
        <p:nvSpPr>
          <p:cNvPr id="17" name="TextBox 16"/>
          <p:cNvSpPr txBox="1"/>
          <p:nvPr/>
        </p:nvSpPr>
        <p:spPr>
          <a:xfrm>
            <a:off x="640080" y="246561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Jazz</a:t>
            </a:r>
          </a:p>
        </p:txBody>
      </p:sp>
      <p:sp>
        <p:nvSpPr>
          <p:cNvPr id="18" name="TextBox 17"/>
          <p:cNvSpPr txBox="1"/>
          <p:nvPr/>
        </p:nvSpPr>
        <p:spPr>
          <a:xfrm>
            <a:off x="3291840" y="2465614"/>
            <a:ext cx="2080260" cy="261910"/>
          </a:xfrm>
          <a:prstGeom prst="rect">
            <a:avLst/>
          </a:prstGeom>
          <a:noFill/>
        </p:spPr>
        <p:txBody>
          <a:bodyPr wrap="square" lIns="0" tIns="0" rIns="0" bIns="0">
            <a:spAutoFit/>
          </a:bodyPr>
          <a:lstStyle/>
          <a:p>
            <a:pPr algn="r">
              <a:spcAft>
                <a:spcPts val="0"/>
              </a:spcAft>
            </a:pPr>
            <a:r>
              <a:rPr sz="1000" b="1">
                <a:solidFill>
                  <a:srgbClr val="C8102E"/>
                </a:solidFill>
                <a:latin typeface="Segoe UI"/>
              </a:rPr>
              <a:t>295K</a:t>
            </a:r>
          </a:p>
        </p:txBody>
      </p:sp>
      <p:sp>
        <p:nvSpPr>
          <p:cNvPr id="19" name="TextBox 18"/>
          <p:cNvSpPr txBox="1"/>
          <p:nvPr/>
        </p:nvSpPr>
        <p:spPr>
          <a:xfrm>
            <a:off x="5372100" y="2465614"/>
            <a:ext cx="2080260" cy="261910"/>
          </a:xfrm>
          <a:prstGeom prst="rect">
            <a:avLst/>
          </a:prstGeom>
          <a:noFill/>
        </p:spPr>
        <p:txBody>
          <a:bodyPr wrap="square" lIns="0" tIns="0" rIns="0" bIns="0">
            <a:spAutoFit/>
          </a:bodyPr>
          <a:lstStyle/>
          <a:p>
            <a:pPr algn="r">
              <a:spcAft>
                <a:spcPts val="0"/>
              </a:spcAft>
            </a:pPr>
            <a:r>
              <a:rPr sz="1000" b="1">
                <a:solidFill>
                  <a:srgbClr val="C8102E"/>
                </a:solidFill>
                <a:latin typeface="Segoe UI"/>
              </a:rPr>
              <a:t>5.5M</a:t>
            </a:r>
          </a:p>
        </p:txBody>
      </p:sp>
      <p:sp>
        <p:nvSpPr>
          <p:cNvPr id="20" name="TextBox 19"/>
          <p:cNvSpPr txBox="1"/>
          <p:nvPr/>
        </p:nvSpPr>
        <p:spPr>
          <a:xfrm>
            <a:off x="7452360" y="246561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21" name="TextBox 20"/>
          <p:cNvSpPr txBox="1"/>
          <p:nvPr/>
        </p:nvSpPr>
        <p:spPr>
          <a:xfrm>
            <a:off x="9532620" y="246561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22" name="Rectangle 21"/>
          <p:cNvSpPr/>
          <p:nvPr/>
        </p:nvSpPr>
        <p:spPr>
          <a:xfrm>
            <a:off x="548640" y="2700092"/>
            <a:ext cx="11064240" cy="26191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272752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Ufone</a:t>
            </a:r>
          </a:p>
        </p:txBody>
      </p:sp>
      <p:sp>
        <p:nvSpPr>
          <p:cNvPr id="24" name="TextBox 23"/>
          <p:cNvSpPr txBox="1"/>
          <p:nvPr/>
        </p:nvSpPr>
        <p:spPr>
          <a:xfrm>
            <a:off x="3291840" y="272752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279K</a:t>
            </a:r>
          </a:p>
        </p:txBody>
      </p:sp>
      <p:sp>
        <p:nvSpPr>
          <p:cNvPr id="25" name="TextBox 24"/>
          <p:cNvSpPr txBox="1"/>
          <p:nvPr/>
        </p:nvSpPr>
        <p:spPr>
          <a:xfrm>
            <a:off x="5372100" y="272752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3.2M</a:t>
            </a:r>
          </a:p>
        </p:txBody>
      </p:sp>
      <p:sp>
        <p:nvSpPr>
          <p:cNvPr id="26" name="TextBox 25"/>
          <p:cNvSpPr txBox="1"/>
          <p:nvPr/>
        </p:nvSpPr>
        <p:spPr>
          <a:xfrm>
            <a:off x="7452360" y="272752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27" name="TextBox 26"/>
          <p:cNvSpPr txBox="1"/>
          <p:nvPr/>
        </p:nvSpPr>
        <p:spPr>
          <a:xfrm>
            <a:off x="9532620" y="272752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28" name="TextBox 27"/>
          <p:cNvSpPr txBox="1"/>
          <p:nvPr/>
        </p:nvSpPr>
        <p:spPr>
          <a:xfrm>
            <a:off x="640080" y="298943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Nayatel</a:t>
            </a:r>
          </a:p>
        </p:txBody>
      </p:sp>
      <p:sp>
        <p:nvSpPr>
          <p:cNvPr id="29" name="TextBox 28"/>
          <p:cNvSpPr txBox="1"/>
          <p:nvPr/>
        </p:nvSpPr>
        <p:spPr>
          <a:xfrm>
            <a:off x="3291840" y="298943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19K</a:t>
            </a:r>
          </a:p>
        </p:txBody>
      </p:sp>
      <p:sp>
        <p:nvSpPr>
          <p:cNvPr id="30" name="TextBox 29"/>
          <p:cNvSpPr txBox="1"/>
          <p:nvPr/>
        </p:nvSpPr>
        <p:spPr>
          <a:xfrm>
            <a:off x="5372100" y="298943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1.1M</a:t>
            </a:r>
          </a:p>
        </p:txBody>
      </p:sp>
      <p:sp>
        <p:nvSpPr>
          <p:cNvPr id="31" name="TextBox 30"/>
          <p:cNvSpPr txBox="1"/>
          <p:nvPr/>
        </p:nvSpPr>
        <p:spPr>
          <a:xfrm>
            <a:off x="7452360" y="298943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1.5K</a:t>
            </a:r>
          </a:p>
        </p:txBody>
      </p:sp>
      <p:sp>
        <p:nvSpPr>
          <p:cNvPr id="32" name="TextBox 31"/>
          <p:cNvSpPr txBox="1"/>
          <p:nvPr/>
        </p:nvSpPr>
        <p:spPr>
          <a:xfrm>
            <a:off x="9532620" y="298943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33" name="Rectangle 32"/>
          <p:cNvSpPr/>
          <p:nvPr/>
        </p:nvSpPr>
        <p:spPr>
          <a:xfrm>
            <a:off x="548640" y="3223912"/>
            <a:ext cx="11064240" cy="26191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325134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Transworld Home</a:t>
            </a:r>
          </a:p>
        </p:txBody>
      </p:sp>
      <p:sp>
        <p:nvSpPr>
          <p:cNvPr id="35" name="TextBox 34"/>
          <p:cNvSpPr txBox="1"/>
          <p:nvPr/>
        </p:nvSpPr>
        <p:spPr>
          <a:xfrm>
            <a:off x="3291840" y="325134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13K</a:t>
            </a:r>
          </a:p>
        </p:txBody>
      </p:sp>
      <p:sp>
        <p:nvSpPr>
          <p:cNvPr id="36" name="TextBox 35"/>
          <p:cNvSpPr txBox="1"/>
          <p:nvPr/>
        </p:nvSpPr>
        <p:spPr>
          <a:xfrm>
            <a:off x="5372100" y="325134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381K</a:t>
            </a:r>
          </a:p>
        </p:txBody>
      </p:sp>
      <p:sp>
        <p:nvSpPr>
          <p:cNvPr id="37" name="TextBox 36"/>
          <p:cNvSpPr txBox="1"/>
          <p:nvPr/>
        </p:nvSpPr>
        <p:spPr>
          <a:xfrm>
            <a:off x="7452360" y="325134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1.8K</a:t>
            </a:r>
          </a:p>
        </p:txBody>
      </p:sp>
      <p:sp>
        <p:nvSpPr>
          <p:cNvPr id="38" name="TextBox 37"/>
          <p:cNvSpPr txBox="1"/>
          <p:nvPr/>
        </p:nvSpPr>
        <p:spPr>
          <a:xfrm>
            <a:off x="9532620" y="325134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39" name="TextBox 38"/>
          <p:cNvSpPr txBox="1"/>
          <p:nvPr/>
        </p:nvSpPr>
        <p:spPr>
          <a:xfrm>
            <a:off x="640080" y="351325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StormFiber</a:t>
            </a:r>
          </a:p>
        </p:txBody>
      </p:sp>
      <p:sp>
        <p:nvSpPr>
          <p:cNvPr id="40" name="TextBox 39"/>
          <p:cNvSpPr txBox="1"/>
          <p:nvPr/>
        </p:nvSpPr>
        <p:spPr>
          <a:xfrm>
            <a:off x="3291840" y="351325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31K</a:t>
            </a:r>
          </a:p>
        </p:txBody>
      </p:sp>
      <p:sp>
        <p:nvSpPr>
          <p:cNvPr id="41" name="TextBox 40"/>
          <p:cNvSpPr txBox="1"/>
          <p:nvPr/>
        </p:nvSpPr>
        <p:spPr>
          <a:xfrm>
            <a:off x="5372100" y="351325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233K</a:t>
            </a:r>
          </a:p>
        </p:txBody>
      </p:sp>
      <p:sp>
        <p:nvSpPr>
          <p:cNvPr id="42" name="TextBox 41"/>
          <p:cNvSpPr txBox="1"/>
          <p:nvPr/>
        </p:nvSpPr>
        <p:spPr>
          <a:xfrm>
            <a:off x="7452360" y="351325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43" name="TextBox 42"/>
          <p:cNvSpPr txBox="1"/>
          <p:nvPr/>
        </p:nvSpPr>
        <p:spPr>
          <a:xfrm>
            <a:off x="9532620" y="351325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none</a:t>
            </a:r>
          </a:p>
        </p:txBody>
      </p:sp>
      <p:sp>
        <p:nvSpPr>
          <p:cNvPr id="44" name="Rectangle 43"/>
          <p:cNvSpPr/>
          <p:nvPr/>
        </p:nvSpPr>
        <p:spPr>
          <a:xfrm>
            <a:off x="548640" y="3747732"/>
            <a:ext cx="11064240" cy="26191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 y="377516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Zong</a:t>
            </a:r>
          </a:p>
        </p:txBody>
      </p:sp>
      <p:sp>
        <p:nvSpPr>
          <p:cNvPr id="46" name="TextBox 45"/>
          <p:cNvSpPr txBox="1"/>
          <p:nvPr/>
        </p:nvSpPr>
        <p:spPr>
          <a:xfrm>
            <a:off x="3291840" y="377516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181K</a:t>
            </a:r>
          </a:p>
        </p:txBody>
      </p:sp>
      <p:sp>
        <p:nvSpPr>
          <p:cNvPr id="47" name="TextBox 46"/>
          <p:cNvSpPr txBox="1"/>
          <p:nvPr/>
        </p:nvSpPr>
        <p:spPr>
          <a:xfrm>
            <a:off x="5372100" y="377516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48" name="TextBox 47"/>
          <p:cNvSpPr txBox="1"/>
          <p:nvPr/>
        </p:nvSpPr>
        <p:spPr>
          <a:xfrm>
            <a:off x="7452360" y="377516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49" name="TextBox 48"/>
          <p:cNvSpPr txBox="1"/>
          <p:nvPr/>
        </p:nvSpPr>
        <p:spPr>
          <a:xfrm>
            <a:off x="9532620" y="377516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50" name="TextBox 49"/>
          <p:cNvSpPr txBox="1"/>
          <p:nvPr/>
        </p:nvSpPr>
        <p:spPr>
          <a:xfrm>
            <a:off x="640080" y="403707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Tapmad</a:t>
            </a:r>
          </a:p>
        </p:txBody>
      </p:sp>
      <p:sp>
        <p:nvSpPr>
          <p:cNvPr id="51" name="TextBox 50"/>
          <p:cNvSpPr txBox="1"/>
          <p:nvPr/>
        </p:nvSpPr>
        <p:spPr>
          <a:xfrm>
            <a:off x="3291840" y="403707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264K</a:t>
            </a:r>
          </a:p>
        </p:txBody>
      </p:sp>
      <p:sp>
        <p:nvSpPr>
          <p:cNvPr id="52" name="TextBox 51"/>
          <p:cNvSpPr txBox="1"/>
          <p:nvPr/>
        </p:nvSpPr>
        <p:spPr>
          <a:xfrm>
            <a:off x="5372100" y="403707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53" name="TextBox 52"/>
          <p:cNvSpPr txBox="1"/>
          <p:nvPr/>
        </p:nvSpPr>
        <p:spPr>
          <a:xfrm>
            <a:off x="7452360" y="403707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54" name="TextBox 53"/>
          <p:cNvSpPr txBox="1"/>
          <p:nvPr/>
        </p:nvSpPr>
        <p:spPr>
          <a:xfrm>
            <a:off x="9532620" y="403707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55" name="Rectangle 54"/>
          <p:cNvSpPr/>
          <p:nvPr/>
        </p:nvSpPr>
        <p:spPr>
          <a:xfrm>
            <a:off x="548640" y="4271552"/>
            <a:ext cx="11064240" cy="26191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0080" y="429898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Worldcall</a:t>
            </a:r>
          </a:p>
        </p:txBody>
      </p:sp>
      <p:sp>
        <p:nvSpPr>
          <p:cNvPr id="57" name="TextBox 56"/>
          <p:cNvSpPr txBox="1"/>
          <p:nvPr/>
        </p:nvSpPr>
        <p:spPr>
          <a:xfrm>
            <a:off x="3291840" y="429898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2.3K</a:t>
            </a:r>
          </a:p>
        </p:txBody>
      </p:sp>
      <p:sp>
        <p:nvSpPr>
          <p:cNvPr id="58" name="TextBox 57"/>
          <p:cNvSpPr txBox="1"/>
          <p:nvPr/>
        </p:nvSpPr>
        <p:spPr>
          <a:xfrm>
            <a:off x="5372100" y="429898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98K</a:t>
            </a:r>
          </a:p>
        </p:txBody>
      </p:sp>
      <p:sp>
        <p:nvSpPr>
          <p:cNvPr id="59" name="TextBox 58"/>
          <p:cNvSpPr txBox="1"/>
          <p:nvPr/>
        </p:nvSpPr>
        <p:spPr>
          <a:xfrm>
            <a:off x="7452360" y="429898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60" name="TextBox 59"/>
          <p:cNvSpPr txBox="1"/>
          <p:nvPr/>
        </p:nvSpPr>
        <p:spPr>
          <a:xfrm>
            <a:off x="9532620" y="429898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61" name="TextBox 60"/>
          <p:cNvSpPr txBox="1"/>
          <p:nvPr/>
        </p:nvSpPr>
        <p:spPr>
          <a:xfrm>
            <a:off x="640080" y="456089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Wateen</a:t>
            </a:r>
          </a:p>
        </p:txBody>
      </p:sp>
      <p:sp>
        <p:nvSpPr>
          <p:cNvPr id="62" name="TextBox 61"/>
          <p:cNvSpPr txBox="1"/>
          <p:nvPr/>
        </p:nvSpPr>
        <p:spPr>
          <a:xfrm>
            <a:off x="3291840" y="456089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1.2K</a:t>
            </a:r>
          </a:p>
        </p:txBody>
      </p:sp>
      <p:sp>
        <p:nvSpPr>
          <p:cNvPr id="63" name="TextBox 62"/>
          <p:cNvSpPr txBox="1"/>
          <p:nvPr/>
        </p:nvSpPr>
        <p:spPr>
          <a:xfrm>
            <a:off x="5372100" y="456089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93K</a:t>
            </a:r>
          </a:p>
        </p:txBody>
      </p:sp>
      <p:sp>
        <p:nvSpPr>
          <p:cNvPr id="64" name="TextBox 63"/>
          <p:cNvSpPr txBox="1"/>
          <p:nvPr/>
        </p:nvSpPr>
        <p:spPr>
          <a:xfrm>
            <a:off x="7452360" y="456089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627</a:t>
            </a:r>
          </a:p>
        </p:txBody>
      </p:sp>
      <p:sp>
        <p:nvSpPr>
          <p:cNvPr id="65" name="TextBox 64"/>
          <p:cNvSpPr txBox="1"/>
          <p:nvPr/>
        </p:nvSpPr>
        <p:spPr>
          <a:xfrm>
            <a:off x="9532620" y="456089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66" name="Rectangle 65"/>
          <p:cNvSpPr/>
          <p:nvPr/>
        </p:nvSpPr>
        <p:spPr>
          <a:xfrm>
            <a:off x="548640" y="4795372"/>
            <a:ext cx="11064240" cy="26191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40080" y="482280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Fiberlink</a:t>
            </a:r>
          </a:p>
        </p:txBody>
      </p:sp>
      <p:sp>
        <p:nvSpPr>
          <p:cNvPr id="68" name="TextBox 67"/>
          <p:cNvSpPr txBox="1"/>
          <p:nvPr/>
        </p:nvSpPr>
        <p:spPr>
          <a:xfrm>
            <a:off x="3291840" y="482280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none</a:t>
            </a:r>
          </a:p>
        </p:txBody>
      </p:sp>
      <p:sp>
        <p:nvSpPr>
          <p:cNvPr id="69" name="TextBox 68"/>
          <p:cNvSpPr txBox="1"/>
          <p:nvPr/>
        </p:nvSpPr>
        <p:spPr>
          <a:xfrm>
            <a:off x="5372100" y="482280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23K</a:t>
            </a:r>
          </a:p>
        </p:txBody>
      </p:sp>
      <p:sp>
        <p:nvSpPr>
          <p:cNvPr id="70" name="TextBox 69"/>
          <p:cNvSpPr txBox="1"/>
          <p:nvPr/>
        </p:nvSpPr>
        <p:spPr>
          <a:xfrm>
            <a:off x="7452360" y="482280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71" name="TextBox 70"/>
          <p:cNvSpPr txBox="1"/>
          <p:nvPr/>
        </p:nvSpPr>
        <p:spPr>
          <a:xfrm>
            <a:off x="9532620" y="482280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72" name="TextBox 71"/>
          <p:cNvSpPr txBox="1"/>
          <p:nvPr/>
        </p:nvSpPr>
        <p:spPr>
          <a:xfrm>
            <a:off x="640080" y="508471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Shoq</a:t>
            </a:r>
          </a:p>
        </p:txBody>
      </p:sp>
      <p:sp>
        <p:nvSpPr>
          <p:cNvPr id="73" name="TextBox 72"/>
          <p:cNvSpPr txBox="1"/>
          <p:nvPr/>
        </p:nvSpPr>
        <p:spPr>
          <a:xfrm>
            <a:off x="3291840" y="508471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2.6K</a:t>
            </a:r>
          </a:p>
        </p:txBody>
      </p:sp>
      <p:sp>
        <p:nvSpPr>
          <p:cNvPr id="74" name="TextBox 73"/>
          <p:cNvSpPr txBox="1"/>
          <p:nvPr/>
        </p:nvSpPr>
        <p:spPr>
          <a:xfrm>
            <a:off x="5372100" y="508471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75" name="TextBox 74"/>
          <p:cNvSpPr txBox="1"/>
          <p:nvPr/>
        </p:nvSpPr>
        <p:spPr>
          <a:xfrm>
            <a:off x="7452360" y="508471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76" name="TextBox 75"/>
          <p:cNvSpPr txBox="1"/>
          <p:nvPr/>
        </p:nvSpPr>
        <p:spPr>
          <a:xfrm>
            <a:off x="9532620" y="508471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77" name="Rectangle 76"/>
          <p:cNvSpPr/>
          <p:nvPr/>
        </p:nvSpPr>
        <p:spPr>
          <a:xfrm>
            <a:off x="548640" y="5319192"/>
            <a:ext cx="11064240" cy="26191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40080" y="534662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Optix</a:t>
            </a:r>
          </a:p>
        </p:txBody>
      </p:sp>
      <p:sp>
        <p:nvSpPr>
          <p:cNvPr id="79" name="TextBox 78"/>
          <p:cNvSpPr txBox="1"/>
          <p:nvPr/>
        </p:nvSpPr>
        <p:spPr>
          <a:xfrm>
            <a:off x="3291840" y="534662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356</a:t>
            </a:r>
          </a:p>
        </p:txBody>
      </p:sp>
      <p:sp>
        <p:nvSpPr>
          <p:cNvPr id="80" name="TextBox 79"/>
          <p:cNvSpPr txBox="1"/>
          <p:nvPr/>
        </p:nvSpPr>
        <p:spPr>
          <a:xfrm>
            <a:off x="5372100" y="534662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81" name="TextBox 80"/>
          <p:cNvSpPr txBox="1"/>
          <p:nvPr/>
        </p:nvSpPr>
        <p:spPr>
          <a:xfrm>
            <a:off x="7452360" y="534662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82" name="TextBox 81"/>
          <p:cNvSpPr txBox="1"/>
          <p:nvPr/>
        </p:nvSpPr>
        <p:spPr>
          <a:xfrm>
            <a:off x="9532620" y="534662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83" name="TextBox 82"/>
          <p:cNvSpPr txBox="1"/>
          <p:nvPr/>
        </p:nvSpPr>
        <p:spPr>
          <a:xfrm>
            <a:off x="640080" y="5608534"/>
            <a:ext cx="2743200" cy="261910"/>
          </a:xfrm>
          <a:prstGeom prst="rect">
            <a:avLst/>
          </a:prstGeom>
          <a:noFill/>
        </p:spPr>
        <p:txBody>
          <a:bodyPr wrap="square" lIns="0" tIns="0" rIns="0" bIns="0">
            <a:spAutoFit/>
          </a:bodyPr>
          <a:lstStyle/>
          <a:p>
            <a:pPr algn="l">
              <a:spcAft>
                <a:spcPts val="0"/>
              </a:spcAft>
            </a:pPr>
            <a:r>
              <a:rPr sz="1000" b="0">
                <a:solidFill>
                  <a:srgbClr val="1A1A1A"/>
                </a:solidFill>
                <a:latin typeface="Segoe UI"/>
              </a:rPr>
              <a:t>Multinet</a:t>
            </a:r>
          </a:p>
        </p:txBody>
      </p:sp>
      <p:sp>
        <p:nvSpPr>
          <p:cNvPr id="84" name="TextBox 83"/>
          <p:cNvSpPr txBox="1"/>
          <p:nvPr/>
        </p:nvSpPr>
        <p:spPr>
          <a:xfrm>
            <a:off x="3291840" y="5608534"/>
            <a:ext cx="2080260" cy="261910"/>
          </a:xfrm>
          <a:prstGeom prst="rect">
            <a:avLst/>
          </a:prstGeom>
          <a:noFill/>
        </p:spPr>
        <p:txBody>
          <a:bodyPr wrap="square" lIns="0" tIns="0" rIns="0" bIns="0">
            <a:spAutoFit/>
          </a:bodyPr>
          <a:lstStyle/>
          <a:p>
            <a:pPr algn="r">
              <a:spcAft>
                <a:spcPts val="0"/>
              </a:spcAft>
            </a:pPr>
            <a:r>
              <a:rPr sz="1000" b="0">
                <a:solidFill>
                  <a:srgbClr val="1A1A1A"/>
                </a:solidFill>
                <a:latin typeface="Segoe UI"/>
              </a:rPr>
              <a:t>601</a:t>
            </a:r>
          </a:p>
        </p:txBody>
      </p:sp>
      <p:sp>
        <p:nvSpPr>
          <p:cNvPr id="85" name="TextBox 84"/>
          <p:cNvSpPr txBox="1"/>
          <p:nvPr/>
        </p:nvSpPr>
        <p:spPr>
          <a:xfrm>
            <a:off x="5372100" y="560853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86" name="TextBox 85"/>
          <p:cNvSpPr txBox="1"/>
          <p:nvPr/>
        </p:nvSpPr>
        <p:spPr>
          <a:xfrm>
            <a:off x="7452360" y="560853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87" name="TextBox 86"/>
          <p:cNvSpPr txBox="1"/>
          <p:nvPr/>
        </p:nvSpPr>
        <p:spPr>
          <a:xfrm>
            <a:off x="9532620" y="5608534"/>
            <a:ext cx="2080260" cy="261910"/>
          </a:xfrm>
          <a:prstGeom prst="rect">
            <a:avLst/>
          </a:prstGeom>
          <a:noFill/>
        </p:spPr>
        <p:txBody>
          <a:bodyPr wrap="square" lIns="0" tIns="0" rIns="0" bIns="0">
            <a:spAutoFit/>
          </a:bodyPr>
          <a:lstStyle/>
          <a:p>
            <a:pPr algn="r">
              <a:spcAft>
                <a:spcPts val="0"/>
              </a:spcAft>
            </a:pPr>
            <a:r>
              <a:rPr sz="1000" b="0">
                <a:solidFill>
                  <a:srgbClr val="6B7480"/>
                </a:solidFill>
                <a:latin typeface="Segoe UI"/>
              </a:rPr>
              <a:t>n/v</a:t>
            </a:r>
          </a:p>
        </p:txBody>
      </p:sp>
      <p:sp>
        <p:nvSpPr>
          <p:cNvPr id="88" name="Rectangle 87"/>
          <p:cNvSpPr/>
          <p:nvPr/>
        </p:nvSpPr>
        <p:spPr>
          <a:xfrm>
            <a:off x="548640" y="5943600"/>
            <a:ext cx="11064240" cy="713232"/>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777240" y="6062472"/>
            <a:ext cx="10607040" cy="548640"/>
          </a:xfrm>
          <a:prstGeom prst="rect">
            <a:avLst/>
          </a:prstGeom>
          <a:noFill/>
        </p:spPr>
        <p:txBody>
          <a:bodyPr wrap="square" lIns="0" tIns="0" rIns="0" bIns="0">
            <a:spAutoFit/>
          </a:bodyPr>
          <a:lstStyle/>
          <a:p>
            <a:pPr algn="l">
              <a:spcAft>
                <a:spcPts val="0"/>
              </a:spcAft>
            </a:pPr>
            <a:r>
              <a:rPr sz="1250" b="1">
                <a:solidFill>
                  <a:srgbClr val="FFFFFF"/>
                </a:solidFill>
                <a:latin typeface="Segoe UI"/>
              </a:rPr>
              <a:t>PTCL has 14x more people on Facebook than on Instagram; Nayatel has 57x. Fiberlink has no Instagram at all and 23K on Facebook - a brand this scan would otherwise have called absent.</a:t>
            </a:r>
          </a:p>
        </p:txBody>
      </p:sp>
      <p:sp>
        <p:nvSpPr>
          <p:cNvPr id="90" name="TextBox 89"/>
          <p:cNvSpPr txBox="1"/>
          <p:nvPr/>
        </p:nvSpPr>
        <p:spPr>
          <a:xfrm>
            <a:off x="548640" y="6711696"/>
            <a:ext cx="11064240" cy="274320"/>
          </a:xfrm>
          <a:prstGeom prst="rect">
            <a:avLst/>
          </a:prstGeom>
          <a:noFill/>
        </p:spPr>
        <p:txBody>
          <a:bodyPr wrap="square" lIns="0" tIns="0" rIns="0" bIns="0">
            <a:spAutoFit/>
          </a:bodyPr>
          <a:lstStyle/>
          <a:p>
            <a:pPr algn="l">
              <a:spcAft>
                <a:spcPts val="600"/>
              </a:spcAft>
            </a:pPr>
            <a:r>
              <a:rPr sz="900" b="0">
                <a:solidFill>
                  <a:srgbClr val="6B7480"/>
                </a:solidFill>
                <a:latin typeface="Segoe UI"/>
              </a:rPr>
              <a:t>n/v = not verified: the candidate page could not be confirmed, so the cell is left open rather than reported as zero. TikTok "none" = the account does not exist (PTCL and StormFiber both return "Couldn't find this account"); no official TikTok surfaced for any brand in this category. Facebook renders logged-out for header data only - it is not a viable platform for a systematic creative read, which is why Instagram was scanned.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5156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Levels of branding: where the category is, and where PTCL is talking</a:t>
            </a:r>
          </a:p>
        </p:txBody>
      </p:sp>
      <p:sp>
        <p:nvSpPr>
          <p:cNvPr id="4" name="TextBox 3"/>
          <p:cNvSpPr txBox="1"/>
          <p:nvPr/>
        </p:nvSpPr>
        <p:spPr>
          <a:xfrm>
            <a:off x="548640" y="1143000"/>
            <a:ext cx="11064240" cy="548640"/>
          </a:xfrm>
          <a:prstGeom prst="rect">
            <a:avLst/>
          </a:prstGeom>
          <a:noFill/>
        </p:spPr>
        <p:txBody>
          <a:bodyPr wrap="square" lIns="0" tIns="0" rIns="0" bIns="0">
            <a:spAutoFit/>
          </a:bodyPr>
          <a:lstStyle/>
          <a:p>
            <a:pPr algn="l">
              <a:spcAft>
                <a:spcPts val="400"/>
              </a:spcAft>
            </a:pPr>
            <a:r>
              <a:rPr sz="1350" b="1">
                <a:solidFill>
                  <a:srgbClr val="102A43"/>
                </a:solidFill>
                <a:latin typeface="Segoe UI"/>
              </a:rPr>
              <a:t>Placement computed from the 336 coded posts - each brand's dominant claim mapped to a level, not asserted.</a:t>
            </a:r>
          </a:p>
        </p:txBody>
      </p:sp>
      <p:sp>
        <p:nvSpPr>
          <p:cNvPr id="5" name="Rectangle 4"/>
          <p:cNvSpPr/>
          <p:nvPr/>
        </p:nvSpPr>
        <p:spPr>
          <a:xfrm>
            <a:off x="548640" y="1783080"/>
            <a:ext cx="11064240" cy="65836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837944"/>
            <a:ext cx="2651760" cy="274320"/>
          </a:xfrm>
          <a:prstGeom prst="rect">
            <a:avLst/>
          </a:prstGeom>
          <a:noFill/>
        </p:spPr>
        <p:txBody>
          <a:bodyPr wrap="square" lIns="0" tIns="0" rIns="0" bIns="0">
            <a:spAutoFit/>
          </a:bodyPr>
          <a:lstStyle/>
          <a:p>
            <a:pPr algn="l">
              <a:spcAft>
                <a:spcPts val="0"/>
              </a:spcAft>
            </a:pPr>
            <a:r>
              <a:rPr sz="1200" b="1">
                <a:solidFill>
                  <a:srgbClr val="102A43"/>
                </a:solidFill>
                <a:latin typeface="Segoe UI"/>
              </a:rPr>
              <a:t>6. Mission / philosophy</a:t>
            </a:r>
          </a:p>
        </p:txBody>
      </p:sp>
      <p:sp>
        <p:nvSpPr>
          <p:cNvPr id="7" name="TextBox 6"/>
          <p:cNvSpPr txBox="1"/>
          <p:nvPr/>
        </p:nvSpPr>
        <p:spPr>
          <a:xfrm>
            <a:off x="731520" y="2112264"/>
            <a:ext cx="2651760" cy="274320"/>
          </a:xfrm>
          <a:prstGeom prst="rect">
            <a:avLst/>
          </a:prstGeom>
          <a:noFill/>
        </p:spPr>
        <p:txBody>
          <a:bodyPr wrap="square" lIns="0" tIns="0" rIns="0" bIns="0">
            <a:spAutoFit/>
          </a:bodyPr>
          <a:lstStyle/>
          <a:p>
            <a:pPr algn="l">
              <a:spcAft>
                <a:spcPts val="0"/>
              </a:spcAft>
            </a:pPr>
            <a:r>
              <a:rPr sz="1000" b="0">
                <a:solidFill>
                  <a:srgbClr val="6B7480"/>
                </a:solidFill>
                <a:latin typeface="Segoe UI"/>
              </a:rPr>
              <a:t>"I change things you would like to"</a:t>
            </a:r>
          </a:p>
        </p:txBody>
      </p:sp>
      <p:sp>
        <p:nvSpPr>
          <p:cNvPr id="8" name="TextBox 7"/>
          <p:cNvSpPr txBox="1"/>
          <p:nvPr/>
        </p:nvSpPr>
        <p:spPr>
          <a:xfrm>
            <a:off x="3566160" y="1892808"/>
            <a:ext cx="4754880" cy="457200"/>
          </a:xfrm>
          <a:prstGeom prst="rect">
            <a:avLst/>
          </a:prstGeom>
          <a:noFill/>
        </p:spPr>
        <p:txBody>
          <a:bodyPr wrap="square" lIns="0" tIns="0" rIns="0" bIns="0">
            <a:spAutoFit/>
          </a:bodyPr>
          <a:lstStyle/>
          <a:p>
            <a:pPr algn="l">
              <a:spcAft>
                <a:spcPts val="0"/>
              </a:spcAft>
            </a:pPr>
            <a:r>
              <a:rPr sz="1050" b="0">
                <a:solidFill>
                  <a:srgbClr val="1A1A1A"/>
                </a:solidFill>
                <a:latin typeface="Segoe UI"/>
              </a:rPr>
              <a:t>Nobody in this category.</a:t>
            </a:r>
          </a:p>
        </p:txBody>
      </p:sp>
      <p:sp>
        <p:nvSpPr>
          <p:cNvPr id="9" name="Rectangle 8"/>
          <p:cNvSpPr/>
          <p:nvPr/>
        </p:nvSpPr>
        <p:spPr>
          <a:xfrm>
            <a:off x="548640" y="2523744"/>
            <a:ext cx="11064240" cy="65836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523744"/>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578608"/>
            <a:ext cx="2651760" cy="274320"/>
          </a:xfrm>
          <a:prstGeom prst="rect">
            <a:avLst/>
          </a:prstGeom>
          <a:noFill/>
        </p:spPr>
        <p:txBody>
          <a:bodyPr wrap="square" lIns="0" tIns="0" rIns="0" bIns="0">
            <a:spAutoFit/>
          </a:bodyPr>
          <a:lstStyle/>
          <a:p>
            <a:pPr algn="l">
              <a:spcAft>
                <a:spcPts val="0"/>
              </a:spcAft>
            </a:pPr>
            <a:r>
              <a:rPr sz="1200" b="1">
                <a:solidFill>
                  <a:srgbClr val="102A43"/>
                </a:solidFill>
                <a:latin typeface="Segoe UI"/>
              </a:rPr>
              <a:t>5. Human values / way of life</a:t>
            </a:r>
          </a:p>
        </p:txBody>
      </p:sp>
      <p:sp>
        <p:nvSpPr>
          <p:cNvPr id="12" name="TextBox 11"/>
          <p:cNvSpPr txBox="1"/>
          <p:nvPr/>
        </p:nvSpPr>
        <p:spPr>
          <a:xfrm>
            <a:off x="731520" y="2852928"/>
            <a:ext cx="2651760" cy="274320"/>
          </a:xfrm>
          <a:prstGeom prst="rect">
            <a:avLst/>
          </a:prstGeom>
          <a:noFill/>
        </p:spPr>
        <p:txBody>
          <a:bodyPr wrap="square" lIns="0" tIns="0" rIns="0" bIns="0">
            <a:spAutoFit/>
          </a:bodyPr>
          <a:lstStyle/>
          <a:p>
            <a:pPr algn="l">
              <a:spcAft>
                <a:spcPts val="0"/>
              </a:spcAft>
            </a:pPr>
            <a:r>
              <a:rPr sz="1000" b="0">
                <a:solidFill>
                  <a:srgbClr val="6B7480"/>
                </a:solidFill>
                <a:latin typeface="Segoe UI"/>
              </a:rPr>
              <a:t>"I think like you do"</a:t>
            </a:r>
          </a:p>
        </p:txBody>
      </p:sp>
      <p:sp>
        <p:nvSpPr>
          <p:cNvPr id="13" name="TextBox 12"/>
          <p:cNvSpPr txBox="1"/>
          <p:nvPr/>
        </p:nvSpPr>
        <p:spPr>
          <a:xfrm>
            <a:off x="3566160" y="2633472"/>
            <a:ext cx="4754880" cy="457200"/>
          </a:xfrm>
          <a:prstGeom prst="rect">
            <a:avLst/>
          </a:prstGeom>
          <a:noFill/>
        </p:spPr>
        <p:txBody>
          <a:bodyPr wrap="square" lIns="0" tIns="0" rIns="0" bIns="0">
            <a:spAutoFit/>
          </a:bodyPr>
          <a:lstStyle/>
          <a:p>
            <a:pPr algn="l">
              <a:spcAft>
                <a:spcPts val="0"/>
              </a:spcAft>
            </a:pPr>
            <a:r>
              <a:rPr sz="1050" b="0">
                <a:solidFill>
                  <a:srgbClr val="1A1A1A"/>
                </a:solidFill>
                <a:latin typeface="Segoe UI"/>
              </a:rPr>
              <a:t>PTCL (4.1) - 14 of 24 posts claim heritage or nation, in the pride register</a:t>
            </a:r>
          </a:p>
        </p:txBody>
      </p:sp>
      <p:sp>
        <p:nvSpPr>
          <p:cNvPr id="14" name="TextBox 13"/>
          <p:cNvSpPr txBox="1"/>
          <p:nvPr/>
        </p:nvSpPr>
        <p:spPr>
          <a:xfrm>
            <a:off x="8503920" y="2633472"/>
            <a:ext cx="3017520" cy="457200"/>
          </a:xfrm>
          <a:prstGeom prst="rect">
            <a:avLst/>
          </a:prstGeom>
          <a:noFill/>
        </p:spPr>
        <p:txBody>
          <a:bodyPr wrap="square" lIns="0" tIns="0" rIns="0" bIns="0">
            <a:spAutoFit/>
          </a:bodyPr>
          <a:lstStyle/>
          <a:p>
            <a:pPr algn="l">
              <a:spcAft>
                <a:spcPts val="0"/>
              </a:spcAft>
            </a:pPr>
            <a:r>
              <a:rPr sz="1050" b="1">
                <a:solidFill>
                  <a:srgbClr val="C8102E"/>
                </a:solidFill>
                <a:latin typeface="Segoe UI"/>
              </a:rPr>
              <a:t>WHERE PTCL IS TALKING</a:t>
            </a:r>
          </a:p>
        </p:txBody>
      </p:sp>
      <p:sp>
        <p:nvSpPr>
          <p:cNvPr id="15" name="Rectangle 14"/>
          <p:cNvSpPr/>
          <p:nvPr/>
        </p:nvSpPr>
        <p:spPr>
          <a:xfrm>
            <a:off x="548640" y="3264408"/>
            <a:ext cx="11064240" cy="65836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3264408"/>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319272"/>
            <a:ext cx="2651760" cy="274320"/>
          </a:xfrm>
          <a:prstGeom prst="rect">
            <a:avLst/>
          </a:prstGeom>
          <a:noFill/>
        </p:spPr>
        <p:txBody>
          <a:bodyPr wrap="square" lIns="0" tIns="0" rIns="0" bIns="0">
            <a:spAutoFit/>
          </a:bodyPr>
          <a:lstStyle/>
          <a:p>
            <a:pPr algn="l">
              <a:spcAft>
                <a:spcPts val="0"/>
              </a:spcAft>
            </a:pPr>
            <a:r>
              <a:rPr sz="1200" b="1">
                <a:solidFill>
                  <a:srgbClr val="102A43"/>
                </a:solidFill>
                <a:latin typeface="Segoe UI"/>
              </a:rPr>
              <a:t>4. Psychological territory</a:t>
            </a:r>
          </a:p>
        </p:txBody>
      </p:sp>
      <p:sp>
        <p:nvSpPr>
          <p:cNvPr id="18" name="TextBox 17"/>
          <p:cNvSpPr txBox="1"/>
          <p:nvPr/>
        </p:nvSpPr>
        <p:spPr>
          <a:xfrm>
            <a:off x="731520" y="3593592"/>
            <a:ext cx="2651760" cy="274320"/>
          </a:xfrm>
          <a:prstGeom prst="rect">
            <a:avLst/>
          </a:prstGeom>
          <a:noFill/>
        </p:spPr>
        <p:txBody>
          <a:bodyPr wrap="square" lIns="0" tIns="0" rIns="0" bIns="0">
            <a:spAutoFit/>
          </a:bodyPr>
          <a:lstStyle/>
          <a:p>
            <a:pPr algn="l">
              <a:spcAft>
                <a:spcPts val="0"/>
              </a:spcAft>
            </a:pPr>
            <a:r>
              <a:rPr sz="1000" b="0">
                <a:solidFill>
                  <a:srgbClr val="6B7480"/>
                </a:solidFill>
                <a:latin typeface="Segoe UI"/>
              </a:rPr>
              <a:t>"I am like you; you are like me"</a:t>
            </a:r>
          </a:p>
        </p:txBody>
      </p:sp>
      <p:sp>
        <p:nvSpPr>
          <p:cNvPr id="19" name="TextBox 18"/>
          <p:cNvSpPr txBox="1"/>
          <p:nvPr/>
        </p:nvSpPr>
        <p:spPr>
          <a:xfrm>
            <a:off x="3566160" y="3374136"/>
            <a:ext cx="4754880" cy="457200"/>
          </a:xfrm>
          <a:prstGeom prst="rect">
            <a:avLst/>
          </a:prstGeom>
          <a:noFill/>
        </p:spPr>
        <p:txBody>
          <a:bodyPr wrap="square" lIns="0" tIns="0" rIns="0" bIns="0">
            <a:spAutoFit/>
          </a:bodyPr>
          <a:lstStyle/>
          <a:p>
            <a:pPr algn="l">
              <a:spcAft>
                <a:spcPts val="0"/>
              </a:spcAft>
            </a:pPr>
            <a:r>
              <a:rPr sz="1050" b="0">
                <a:solidFill>
                  <a:srgbClr val="1A1A1A"/>
                </a:solidFill>
                <a:latin typeface="Segoe UI"/>
              </a:rPr>
              <a:t>Transworld (3.8), Ufone (3.9) - household truths, nostalgia, relatability</a:t>
            </a:r>
          </a:p>
        </p:txBody>
      </p:sp>
      <p:sp>
        <p:nvSpPr>
          <p:cNvPr id="20" name="TextBox 19"/>
          <p:cNvSpPr txBox="1"/>
          <p:nvPr/>
        </p:nvSpPr>
        <p:spPr>
          <a:xfrm>
            <a:off x="8503920" y="3374136"/>
            <a:ext cx="3017520" cy="457200"/>
          </a:xfrm>
          <a:prstGeom prst="rect">
            <a:avLst/>
          </a:prstGeom>
          <a:noFill/>
        </p:spPr>
        <p:txBody>
          <a:bodyPr wrap="square" lIns="0" tIns="0" rIns="0" bIns="0">
            <a:spAutoFit/>
          </a:bodyPr>
          <a:lstStyle/>
          <a:p>
            <a:pPr algn="l">
              <a:spcAft>
                <a:spcPts val="0"/>
              </a:spcAft>
            </a:pPr>
            <a:r>
              <a:rPr sz="1050" b="1">
                <a:solidFill>
                  <a:srgbClr val="C8102E"/>
                </a:solidFill>
                <a:latin typeface="Segoe UI"/>
              </a:rPr>
              <a:t>THE DIFFERENTIATION GAP</a:t>
            </a:r>
          </a:p>
        </p:txBody>
      </p:sp>
      <p:sp>
        <p:nvSpPr>
          <p:cNvPr id="21" name="Rectangle 20"/>
          <p:cNvSpPr/>
          <p:nvPr/>
        </p:nvSpPr>
        <p:spPr>
          <a:xfrm>
            <a:off x="548640" y="4005072"/>
            <a:ext cx="11064240" cy="65836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4005072"/>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059936"/>
            <a:ext cx="2651760" cy="274320"/>
          </a:xfrm>
          <a:prstGeom prst="rect">
            <a:avLst/>
          </a:prstGeom>
          <a:noFill/>
        </p:spPr>
        <p:txBody>
          <a:bodyPr wrap="square" lIns="0" tIns="0" rIns="0" bIns="0">
            <a:spAutoFit/>
          </a:bodyPr>
          <a:lstStyle/>
          <a:p>
            <a:pPr algn="l">
              <a:spcAft>
                <a:spcPts val="0"/>
              </a:spcAft>
            </a:pPr>
            <a:r>
              <a:rPr sz="1200" b="1">
                <a:solidFill>
                  <a:srgbClr val="102A43"/>
                </a:solidFill>
                <a:latin typeface="Segoe UI"/>
              </a:rPr>
              <a:t>3. Product benefits</a:t>
            </a:r>
          </a:p>
        </p:txBody>
      </p:sp>
      <p:sp>
        <p:nvSpPr>
          <p:cNvPr id="24" name="TextBox 23"/>
          <p:cNvSpPr txBox="1"/>
          <p:nvPr/>
        </p:nvSpPr>
        <p:spPr>
          <a:xfrm>
            <a:off x="731520" y="4334256"/>
            <a:ext cx="2651760" cy="274320"/>
          </a:xfrm>
          <a:prstGeom prst="rect">
            <a:avLst/>
          </a:prstGeom>
          <a:noFill/>
        </p:spPr>
        <p:txBody>
          <a:bodyPr wrap="square" lIns="0" tIns="0" rIns="0" bIns="0">
            <a:spAutoFit/>
          </a:bodyPr>
          <a:lstStyle/>
          <a:p>
            <a:pPr algn="l">
              <a:spcAft>
                <a:spcPts val="0"/>
              </a:spcAft>
            </a:pPr>
            <a:r>
              <a:rPr sz="1000" b="0">
                <a:solidFill>
                  <a:srgbClr val="6B7480"/>
                </a:solidFill>
                <a:latin typeface="Segoe UI"/>
              </a:rPr>
              <a:t>"Here is what I can do for you"</a:t>
            </a:r>
          </a:p>
        </p:txBody>
      </p:sp>
      <p:sp>
        <p:nvSpPr>
          <p:cNvPr id="25" name="TextBox 24"/>
          <p:cNvSpPr txBox="1"/>
          <p:nvPr/>
        </p:nvSpPr>
        <p:spPr>
          <a:xfrm>
            <a:off x="3566160" y="4114800"/>
            <a:ext cx="4754880" cy="457200"/>
          </a:xfrm>
          <a:prstGeom prst="rect">
            <a:avLst/>
          </a:prstGeom>
          <a:noFill/>
        </p:spPr>
        <p:txBody>
          <a:bodyPr wrap="square" lIns="0" tIns="0" rIns="0" bIns="0">
            <a:spAutoFit/>
          </a:bodyPr>
          <a:lstStyle/>
          <a:p>
            <a:pPr algn="l">
              <a:spcAft>
                <a:spcPts val="0"/>
              </a:spcAft>
            </a:pPr>
            <a:r>
              <a:rPr sz="1050" b="0">
                <a:solidFill>
                  <a:srgbClr val="1A1A1A"/>
                </a:solidFill>
                <a:latin typeface="Segoe UI"/>
              </a:rPr>
              <a:t>Tapmad (3.0), Multinet (3.2), Jazz Business (3.3) - problem-led, what it does for you</a:t>
            </a:r>
          </a:p>
        </p:txBody>
      </p:sp>
      <p:sp>
        <p:nvSpPr>
          <p:cNvPr id="26" name="TextBox 25"/>
          <p:cNvSpPr txBox="1"/>
          <p:nvPr/>
        </p:nvSpPr>
        <p:spPr>
          <a:xfrm>
            <a:off x="8503920" y="4114800"/>
            <a:ext cx="3017520" cy="457200"/>
          </a:xfrm>
          <a:prstGeom prst="rect">
            <a:avLst/>
          </a:prstGeom>
          <a:noFill/>
        </p:spPr>
        <p:txBody>
          <a:bodyPr wrap="square" lIns="0" tIns="0" rIns="0" bIns="0">
            <a:spAutoFit/>
          </a:bodyPr>
          <a:lstStyle/>
          <a:p>
            <a:pPr algn="l">
              <a:spcAft>
                <a:spcPts val="0"/>
              </a:spcAft>
            </a:pPr>
            <a:r>
              <a:rPr sz="1050" b="1">
                <a:solidFill>
                  <a:srgbClr val="C8102E"/>
                </a:solidFill>
                <a:latin typeface="Segoe UI"/>
              </a:rPr>
              <a:t>WHERE PTCL MUST EARN</a:t>
            </a:r>
          </a:p>
        </p:txBody>
      </p:sp>
      <p:sp>
        <p:nvSpPr>
          <p:cNvPr id="27" name="Rectangle 26"/>
          <p:cNvSpPr/>
          <p:nvPr/>
        </p:nvSpPr>
        <p:spPr>
          <a:xfrm>
            <a:off x="548640" y="4745736"/>
            <a:ext cx="11064240" cy="65836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4745736"/>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4800600"/>
            <a:ext cx="2651760" cy="274320"/>
          </a:xfrm>
          <a:prstGeom prst="rect">
            <a:avLst/>
          </a:prstGeom>
          <a:noFill/>
        </p:spPr>
        <p:txBody>
          <a:bodyPr wrap="square" lIns="0" tIns="0" rIns="0" bIns="0">
            <a:spAutoFit/>
          </a:bodyPr>
          <a:lstStyle/>
          <a:p>
            <a:pPr algn="l">
              <a:spcAft>
                <a:spcPts val="0"/>
              </a:spcAft>
            </a:pPr>
            <a:r>
              <a:rPr sz="1200" b="1">
                <a:solidFill>
                  <a:srgbClr val="102A43"/>
                </a:solidFill>
                <a:latin typeface="Segoe UI"/>
              </a:rPr>
              <a:t>2. Product attributes</a:t>
            </a:r>
          </a:p>
        </p:txBody>
      </p:sp>
      <p:sp>
        <p:nvSpPr>
          <p:cNvPr id="30" name="TextBox 29"/>
          <p:cNvSpPr txBox="1"/>
          <p:nvPr/>
        </p:nvSpPr>
        <p:spPr>
          <a:xfrm>
            <a:off x="731520" y="5074920"/>
            <a:ext cx="2651760" cy="274320"/>
          </a:xfrm>
          <a:prstGeom prst="rect">
            <a:avLst/>
          </a:prstGeom>
          <a:noFill/>
        </p:spPr>
        <p:txBody>
          <a:bodyPr wrap="square" lIns="0" tIns="0" rIns="0" bIns="0">
            <a:spAutoFit/>
          </a:bodyPr>
          <a:lstStyle/>
          <a:p>
            <a:pPr algn="l">
              <a:spcAft>
                <a:spcPts val="0"/>
              </a:spcAft>
            </a:pPr>
            <a:r>
              <a:rPr sz="1000" b="0">
                <a:solidFill>
                  <a:srgbClr val="6B7480"/>
                </a:solidFill>
                <a:latin typeface="Segoe UI"/>
              </a:rPr>
              <a:t>"Reason to buy me"</a:t>
            </a:r>
          </a:p>
        </p:txBody>
      </p:sp>
      <p:sp>
        <p:nvSpPr>
          <p:cNvPr id="31" name="TextBox 30"/>
          <p:cNvSpPr txBox="1"/>
          <p:nvPr/>
        </p:nvSpPr>
        <p:spPr>
          <a:xfrm>
            <a:off x="3566160" y="4855464"/>
            <a:ext cx="4754880" cy="457200"/>
          </a:xfrm>
          <a:prstGeom prst="rect">
            <a:avLst/>
          </a:prstGeom>
          <a:noFill/>
        </p:spPr>
        <p:txBody>
          <a:bodyPr wrap="square" lIns="0" tIns="0" rIns="0" bIns="0">
            <a:spAutoFit/>
          </a:bodyPr>
          <a:lstStyle/>
          <a:p>
            <a:pPr algn="l">
              <a:spcAft>
                <a:spcPts val="0"/>
              </a:spcAft>
            </a:pPr>
            <a:r>
              <a:rPr sz="1050" b="0">
                <a:solidFill>
                  <a:srgbClr val="1A1A1A"/>
                </a:solidFill>
                <a:latin typeface="Segoe UI"/>
              </a:rPr>
              <a:t>StormFiber (2.6), Zong (2.8), Optix (2.9), Jazz (2.9) - speed, price, coverage tiles</a:t>
            </a:r>
          </a:p>
        </p:txBody>
      </p:sp>
      <p:sp>
        <p:nvSpPr>
          <p:cNvPr id="32" name="TextBox 31"/>
          <p:cNvSpPr txBox="1"/>
          <p:nvPr/>
        </p:nvSpPr>
        <p:spPr>
          <a:xfrm>
            <a:off x="8503920" y="4855464"/>
            <a:ext cx="3017520" cy="457200"/>
          </a:xfrm>
          <a:prstGeom prst="rect">
            <a:avLst/>
          </a:prstGeom>
          <a:noFill/>
        </p:spPr>
        <p:txBody>
          <a:bodyPr wrap="square" lIns="0" tIns="0" rIns="0" bIns="0">
            <a:spAutoFit/>
          </a:bodyPr>
          <a:lstStyle/>
          <a:p>
            <a:pPr algn="l">
              <a:spcAft>
                <a:spcPts val="0"/>
              </a:spcAft>
            </a:pPr>
            <a:r>
              <a:rPr sz="1050" b="1">
                <a:solidFill>
                  <a:srgbClr val="C8102E"/>
                </a:solidFill>
                <a:latin typeface="Segoe UI"/>
              </a:rPr>
              <a:t>WHERE THE CATEGORY SITS</a:t>
            </a:r>
          </a:p>
        </p:txBody>
      </p:sp>
      <p:sp>
        <p:nvSpPr>
          <p:cNvPr id="33" name="Rectangle 32"/>
          <p:cNvSpPr/>
          <p:nvPr/>
        </p:nvSpPr>
        <p:spPr>
          <a:xfrm>
            <a:off x="548640" y="5486400"/>
            <a:ext cx="11064240" cy="658368"/>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 y="5541264"/>
            <a:ext cx="2651760" cy="274320"/>
          </a:xfrm>
          <a:prstGeom prst="rect">
            <a:avLst/>
          </a:prstGeom>
          <a:noFill/>
        </p:spPr>
        <p:txBody>
          <a:bodyPr wrap="square" lIns="0" tIns="0" rIns="0" bIns="0">
            <a:spAutoFit/>
          </a:bodyPr>
          <a:lstStyle/>
          <a:p>
            <a:pPr algn="l">
              <a:spcAft>
                <a:spcPts val="0"/>
              </a:spcAft>
            </a:pPr>
            <a:r>
              <a:rPr sz="1200" b="1">
                <a:solidFill>
                  <a:srgbClr val="102A43"/>
                </a:solidFill>
                <a:latin typeface="Segoe UI"/>
              </a:rPr>
              <a:t>1. Name only</a:t>
            </a:r>
          </a:p>
        </p:txBody>
      </p:sp>
      <p:sp>
        <p:nvSpPr>
          <p:cNvPr id="35" name="TextBox 34"/>
          <p:cNvSpPr txBox="1"/>
          <p:nvPr/>
        </p:nvSpPr>
        <p:spPr>
          <a:xfrm>
            <a:off x="731520" y="5815584"/>
            <a:ext cx="2651760" cy="274320"/>
          </a:xfrm>
          <a:prstGeom prst="rect">
            <a:avLst/>
          </a:prstGeom>
          <a:noFill/>
        </p:spPr>
        <p:txBody>
          <a:bodyPr wrap="square" lIns="0" tIns="0" rIns="0" bIns="0">
            <a:spAutoFit/>
          </a:bodyPr>
          <a:lstStyle/>
          <a:p>
            <a:pPr algn="l">
              <a:spcAft>
                <a:spcPts val="0"/>
              </a:spcAft>
            </a:pPr>
            <a:r>
              <a:rPr sz="1000" b="0">
                <a:solidFill>
                  <a:srgbClr val="6B7480"/>
                </a:solidFill>
                <a:latin typeface="Segoe UI"/>
              </a:rPr>
              <a:t>"I am here"</a:t>
            </a:r>
          </a:p>
        </p:txBody>
      </p:sp>
      <p:sp>
        <p:nvSpPr>
          <p:cNvPr id="36" name="TextBox 35"/>
          <p:cNvSpPr txBox="1"/>
          <p:nvPr/>
        </p:nvSpPr>
        <p:spPr>
          <a:xfrm>
            <a:off x="3566160" y="5596128"/>
            <a:ext cx="4754880" cy="457200"/>
          </a:xfrm>
          <a:prstGeom prst="rect">
            <a:avLst/>
          </a:prstGeom>
          <a:noFill/>
        </p:spPr>
        <p:txBody>
          <a:bodyPr wrap="square" lIns="0" tIns="0" rIns="0" bIns="0">
            <a:spAutoFit/>
          </a:bodyPr>
          <a:lstStyle/>
          <a:p>
            <a:pPr algn="l">
              <a:spcAft>
                <a:spcPts val="0"/>
              </a:spcAft>
            </a:pPr>
            <a:r>
              <a:rPr sz="1050" b="0">
                <a:solidFill>
                  <a:srgbClr val="1A1A1A"/>
                </a:solidFill>
                <a:latin typeface="Segoe UI"/>
              </a:rPr>
              <a:t>Nobody. Every brand in this category has moved past recognition.</a:t>
            </a:r>
          </a:p>
        </p:txBody>
      </p:sp>
      <p:sp>
        <p:nvSpPr>
          <p:cNvPr id="37" name="Rectangle 36"/>
          <p:cNvSpPr/>
          <p:nvPr/>
        </p:nvSpPr>
        <p:spPr>
          <a:xfrm>
            <a:off x="548640" y="6080760"/>
            <a:ext cx="11064240" cy="65836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77240" y="6199632"/>
            <a:ext cx="10607040" cy="502920"/>
          </a:xfrm>
          <a:prstGeom prst="rect">
            <a:avLst/>
          </a:prstGeom>
          <a:noFill/>
        </p:spPr>
        <p:txBody>
          <a:bodyPr wrap="square" lIns="0" tIns="0" rIns="0" bIns="0">
            <a:spAutoFit/>
          </a:bodyPr>
          <a:lstStyle/>
          <a:p>
            <a:pPr algn="l">
              <a:spcAft>
                <a:spcPts val="0"/>
              </a:spcAft>
            </a:pPr>
            <a:r>
              <a:rPr sz="1250" b="1">
                <a:solidFill>
                  <a:srgbClr val="FFFFFF"/>
                </a:solidFill>
                <a:latin typeface="Segoe UI"/>
              </a:rPr>
              <a:t>PTCL is communicating roughly two levels above where it is delivering - and the ladder does not let a brand skip.</a:t>
            </a:r>
          </a:p>
        </p:txBody>
      </p:sp>
      <p:sp>
        <p:nvSpPr>
          <p:cNvPr id="39" name="TextBox 38"/>
          <p:cNvSpPr txBox="1"/>
          <p:nvPr/>
        </p:nvSpPr>
        <p:spPr>
          <a:xfrm>
            <a:off x="548640" y="6784848"/>
            <a:ext cx="11064240" cy="256032"/>
          </a:xfrm>
          <a:prstGeom prst="rect">
            <a:avLst/>
          </a:prstGeom>
          <a:noFill/>
        </p:spPr>
        <p:txBody>
          <a:bodyPr wrap="square" lIns="0" tIns="0" rIns="0" bIns="0">
            <a:spAutoFit/>
          </a:bodyPr>
          <a:lstStyle/>
          <a:p>
            <a:pPr algn="l">
              <a:spcAft>
                <a:spcPts val="600"/>
              </a:spcAft>
            </a:pPr>
            <a:r>
              <a:rPr sz="900" b="0">
                <a:solidFill>
                  <a:srgbClr val="6B7480"/>
                </a:solidFill>
                <a:latin typeface="Segoe UI"/>
              </a:rPr>
              <a:t>Framework: Levels of Branding. Placement is each brand's mean level across its coded posts; a claim map, not a quality judgement.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5156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Three things the sheet says that the category does not know about itself</a:t>
            </a:r>
          </a:p>
        </p:txBody>
      </p:sp>
      <p:sp>
        <p:nvSpPr>
          <p:cNvPr id="4" name="Rectangle 3"/>
          <p:cNvSpPr/>
          <p:nvPr/>
        </p:nvSpPr>
        <p:spPr>
          <a:xfrm>
            <a:off x="54864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81328"/>
            <a:ext cx="3566160" cy="411480"/>
          </a:xfrm>
          <a:prstGeom prst="rect">
            <a:avLst/>
          </a:prstGeom>
          <a:noFill/>
        </p:spPr>
        <p:txBody>
          <a:bodyPr wrap="square" lIns="0" tIns="0" rIns="0" bIns="0">
            <a:spAutoFit/>
          </a:bodyPr>
          <a:lstStyle/>
          <a:p>
            <a:pPr algn="l">
              <a:spcAft>
                <a:spcPts val="600"/>
              </a:spcAft>
            </a:pPr>
            <a:r>
              <a:rPr sz="1400" b="1">
                <a:solidFill>
                  <a:srgbClr val="102A43"/>
                </a:solidFill>
                <a:latin typeface="Segoe UI"/>
              </a:rPr>
              <a:t>PTCL's territory is the most crowded one</a:t>
            </a:r>
          </a:p>
        </p:txBody>
      </p:sp>
      <p:sp>
        <p:nvSpPr>
          <p:cNvPr id="6" name="TextBox 5"/>
          <p:cNvSpPr txBox="1"/>
          <p:nvPr/>
        </p:nvSpPr>
        <p:spPr>
          <a:xfrm>
            <a:off x="548640" y="1920240"/>
            <a:ext cx="3566160" cy="640080"/>
          </a:xfrm>
          <a:prstGeom prst="rect">
            <a:avLst/>
          </a:prstGeom>
          <a:noFill/>
        </p:spPr>
        <p:txBody>
          <a:bodyPr wrap="square" lIns="0" tIns="0" rIns="0" bIns="0">
            <a:spAutoFit/>
          </a:bodyPr>
          <a:lstStyle/>
          <a:p>
            <a:pPr algn="l">
              <a:spcAft>
                <a:spcPts val="600"/>
              </a:spcAft>
            </a:pPr>
            <a:r>
              <a:rPr sz="3000" b="1">
                <a:solidFill>
                  <a:srgbClr val="C8102E"/>
                </a:solidFill>
                <a:latin typeface="Segoe UI"/>
              </a:rPr>
              <a:t>59</a:t>
            </a:r>
          </a:p>
        </p:txBody>
      </p:sp>
      <p:sp>
        <p:nvSpPr>
          <p:cNvPr id="7" name="TextBox 6"/>
          <p:cNvSpPr txBox="1"/>
          <p:nvPr/>
        </p:nvSpPr>
        <p:spPr>
          <a:xfrm>
            <a:off x="548640" y="2606040"/>
            <a:ext cx="3566160" cy="548640"/>
          </a:xfrm>
          <a:prstGeom prst="rect">
            <a:avLst/>
          </a:prstGeom>
          <a:noFill/>
        </p:spPr>
        <p:txBody>
          <a:bodyPr wrap="square" lIns="0" tIns="0" rIns="0" bIns="0">
            <a:spAutoFit/>
          </a:bodyPr>
          <a:lstStyle/>
          <a:p>
            <a:pPr algn="l">
              <a:spcAft>
                <a:spcPts val="600"/>
              </a:spcAft>
            </a:pPr>
            <a:r>
              <a:rPr sz="1050" b="0">
                <a:solidFill>
                  <a:srgbClr val="6B7480"/>
                </a:solidFill>
                <a:latin typeface="Segoe UI"/>
              </a:rPr>
              <a:t>posts claim heritage or nation - the largest territory on the map, 49 of them in the pride register. 13 of 14 brands are standing in it.</a:t>
            </a:r>
          </a:p>
        </p:txBody>
      </p:sp>
      <p:sp>
        <p:nvSpPr>
          <p:cNvPr id="8" name="TextBox 7"/>
          <p:cNvSpPr txBox="1"/>
          <p:nvPr/>
        </p:nvSpPr>
        <p:spPr>
          <a:xfrm>
            <a:off x="548640" y="320040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PTCL</a:t>
            </a:r>
          </a:p>
        </p:txBody>
      </p:sp>
      <p:sp>
        <p:nvSpPr>
          <p:cNvPr id="9" name="TextBox 8"/>
          <p:cNvSpPr txBox="1"/>
          <p:nvPr/>
        </p:nvSpPr>
        <p:spPr>
          <a:xfrm>
            <a:off x="3291840" y="320040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14/24</a:t>
            </a:r>
          </a:p>
        </p:txBody>
      </p:sp>
      <p:sp>
        <p:nvSpPr>
          <p:cNvPr id="10" name="TextBox 9"/>
          <p:cNvSpPr txBox="1"/>
          <p:nvPr/>
        </p:nvSpPr>
        <p:spPr>
          <a:xfrm>
            <a:off x="548640" y="356616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Nayatel</a:t>
            </a:r>
          </a:p>
        </p:txBody>
      </p:sp>
      <p:sp>
        <p:nvSpPr>
          <p:cNvPr id="11" name="TextBox 10"/>
          <p:cNvSpPr txBox="1"/>
          <p:nvPr/>
        </p:nvSpPr>
        <p:spPr>
          <a:xfrm>
            <a:off x="3291840" y="356616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10/24</a:t>
            </a:r>
          </a:p>
        </p:txBody>
      </p:sp>
      <p:sp>
        <p:nvSpPr>
          <p:cNvPr id="12" name="TextBox 11"/>
          <p:cNvSpPr txBox="1"/>
          <p:nvPr/>
        </p:nvSpPr>
        <p:spPr>
          <a:xfrm>
            <a:off x="548640" y="393192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Transworld Home</a:t>
            </a:r>
          </a:p>
        </p:txBody>
      </p:sp>
      <p:sp>
        <p:nvSpPr>
          <p:cNvPr id="13" name="TextBox 12"/>
          <p:cNvSpPr txBox="1"/>
          <p:nvPr/>
        </p:nvSpPr>
        <p:spPr>
          <a:xfrm>
            <a:off x="3291840" y="393192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8/24</a:t>
            </a:r>
          </a:p>
        </p:txBody>
      </p:sp>
      <p:sp>
        <p:nvSpPr>
          <p:cNvPr id="14" name="TextBox 13"/>
          <p:cNvSpPr txBox="1"/>
          <p:nvPr/>
        </p:nvSpPr>
        <p:spPr>
          <a:xfrm>
            <a:off x="548640" y="429768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Ufone</a:t>
            </a:r>
          </a:p>
        </p:txBody>
      </p:sp>
      <p:sp>
        <p:nvSpPr>
          <p:cNvPr id="15" name="TextBox 14"/>
          <p:cNvSpPr txBox="1"/>
          <p:nvPr/>
        </p:nvSpPr>
        <p:spPr>
          <a:xfrm>
            <a:off x="3291840" y="429768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7/24</a:t>
            </a:r>
          </a:p>
        </p:txBody>
      </p:sp>
      <p:sp>
        <p:nvSpPr>
          <p:cNvPr id="16" name="TextBox 15"/>
          <p:cNvSpPr txBox="1"/>
          <p:nvPr/>
        </p:nvSpPr>
        <p:spPr>
          <a:xfrm>
            <a:off x="548640" y="466344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Wateen</a:t>
            </a:r>
          </a:p>
        </p:txBody>
      </p:sp>
      <p:sp>
        <p:nvSpPr>
          <p:cNvPr id="17" name="TextBox 16"/>
          <p:cNvSpPr txBox="1"/>
          <p:nvPr/>
        </p:nvSpPr>
        <p:spPr>
          <a:xfrm>
            <a:off x="3291840" y="466344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4/24</a:t>
            </a:r>
          </a:p>
        </p:txBody>
      </p:sp>
      <p:sp>
        <p:nvSpPr>
          <p:cNvPr id="18" name="TextBox 17"/>
          <p:cNvSpPr txBox="1"/>
          <p:nvPr/>
        </p:nvSpPr>
        <p:spPr>
          <a:xfrm>
            <a:off x="548640" y="502920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Worldcall</a:t>
            </a:r>
          </a:p>
        </p:txBody>
      </p:sp>
      <p:sp>
        <p:nvSpPr>
          <p:cNvPr id="19" name="TextBox 18"/>
          <p:cNvSpPr txBox="1"/>
          <p:nvPr/>
        </p:nvSpPr>
        <p:spPr>
          <a:xfrm>
            <a:off x="3291840" y="502920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4/24</a:t>
            </a:r>
          </a:p>
        </p:txBody>
      </p:sp>
      <p:sp>
        <p:nvSpPr>
          <p:cNvPr id="20" name="Rectangle 19"/>
          <p:cNvSpPr/>
          <p:nvPr/>
        </p:nvSpPr>
        <p:spPr>
          <a:xfrm>
            <a:off x="448056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80560" y="1481328"/>
            <a:ext cx="3566160" cy="411480"/>
          </a:xfrm>
          <a:prstGeom prst="rect">
            <a:avLst/>
          </a:prstGeom>
          <a:noFill/>
        </p:spPr>
        <p:txBody>
          <a:bodyPr wrap="square" lIns="0" tIns="0" rIns="0" bIns="0">
            <a:spAutoFit/>
          </a:bodyPr>
          <a:lstStyle/>
          <a:p>
            <a:pPr algn="l">
              <a:spcAft>
                <a:spcPts val="600"/>
              </a:spcAft>
            </a:pPr>
            <a:r>
              <a:rPr sz="1400" b="1">
                <a:solidFill>
                  <a:srgbClr val="102A43"/>
                </a:solidFill>
                <a:latin typeface="Segoe UI"/>
              </a:rPr>
              <a:t>Nobody proves anything</a:t>
            </a:r>
          </a:p>
        </p:txBody>
      </p:sp>
      <p:sp>
        <p:nvSpPr>
          <p:cNvPr id="22" name="TextBox 21"/>
          <p:cNvSpPr txBox="1"/>
          <p:nvPr/>
        </p:nvSpPr>
        <p:spPr>
          <a:xfrm>
            <a:off x="4480560" y="1920240"/>
            <a:ext cx="3566160" cy="640080"/>
          </a:xfrm>
          <a:prstGeom prst="rect">
            <a:avLst/>
          </a:prstGeom>
          <a:noFill/>
        </p:spPr>
        <p:txBody>
          <a:bodyPr wrap="square" lIns="0" tIns="0" rIns="0" bIns="0">
            <a:spAutoFit/>
          </a:bodyPr>
          <a:lstStyle/>
          <a:p>
            <a:pPr algn="l">
              <a:spcAft>
                <a:spcPts val="600"/>
              </a:spcAft>
            </a:pPr>
            <a:r>
              <a:rPr sz="3000" b="1">
                <a:solidFill>
                  <a:srgbClr val="C8102E"/>
                </a:solidFill>
                <a:latin typeface="Segoe UI"/>
              </a:rPr>
              <a:t>68%</a:t>
            </a:r>
          </a:p>
        </p:txBody>
      </p:sp>
      <p:sp>
        <p:nvSpPr>
          <p:cNvPr id="23" name="TextBox 22"/>
          <p:cNvSpPr txBox="1"/>
          <p:nvPr/>
        </p:nvSpPr>
        <p:spPr>
          <a:xfrm>
            <a:off x="4480560" y="2606040"/>
            <a:ext cx="3566160" cy="548640"/>
          </a:xfrm>
          <a:prstGeom prst="rect">
            <a:avLst/>
          </a:prstGeom>
          <a:noFill/>
        </p:spPr>
        <p:txBody>
          <a:bodyPr wrap="square" lIns="0" tIns="0" rIns="0" bIns="0">
            <a:spAutoFit/>
          </a:bodyPr>
          <a:lstStyle/>
          <a:p>
            <a:pPr algn="l">
              <a:spcAft>
                <a:spcPts val="600"/>
              </a:spcAft>
            </a:pPr>
            <a:r>
              <a:rPr sz="1050" b="0">
                <a:solidFill>
                  <a:srgbClr val="6B7480"/>
                </a:solidFill>
                <a:latin typeface="Segoe UI"/>
              </a:rPr>
              <a:t>of posts carry no proof device at all. Not one post in 336 cites an independent speed test or performance result.</a:t>
            </a:r>
          </a:p>
        </p:txBody>
      </p:sp>
      <p:sp>
        <p:nvSpPr>
          <p:cNvPr id="24" name="TextBox 23"/>
          <p:cNvSpPr txBox="1"/>
          <p:nvPr/>
        </p:nvSpPr>
        <p:spPr>
          <a:xfrm>
            <a:off x="4480560" y="320040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no proof device</a:t>
            </a:r>
          </a:p>
        </p:txBody>
      </p:sp>
      <p:sp>
        <p:nvSpPr>
          <p:cNvPr id="25" name="TextBox 24"/>
          <p:cNvSpPr txBox="1"/>
          <p:nvPr/>
        </p:nvSpPr>
        <p:spPr>
          <a:xfrm>
            <a:off x="7223760" y="320040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229</a:t>
            </a:r>
          </a:p>
        </p:txBody>
      </p:sp>
      <p:sp>
        <p:nvSpPr>
          <p:cNvPr id="26" name="TextBox 25"/>
          <p:cNvSpPr txBox="1"/>
          <p:nvPr/>
        </p:nvSpPr>
        <p:spPr>
          <a:xfrm>
            <a:off x="4480560" y="356616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partner brand</a:t>
            </a:r>
          </a:p>
        </p:txBody>
      </p:sp>
      <p:sp>
        <p:nvSpPr>
          <p:cNvPr id="27" name="TextBox 26"/>
          <p:cNvSpPr txBox="1"/>
          <p:nvPr/>
        </p:nvSpPr>
        <p:spPr>
          <a:xfrm>
            <a:off x="7223760" y="356616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37</a:t>
            </a:r>
          </a:p>
        </p:txBody>
      </p:sp>
      <p:sp>
        <p:nvSpPr>
          <p:cNvPr id="28" name="TextBox 27"/>
          <p:cNvSpPr txBox="1"/>
          <p:nvPr/>
        </p:nvSpPr>
        <p:spPr>
          <a:xfrm>
            <a:off x="4480560" y="393192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celebrity</a:t>
            </a:r>
          </a:p>
        </p:txBody>
      </p:sp>
      <p:sp>
        <p:nvSpPr>
          <p:cNvPr id="29" name="TextBox 28"/>
          <p:cNvSpPr txBox="1"/>
          <p:nvPr/>
        </p:nvSpPr>
        <p:spPr>
          <a:xfrm>
            <a:off x="7223760" y="393192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24</a:t>
            </a:r>
          </a:p>
        </p:txBody>
      </p:sp>
      <p:sp>
        <p:nvSpPr>
          <p:cNvPr id="30" name="TextBox 29"/>
          <p:cNvSpPr txBox="1"/>
          <p:nvPr/>
        </p:nvSpPr>
        <p:spPr>
          <a:xfrm>
            <a:off x="4480560" y="429768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network scale</a:t>
            </a:r>
          </a:p>
        </p:txBody>
      </p:sp>
      <p:sp>
        <p:nvSpPr>
          <p:cNvPr id="31" name="TextBox 30"/>
          <p:cNvSpPr txBox="1"/>
          <p:nvPr/>
        </p:nvSpPr>
        <p:spPr>
          <a:xfrm>
            <a:off x="7223760" y="429768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16</a:t>
            </a:r>
          </a:p>
        </p:txBody>
      </p:sp>
      <p:sp>
        <p:nvSpPr>
          <p:cNvPr id="32" name="TextBox 31"/>
          <p:cNvSpPr txBox="1"/>
          <p:nvPr/>
        </p:nvSpPr>
        <p:spPr>
          <a:xfrm>
            <a:off x="4480560" y="466344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heritage scale</a:t>
            </a:r>
          </a:p>
        </p:txBody>
      </p:sp>
      <p:sp>
        <p:nvSpPr>
          <p:cNvPr id="33" name="TextBox 32"/>
          <p:cNvSpPr txBox="1"/>
          <p:nvPr/>
        </p:nvSpPr>
        <p:spPr>
          <a:xfrm>
            <a:off x="7223760" y="466344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12</a:t>
            </a:r>
          </a:p>
        </p:txBody>
      </p:sp>
      <p:sp>
        <p:nvSpPr>
          <p:cNvPr id="34" name="TextBox 33"/>
          <p:cNvSpPr txBox="1"/>
          <p:nvPr/>
        </p:nvSpPr>
        <p:spPr>
          <a:xfrm>
            <a:off x="4480560" y="502920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speed / perf. result</a:t>
            </a:r>
          </a:p>
        </p:txBody>
      </p:sp>
      <p:sp>
        <p:nvSpPr>
          <p:cNvPr id="35" name="TextBox 34"/>
          <p:cNvSpPr txBox="1"/>
          <p:nvPr/>
        </p:nvSpPr>
        <p:spPr>
          <a:xfrm>
            <a:off x="7223760" y="502920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0</a:t>
            </a:r>
          </a:p>
        </p:txBody>
      </p:sp>
      <p:sp>
        <p:nvSpPr>
          <p:cNvPr id="36" name="Rectangle 35"/>
          <p:cNvSpPr/>
          <p:nvPr/>
        </p:nvSpPr>
        <p:spPr>
          <a:xfrm>
            <a:off x="841248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412480" y="1481328"/>
            <a:ext cx="3566160" cy="411480"/>
          </a:xfrm>
          <a:prstGeom prst="rect">
            <a:avLst/>
          </a:prstGeom>
          <a:noFill/>
        </p:spPr>
        <p:txBody>
          <a:bodyPr wrap="square" lIns="0" tIns="0" rIns="0" bIns="0">
            <a:spAutoFit/>
          </a:bodyPr>
          <a:lstStyle/>
          <a:p>
            <a:pPr algn="l">
              <a:spcAft>
                <a:spcPts val="600"/>
              </a:spcAft>
            </a:pPr>
            <a:r>
              <a:rPr sz="1400" b="1">
                <a:solidFill>
                  <a:srgbClr val="102A43"/>
                </a:solidFill>
                <a:latin typeface="Segoe UI"/>
              </a:rPr>
              <a:t>The customer's problem goes unanswered</a:t>
            </a:r>
          </a:p>
        </p:txBody>
      </p:sp>
      <p:sp>
        <p:nvSpPr>
          <p:cNvPr id="38" name="TextBox 37"/>
          <p:cNvSpPr txBox="1"/>
          <p:nvPr/>
        </p:nvSpPr>
        <p:spPr>
          <a:xfrm>
            <a:off x="8412480" y="1920240"/>
            <a:ext cx="3566160" cy="640080"/>
          </a:xfrm>
          <a:prstGeom prst="rect">
            <a:avLst/>
          </a:prstGeom>
          <a:noFill/>
        </p:spPr>
        <p:txBody>
          <a:bodyPr wrap="square" lIns="0" tIns="0" rIns="0" bIns="0">
            <a:spAutoFit/>
          </a:bodyPr>
          <a:lstStyle/>
          <a:p>
            <a:pPr algn="l">
              <a:spcAft>
                <a:spcPts val="600"/>
              </a:spcAft>
            </a:pPr>
            <a:r>
              <a:rPr sz="3000" b="1">
                <a:solidFill>
                  <a:srgbClr val="C8102E"/>
                </a:solidFill>
                <a:latin typeface="Segoe UI"/>
              </a:rPr>
              <a:t>19%</a:t>
            </a:r>
          </a:p>
        </p:txBody>
      </p:sp>
      <p:sp>
        <p:nvSpPr>
          <p:cNvPr id="39" name="TextBox 38"/>
          <p:cNvSpPr txBox="1"/>
          <p:nvPr/>
        </p:nvSpPr>
        <p:spPr>
          <a:xfrm>
            <a:off x="8412480" y="2606040"/>
            <a:ext cx="3566160" cy="548640"/>
          </a:xfrm>
          <a:prstGeom prst="rect">
            <a:avLst/>
          </a:prstGeom>
          <a:noFill/>
        </p:spPr>
        <p:txBody>
          <a:bodyPr wrap="square" lIns="0" tIns="0" rIns="0" bIns="0">
            <a:spAutoFit/>
          </a:bodyPr>
          <a:lstStyle/>
          <a:p>
            <a:pPr algn="l">
              <a:spcAft>
                <a:spcPts val="600"/>
              </a:spcAft>
            </a:pPr>
            <a:r>
              <a:rPr sz="1050" b="0">
                <a:solidFill>
                  <a:srgbClr val="6B7480"/>
                </a:solidFill>
                <a:latin typeface="Segoe UI"/>
              </a:rPr>
              <a:t>of posts answer a customer objection, and they cluster in two brands. PTCL answers none of the 24.</a:t>
            </a:r>
          </a:p>
        </p:txBody>
      </p:sp>
      <p:sp>
        <p:nvSpPr>
          <p:cNvPr id="40" name="TextBox 39"/>
          <p:cNvSpPr txBox="1"/>
          <p:nvPr/>
        </p:nvSpPr>
        <p:spPr>
          <a:xfrm>
            <a:off x="8412480" y="320040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Multinet</a:t>
            </a:r>
          </a:p>
        </p:txBody>
      </p:sp>
      <p:sp>
        <p:nvSpPr>
          <p:cNvPr id="41" name="TextBox 40"/>
          <p:cNvSpPr txBox="1"/>
          <p:nvPr/>
        </p:nvSpPr>
        <p:spPr>
          <a:xfrm>
            <a:off x="11155680" y="320040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16/24</a:t>
            </a:r>
          </a:p>
        </p:txBody>
      </p:sp>
      <p:sp>
        <p:nvSpPr>
          <p:cNvPr id="42" name="TextBox 41"/>
          <p:cNvSpPr txBox="1"/>
          <p:nvPr/>
        </p:nvSpPr>
        <p:spPr>
          <a:xfrm>
            <a:off x="8412480" y="356616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Optix</a:t>
            </a:r>
          </a:p>
        </p:txBody>
      </p:sp>
      <p:sp>
        <p:nvSpPr>
          <p:cNvPr id="43" name="TextBox 42"/>
          <p:cNvSpPr txBox="1"/>
          <p:nvPr/>
        </p:nvSpPr>
        <p:spPr>
          <a:xfrm>
            <a:off x="11155680" y="356616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14/24</a:t>
            </a:r>
          </a:p>
        </p:txBody>
      </p:sp>
      <p:sp>
        <p:nvSpPr>
          <p:cNvPr id="44" name="TextBox 43"/>
          <p:cNvSpPr txBox="1"/>
          <p:nvPr/>
        </p:nvSpPr>
        <p:spPr>
          <a:xfrm>
            <a:off x="8412480" y="393192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StormFiber</a:t>
            </a:r>
          </a:p>
        </p:txBody>
      </p:sp>
      <p:sp>
        <p:nvSpPr>
          <p:cNvPr id="45" name="TextBox 44"/>
          <p:cNvSpPr txBox="1"/>
          <p:nvPr/>
        </p:nvSpPr>
        <p:spPr>
          <a:xfrm>
            <a:off x="11155680" y="393192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11/24</a:t>
            </a:r>
          </a:p>
        </p:txBody>
      </p:sp>
      <p:sp>
        <p:nvSpPr>
          <p:cNvPr id="46" name="TextBox 45"/>
          <p:cNvSpPr txBox="1"/>
          <p:nvPr/>
        </p:nvSpPr>
        <p:spPr>
          <a:xfrm>
            <a:off x="8412480" y="429768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Transworld Home</a:t>
            </a:r>
          </a:p>
        </p:txBody>
      </p:sp>
      <p:sp>
        <p:nvSpPr>
          <p:cNvPr id="47" name="TextBox 46"/>
          <p:cNvSpPr txBox="1"/>
          <p:nvPr/>
        </p:nvSpPr>
        <p:spPr>
          <a:xfrm>
            <a:off x="11155680" y="429768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7/24</a:t>
            </a:r>
          </a:p>
        </p:txBody>
      </p:sp>
      <p:sp>
        <p:nvSpPr>
          <p:cNvPr id="48" name="TextBox 47"/>
          <p:cNvSpPr txBox="1"/>
          <p:nvPr/>
        </p:nvSpPr>
        <p:spPr>
          <a:xfrm>
            <a:off x="8412480" y="466344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Wateen</a:t>
            </a:r>
          </a:p>
        </p:txBody>
      </p:sp>
      <p:sp>
        <p:nvSpPr>
          <p:cNvPr id="49" name="TextBox 48"/>
          <p:cNvSpPr txBox="1"/>
          <p:nvPr/>
        </p:nvSpPr>
        <p:spPr>
          <a:xfrm>
            <a:off x="11155680" y="466344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6/24</a:t>
            </a:r>
          </a:p>
        </p:txBody>
      </p:sp>
      <p:sp>
        <p:nvSpPr>
          <p:cNvPr id="50" name="TextBox 49"/>
          <p:cNvSpPr txBox="1"/>
          <p:nvPr/>
        </p:nvSpPr>
        <p:spPr>
          <a:xfrm>
            <a:off x="8412480" y="5029200"/>
            <a:ext cx="2697480" cy="274320"/>
          </a:xfrm>
          <a:prstGeom prst="rect">
            <a:avLst/>
          </a:prstGeom>
          <a:noFill/>
        </p:spPr>
        <p:txBody>
          <a:bodyPr wrap="square" lIns="0" tIns="0" rIns="0" bIns="0">
            <a:spAutoFit/>
          </a:bodyPr>
          <a:lstStyle/>
          <a:p>
            <a:pPr algn="l">
              <a:spcAft>
                <a:spcPts val="0"/>
              </a:spcAft>
            </a:pPr>
            <a:r>
              <a:rPr sz="1100" b="0">
                <a:solidFill>
                  <a:srgbClr val="1A1A1A"/>
                </a:solidFill>
                <a:latin typeface="Segoe UI"/>
              </a:rPr>
              <a:t>PTCL</a:t>
            </a:r>
          </a:p>
        </p:txBody>
      </p:sp>
      <p:sp>
        <p:nvSpPr>
          <p:cNvPr id="51" name="TextBox 50"/>
          <p:cNvSpPr txBox="1"/>
          <p:nvPr/>
        </p:nvSpPr>
        <p:spPr>
          <a:xfrm>
            <a:off x="11155680" y="5029200"/>
            <a:ext cx="822960" cy="274320"/>
          </a:xfrm>
          <a:prstGeom prst="rect">
            <a:avLst/>
          </a:prstGeom>
          <a:noFill/>
        </p:spPr>
        <p:txBody>
          <a:bodyPr wrap="square" lIns="0" tIns="0" rIns="0" bIns="0">
            <a:spAutoFit/>
          </a:bodyPr>
          <a:lstStyle/>
          <a:p>
            <a:pPr algn="r">
              <a:spcAft>
                <a:spcPts val="0"/>
              </a:spcAft>
            </a:pPr>
            <a:r>
              <a:rPr sz="1100" b="1">
                <a:solidFill>
                  <a:srgbClr val="102A43"/>
                </a:solidFill>
                <a:latin typeface="Segoe UI"/>
              </a:rPr>
              <a:t>0/24</a:t>
            </a:r>
          </a:p>
        </p:txBody>
      </p:sp>
      <p:sp>
        <p:nvSpPr>
          <p:cNvPr id="52" name="Rectangle 51"/>
          <p:cNvSpPr/>
          <p:nvPr/>
        </p:nvSpPr>
        <p:spPr>
          <a:xfrm>
            <a:off x="548640" y="5806440"/>
            <a:ext cx="11064240" cy="731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77240" y="5943600"/>
            <a:ext cx="10607040" cy="594360"/>
          </a:xfrm>
          <a:prstGeom prst="rect">
            <a:avLst/>
          </a:prstGeom>
          <a:noFill/>
        </p:spPr>
        <p:txBody>
          <a:bodyPr wrap="square" lIns="0" tIns="0" rIns="0" bIns="0">
            <a:spAutoFit/>
          </a:bodyPr>
          <a:lstStyle/>
          <a:p>
            <a:pPr algn="l">
              <a:spcAft>
                <a:spcPts val="0"/>
              </a:spcAft>
            </a:pPr>
            <a:r>
              <a:rPr sz="1250" b="1">
                <a:solidFill>
                  <a:srgbClr val="102A43"/>
                </a:solidFill>
                <a:latin typeface="Segoe UI"/>
              </a:rPr>
              <a:t>PTCL is loudest in the most crowded territory, and silent in the two that are empty. Reliability - the attribute the brief says it is losing - is claimed in 8 posts out of 336.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PTCL</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@ptclofficial   ·   CLIENT   ·   91K followers   ·   24 ads coded</a:t>
            </a:r>
          </a:p>
        </p:txBody>
      </p:sp>
      <p:pic>
        <p:nvPicPr>
          <p:cNvPr id="5" name="Picture 4" descr="ptclofficial.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Spends its whole voice on being Pakistani, and none of it on being good.</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14 of 24 posts claim heritage or nation - 'Celebrating 79 years', 'Who makes Pakistan 79 years young?', Defence Day, Jitna Jawan.</a:t>
            </a:r>
          </a:p>
          <a:p>
            <a:pPr algn="l">
              <a:spcAft>
                <a:spcPts val="700"/>
              </a:spcAft>
            </a:pPr>
            <a:r>
              <a:rPr sz="1150" b="0">
                <a:solidFill>
                  <a:srgbClr val="1A1A1A"/>
                </a:solidFill>
                <a:latin typeface="Segoe UI"/>
              </a:rPr>
              <a:t>·  One post in 24 mentions speed. Zero mention reliability. Zero mention service.</a:t>
            </a:r>
          </a:p>
          <a:p>
            <a:pPr algn="l">
              <a:spcAft>
                <a:spcPts val="700"/>
              </a:spcAft>
            </a:pPr>
            <a:r>
              <a:rPr sz="1150" b="0">
                <a:solidFill>
                  <a:srgbClr val="1A1A1A"/>
                </a:solidFill>
                <a:latin typeface="Segoe UI"/>
              </a:rPr>
              <a:t>·  Four posts sell other people's hardware: 'iPhone 18 Pro, coming soon' and 'MacBook Neo PKR 229,999' with Mercantile.</a:t>
            </a:r>
          </a:p>
          <a:p>
            <a:pPr algn="l">
              <a:spcAft>
                <a:spcPts val="700"/>
              </a:spcAft>
            </a:pPr>
            <a:r>
              <a:rPr sz="1150" b="0">
                <a:solidFill>
                  <a:srgbClr val="1A1A1A"/>
                </a:solidFill>
                <a:latin typeface="Segoe UI"/>
              </a:rPr>
              <a:t>·  Proof devices used: heritage_scale (7) and celebrity (6). Performance proof: none.</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The most-loved brand in the category is advertising like a sponsor, not a service. Hockey, esports, Independence Day and device retail fill the grid; the product the brief says it is losing ground on - reliability, speed, product-benefit clarity - is absent from its own channel.</a:t>
            </a:r>
          </a:p>
        </p:txBody>
      </p:sp>
      <p:sp>
        <p:nvSpPr>
          <p:cNvPr id="11" name="TextBox 10"/>
          <p:cNvSpPr txBox="1"/>
          <p:nvPr/>
        </p:nvSpPr>
        <p:spPr>
          <a:xfrm>
            <a:off x="6949440" y="6355080"/>
            <a:ext cx="4754880" cy="457200"/>
          </a:xfrm>
          <a:prstGeom prst="rect">
            <a:avLst/>
          </a:prstGeom>
          <a:noFill/>
        </p:spPr>
        <p:txBody>
          <a:bodyPr wrap="square" lIns="0" tIns="0" rIns="0" bIns="0">
            <a:spAutoFit/>
          </a:bodyPr>
          <a:lstStyle/>
          <a:p>
            <a:pPr algn="l">
              <a:spcAft>
                <a:spcPts val="0"/>
              </a:spcAft>
            </a:pPr>
            <a:r>
              <a:rPr sz="1050" b="0">
                <a:solidFill>
                  <a:srgbClr val="C8102E"/>
                </a:solidFill>
                <a:latin typeface="Segoe UI"/>
              </a:rPr>
              <a:t>WHY:  A brand that never mentions performance cannot correct a performance perception, however much affinity it spends.</a:t>
            </a:r>
          </a:p>
        </p:txBody>
      </p:sp>
      <p:sp>
        <p:nvSpPr>
          <p:cNvPr id="12" name="TextBox 11"/>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6/24 no proof device   ·   0/24 address the core objection   ·   14/24 brand-building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StormFiber</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@stormfiber_official   ·   DIRECT COMPETITOR   ·   30.9K followers   ·   24 ads coded</a:t>
            </a:r>
          </a:p>
        </p:txBody>
      </p:sp>
      <p:pic>
        <p:nvPicPr>
          <p:cNvPr id="5" name="Picture 4" descr="stormfiber_official.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The only brand in the category that treats the customer's problem as the subject.</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Eleven of 24 posts answer an objection - the highest of any consumer brand in the set.</a:t>
            </a:r>
          </a:p>
          <a:p>
            <a:pPr algn="l">
              <a:spcAft>
                <a:spcPts val="700"/>
              </a:spcAft>
            </a:pPr>
            <a:r>
              <a:rPr sz="1150" b="0">
                <a:solidFill>
                  <a:srgbClr val="1A1A1A"/>
                </a:solidFill>
                <a:latin typeface="Segoe UI"/>
              </a:rPr>
              <a:t>·  'MYTH vs FACT: More Wi-Fi bars = faster internet' ... 'Bandwidth allocation is first come, first serve.'</a:t>
            </a:r>
          </a:p>
          <a:p>
            <a:pPr algn="l">
              <a:spcAft>
                <a:spcPts val="700"/>
              </a:spcAft>
            </a:pPr>
            <a:r>
              <a:rPr sz="1150" b="0">
                <a:solidFill>
                  <a:srgbClr val="1A1A1A"/>
                </a:solidFill>
                <a:latin typeface="Segoe UI"/>
              </a:rPr>
              <a:t>·  'Experiencing Wi-Fi issues? Try these steps.' 'Connection not found.'</a:t>
            </a:r>
          </a:p>
          <a:p>
            <a:pPr algn="l">
              <a:spcAft>
                <a:spcPts val="700"/>
              </a:spcAft>
            </a:pPr>
            <a:r>
              <a:rPr sz="1150" b="0">
                <a:solidFill>
                  <a:srgbClr val="1A1A1A"/>
                </a:solidFill>
                <a:latin typeface="Segoe UI"/>
              </a:rPr>
              <a:t>·  Nine posts are coverage announcements: 'Cheema Town Phase 1 and 2 Bahawalpur NOW FIBERIZED'.</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The brand the brief names as leading awareness-to-consideration conversion is also the brand that explains the product. It builds competence rather than affection, and converts because it answers the question a switcher actually has.</a:t>
            </a:r>
          </a:p>
        </p:txBody>
      </p:sp>
      <p:sp>
        <p:nvSpPr>
          <p:cNvPr id="11" name="TextBox 10"/>
          <p:cNvSpPr txBox="1"/>
          <p:nvPr/>
        </p:nvSpPr>
        <p:spPr>
          <a:xfrm>
            <a:off x="6949440" y="6355080"/>
            <a:ext cx="4754880" cy="457200"/>
          </a:xfrm>
          <a:prstGeom prst="rect">
            <a:avLst/>
          </a:prstGeom>
          <a:noFill/>
        </p:spPr>
        <p:txBody>
          <a:bodyPr wrap="square" lIns="0" tIns="0" rIns="0" bIns="0">
            <a:spAutoFit/>
          </a:bodyPr>
          <a:lstStyle/>
          <a:p>
            <a:pPr algn="l">
              <a:spcAft>
                <a:spcPts val="0"/>
              </a:spcAft>
            </a:pPr>
            <a:r>
              <a:rPr sz="1050" b="0">
                <a:solidFill>
                  <a:srgbClr val="C8102E"/>
                </a:solidFill>
                <a:latin typeface="Segoe UI"/>
              </a:rPr>
              <a:t>WHY:  Wi-Fi literacy is a conversion tool - every myth it corrects removes a reason to blame the provider.</a:t>
            </a:r>
          </a:p>
        </p:txBody>
      </p:sp>
      <p:sp>
        <p:nvSpPr>
          <p:cNvPr id="12" name="TextBox 11"/>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12/24 no proof device   ·   11/24 address the core objection   ·   4/24 brand-building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Nayatel</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@nayatel_official   ·   DIRECT COMPETITOR   ·   19.2K followers   ·   24 ads coded</a:t>
            </a:r>
          </a:p>
        </p:txBody>
      </p:sp>
      <p:pic>
        <p:nvPicPr>
          <p:cNvPr id="5" name="Picture 4" descr="nayatel_official.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Runs its staff as the story, and the national calendar as the filler.</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Ten of 24 posts are calendar: Iqbal, Jinnah, Fatima Jinnah, Independence, Defence Day, Rabi-ul-Awwal.</a:t>
            </a:r>
          </a:p>
          <a:p>
            <a:pPr algn="l">
              <a:spcAft>
                <a:spcPts val="700"/>
              </a:spcAft>
            </a:pPr>
            <a:r>
              <a:rPr sz="1150" b="0">
                <a:solidFill>
                  <a:srgbClr val="1A1A1A"/>
                </a:solidFill>
                <a:latin typeface="Segoe UI"/>
              </a:rPr>
              <a:t>·  'Episode 01 - Only Fahad Knows The Secret'; 'Episode 02 - Awais to the Rescue' - service staff cast as characters.</a:t>
            </a:r>
          </a:p>
          <a:p>
            <a:pPr algn="l">
              <a:spcAft>
                <a:spcPts val="700"/>
              </a:spcAft>
            </a:pPr>
            <a:r>
              <a:rPr sz="1150" b="0">
                <a:solidFill>
                  <a:srgbClr val="1A1A1A"/>
                </a:solidFill>
                <a:latin typeface="Segoe UI"/>
              </a:rPr>
              <a:t>·  Six posts drive the My Nayatel App: 'Play the Quiz, win Rs. 500 off'.</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The staff-as-heroes device is the most human thing in the category and nobody else is doing it. It sits beside ten posts of national wallpaper that any brand could run.</a:t>
            </a:r>
          </a:p>
        </p:txBody>
      </p:sp>
      <p:sp>
        <p:nvSpPr>
          <p:cNvPr id="11" name="TextBox 10"/>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22/24 no proof device   ·   3/24 address the core objection   ·   8/24 brand-building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Transworld Home</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@transworldhome   ·   DIRECT COMPETITOR   ·   12.6K followers   ·   24 ads coded</a:t>
            </a:r>
          </a:p>
        </p:txBody>
      </p:sp>
      <p:pic>
        <p:nvPicPr>
          <p:cNvPr id="5" name="Picture 4" descr="transworldhome.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Already running PTCL's heritage claim, and running it better.</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'CONNECTION ESTABLISHED 1947 - EXPERIENCE THAT MATTERS', over the faces of the founders.</a:t>
            </a:r>
          </a:p>
          <a:p>
            <a:pPr algn="l">
              <a:spcAft>
                <a:spcPts val="700"/>
              </a:spcAft>
            </a:pPr>
            <a:r>
              <a:rPr sz="1150" b="0">
                <a:solidFill>
                  <a:srgbClr val="1A1A1A"/>
                </a:solidFill>
                <a:latin typeface="Segoe UI"/>
              </a:rPr>
              <a:t>·  '79 saal lag gaye lekin ho gaya. PAKISTAN; CONNECTION EST. SINCE 1947.'</a:t>
            </a:r>
          </a:p>
          <a:p>
            <a:pPr algn="l">
              <a:spcAft>
                <a:spcPts val="700"/>
              </a:spcAft>
            </a:pPr>
            <a:r>
              <a:rPr sz="1150" b="0">
                <a:solidFill>
                  <a:srgbClr val="1A1A1A"/>
                </a:solidFill>
                <a:latin typeface="Segoe UI"/>
              </a:rPr>
              <a:t>·  Seven of 24 posts are creator videos: 'Burey internet se jaan churaayein.'</a:t>
            </a:r>
          </a:p>
          <a:p>
            <a:pPr algn="l">
              <a:spcAft>
                <a:spcPts val="700"/>
              </a:spcAft>
            </a:pPr>
            <a:r>
              <a:rPr sz="1150" b="0">
                <a:solidFill>
                  <a:srgbClr val="1A1A1A"/>
                </a:solidFill>
                <a:latin typeface="Segoe UI"/>
              </a:rPr>
              <a:t>·  'The fight for the remote starts at 8PM.' 'More MBPS isn't always the answer.'</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The sharpest consumer work in the category comes from the fourth-largest brand in it. It pairs household truths with creators, and it has planted a flag on 1947 - the single asset PTCL assumes is its own.</a:t>
            </a:r>
          </a:p>
        </p:txBody>
      </p:sp>
      <p:sp>
        <p:nvSpPr>
          <p:cNvPr id="11" name="TextBox 10"/>
          <p:cNvSpPr txBox="1"/>
          <p:nvPr/>
        </p:nvSpPr>
        <p:spPr>
          <a:xfrm>
            <a:off x="6949440" y="6355080"/>
            <a:ext cx="4754880" cy="457200"/>
          </a:xfrm>
          <a:prstGeom prst="rect">
            <a:avLst/>
          </a:prstGeom>
          <a:noFill/>
        </p:spPr>
        <p:txBody>
          <a:bodyPr wrap="square" lIns="0" tIns="0" rIns="0" bIns="0">
            <a:spAutoFit/>
          </a:bodyPr>
          <a:lstStyle/>
          <a:p>
            <a:pPr algn="l">
              <a:spcAft>
                <a:spcPts val="0"/>
              </a:spcAft>
            </a:pPr>
            <a:r>
              <a:rPr sz="1050" b="0">
                <a:solidFill>
                  <a:srgbClr val="C8102E"/>
                </a:solidFill>
                <a:latin typeface="Segoe UI"/>
              </a:rPr>
              <a:t>WHY:  A heritage claim nobody else could make is worth building on; one a competitor is already making is a race PTCL would be entering second.</a:t>
            </a:r>
          </a:p>
        </p:txBody>
      </p:sp>
      <p:sp>
        <p:nvSpPr>
          <p:cNvPr id="12" name="TextBox 11"/>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15/24 no proof device   ·   7/24 address the core objection   ·   9/24 brand-building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Optix</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@optixpkofficial   ·   DIRECT COMPETITOR   ·   356 followers   ·   24 ads coded</a:t>
            </a:r>
          </a:p>
        </p:txBody>
      </p:sp>
      <p:pic>
        <p:nvPicPr>
          <p:cNvPr id="5" name="Picture 4" descr="optixpkofficial.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A price list with a flag on it, published by a brand with 356 followers.</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Sixteen of 24 posts are tactical price tiles: '300 Mbps for Rs. 10,999', '150 Mbps Rs. 5,199'.</a:t>
            </a:r>
          </a:p>
          <a:p>
            <a:pPr algn="l">
              <a:spcAft>
                <a:spcPts val="700"/>
              </a:spcAft>
            </a:pPr>
            <a:r>
              <a:rPr sz="1150" b="0">
                <a:solidFill>
                  <a:srgbClr val="1A1A1A"/>
                </a:solidFill>
                <a:latin typeface="Segoe UI"/>
              </a:rPr>
              <a:t>·  Five of 24 are HR announcements - 'Welcome to the team' - in a 24-post window.</a:t>
            </a:r>
          </a:p>
          <a:p>
            <a:pPr algn="l">
              <a:spcAft>
                <a:spcPts val="700"/>
              </a:spcAft>
            </a:pPr>
            <a:r>
              <a:rPr sz="1150" b="0">
                <a:solidFill>
                  <a:srgbClr val="1A1A1A"/>
                </a:solidFill>
                <a:latin typeface="Segoe UI"/>
              </a:rPr>
              <a:t>·  'Hidden charges se Azadi', 'Slow internet se Azadi', 'Streaming ki asli Azadi'.</a:t>
            </a:r>
          </a:p>
          <a:p>
            <a:pPr algn="l">
              <a:spcAft>
                <a:spcPts val="700"/>
              </a:spcAft>
            </a:pPr>
            <a:r>
              <a:rPr sz="1150" b="0">
                <a:solidFill>
                  <a:srgbClr val="1A1A1A"/>
                </a:solidFill>
                <a:latin typeface="Segoe UI"/>
              </a:rPr>
              <a:t>·  Almost the entire grid is AI-generated imagery.</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An ISP with roughly 50,000 customers has 356 Instagram followers and gives a fifth of its feed to recruitment. Credit where due: its copy names the customer's problem - hidden charges, buffering, data caps - more directly than PTCL's does.</a:t>
            </a:r>
          </a:p>
        </p:txBody>
      </p:sp>
      <p:sp>
        <p:nvSpPr>
          <p:cNvPr id="11" name="TextBox 10"/>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24/24 no proof device   ·   14/24 address the core objection   ·   0/24 brand-building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Wateen</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@wateentelecomlimited   ·   DIRECT COMPETITOR   ·   1,221 followers   ·   24 ads coded</a:t>
            </a:r>
          </a:p>
        </p:txBody>
      </p:sp>
      <p:pic>
        <p:nvPicPr>
          <p:cNvPr id="5" name="Picture 4" descr="wateentelecomlimited.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A B2B brand whose public channel is mostly its own staff.</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Eight of 24 posts are corporate PR: townhalls, group photos, balloons, a team painting session.</a:t>
            </a:r>
          </a:p>
          <a:p>
            <a:pPr algn="l">
              <a:spcAft>
                <a:spcPts val="700"/>
              </a:spcAft>
            </a:pPr>
            <a:r>
              <a:rPr sz="1150" b="0">
                <a:solidFill>
                  <a:srgbClr val="1A1A1A"/>
                </a:solidFill>
                <a:latin typeface="Segoe UI"/>
              </a:rPr>
              <a:t>·  The enterprise work is sharp where it appears: 'Banking doesn't need more AI hype. It needs AI that works.'</a:t>
            </a:r>
          </a:p>
          <a:p>
            <a:pPr algn="l">
              <a:spcAft>
                <a:spcPts val="700"/>
              </a:spcAft>
            </a:pPr>
            <a:r>
              <a:rPr sz="1150" b="0">
                <a:solidFill>
                  <a:srgbClr val="1A1A1A"/>
                </a:solidFill>
                <a:latin typeface="Segoe UI"/>
              </a:rPr>
              <a:t>·  Twenty-one days since the last post.</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Ten posts feature executives or staff against two featuring a customer. The proposition is good and the channel is being used as an internal newsletter.</a:t>
            </a:r>
          </a:p>
        </p:txBody>
      </p:sp>
      <p:sp>
        <p:nvSpPr>
          <p:cNvPr id="11" name="TextBox 10"/>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21/24 no proof device   ·   6/24 address the core objection   ·   3/24 brand-building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Worldcall</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@worldcalltel   ·   DIRECT COMPETITOR   ·   2,266 followers   ·   24 ads coded</a:t>
            </a:r>
          </a:p>
        </p:txBody>
      </p:sp>
      <p:pic>
        <p:nvPicPr>
          <p:cNvPr id="5" name="Picture 4" descr="worldcalltel.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Publishes offers into a channel it has effectively abandoned.</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0.4 posts per week - the slowest in the set; the 24-post window reaches back to July 2023.</a:t>
            </a:r>
          </a:p>
          <a:p>
            <a:pPr algn="l">
              <a:spcAft>
                <a:spcPts val="700"/>
              </a:spcAft>
            </a:pPr>
            <a:r>
              <a:rPr sz="1150" b="0">
                <a:solidFill>
                  <a:srgbClr val="1A1A1A"/>
                </a:solidFill>
                <a:latin typeface="Segoe UI"/>
              </a:rPr>
              <a:t>·  Six of 24 posts are religious or seasonal greetings.</a:t>
            </a:r>
          </a:p>
          <a:p>
            <a:pPr algn="l">
              <a:spcAft>
                <a:spcPts val="700"/>
              </a:spcAft>
            </a:pPr>
            <a:r>
              <a:rPr sz="1150" b="0">
                <a:solidFill>
                  <a:srgbClr val="1A1A1A"/>
                </a:solidFill>
                <a:latin typeface="Segoe UI"/>
              </a:rPr>
              <a:t>·  'We changed the game once, we will change it again' - posted in 2023.</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A legacy operator whose channel is a noticeboard. The offers are competitive; nobody is there to read them.</a:t>
            </a:r>
          </a:p>
        </p:txBody>
      </p:sp>
      <p:sp>
        <p:nvSpPr>
          <p:cNvPr id="11" name="TextBox 10"/>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19/24 no proof device   ·   2/24 address the core objection   ·   1/24 brand-building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Jazz</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@jazzdigital   ·   ADJACENT   ·   295K followers   ·   24 ads coded</a:t>
            </a:r>
          </a:p>
        </p:txBody>
      </p:sp>
      <p:pic>
        <p:nvPicPr>
          <p:cNvPr id="5" name="Picture 4" descr="jazzdigital.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Buys the future tense with a number nobody else can match.</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'1,000 5G SITES. IT'S JUST THE BEGINNING' - network scale used as proof, four times.</a:t>
            </a:r>
          </a:p>
          <a:p>
            <a:pPr algn="l">
              <a:spcAft>
                <a:spcPts val="700"/>
              </a:spcAft>
            </a:pPr>
            <a:r>
              <a:rPr sz="1150" b="0">
                <a:solidFill>
                  <a:srgbClr val="1A1A1A"/>
                </a:solidFill>
                <a:latin typeface="Segoe UI"/>
              </a:rPr>
              <a:t>·  Celebrity-fronted device retail throughout: 'Phone ho tou 5G wala'.</a:t>
            </a:r>
          </a:p>
          <a:p>
            <a:pPr algn="l">
              <a:spcAft>
                <a:spcPts val="700"/>
              </a:spcAft>
            </a:pPr>
            <a:r>
              <a:rPr sz="1150" b="0">
                <a:solidFill>
                  <a:srgbClr val="1A1A1A"/>
                </a:solidFill>
                <a:latin typeface="Segoe UI"/>
              </a:rPr>
              <a:t>·  Ran the identical 'iPhone 18 Pro, coming soon / Mercantile' creative as PTCL and Zong, in the same week.</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The only brand in the set that consistently proves a claim with a countable fact about its own network. That is the proof behaviour PTCL's brief asks for, executed by a competitor.</a:t>
            </a:r>
          </a:p>
        </p:txBody>
      </p:sp>
      <p:sp>
        <p:nvSpPr>
          <p:cNvPr id="11" name="TextBox 10"/>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7/24 no proof device   ·   1/24 address the core objection   ·   8/24 brand-building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Jazz Business</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@jazzbusinesspk   ·   ADJACENT   ·   4,109 followers   ·   24 ads coded</a:t>
            </a:r>
          </a:p>
        </p:txBody>
      </p:sp>
      <p:pic>
        <p:nvPicPr>
          <p:cNvPr id="5" name="Picture 4" descr="jazzbusinesspk.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The enterprise category advertises to itself.</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Fifteen of 24 posts are corporate PR: MoU handshakes, leadership spotlights, partner logos.</a:t>
            </a:r>
          </a:p>
          <a:p>
            <a:pPr algn="l">
              <a:spcAft>
                <a:spcPts val="700"/>
              </a:spcAft>
            </a:pPr>
            <a:r>
              <a:rPr sz="1150" b="0">
                <a:solidFill>
                  <a:srgbClr val="1A1A1A"/>
                </a:solidFill>
                <a:latin typeface="Segoe UI"/>
              </a:rPr>
              <a:t>·  Seventeen posts feature an executive. Zero feature a customer.</a:t>
            </a:r>
          </a:p>
          <a:p>
            <a:pPr algn="l">
              <a:spcAft>
                <a:spcPts val="700"/>
              </a:spcAft>
            </a:pPr>
            <a:r>
              <a:rPr sz="1150" b="0">
                <a:solidFill>
                  <a:srgbClr val="1A1A1A"/>
                </a:solidFill>
                <a:latin typeface="Segoe UI"/>
              </a:rPr>
              <a:t>·  'Building business value through technology' - a leadership portrait, repeated as a format.</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This is the only B2B comparator in the set with an active Instagram, and it spends it on portraits of its own management. The enterprise audience is being addressed as an audience of peers, not of customers with problems.</a:t>
            </a:r>
          </a:p>
        </p:txBody>
      </p:sp>
      <p:sp>
        <p:nvSpPr>
          <p:cNvPr id="11" name="TextBox 10"/>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15/24 no proof device   ·   2/24 address the core objection   ·   3/24 brand-building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Zong</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@zong.official   ·   ADJACENT   ·   181K followers   ·   24 ads coded</a:t>
            </a:r>
          </a:p>
        </p:txBody>
      </p:sp>
      <p:pic>
        <p:nvPicPr>
          <p:cNvPr id="5" name="Picture 4" descr="zong.official.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Every road leads to the app.</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Twelve of 24 posts drive My Zong App or Z Wallet - 50%, the highest in the set.</a:t>
            </a:r>
          </a:p>
          <a:p>
            <a:pPr algn="l">
              <a:spcAft>
                <a:spcPts val="700"/>
              </a:spcAft>
            </a:pPr>
            <a:r>
              <a:rPr sz="1150" b="0">
                <a:solidFill>
                  <a:srgbClr val="1A1A1A"/>
                </a:solidFill>
                <a:latin typeface="Segoe UI"/>
              </a:rPr>
              <a:t>·  'Bachat Bazaar', 'Double Advance Loan', 'Wallet, gaming and recharge - all in one app'.</a:t>
            </a:r>
          </a:p>
          <a:p>
            <a:pPr algn="l">
              <a:spcAft>
                <a:spcPts val="700"/>
              </a:spcAft>
            </a:pPr>
            <a:r>
              <a:rPr sz="1150" b="0">
                <a:solidFill>
                  <a:srgbClr val="1A1A1A"/>
                </a:solidFill>
                <a:latin typeface="Segoe UI"/>
              </a:rPr>
              <a:t>·  Also ran the same iPhone 18 Pro / Mercantile creative.</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Zong is not selling connectivity, it is recruiting into a wallet. The claims differ from Jazz's; the destination is identical.</a:t>
            </a:r>
          </a:p>
        </p:txBody>
      </p:sp>
      <p:sp>
        <p:nvSpPr>
          <p:cNvPr id="11" name="TextBox 10"/>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16/24 no proof device   ·   2/24 address the core objection   ·   2/24 brand-building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Ufone</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@ufone_official   ·   ADJACENT   ·   279K followers   ·   24 ads coded</a:t>
            </a:r>
          </a:p>
        </p:txBody>
      </p:sp>
      <p:pic>
        <p:nvPicPr>
          <p:cNvPr id="5" name="Picture 4" descr="ufone_official.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PTCL's own sibling is already occupying the emotional territory.</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'Some Connections Never Get Old' and 'Oh Times, Timeless Connections' - 80s nostalgia, shot properly.</a:t>
            </a:r>
          </a:p>
          <a:p>
            <a:pPr algn="l">
              <a:spcAft>
                <a:spcPts val="700"/>
              </a:spcAft>
            </a:pPr>
            <a:r>
              <a:rPr sz="1150" b="0">
                <a:solidFill>
                  <a:srgbClr val="1A1A1A"/>
                </a:solidFill>
                <a:latin typeface="Segoe UI"/>
              </a:rPr>
              <a:t>·  Carries a co-branded 'PTCL | ufone 5G' lockup on its own posts.</a:t>
            </a:r>
          </a:p>
          <a:p>
            <a:pPr algn="l">
              <a:spcAft>
                <a:spcPts val="700"/>
              </a:spcAft>
            </a:pPr>
            <a:r>
              <a:rPr sz="1150" b="0">
                <a:solidFill>
                  <a:srgbClr val="1A1A1A"/>
                </a:solidFill>
                <a:latin typeface="Segoe UI"/>
              </a:rPr>
              <a:t>·  Runs the same properties as PTCL: Arslan Ash esports, the Dragons of Pakistan awards.</a:t>
            </a:r>
          </a:p>
          <a:p>
            <a:pPr algn="l">
              <a:spcAft>
                <a:spcPts val="700"/>
              </a:spcAft>
            </a:pPr>
            <a:r>
              <a:rPr sz="1150" b="0">
                <a:solidFill>
                  <a:srgbClr val="1A1A1A"/>
                </a:solidFill>
                <a:latin typeface="Segoe UI"/>
              </a:rPr>
              <a:t>·  Four of 24 posts are Father's Day executions on the emotional-connection theme.</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Telenor Pakistan ceased to exist in July 2026 and the merged business now posts as Ufone 5G. The architecture question in Section 9 of the brief is not theoretical: two brands in one group are currently running one territory and one set of sponsorships.</a:t>
            </a:r>
          </a:p>
        </p:txBody>
      </p:sp>
      <p:sp>
        <p:nvSpPr>
          <p:cNvPr id="11" name="TextBox 10"/>
          <p:cNvSpPr txBox="1"/>
          <p:nvPr/>
        </p:nvSpPr>
        <p:spPr>
          <a:xfrm>
            <a:off x="6949440" y="6355080"/>
            <a:ext cx="4754880" cy="457200"/>
          </a:xfrm>
          <a:prstGeom prst="rect">
            <a:avLst/>
          </a:prstGeom>
          <a:noFill/>
        </p:spPr>
        <p:txBody>
          <a:bodyPr wrap="square" lIns="0" tIns="0" rIns="0" bIns="0">
            <a:spAutoFit/>
          </a:bodyPr>
          <a:lstStyle/>
          <a:p>
            <a:pPr algn="l">
              <a:spcAft>
                <a:spcPts val="0"/>
              </a:spcAft>
            </a:pPr>
            <a:r>
              <a:rPr sz="1050" b="0">
                <a:solidFill>
                  <a:srgbClr val="C8102E"/>
                </a:solidFill>
                <a:latin typeface="Segoe UI"/>
              </a:rPr>
              <a:t>WHY:  The human-connection space the brief calls unclaimed is occupied - by a brand inside PTCL's own group, spending PTCL's own equity.</a:t>
            </a:r>
          </a:p>
        </p:txBody>
      </p:sp>
      <p:sp>
        <p:nvSpPr>
          <p:cNvPr id="12" name="TextBox 11"/>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17/24 no proof device   ·   0/24 address the core objection   ·   8/24 brand-building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Shoq</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@shoqofficial   ·   SUBSTITUTE   ·   2,558 followers   ·   24 ads coded</a:t>
            </a:r>
          </a:p>
        </p:txBody>
      </p:sp>
      <p:pic>
        <p:nvPicPr>
          <p:cNvPr id="5" name="Picture 4" descr="shoqofficial.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PTCL's entertainment layer has been dark for eight months.</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253 days since the last post. The only DORMANT brand in the scan.</a:t>
            </a:r>
          </a:p>
          <a:p>
            <a:pPr algn="l">
              <a:spcAft>
                <a:spcPts val="700"/>
              </a:spcAft>
            </a:pPr>
            <a:r>
              <a:rPr sz="1150" b="0">
                <a:solidFill>
                  <a:srgbClr val="1A1A1A"/>
                </a:solidFill>
                <a:latin typeface="Segoe UI"/>
              </a:rPr>
              <a:t>·  Ten of 24 posts are religious or calendar greetings.</a:t>
            </a:r>
          </a:p>
          <a:p>
            <a:pPr algn="l">
              <a:spcAft>
                <a:spcPts val="700"/>
              </a:spcAft>
            </a:pPr>
            <a:r>
              <a:rPr sz="1150" b="0">
                <a:solidFill>
                  <a:srgbClr val="1A1A1A"/>
                </a:solidFill>
                <a:latin typeface="Segoe UI"/>
              </a:rPr>
              <a:t>·  Its liveliest work is borrowed: five Zalmi Women League streaming posts.</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Smart TV and OTT is one of the five brand territories the brief names. On its own channel that territory has not been advertised since December 2025.</a:t>
            </a:r>
          </a:p>
        </p:txBody>
      </p:sp>
      <p:sp>
        <p:nvSpPr>
          <p:cNvPr id="11" name="TextBox 10"/>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17/24 no proof device   ·   0/24 address the core objection   ·   1/24 brand-building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Tapmad</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@tapmad.entertainment   ·   SUBSTITUTE   ·   264K followers   ·   24 ads coded</a:t>
            </a:r>
          </a:p>
        </p:txBody>
      </p:sp>
      <p:pic>
        <p:nvPicPr>
          <p:cNvPr id="5" name="Picture 4" descr="tapmad.entertainment.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What an entertainment brand looks like when it is actually alive.</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21 posts a week - the fastest cadence in the set.</a:t>
            </a:r>
          </a:p>
          <a:p>
            <a:pPr algn="l">
              <a:spcAft>
                <a:spcPts val="700"/>
              </a:spcAft>
            </a:pPr>
            <a:r>
              <a:rPr sz="1150" b="0">
                <a:solidFill>
                  <a:srgbClr val="1A1A1A"/>
                </a:solidFill>
                <a:latin typeface="Segoe UI"/>
              </a:rPr>
              <a:t>·  Fixtures, live scores, results, esports leaderboards, Coke Studio Nu.WAV, Pakistan's Got Talent.</a:t>
            </a:r>
          </a:p>
          <a:p>
            <a:pPr algn="l">
              <a:spcAft>
                <a:spcPts val="700"/>
              </a:spcAft>
            </a:pPr>
            <a:r>
              <a:rPr sz="1150" b="0">
                <a:solidFill>
                  <a:srgbClr val="1A1A1A"/>
                </a:solidFill>
                <a:latin typeface="Segoe UI"/>
              </a:rPr>
              <a:t>·  'ALL SPORTS. WITHOUT ADS.' carried as a permanent strap.</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A free OTT platform out-publishes PTCL's own paid entertainment product by a factor of thirty-five, on the same audience, in the same week.</a:t>
            </a:r>
          </a:p>
        </p:txBody>
      </p:sp>
      <p:sp>
        <p:nvSpPr>
          <p:cNvPr id="11" name="TextBox 10"/>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15/24 no proof device   ·   0/24 address the core objection   ·   5/24 brand-building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7863840" cy="457200"/>
          </a:xfrm>
          <a:prstGeom prst="rect">
            <a:avLst/>
          </a:prstGeom>
          <a:noFill/>
        </p:spPr>
        <p:txBody>
          <a:bodyPr wrap="square" lIns="0" tIns="0" rIns="0" bIns="0">
            <a:spAutoFit/>
          </a:bodyPr>
          <a:lstStyle/>
          <a:p>
            <a:pPr algn="l">
              <a:spcAft>
                <a:spcPts val="600"/>
              </a:spcAft>
            </a:pPr>
            <a:r>
              <a:rPr sz="2200" b="1">
                <a:solidFill>
                  <a:srgbClr val="FFFFFF"/>
                </a:solidFill>
                <a:latin typeface="Segoe UI"/>
              </a:rPr>
              <a:t>Multinet</a:t>
            </a:r>
          </a:p>
        </p:txBody>
      </p:sp>
      <p:sp>
        <p:nvSpPr>
          <p:cNvPr id="4" name="TextBox 3"/>
          <p:cNvSpPr txBox="1"/>
          <p:nvPr/>
        </p:nvSpPr>
        <p:spPr>
          <a:xfrm>
            <a:off x="502920" y="658368"/>
            <a:ext cx="7863840" cy="320040"/>
          </a:xfrm>
          <a:prstGeom prst="rect">
            <a:avLst/>
          </a:prstGeom>
          <a:noFill/>
        </p:spPr>
        <p:txBody>
          <a:bodyPr wrap="square" lIns="0" tIns="0" rIns="0" bIns="0">
            <a:spAutoFit/>
          </a:bodyPr>
          <a:lstStyle/>
          <a:p>
            <a:pPr algn="l">
              <a:spcAft>
                <a:spcPts val="600"/>
              </a:spcAft>
            </a:pPr>
            <a:r>
              <a:rPr sz="1200" b="0">
                <a:solidFill>
                  <a:srgbClr val="9FB4C7"/>
                </a:solidFill>
                <a:latin typeface="Segoe UI"/>
              </a:rPr>
              <a:t>@multinetpakistan   ·   SUBSTITUTE   ·   601 followers   ·   24 ads coded</a:t>
            </a:r>
          </a:p>
        </p:txBody>
      </p:sp>
      <p:pic>
        <p:nvPicPr>
          <p:cNvPr id="5" name="Picture 4" descr="multinetpakistan.jpg"/>
          <p:cNvPicPr>
            <a:picLocks noChangeAspect="1"/>
          </p:cNvPicPr>
          <p:nvPr/>
        </p:nvPicPr>
        <p:blipFill>
          <a:blip r:embed="rId2"/>
          <a:stretch>
            <a:fillRect/>
          </a:stretch>
        </p:blipFill>
        <p:spPr>
          <a:xfrm>
            <a:off x="502920" y="1371600"/>
            <a:ext cx="6126480" cy="4993081"/>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0" y="1600200"/>
            <a:ext cx="4754880" cy="822960"/>
          </a:xfrm>
          <a:prstGeom prst="rect">
            <a:avLst/>
          </a:prstGeom>
          <a:noFill/>
        </p:spPr>
        <p:txBody>
          <a:bodyPr wrap="square" lIns="0" tIns="0" rIns="0" bIns="0">
            <a:spAutoFit/>
          </a:bodyPr>
          <a:lstStyle/>
          <a:p>
            <a:pPr algn="l">
              <a:spcAft>
                <a:spcPts val="600"/>
              </a:spcAft>
            </a:pPr>
            <a:r>
              <a:rPr sz="1700" b="1">
                <a:solidFill>
                  <a:srgbClr val="102A43"/>
                </a:solidFill>
                <a:latin typeface="Segoe UI"/>
              </a:rPr>
              <a:t>The one B2B brand leading with the customer's problem.</a:t>
            </a:r>
          </a:p>
        </p:txBody>
      </p:sp>
      <p:sp>
        <p:nvSpPr>
          <p:cNvPr id="8" name="TextBox 7"/>
          <p:cNvSpPr txBox="1"/>
          <p:nvPr/>
        </p:nvSpPr>
        <p:spPr>
          <a:xfrm>
            <a:off x="6949440" y="2560320"/>
            <a:ext cx="4754880" cy="2286000"/>
          </a:xfrm>
          <a:prstGeom prst="rect">
            <a:avLst/>
          </a:prstGeom>
          <a:noFill/>
        </p:spPr>
        <p:txBody>
          <a:bodyPr wrap="square" lIns="0" tIns="0" rIns="0" bIns="0">
            <a:spAutoFit/>
          </a:bodyPr>
          <a:lstStyle/>
          <a:p>
            <a:pPr algn="l">
              <a:spcAft>
                <a:spcPts val="700"/>
              </a:spcAft>
            </a:pPr>
            <a:r>
              <a:rPr sz="1150" b="0">
                <a:solidFill>
                  <a:srgbClr val="1A1A1A"/>
                </a:solidFill>
                <a:latin typeface="Segoe UI"/>
              </a:rPr>
              <a:t>·  Sixteen of 24 posts answer an objection - the highest count in the whole scan.</a:t>
            </a:r>
          </a:p>
          <a:p>
            <a:pPr algn="l">
              <a:spcAft>
                <a:spcPts val="700"/>
              </a:spcAft>
            </a:pPr>
            <a:r>
              <a:rPr sz="1150" b="0">
                <a:solidFill>
                  <a:srgbClr val="1A1A1A"/>
                </a:solidFill>
                <a:latin typeface="Segoe UI"/>
              </a:rPr>
              <a:t>·  'Your business grew. Did your infrastructure grow too?' 'One password can't protect a business.'</a:t>
            </a:r>
          </a:p>
          <a:p>
            <a:pPr algn="l">
              <a:spcAft>
                <a:spcPts val="700"/>
              </a:spcAft>
            </a:pPr>
            <a:r>
              <a:rPr sz="1150" b="0">
                <a:solidFill>
                  <a:srgbClr val="1A1A1A"/>
                </a:solidFill>
                <a:latin typeface="Segoe UI"/>
              </a:rPr>
              <a:t>·  A house of sub-brands does the work: FortSecure, MyCloud, Nunomics, ithinX, Tezz.</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69440" y="5120640"/>
            <a:ext cx="4514880" cy="1097280"/>
          </a:xfrm>
          <a:prstGeom prst="rect">
            <a:avLst/>
          </a:prstGeom>
          <a:noFill/>
        </p:spPr>
        <p:txBody>
          <a:bodyPr wrap="square" lIns="0" tIns="0" rIns="0" bIns="0">
            <a:spAutoFit/>
          </a:bodyPr>
          <a:lstStyle/>
          <a:p>
            <a:pPr algn="l">
              <a:spcAft>
                <a:spcPts val="400"/>
              </a:spcAft>
            </a:pPr>
            <a:r>
              <a:rPr sz="1200" b="0">
                <a:solidFill>
                  <a:srgbClr val="102A43"/>
                </a:solidFill>
                <a:latin typeface="Segoe UI"/>
              </a:rPr>
              <a:t>Question-led, problem-first, and entirely built on stock imagery. It proves the enterprise story can be told through the customer rather than the org chart.</a:t>
            </a:r>
          </a:p>
        </p:txBody>
      </p:sp>
      <p:sp>
        <p:nvSpPr>
          <p:cNvPr id="11" name="TextBox 10"/>
          <p:cNvSpPr txBox="1"/>
          <p:nvPr/>
        </p:nvSpPr>
        <p:spPr>
          <a:xfrm>
            <a:off x="502920" y="6355080"/>
            <a:ext cx="6126480" cy="365760"/>
          </a:xfrm>
          <a:prstGeom prst="rect">
            <a:avLst/>
          </a:prstGeom>
          <a:noFill/>
        </p:spPr>
        <p:txBody>
          <a:bodyPr wrap="square" lIns="0" tIns="0" rIns="0" bIns="0">
            <a:spAutoFit/>
          </a:bodyPr>
          <a:lstStyle/>
          <a:p>
            <a:pPr algn="l">
              <a:spcAft>
                <a:spcPts val="600"/>
              </a:spcAft>
            </a:pPr>
            <a:r>
              <a:rPr sz="1050" b="0">
                <a:solidFill>
                  <a:srgbClr val="6B7480"/>
                </a:solidFill>
                <a:latin typeface="Segoe UI"/>
              </a:rPr>
              <a:t>23/24 no proof device   ·   16/24 address the core objection   ·   1/24 brand-building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3716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10424160" cy="1280160"/>
          </a:xfrm>
          <a:prstGeom prst="rect">
            <a:avLst/>
          </a:prstGeom>
          <a:noFill/>
        </p:spPr>
        <p:txBody>
          <a:bodyPr wrap="square" lIns="0" tIns="0" rIns="0" bIns="0">
            <a:spAutoFit/>
          </a:bodyPr>
          <a:lstStyle/>
          <a:p>
            <a:pPr algn="l">
              <a:spcAft>
                <a:spcPts val="600"/>
              </a:spcAft>
            </a:pPr>
            <a:r>
              <a:rPr sz="3800" b="1">
                <a:solidFill>
                  <a:srgbClr val="FFFFFF"/>
                </a:solidFill>
                <a:latin typeface="Segoe UI"/>
              </a:rPr>
              <a:t>PTCL is advertising at level 5 and delivering at level 2.</a:t>
            </a:r>
          </a:p>
        </p:txBody>
      </p:sp>
      <p:sp>
        <p:nvSpPr>
          <p:cNvPr id="5" name="TextBox 4"/>
          <p:cNvSpPr txBox="1"/>
          <p:nvPr/>
        </p:nvSpPr>
        <p:spPr>
          <a:xfrm>
            <a:off x="822960" y="3017520"/>
            <a:ext cx="10424160" cy="2377440"/>
          </a:xfrm>
          <a:prstGeom prst="rect">
            <a:avLst/>
          </a:prstGeom>
          <a:noFill/>
        </p:spPr>
        <p:txBody>
          <a:bodyPr wrap="square" lIns="0" tIns="0" rIns="0" bIns="0">
            <a:spAutoFit/>
          </a:bodyPr>
          <a:lstStyle/>
          <a:p>
            <a:pPr algn="l">
              <a:spcAft>
                <a:spcPts val="1200"/>
              </a:spcAft>
            </a:pPr>
            <a:r>
              <a:rPr sz="1500" b="0">
                <a:solidFill>
                  <a:srgbClr val="C7D4E0"/>
                </a:solidFill>
                <a:latin typeface="Segoe UI"/>
              </a:rPr>
              <a:t>The category sits on product attributes - speed, price, coverage. PTCL sits on national identity: 14 of its 24 posts claim heritage or nation, only one mentions speed, none mentions reliability or service.</a:t>
            </a:r>
          </a:p>
          <a:p>
            <a:pPr algn="l">
              <a:spcAft>
                <a:spcPts val="1200"/>
              </a:spcAft>
            </a:pPr>
            <a:r>
              <a:rPr sz="1500" b="0">
                <a:solidFill>
                  <a:srgbClr val="C7D4E0"/>
                </a:solidFill>
                <a:latin typeface="Segoe UI"/>
              </a:rPr>
              <a:t>Its customers are not in that conversation. They are describing a bill that changes without notice, a fault that takes days of pleading, and an exit that is penalised - in the language of fraud, tyranny and captivity.</a:t>
            </a:r>
          </a:p>
          <a:p>
            <a:pPr algn="l">
              <a:spcAft>
                <a:spcPts val="1200"/>
              </a:spcAft>
            </a:pPr>
            <a:r>
              <a:rPr sz="1500" b="0">
                <a:solidFill>
                  <a:srgbClr val="C7D4E0"/>
                </a:solidFill>
                <a:latin typeface="Segoe UI"/>
              </a:rPr>
              <a:t>A brand cannot occupy "I think like you do" while its customers are saying "you are Pharaoh". The higher the claim, the wider the credibility gap it opens.</a:t>
            </a:r>
          </a:p>
          <a:p>
            <a:pPr algn="l">
              <a:spcAft>
                <a:spcPts val="1200"/>
              </a:spcAft>
            </a:pPr>
            <a:r>
              <a:rPr sz="1500" b="0">
                <a:solidFill>
                  <a:srgbClr val="C7D4E0"/>
                </a:solidFill>
                <a:latin typeface="Segoe UI"/>
              </a:rPr>
              <a:t>This is why the awareness does not convert. Not a media weight problem. A permission problem.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058400" cy="457200"/>
          </a:xfrm>
          <a:prstGeom prst="rect">
            <a:avLst/>
          </a:prstGeom>
          <a:noFill/>
        </p:spPr>
        <p:txBody>
          <a:bodyPr wrap="square" lIns="0" tIns="0" rIns="0" bIns="0">
            <a:spAutoFit/>
          </a:bodyPr>
          <a:lstStyle/>
          <a:p>
            <a:pPr algn="l">
              <a:spcAft>
                <a:spcPts val="600"/>
              </a:spcAft>
            </a:pPr>
            <a:r>
              <a:rPr sz="2400" b="1">
                <a:solidFill>
                  <a:srgbClr val="FFFFFF"/>
                </a:solidFill>
                <a:latin typeface="Segoe UI"/>
              </a:rPr>
              <a:t>The strategy: earn the rung below, then own the one above the category</a:t>
            </a:r>
          </a:p>
        </p:txBody>
      </p:sp>
      <p:sp>
        <p:nvSpPr>
          <p:cNvPr id="4" name="Rectangle 3"/>
          <p:cNvSpPr/>
          <p:nvPr/>
        </p:nvSpPr>
        <p:spPr>
          <a:xfrm>
            <a:off x="548640" y="1280160"/>
            <a:ext cx="5120640" cy="20116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600200"/>
            <a:ext cx="4572000" cy="1554480"/>
          </a:xfrm>
          <a:prstGeom prst="rect">
            <a:avLst/>
          </a:prstGeom>
          <a:noFill/>
        </p:spPr>
        <p:txBody>
          <a:bodyPr wrap="square" lIns="0" tIns="0" rIns="0" bIns="0">
            <a:spAutoFit/>
          </a:bodyPr>
          <a:lstStyle/>
          <a:p>
            <a:pPr algn="l">
              <a:spcAft>
                <a:spcPts val="800"/>
              </a:spcAft>
            </a:pPr>
            <a:r>
              <a:rPr sz="3600" b="1">
                <a:solidFill>
                  <a:srgbClr val="C8102E"/>
                </a:solidFill>
                <a:latin typeface="Segoe UI"/>
              </a:rPr>
              <a:t>L3 to L4</a:t>
            </a:r>
          </a:p>
          <a:p>
            <a:pPr algn="l">
              <a:spcAft>
                <a:spcPts val="800"/>
              </a:spcAft>
            </a:pPr>
            <a:r>
              <a:rPr sz="1400" b="0">
                <a:solidFill>
                  <a:srgbClr val="102A43"/>
                </a:solidFill>
                <a:latin typeface="Segoe UI"/>
              </a:rPr>
              <a:t>The category is stuck at level 2 - attributes. The framework's own rule is to differentiate one level above where the category sits, which makes 3 and 4 the contested ground and 5 a claim nobody has earned.</a:t>
            </a:r>
          </a:p>
          <a:p>
            <a:pPr algn="l">
              <a:spcAft>
                <a:spcPts val="800"/>
              </a:spcAft>
            </a:pPr>
            <a:r>
              <a:rPr sz="1400" b="0">
                <a:solidFill>
                  <a:srgbClr val="102A43"/>
                </a:solidFill>
                <a:latin typeface="Segoe UI"/>
              </a:rPr>
              <a:t>PTCL does not need a bigger idea. It needs a smaller, harder one it can prove.</a:t>
            </a:r>
          </a:p>
        </p:txBody>
      </p:sp>
      <p:sp>
        <p:nvSpPr>
          <p:cNvPr id="6" name="TextBox 5"/>
          <p:cNvSpPr txBox="1"/>
          <p:nvPr/>
        </p:nvSpPr>
        <p:spPr>
          <a:xfrm>
            <a:off x="6035040" y="1280160"/>
            <a:ext cx="5577840" cy="2194560"/>
          </a:xfrm>
          <a:prstGeom prst="rect">
            <a:avLst/>
          </a:prstGeom>
          <a:noFill/>
        </p:spPr>
        <p:txBody>
          <a:bodyPr wrap="square" lIns="0" tIns="0" rIns="0" bIns="0">
            <a:spAutoFit/>
          </a:bodyPr>
          <a:lstStyle/>
          <a:p>
            <a:pPr algn="l">
              <a:spcAft>
                <a:spcPts val="1000"/>
              </a:spcAft>
            </a:pPr>
            <a:r>
              <a:rPr sz="1400" b="1">
                <a:solidFill>
                  <a:srgbClr val="1A1A1A"/>
                </a:solidFill>
                <a:latin typeface="Segoe UI"/>
              </a:rPr>
              <a:t>Fairness is the one territory that works on every rung and answers the customer pulse directly. As a benefit it is predictable billing and a fault fixed without pleading. As a psychological territory it is a brand that treats you like an adult. As a value it is straight dealing - but only once the first two are true. It is also completely unclaimed: no brand in 336 posts promises anything about price stability or being answerable, and the most admired competitor behaviour in the corpus is simply replying.</a:t>
            </a:r>
          </a:p>
        </p:txBody>
      </p:sp>
      <p:sp>
        <p:nvSpPr>
          <p:cNvPr id="7" name="TextBox 6"/>
          <p:cNvSpPr txBox="1"/>
          <p:nvPr/>
        </p:nvSpPr>
        <p:spPr>
          <a:xfrm>
            <a:off x="548640" y="3657600"/>
            <a:ext cx="11064240" cy="365760"/>
          </a:xfrm>
          <a:prstGeom prst="rect">
            <a:avLst/>
          </a:prstGeom>
          <a:noFill/>
        </p:spPr>
        <p:txBody>
          <a:bodyPr wrap="square" lIns="0" tIns="0" rIns="0" bIns="0">
            <a:spAutoFit/>
          </a:bodyPr>
          <a:lstStyle/>
          <a:p>
            <a:pPr algn="l">
              <a:spcAft>
                <a:spcPts val="600"/>
              </a:spcAft>
            </a:pPr>
            <a:r>
              <a:rPr sz="1500" b="1">
                <a:solidFill>
                  <a:srgbClr val="102A43"/>
                </a:solidFill>
                <a:latin typeface="Segoe UI"/>
              </a:rPr>
              <a:t>The sequence - each rung earns the next</a:t>
            </a:r>
          </a:p>
        </p:txBody>
      </p:sp>
      <p:sp>
        <p:nvSpPr>
          <p:cNvPr id="8" name="Rectangle 7"/>
          <p:cNvSpPr/>
          <p:nvPr/>
        </p:nvSpPr>
        <p:spPr>
          <a:xfrm>
            <a:off x="548640" y="411480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4343400"/>
            <a:ext cx="3566160" cy="457200"/>
          </a:xfrm>
          <a:prstGeom prst="rect">
            <a:avLst/>
          </a:prstGeom>
          <a:noFill/>
        </p:spPr>
        <p:txBody>
          <a:bodyPr wrap="square" lIns="0" tIns="0" rIns="0" bIns="0">
            <a:spAutoFit/>
          </a:bodyPr>
          <a:lstStyle/>
          <a:p>
            <a:pPr algn="l">
              <a:spcAft>
                <a:spcPts val="600"/>
              </a:spcAft>
            </a:pPr>
            <a:r>
              <a:rPr sz="1300" b="1">
                <a:solidFill>
                  <a:srgbClr val="102A43"/>
                </a:solidFill>
                <a:latin typeface="Segoe UI"/>
              </a:rPr>
              <a:t>1. Fix the terms (level 3)</a:t>
            </a:r>
          </a:p>
        </p:txBody>
      </p:sp>
      <p:sp>
        <p:nvSpPr>
          <p:cNvPr id="10" name="TextBox 9"/>
          <p:cNvSpPr txBox="1"/>
          <p:nvPr/>
        </p:nvSpPr>
        <p:spPr>
          <a:xfrm>
            <a:off x="548640" y="4892040"/>
            <a:ext cx="3566160" cy="1554480"/>
          </a:xfrm>
          <a:prstGeom prst="rect">
            <a:avLst/>
          </a:prstGeom>
          <a:noFill/>
        </p:spPr>
        <p:txBody>
          <a:bodyPr wrap="square" lIns="0" tIns="0" rIns="0" bIns="0">
            <a:spAutoFit/>
          </a:bodyPr>
          <a:lstStyle/>
          <a:p>
            <a:pPr algn="l">
              <a:spcAft>
                <a:spcPts val="600"/>
              </a:spcAft>
            </a:pPr>
            <a:r>
              <a:rPr sz="1150" b="0">
                <a:solidFill>
                  <a:srgbClr val="1A1A1A"/>
                </a:solidFill>
                <a:latin typeface="Segoe UI"/>
              </a:rPr>
              <a:t>Predictable pricing with notice, a published fault-response time, and an exit without a penalty month. These are commercial decisions, not campaigns - and they are the only things that will make any claim credible.</a:t>
            </a:r>
          </a:p>
        </p:txBody>
      </p:sp>
      <p:sp>
        <p:nvSpPr>
          <p:cNvPr id="11" name="Rectangle 10"/>
          <p:cNvSpPr/>
          <p:nvPr/>
        </p:nvSpPr>
        <p:spPr>
          <a:xfrm>
            <a:off x="4279392" y="411480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79392" y="4343400"/>
            <a:ext cx="3566160" cy="457200"/>
          </a:xfrm>
          <a:prstGeom prst="rect">
            <a:avLst/>
          </a:prstGeom>
          <a:noFill/>
        </p:spPr>
        <p:txBody>
          <a:bodyPr wrap="square" lIns="0" tIns="0" rIns="0" bIns="0">
            <a:spAutoFit/>
          </a:bodyPr>
          <a:lstStyle/>
          <a:p>
            <a:pPr algn="l">
              <a:spcAft>
                <a:spcPts val="600"/>
              </a:spcAft>
            </a:pPr>
            <a:r>
              <a:rPr sz="1300" b="1">
                <a:solidFill>
                  <a:srgbClr val="102A43"/>
                </a:solidFill>
                <a:latin typeface="Segoe UI"/>
              </a:rPr>
              <a:t>2. Become answerable (level 3-4)</a:t>
            </a:r>
          </a:p>
        </p:txBody>
      </p:sp>
      <p:sp>
        <p:nvSpPr>
          <p:cNvPr id="13" name="TextBox 12"/>
          <p:cNvSpPr txBox="1"/>
          <p:nvPr/>
        </p:nvSpPr>
        <p:spPr>
          <a:xfrm>
            <a:off x="4279392" y="4892040"/>
            <a:ext cx="3566160" cy="1554480"/>
          </a:xfrm>
          <a:prstGeom prst="rect">
            <a:avLst/>
          </a:prstGeom>
          <a:noFill/>
        </p:spPr>
        <p:txBody>
          <a:bodyPr wrap="square" lIns="0" tIns="0" rIns="0" bIns="0">
            <a:spAutoFit/>
          </a:bodyPr>
          <a:lstStyle/>
          <a:p>
            <a:pPr algn="l">
              <a:spcAft>
                <a:spcPts val="600"/>
              </a:spcAft>
            </a:pPr>
            <a:r>
              <a:rPr sz="1150" b="0">
                <a:solidFill>
                  <a:srgbClr val="1A1A1A"/>
                </a:solidFill>
                <a:latin typeface="Segoe UI"/>
              </a:rPr>
              <a:t>Show up where the decision is made. PTCL appears nowhere in 976 comments while StormFiber is praised for replying at 3am. Presence converts a utility into a relationship.</a:t>
            </a:r>
          </a:p>
        </p:txBody>
      </p:sp>
      <p:sp>
        <p:nvSpPr>
          <p:cNvPr id="14" name="Rectangle 13"/>
          <p:cNvSpPr/>
          <p:nvPr/>
        </p:nvSpPr>
        <p:spPr>
          <a:xfrm>
            <a:off x="8010144" y="411480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10144" y="4343400"/>
            <a:ext cx="3566160" cy="457200"/>
          </a:xfrm>
          <a:prstGeom prst="rect">
            <a:avLst/>
          </a:prstGeom>
          <a:noFill/>
        </p:spPr>
        <p:txBody>
          <a:bodyPr wrap="square" lIns="0" tIns="0" rIns="0" bIns="0">
            <a:spAutoFit/>
          </a:bodyPr>
          <a:lstStyle/>
          <a:p>
            <a:pPr algn="l">
              <a:spcAft>
                <a:spcPts val="600"/>
              </a:spcAft>
            </a:pPr>
            <a:r>
              <a:rPr sz="1300" b="1">
                <a:solidFill>
                  <a:srgbClr val="102A43"/>
                </a:solidFill>
                <a:latin typeface="Segoe UI"/>
              </a:rPr>
              <a:t>3. Then claim the value (level 5)</a:t>
            </a:r>
          </a:p>
        </p:txBody>
      </p:sp>
      <p:sp>
        <p:nvSpPr>
          <p:cNvPr id="16" name="TextBox 15"/>
          <p:cNvSpPr txBox="1"/>
          <p:nvPr/>
        </p:nvSpPr>
        <p:spPr>
          <a:xfrm>
            <a:off x="8010144" y="4892040"/>
            <a:ext cx="3566160" cy="1554480"/>
          </a:xfrm>
          <a:prstGeom prst="rect">
            <a:avLst/>
          </a:prstGeom>
          <a:noFill/>
        </p:spPr>
        <p:txBody>
          <a:bodyPr wrap="square" lIns="0" tIns="0" rIns="0" bIns="0">
            <a:spAutoFit/>
          </a:bodyPr>
          <a:lstStyle/>
          <a:p>
            <a:pPr algn="l">
              <a:spcAft>
                <a:spcPts val="600"/>
              </a:spcAft>
            </a:pPr>
            <a:r>
              <a:rPr sz="1150" b="0">
                <a:solidFill>
                  <a:srgbClr val="1A1A1A"/>
                </a:solidFill>
                <a:latin typeface="Segoe UI"/>
              </a:rPr>
              <a:t>Only when the first two are demonstrable does national scale become meaning rather than advertising. The legacy story is the reward for fixing the relationship, not a substitute for it.</a:t>
            </a:r>
          </a:p>
        </p:txBody>
      </p:sp>
      <p:sp>
        <p:nvSpPr>
          <p:cNvPr id="17" name="TextBox 16"/>
          <p:cNvSpPr txBox="1"/>
          <p:nvPr/>
        </p:nvSpPr>
        <p:spPr>
          <a:xfrm>
            <a:off x="548640" y="6263640"/>
            <a:ext cx="11064240" cy="365760"/>
          </a:xfrm>
          <a:prstGeom prst="rect">
            <a:avLst/>
          </a:prstGeom>
          <a:noFill/>
        </p:spPr>
        <p:txBody>
          <a:bodyPr wrap="square" lIns="0" tIns="0" rIns="0" bIns="0">
            <a:spAutoFit/>
          </a:bodyPr>
          <a:lstStyle/>
          <a:p>
            <a:pPr algn="l">
              <a:spcAft>
                <a:spcPts val="600"/>
              </a:spcAft>
            </a:pPr>
            <a:r>
              <a:rPr sz="1200" b="1">
                <a:solidFill>
                  <a:srgbClr val="C8102E"/>
                </a:solidFill>
                <a:latin typeface="Segoe UI"/>
              </a:rPr>
              <a:t>Heritage is the most crowded territory in the category - 13 of 14 brands are in it, and Transworld already owns 1947. Fairness is empty.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4334</Words>
  <Application>Microsoft Office PowerPoint</Application>
  <PresentationFormat>Widescreen</PresentationFormat>
  <Paragraphs>410</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 Ali</cp:lastModifiedBy>
  <cp:revision>2</cp:revision>
  <dcterms:created xsi:type="dcterms:W3CDTF">2013-01-27T09:14:16Z</dcterms:created>
  <dcterms:modified xsi:type="dcterms:W3CDTF">2026-09-11T14:35:17Z</dcterms:modified>
  <cp:category/>
</cp:coreProperties>
</file>