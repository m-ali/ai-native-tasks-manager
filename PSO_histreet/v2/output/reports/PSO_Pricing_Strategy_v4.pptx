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charts/chart1.xml" ContentType="application/vnd.openxmlformats-officedocument.drawingml.chart+xml"/>
  <Override PartName="/ppt/slideMasters/slideMaster8.xml" ContentType="application/vnd.openxmlformats-officedocument.presentationml.slideMaster+xml"/>
  <Override PartName="/ppt/slides/slide8.xml" ContentType="application/vnd.openxmlformats-officedocument.presentationml.slide+xml"/>
  <Override PartName="/ppt/charts/chart2.xml" ContentType="application/vnd.openxmlformats-officedocument.drawingml.chart+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charts/chart3.xml" ContentType="application/vnd.openxmlformats-officedocument.drawingml.chart+xml"/>
  <Override PartName="/ppt/slideMasters/slideMaster11.xml" ContentType="application/vnd.openxmlformats-officedocument.presentationml.slideMaster+xml"/>
  <Override PartName="/ppt/slides/slide11.xml" ContentType="application/vnd.openxmlformats-officedocument.presentationml.slide+xml"/>
  <Override PartName="/ppt/charts/chart4.xml" ContentType="application/vnd.openxmlformats-officedocument.drawingml.chart+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charts/chart5.xml" ContentType="application/vnd.openxmlformats-officedocument.drawingml.chart+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Lst>
  <p:notesMasterIdLst>
    <p:notesMasterId r:id="rId22"/>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notesMaster" Target="notesMasters/notesMaster1.xml"/><Relationship Id="rId23" Type="http://schemas.openxmlformats.org/officeDocument/2006/relationships/presProps" Target="presProps.xml"/><Relationship Id="rId24" Type="http://schemas.openxmlformats.org/officeDocument/2006/relationships/viewProps" Target="viewProps.xml"/><Relationship Id="rId25" Type="http://schemas.openxmlformats.org/officeDocument/2006/relationships/theme" Target="theme/theme1.xml"/><Relationship Id="rId26"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Relationships xmlns="http://schemas.openxmlformats.org/package/2006/relationships"><Relationship Id="rId1" Type="http://schemas.openxmlformats.org/officeDocument/2006/relationships/package" Target="../embeddings/Microsoft_Excel_Worksheet3.xlsx"/></Relationships>
</file>

<file path=ppt/charts/_rels/chart4.xml.rels><?xml version="1.0" encoding="UTF-8" standalone="yes"?><Relationships xmlns="http://schemas.openxmlformats.org/package/2006/relationships"><Relationship Id="rId1" Type="http://schemas.openxmlformats.org/officeDocument/2006/relationships/package" Target="../embeddings/Microsoft_Excel_Worksheet4.xlsx"/></Relationships>
</file>

<file path=ppt/charts/_rels/chart5.xml.rels><?xml version="1.0" encoding="UTF-8" standalone="yes"?><Relationships xmlns="http://schemas.openxmlformats.org/package/2006/relationships"><Relationship Id="rId1" Type="http://schemas.openxmlformats.org/officeDocument/2006/relationships/package" Target="../embeddings/Microsoft_Excel_Worksheet5.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Market Median</c:v>
                </c:pt>
              </c:strCache>
            </c:strRef>
          </c:tx>
          <c:spPr>
            <a:solidFill>
              <a:srgbClr val="023520"/>
            </a:solidFill>
            <a:effectLst/>
          </c:spPr>
          <c:invertIfNegative val="0"/>
          <c:dLbls>
            <c:numFmt formatCode="#,##0" sourceLinked="0"/>
            <c:txPr>
              <a:bodyPr/>
              <a:lstStyle/>
              <a:p>
                <a:pPr>
                  <a:defRPr b="0" i="0" strike="noStrike" sz="800" u="none">
                    <a:solidFill>
                      <a:srgbClr val="000000"/>
                    </a:solidFill>
                    <a:latin typeface="Arial"/>
                  </a:defRPr>
                </a:pPr>
              </a:p>
            </c:txPr>
            <c:showLegendKey val="0"/>
            <c:showVal val="0"/>
            <c:showCatName val="0"/>
            <c:showSerName val="0"/>
            <c:showPercent val="0"/>
            <c:showBubbleSize val="0"/>
            <c:showLeaderLines val="0"/>
          </c:dLbls>
          <c:cat>
            <c:multiLvlStrRef>
              <c:f>Sheet1!$A$2:$A$4</c:f>
              <c:multiLvlStrCache>
                <c:ptCount val="3"/>
                <c:lvl>
                  <c:pt idx="0">
                    <c:v>Shell/Caltex/Total</c:v>
                  </c:pt>
                  <c:pt idx="1">
                    <c:v>ZIC/Aramco</c:v>
                  </c:pt>
                  <c:pt idx="2">
                    <c:v>Kixx/Equimoli</c:v>
                  </c:pt>
                </c:lvl>
              </c:multiLvlStrCache>
            </c:multiLvlStrRef>
          </c:cat>
          <c:val>
            <c:numRef>
              <c:f>Sheet1!$B$2:$B$4</c:f>
              <c:numCache>
                <c:formatCode>General</c:formatCode>
                <c:ptCount val="3"/>
                <c:pt idx="0">
                  <c:v>2300</c:v>
                </c:pt>
                <c:pt idx="1">
                  <c:v>1750</c:v>
                </c:pt>
                <c:pt idx="2">
                  <c:v>1022</c:v>
                </c:pt>
              </c:numCache>
            </c:numRef>
          </c:val>
        </c:ser>
        <c:ser>
          <c:idx val="1"/>
          <c:order val="1"/>
          <c:tx>
            <c:strRef>
              <c:f>Sheet1!$C$1</c:f>
              <c:strCache>
                <c:ptCount val="1"/>
                <c:pt idx="0">
                  <c:v>PSO Recommended</c:v>
                </c:pt>
              </c:strCache>
            </c:strRef>
          </c:tx>
          <c:spPr>
            <a:solidFill>
              <a:srgbClr val="C8960C"/>
            </a:solidFill>
            <a:effectLst/>
          </c:spPr>
          <c:invertIfNegative val="0"/>
          <c:dLbls>
            <c:numFmt formatCode="#,##0" sourceLinked="0"/>
            <c:txPr>
              <a:bodyPr/>
              <a:lstStyle/>
              <a:p>
                <a:pPr>
                  <a:defRPr b="0" i="0" strike="noStrike" sz="800" u="none">
                    <a:solidFill>
                      <a:srgbClr val="000000"/>
                    </a:solidFill>
                    <a:latin typeface="Arial"/>
                  </a:defRPr>
                </a:pPr>
              </a:p>
            </c:txPr>
            <c:showLegendKey val="0"/>
            <c:showVal val="0"/>
            <c:showCatName val="0"/>
            <c:showSerName val="0"/>
            <c:showPercent val="0"/>
            <c:showBubbleSize val="0"/>
            <c:showLeaderLines val="0"/>
          </c:dLbls>
          <c:cat>
            <c:multiLvlStrRef>
              <c:f>Sheet1!$A$2:$A$4</c:f>
              <c:multiLvlStrCache>
                <c:ptCount val="3"/>
                <c:lvl>
                  <c:pt idx="0">
                    <c:v>Shell/Caltex/Total</c:v>
                  </c:pt>
                  <c:pt idx="1">
                    <c:v>ZIC/Aramco</c:v>
                  </c:pt>
                  <c:pt idx="2">
                    <c:v>Kixx/Equimoli</c:v>
                  </c:pt>
                </c:lvl>
              </c:multiLvlStrCache>
            </c:multiLvlStrRef>
          </c:cat>
          <c:val>
            <c:numRef>
              <c:f>Sheet1!$C$2:$C$4</c:f>
              <c:numCache>
                <c:formatCode>General</c:formatCode>
                <c:ptCount val="3"/>
                <c:pt idx="0">
                  <c:v>2106</c:v>
                </c:pt>
                <c:pt idx="1">
                  <c:v>1640</c:v>
                </c:pt>
                <c:pt idx="2">
                  <c:v>960</c:v>
                </c:pt>
              </c:numCache>
            </c:numRef>
          </c:val>
        </c:ser>
        <c:dLbls>
          <c:numFmt formatCode="#,##0" sourceLinked="0"/>
          <c:txPr>
            <a:bodyPr/>
            <a:lstStyle/>
            <a:p>
              <a:pPr>
                <a:defRPr b="0" i="0" strike="noStrike" sz="800" u="none">
                  <a:solidFill>
                    <a:srgbClr val="000000"/>
                  </a:solidFill>
                  <a:latin typeface="Arial"/>
                </a:defRPr>
              </a:pPr>
            </a:p>
          </c:txPr>
          <c:showLegendKey val="0"/>
          <c:showVal val="0"/>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title>
          <c:tx>
            <c:rich>
              <a:bodyPr/>
              <a:lstStyle/>
              <a:p>
                <a:pPr>
                  <a:defRPr b="0" i="0" u="none" strike="noStrike">
                    <a:solidFill>
                      <a:srgbClr val="000000"/>
                    </a:solidFill>
                    <a:latin typeface="Arial"/>
                  </a:defRPr>
                </a:pPr>
                <a:r>
                  <a:rPr b="0" i="0" u="none" strike="noStrike">
                    <a:solidFill>
                      <a:srgbClr val="000000"/>
                    </a:solidFill>
                    <a:latin typeface="Arial"/>
                  </a:rPr>
                  <a:t>Competitor Tier Group</a:t>
                </a:r>
              </a:p>
            </c:rich>
          </c:tx>
          <c:layout/>
          <c:overlay val="0"/>
        </c:title>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2500"/>
          <c:min val="0"/>
        </c:scaling>
        <c:delete val="0"/>
        <c:axPos val="l"/>
        <c:majorGridlines>
          <c:spPr>
            <a:ln w="12700" cap="flat">
              <a:solidFill>
                <a:srgbClr val="888888"/>
              </a:solidFill>
              <a:prstDash val="solid"/>
              <a:round/>
            </a:ln>
          </c:spPr>
        </c:majorGridlines>
        <c:title>
          <c:tx>
            <c:rich>
              <a:bodyPr/>
              <a:lstStyle/>
              <a:p>
                <a:pPr>
                  <a:defRPr b="0" i="0" u="none" strike="noStrike">
                    <a:solidFill>
                      <a:srgbClr val="000000"/>
                    </a:solidFill>
                    <a:latin typeface="Arial"/>
                  </a:defRPr>
                </a:pPr>
                <a:r>
                  <a:rPr b="0" i="0" u="none" strike="noStrike">
                    <a:solidFill>
                      <a:srgbClr val="000000"/>
                    </a:solidFill>
                    <a:latin typeface="Arial"/>
                  </a:rPr>
                  <a:t>Price/Litre (PKR)</a:t>
                </a:r>
              </a:p>
            </c:rich>
          </c:tx>
          <c:layout/>
          <c:overlay val="0"/>
        </c:title>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legend>
      <c:legendPos val="t"/>
      <c:overlay val="0"/>
    </c:legend>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lineChart>
        <c:varyColors val="0"/>
        <c:ser>
          <c:idx val="0"/>
          <c:order val="0"/>
          <c:tx>
            <c:strRef>
              <c:f>Sheet1!$B$1</c:f>
              <c:strCache>
                <c:ptCount val="1"/>
                <c:pt idx="0">
                  <c:v>Carient Ultra 5W-40 (Super Premium)</c:v>
                </c:pt>
              </c:strCache>
            </c:strRef>
          </c:tx>
          <c:spPr>
            <a:solidFill>
              <a:srgbClr val="023520"/>
            </a:solidFill>
            <a:ln w="38100" cap="flat">
              <a:solidFill>
                <a:srgbClr val="023520"/>
              </a:solidFill>
              <a:prstDash val="solid"/>
              <a:round/>
            </a:ln>
            <a:effectLst/>
          </c:spPr>
          <c:invertIfNegative val="0"/>
          <c:dLbls>
            <c:numFmt formatCode="#,##0" sourceLinked="0"/>
            <c:txPr>
              <a:bodyPr/>
              <a:lstStyle/>
              <a:p>
                <a:pPr>
                  <a:defRPr b="0" i="0" strike="noStrike" sz="700" u="none">
                    <a:solidFill>
                      <a:srgbClr val="000000"/>
                    </a:solidFill>
                    <a:latin typeface="Arial"/>
                  </a:defRPr>
                </a:pPr>
              </a:p>
            </c:txPr>
            <c:showLegendKey val="0"/>
            <c:showVal val="1"/>
            <c:showCatName val="0"/>
            <c:showSerName val="0"/>
            <c:showPercent val="0"/>
            <c:showBubbleSize val="0"/>
            <c:showLeaderLines val="0"/>
          </c:dLbls>
          <c:marker>
            <c:symbol val="circle"/>
            <c:size val="6"/>
            <c:spPr>
              <a:solidFill>
                <a:srgbClr val="023520"/>
              </a:solidFill>
              <a:ln w="9525" cap="flat">
                <a:solidFill>
                  <a:srgbClr val="023520"/>
                </a:solidFill>
                <a:prstDash val="solid"/>
                <a:round/>
              </a:ln>
              <a:effectLst/>
            </c:spPr>
          </c:marker>
          <c:cat>
            <c:multiLvlStrRef>
              <c:f>Sheet1!$A$2:$A$4</c:f>
              <c:multiLvlStrCache>
                <c:ptCount val="3"/>
                <c:lvl>
                  <c:pt idx="0">
                    <c:v>1L</c:v>
                  </c:pt>
                  <c:pt idx="1">
                    <c:v>3L</c:v>
                  </c:pt>
                  <c:pt idx="2">
                    <c:v>4L</c:v>
                  </c:pt>
                </c:lvl>
              </c:multiLvlStrCache>
            </c:multiLvlStrRef>
          </c:cat>
          <c:val>
            <c:numRef>
              <c:f>Sheet1!$B$2:$B$4</c:f>
              <c:numCache>
                <c:formatCode>General</c:formatCode>
                <c:ptCount val="3"/>
                <c:pt idx="0">
                  <c:v>3287</c:v>
                </c:pt>
                <c:pt idx="1">
                  <c:v>3090</c:v>
                </c:pt>
                <c:pt idx="2">
                  <c:v>3008</c:v>
                </c:pt>
              </c:numCache>
            </c:numRef>
          </c:val>
          <c:smooth val="0"/>
        </c:ser>
        <c:ser>
          <c:idx val="1"/>
          <c:order val="1"/>
          <c:tx>
            <c:strRef>
              <c:f>Sheet1!$C$1</c:f>
              <c:strCache>
                <c:ptCount val="1"/>
                <c:pt idx="0">
                  <c:v>Carient Plus 15W-40 (Mainstream)</c:v>
                </c:pt>
              </c:strCache>
            </c:strRef>
          </c:tx>
          <c:spPr>
            <a:solidFill>
              <a:srgbClr val="00703C"/>
            </a:solidFill>
            <a:ln w="38100" cap="flat">
              <a:solidFill>
                <a:srgbClr val="00703C"/>
              </a:solidFill>
              <a:prstDash val="solid"/>
              <a:round/>
            </a:ln>
            <a:effectLst/>
          </c:spPr>
          <c:invertIfNegative val="0"/>
          <c:dLbls>
            <c:numFmt formatCode="#,##0" sourceLinked="0"/>
            <c:txPr>
              <a:bodyPr/>
              <a:lstStyle/>
              <a:p>
                <a:pPr>
                  <a:defRPr b="0" i="0" strike="noStrike" sz="700" u="none">
                    <a:solidFill>
                      <a:srgbClr val="000000"/>
                    </a:solidFill>
                    <a:latin typeface="Arial"/>
                  </a:defRPr>
                </a:pPr>
              </a:p>
            </c:txPr>
            <c:showLegendKey val="0"/>
            <c:showVal val="1"/>
            <c:showCatName val="0"/>
            <c:showSerName val="0"/>
            <c:showPercent val="0"/>
            <c:showBubbleSize val="0"/>
            <c:showLeaderLines val="0"/>
          </c:dLbls>
          <c:marker>
            <c:symbol val="circle"/>
            <c:size val="6"/>
            <c:spPr>
              <a:solidFill>
                <a:srgbClr val="00703C"/>
              </a:solidFill>
              <a:ln w="9525" cap="flat">
                <a:solidFill>
                  <a:srgbClr val="00703C"/>
                </a:solidFill>
                <a:prstDash val="solid"/>
                <a:round/>
              </a:ln>
              <a:effectLst/>
            </c:spPr>
          </c:marker>
          <c:cat>
            <c:multiLvlStrRef>
              <c:f>Sheet1!$A$2:$A$4</c:f>
              <c:multiLvlStrCache>
                <c:ptCount val="3"/>
                <c:lvl>
                  <c:pt idx="0">
                    <c:v>1L</c:v>
                  </c:pt>
                  <c:pt idx="1">
                    <c:v>3L</c:v>
                  </c:pt>
                  <c:pt idx="2">
                    <c:v>4L</c:v>
                  </c:pt>
                </c:lvl>
              </c:multiLvlStrCache>
            </c:multiLvlStrRef>
          </c:cat>
          <c:val>
            <c:numRef>
              <c:f>Sheet1!$C$2:$C$4</c:f>
              <c:numCache>
                <c:formatCode>General</c:formatCode>
                <c:ptCount val="3"/>
                <c:pt idx="0">
                  <c:v>1749</c:v>
                </c:pt>
                <c:pt idx="1">
                  <c:v>1602</c:v>
                </c:pt>
                <c:pt idx="2">
                  <c:v>1542</c:v>
                </c:pt>
              </c:numCache>
            </c:numRef>
          </c:val>
          <c:smooth val="0"/>
        </c:ser>
        <c:ser>
          <c:idx val="2"/>
          <c:order val="2"/>
          <c:tx>
            <c:strRef>
              <c:f>Sheet1!$D$1</c:f>
              <c:strCache>
                <c:ptCount val="1"/>
                <c:pt idx="0">
                  <c:v>Carient SPRO 15W-40 (Economy)</c:v>
                </c:pt>
              </c:strCache>
            </c:strRef>
          </c:tx>
          <c:spPr>
            <a:solidFill>
              <a:srgbClr val="C8960C"/>
            </a:solidFill>
            <a:ln w="38100" cap="flat">
              <a:solidFill>
                <a:srgbClr val="C8960C"/>
              </a:solidFill>
              <a:prstDash val="solid"/>
              <a:round/>
            </a:ln>
            <a:effectLst/>
          </c:spPr>
          <c:invertIfNegative val="0"/>
          <c:dLbls>
            <c:numFmt formatCode="#,##0" sourceLinked="0"/>
            <c:txPr>
              <a:bodyPr/>
              <a:lstStyle/>
              <a:p>
                <a:pPr>
                  <a:defRPr b="0" i="0" strike="noStrike" sz="700" u="none">
                    <a:solidFill>
                      <a:srgbClr val="000000"/>
                    </a:solidFill>
                    <a:latin typeface="Arial"/>
                  </a:defRPr>
                </a:pPr>
              </a:p>
            </c:txPr>
            <c:showLegendKey val="0"/>
            <c:showVal val="1"/>
            <c:showCatName val="0"/>
            <c:showSerName val="0"/>
            <c:showPercent val="0"/>
            <c:showBubbleSize val="0"/>
            <c:showLeaderLines val="0"/>
          </c:dLbls>
          <c:marker>
            <c:symbol val="circle"/>
            <c:size val="6"/>
            <c:spPr>
              <a:solidFill>
                <a:srgbClr val="C8960C"/>
              </a:solidFill>
              <a:ln w="9525" cap="flat">
                <a:solidFill>
                  <a:srgbClr val="C8960C"/>
                </a:solidFill>
                <a:prstDash val="solid"/>
                <a:round/>
              </a:ln>
              <a:effectLst/>
            </c:spPr>
          </c:marker>
          <c:cat>
            <c:multiLvlStrRef>
              <c:f>Sheet1!$A$2:$A$4</c:f>
              <c:multiLvlStrCache>
                <c:ptCount val="3"/>
                <c:lvl>
                  <c:pt idx="0">
                    <c:v>1L</c:v>
                  </c:pt>
                  <c:pt idx="1">
                    <c:v>3L</c:v>
                  </c:pt>
                  <c:pt idx="2">
                    <c:v>4L</c:v>
                  </c:pt>
                </c:lvl>
              </c:multiLvlStrCache>
            </c:multiLvlStrRef>
          </c:cat>
          <c:val>
            <c:numRef>
              <c:f>Sheet1!$D$2:$D$4</c:f>
              <c:numCache>
                <c:formatCode>General</c:formatCode>
                <c:ptCount val="3"/>
                <c:pt idx="0">
                  <c:v/>
                </c:pt>
                <c:pt idx="1">
                  <c:v>1575</c:v>
                </c:pt>
                <c:pt idx="2">
                  <c:v>1515</c:v>
                </c:pt>
              </c:numCache>
            </c:numRef>
          </c:val>
          <c:smooth val="0"/>
        </c:ser>
        <c:dLbls>
          <c:numFmt formatCode="#,##0" sourceLinked="0"/>
          <c:txPr>
            <a:bodyPr/>
            <a:lstStyle/>
            <a:p>
              <a:pPr>
                <a:defRPr b="0" i="0" strike="noStrike" sz="700" u="none">
                  <a:solidFill>
                    <a:srgbClr val="000000"/>
                  </a:solidFill>
                  <a:latin typeface="Arial"/>
                </a:defRPr>
              </a:pPr>
            </a:p>
          </c:txPr>
          <c:showLegendKey val="0"/>
          <c:showVal val="1"/>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title>
          <c:tx>
            <c:rich>
              <a:bodyPr/>
              <a:lstStyle/>
              <a:p>
                <a:pPr>
                  <a:defRPr b="0" i="0" u="none" strike="noStrike">
                    <a:solidFill>
                      <a:srgbClr val="000000"/>
                    </a:solidFill>
                    <a:latin typeface="Arial"/>
                  </a:defRPr>
                </a:pPr>
                <a:r>
                  <a:rPr b="0" i="0" u="none" strike="noStrike">
                    <a:solidFill>
                      <a:srgbClr val="000000"/>
                    </a:solidFill>
                    <a:latin typeface="Arial"/>
                  </a:rPr>
                  <a:t>Pack Size</a:t>
                </a:r>
              </a:p>
            </c:rich>
          </c:tx>
          <c:layout/>
          <c:overlay val="0"/>
        </c:title>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3800"/>
          <c:min val="0"/>
        </c:scaling>
        <c:delete val="0"/>
        <c:axPos val="l"/>
        <c:majorGridlines>
          <c:spPr>
            <a:ln w="12700" cap="flat">
              <a:solidFill>
                <a:srgbClr val="888888"/>
              </a:solidFill>
              <a:prstDash val="solid"/>
              <a:round/>
            </a:ln>
          </c:spPr>
        </c:majorGridlines>
        <c:title>
          <c:tx>
            <c:rich>
              <a:bodyPr/>
              <a:lstStyle/>
              <a:p>
                <a:pPr>
                  <a:defRPr b="0" i="0" u="none" strike="noStrike">
                    <a:solidFill>
                      <a:srgbClr val="000000"/>
                    </a:solidFill>
                    <a:latin typeface="Arial"/>
                  </a:defRPr>
                </a:pPr>
                <a:r>
                  <a:rPr b="0" i="0" u="none" strike="noStrike">
                    <a:solidFill>
                      <a:srgbClr val="000000"/>
                    </a:solidFill>
                    <a:latin typeface="Arial"/>
                  </a:rPr>
                  <a:t>Price/L (PKR)</a:t>
                </a:r>
              </a:p>
            </c:rich>
          </c:tx>
          <c:layout/>
          <c:overlay val="0"/>
        </c:title>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majorUnit val="500"/>
      </c:valAx>
      <c:spPr>
        <a:noFill/>
        <a:ln>
          <a:noFill/>
        </a:ln>
        <a:effectLst/>
      </c:spPr>
    </c:plotArea>
    <c:legend>
      <c:legendPos val="t"/>
      <c:overlay val="0"/>
    </c:legend>
    <c:plotVisOnly val="1"/>
    <c:dispBlanksAs val="span"/>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clustered"/>
        <c:varyColors val="0"/>
        <c:ser>
          <c:idx val="0"/>
          <c:order val="0"/>
          <c:tx>
            <c:strRef>
              <c:f>Sheet1!$B$1</c:f>
              <c:strCache>
                <c:ptCount val="1"/>
                <c:pt idx="0">
                  <c:v>PSO Recommended (PKR/L)</c:v>
                </c:pt>
              </c:strCache>
            </c:strRef>
          </c:tx>
          <c:spPr>
            <a:solidFill>
              <a:srgbClr val="00703C"/>
            </a:solidFill>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cat>
            <c:multiLvlStrRef>
              <c:f>Sheet1!$A$2:$A$8</c:f>
              <c:multiLvlStrCache>
                <c:ptCount val="7"/>
                <c:lvl>
                  <c:pt idx="0">
                    <c:v>20W-50
(Mineral)</c:v>
                  </c:pt>
                  <c:pt idx="1">
                    <c:v>15W-40
(Mineral)</c:v>
                  </c:pt>
                  <c:pt idx="2">
                    <c:v>10W-40
(Semi-Syn)</c:v>
                  </c:pt>
                  <c:pt idx="3">
                    <c:v>5W-40
(Full Syn)</c:v>
                  </c:pt>
                  <c:pt idx="4">
                    <c:v>5W-30
(Full Syn)</c:v>
                  </c:pt>
                  <c:pt idx="5">
                    <c:v>5W-20
(Full Syn)</c:v>
                  </c:pt>
                  <c:pt idx="6">
                    <c:v>0W-20
(Full Syn)</c:v>
                  </c:pt>
                </c:lvl>
              </c:multiLvlStrCache>
            </c:multiLvlStrRef>
          </c:cat>
          <c:val>
            <c:numRef>
              <c:f>Sheet1!$B$2:$B$8</c:f>
              <c:numCache>
                <c:formatCode>General</c:formatCode>
                <c:ptCount val="7"/>
                <c:pt idx="0">
                  <c:v>925</c:v>
                </c:pt>
                <c:pt idx="1">
                  <c:v>1542</c:v>
                </c:pt>
                <c:pt idx="2">
                  <c:v>1200</c:v>
                </c:pt>
                <c:pt idx="3">
                  <c:v>3138</c:v>
                </c:pt>
                <c:pt idx="4">
                  <c:v>2006</c:v>
                </c:pt>
                <c:pt idx="5">
                  <c:v>2364</c:v>
                </c:pt>
                <c:pt idx="6">
                  <c:v>3745</c:v>
                </c:pt>
              </c:numCache>
            </c:numRef>
          </c:val>
        </c:ser>
        <c:ser>
          <c:idx val="1"/>
          <c:order val="1"/>
          <c:tx>
            <c:strRef>
              <c:f>Sheet1!$C$1</c:f>
              <c:strCache>
                <c:ptCount val="1"/>
                <c:pt idx="0">
                  <c:v>Market Median (PKR/L)</c:v>
                </c:pt>
              </c:strCache>
            </c:strRef>
          </c:tx>
          <c:spPr>
            <a:solidFill>
              <a:srgbClr val="AAAAAA"/>
            </a:solidFill>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cat>
            <c:multiLvlStrRef>
              <c:f>Sheet1!$A$2:$A$8</c:f>
              <c:multiLvlStrCache>
                <c:ptCount val="7"/>
                <c:lvl>
                  <c:pt idx="0">
                    <c:v>20W-50
(Mineral)</c:v>
                  </c:pt>
                  <c:pt idx="1">
                    <c:v>15W-40
(Mineral)</c:v>
                  </c:pt>
                  <c:pt idx="2">
                    <c:v>10W-40
(Semi-Syn)</c:v>
                  </c:pt>
                  <c:pt idx="3">
                    <c:v>5W-40
(Full Syn)</c:v>
                  </c:pt>
                  <c:pt idx="4">
                    <c:v>5W-30
(Full Syn)</c:v>
                  </c:pt>
                  <c:pt idx="5">
                    <c:v>5W-20
(Full Syn)</c:v>
                  </c:pt>
                  <c:pt idx="6">
                    <c:v>0W-20
(Full Syn)</c:v>
                  </c:pt>
                </c:lvl>
              </c:multiLvlStrCache>
            </c:multiLvlStrRef>
          </c:cat>
          <c:val>
            <c:numRef>
              <c:f>Sheet1!$C$2:$C$8</c:f>
              <c:numCache>
                <c:formatCode>General</c:formatCode>
                <c:ptCount val="7"/>
                <c:pt idx="0">
                  <c:v>1019</c:v>
                </c:pt>
                <c:pt idx="1">
                  <c:v>1750</c:v>
                </c:pt>
                <c:pt idx="2">
                  <c:v>2300</c:v>
                </c:pt>
                <c:pt idx="3">
                  <c:v>3412</c:v>
                </c:pt>
                <c:pt idx="4">
                  <c:v>1019</c:v>
                </c:pt>
                <c:pt idx="5">
                  <c:v>1900</c:v>
                </c:pt>
                <c:pt idx="6">
                  <c:v>3412</c:v>
                </c:pt>
              </c:numCache>
            </c:numRef>
          </c:val>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7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4000"/>
          <c:min val="0"/>
        </c:scaling>
        <c:delete val="0"/>
        <c:axPos val="b"/>
        <c:majorGridlines>
          <c:spPr>
            <a:ln w="12700" cap="flat">
              <a:solidFill>
                <a:srgbClr val="888888"/>
              </a:solidFill>
              <a:prstDash val="solid"/>
              <a:round/>
            </a:ln>
          </c:spPr>
        </c:majorGridlines>
        <c:title>
          <c:tx>
            <c:rich>
              <a:bodyPr/>
              <a:lstStyle/>
              <a:p>
                <a:pPr>
                  <a:defRPr b="0" i="0" u="none" strike="noStrike">
                    <a:solidFill>
                      <a:srgbClr val="000000"/>
                    </a:solidFill>
                    <a:latin typeface="Arial"/>
                  </a:defRPr>
                </a:pPr>
                <a:r>
                  <a:rPr b="0" i="0" u="none" strike="noStrike">
                    <a:solidFill>
                      <a:srgbClr val="000000"/>
                    </a:solidFill>
                    <a:latin typeface="Arial"/>
                  </a:rPr>
                  <a:t>Price/L (PKR)</a:t>
                </a:r>
              </a:p>
            </c:rich>
          </c:tx>
          <c:layout/>
          <c:overlay val="0"/>
        </c:title>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majorUnit val="500"/>
      </c:valAx>
      <c:spPr>
        <a:noFill/>
        <a:ln>
          <a:noFill/>
        </a:ln>
        <a:effectLst/>
      </c:spPr>
    </c:plotArea>
    <c:legend>
      <c:legendPos val="t"/>
      <c:overlay val="0"/>
    </c:legend>
    <c:plotVisOnly val="1"/>
    <c:dispBlanksAs val="span"/>
  </c:chart>
  <c:spPr>
    <a:noFill/>
    <a:ln>
      <a:noFill/>
    </a:ln>
    <a:effectLst/>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South (−3%)</c:v>
                </c:pt>
              </c:strCache>
            </c:strRef>
          </c:tx>
          <c:spPr>
            <a:solidFill>
              <a:srgbClr val="023520"/>
            </a:solidFill>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cat>
            <c:multiLvlStrRef>
              <c:f>Sheet1!$A$2:$A$6</c:f>
              <c:multiLvlStrCache>
                <c:ptCount val="5"/>
                <c:lvl>
                  <c:pt idx="0">
                    <c:v>Ultra 0W-20
(Super Prem)</c:v>
                  </c:pt>
                  <c:pt idx="1">
                    <c:v>FS 10W-40
(Premium)</c:v>
                  </c:pt>
                  <c:pt idx="2">
                    <c:v>Plus 15W-40
(Mainstream)</c:v>
                  </c:pt>
                  <c:pt idx="3">
                    <c:v>DEO 8000
(HDEO)</c:v>
                  </c:pt>
                  <c:pt idx="4">
                    <c:v>Blaze 4T
(MCO)</c:v>
                  </c:pt>
                </c:lvl>
              </c:multiLvlStrCache>
            </c:multiLvlStrRef>
          </c:cat>
          <c:val>
            <c:numRef>
              <c:f>Sheet1!$B$2:$B$6</c:f>
              <c:numCache>
                <c:formatCode>General</c:formatCode>
                <c:ptCount val="5"/>
                <c:pt idx="0">
                  <c:v>3310</c:v>
                </c:pt>
                <c:pt idx="1">
                  <c:v>994</c:v>
                </c:pt>
                <c:pt idx="2">
                  <c:v>1698</c:v>
                </c:pt>
                <c:pt idx="3">
                  <c:v>1698</c:v>
                </c:pt>
                <c:pt idx="4">
                  <c:v>2231</c:v>
                </c:pt>
              </c:numCache>
            </c:numRef>
          </c:val>
        </c:ser>
        <c:ser>
          <c:idx val="1"/>
          <c:order val="1"/>
          <c:tx>
            <c:strRef>
              <c:f>Sheet1!$C$1</c:f>
              <c:strCache>
                <c:ptCount val="1"/>
                <c:pt idx="0">
                  <c:v>Central (Base)</c:v>
                </c:pt>
              </c:strCache>
            </c:strRef>
          </c:tx>
          <c:spPr>
            <a:solidFill>
              <a:srgbClr val="00703C"/>
            </a:solidFill>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cat>
            <c:multiLvlStrRef>
              <c:f>Sheet1!$A$2:$A$6</c:f>
              <c:multiLvlStrCache>
                <c:ptCount val="5"/>
                <c:lvl>
                  <c:pt idx="0">
                    <c:v>Ultra 0W-20
(Super Prem)</c:v>
                  </c:pt>
                  <c:pt idx="1">
                    <c:v>FS 10W-40
(Premium)</c:v>
                  </c:pt>
                  <c:pt idx="2">
                    <c:v>Plus 15W-40
(Mainstream)</c:v>
                  </c:pt>
                  <c:pt idx="3">
                    <c:v>DEO 8000
(HDEO)</c:v>
                  </c:pt>
                  <c:pt idx="4">
                    <c:v>Blaze 4T
(MCO)</c:v>
                  </c:pt>
                </c:lvl>
              </c:multiLvlStrCache>
            </c:multiLvlStrRef>
          </c:cat>
          <c:val>
            <c:numRef>
              <c:f>Sheet1!$C$2:$C$6</c:f>
              <c:numCache>
                <c:formatCode>General</c:formatCode>
                <c:ptCount val="5"/>
                <c:pt idx="0">
                  <c:v>3376</c:v>
                </c:pt>
                <c:pt idx="1">
                  <c:v>1014</c:v>
                </c:pt>
                <c:pt idx="2">
                  <c:v>1732</c:v>
                </c:pt>
                <c:pt idx="3">
                  <c:v>1783</c:v>
                </c:pt>
                <c:pt idx="4">
                  <c:v>2231</c:v>
                </c:pt>
              </c:numCache>
            </c:numRef>
          </c:val>
        </c:ser>
        <c:ser>
          <c:idx val="2"/>
          <c:order val="2"/>
          <c:tx>
            <c:strRef>
              <c:f>Sheet1!$D$1</c:f>
              <c:strCache>
                <c:ptCount val="1"/>
                <c:pt idx="0">
                  <c:v>North (−5%)</c:v>
                </c:pt>
              </c:strCache>
            </c:strRef>
          </c:tx>
          <c:spPr>
            <a:solidFill>
              <a:srgbClr val="A8D5BE"/>
            </a:solidFill>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cat>
            <c:multiLvlStrRef>
              <c:f>Sheet1!$A$2:$A$6</c:f>
              <c:multiLvlStrCache>
                <c:ptCount val="5"/>
                <c:lvl>
                  <c:pt idx="0">
                    <c:v>Ultra 0W-20
(Super Prem)</c:v>
                  </c:pt>
                  <c:pt idx="1">
                    <c:v>FS 10W-40
(Premium)</c:v>
                  </c:pt>
                  <c:pt idx="2">
                    <c:v>Plus 15W-40
(Mainstream)</c:v>
                  </c:pt>
                  <c:pt idx="3">
                    <c:v>DEO 8000
(HDEO)</c:v>
                  </c:pt>
                  <c:pt idx="4">
                    <c:v>Blaze 4T
(MCO)</c:v>
                  </c:pt>
                </c:lvl>
              </c:multiLvlStrCache>
            </c:multiLvlStrRef>
          </c:cat>
          <c:val>
            <c:numRef>
              <c:f>Sheet1!$D$2:$D$6</c:f>
              <c:numCache>
                <c:formatCode>General</c:formatCode>
                <c:ptCount val="5"/>
                <c:pt idx="0">
                  <c:v>3211</c:v>
                </c:pt>
                <c:pt idx="1">
                  <c:v>964</c:v>
                </c:pt>
                <c:pt idx="2">
                  <c:v>1647</c:v>
                </c:pt>
                <c:pt idx="3">
                  <c:v>1664</c:v>
                </c:pt>
                <c:pt idx="4">
                  <c:v>2053</c:v>
                </c:pt>
              </c:numCache>
            </c:numRef>
          </c:val>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7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3800"/>
          <c:min val="0"/>
        </c:scaling>
        <c:delete val="0"/>
        <c:axPos val="l"/>
        <c:majorGridlines>
          <c:spPr>
            <a:ln w="12700" cap="flat">
              <a:solidFill>
                <a:srgbClr val="888888"/>
              </a:solidFill>
              <a:prstDash val="solid"/>
              <a:round/>
            </a:ln>
          </c:spPr>
        </c:majorGridlines>
        <c:title>
          <c:tx>
            <c:rich>
              <a:bodyPr/>
              <a:lstStyle/>
              <a:p>
                <a:pPr>
                  <a:defRPr b="0" i="0" u="none" strike="noStrike">
                    <a:solidFill>
                      <a:srgbClr val="000000"/>
                    </a:solidFill>
                    <a:latin typeface="Arial"/>
                  </a:defRPr>
                </a:pPr>
                <a:r>
                  <a:rPr b="0" i="0" u="none" strike="noStrike">
                    <a:solidFill>
                      <a:srgbClr val="000000"/>
                    </a:solidFill>
                    <a:latin typeface="Arial"/>
                  </a:rPr>
                  <a:t>Price/L (PKR)</a:t>
                </a:r>
              </a:p>
            </c:rich>
          </c:tx>
          <c:layout/>
          <c:overlay val="0"/>
        </c:title>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majorUnit val="500"/>
      </c:valAx>
      <c:spPr>
        <a:noFill/>
        <a:ln>
          <a:noFill/>
        </a:ln>
        <a:effectLst/>
      </c:spPr>
    </c:plotArea>
    <c:legend>
      <c:legendPos val="t"/>
      <c:overlay val="0"/>
    </c:legend>
    <c:plotVisOnly val="1"/>
    <c:dispBlanksAs val="span"/>
  </c:chart>
  <c:spPr>
    <a:noFill/>
    <a:ln>
      <a:noFill/>
    </a:ln>
    <a:effectLst/>
  </c:sp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clustered"/>
        <c:varyColors val="0"/>
        <c:ser>
          <c:idx val="0"/>
          <c:order val="0"/>
          <c:tx>
            <c:strRef>
              <c:f>Sheet1!$B$1</c:f>
              <c:strCache>
                <c:ptCount val="1"/>
                <c:pt idx="0">
                  <c:v>% vs Market Median</c:v>
                </c:pt>
              </c:strCache>
            </c:strRef>
          </c:tx>
          <c:spPr>
            <a:solidFill>
              <a:srgbClr val="00703C"/>
            </a:solidFill>
            <a:effectLst/>
          </c:spPr>
          <c:invertIfNegative val="0"/>
          <c:dLbls>
            <c:numFmt formatCode="#,##0" sourceLinked="0"/>
            <c:txPr>
              <a:bodyPr/>
              <a:lstStyle/>
              <a:p>
                <a:pPr>
                  <a:defRPr b="0" i="0" strike="noStrike" sz="700" u="none">
                    <a:solidFill>
                      <a:srgbClr val="000000"/>
                    </a:solidFill>
                    <a:latin typeface="Arial"/>
                  </a:defRPr>
                </a:pPr>
              </a:p>
            </c:txPr>
            <c:showLegendKey val="0"/>
            <c:showVal val="1"/>
            <c:showCatName val="0"/>
            <c:showSerName val="0"/>
            <c:showPercent val="0"/>
            <c:showBubbleSize val="0"/>
            <c:showLeaderLines val="0"/>
          </c:dLbls>
          <c:dPt>
            <c:idx val="0"/>
            <c:invertIfNegative val="0"/>
            <c:bubble3D val="0"/>
            <c:spPr>
              <a:solidFill>
                <a:srgbClr val="00703C"/>
              </a:solidFill>
              <a:effectLst/>
            </c:spPr>
          </c:dPt>
          <c:dPt>
            <c:idx val="1"/>
            <c:invertIfNegative val="0"/>
            <c:bubble3D val="0"/>
            <c:spPr>
              <a:solidFill>
                <a:srgbClr val="023520"/>
              </a:solidFill>
              <a:effectLst/>
            </c:spPr>
          </c:dPt>
          <c:dPt>
            <c:idx val="2"/>
            <c:invertIfNegative val="0"/>
            <c:bubble3D val="0"/>
            <c:spPr>
              <a:solidFill>
                <a:srgbClr val="C8960C"/>
              </a:solidFill>
              <a:effectLst/>
            </c:spPr>
          </c:dPt>
          <c:dPt>
            <c:idx val="3"/>
            <c:invertIfNegative val="0"/>
            <c:bubble3D val="0"/>
            <c:spPr>
              <a:solidFill>
                <a:srgbClr val="00703C"/>
              </a:solidFill>
              <a:effectLst/>
            </c:spPr>
          </c:dPt>
          <c:dPt>
            <c:idx val="4"/>
            <c:invertIfNegative val="0"/>
            <c:bubble3D val="0"/>
            <c:spPr>
              <a:solidFill>
                <a:srgbClr val="00703C"/>
              </a:solidFill>
              <a:effectLst/>
            </c:spPr>
          </c:dPt>
          <c:dPt>
            <c:idx val="5"/>
            <c:invertIfNegative val="0"/>
            <c:bubble3D val="0"/>
            <c:spPr>
              <a:solidFill>
                <a:srgbClr val="00703C"/>
              </a:solidFill>
              <a:effectLst/>
            </c:spPr>
          </c:dPt>
          <c:dPt>
            <c:idx val="6"/>
            <c:invertIfNegative val="0"/>
            <c:bubble3D val="0"/>
            <c:spPr>
              <a:solidFill>
                <a:srgbClr val="C8960C"/>
              </a:solidFill>
              <a:effectLst/>
            </c:spPr>
          </c:dPt>
          <c:dPt>
            <c:idx val="7"/>
            <c:invertIfNegative val="0"/>
            <c:bubble3D val="0"/>
            <c:spPr>
              <a:solidFill>
                <a:srgbClr val="023520"/>
              </a:solidFill>
              <a:effectLst/>
            </c:spPr>
          </c:dPt>
          <c:dPt>
            <c:idx val="8"/>
            <c:invertIfNegative val="0"/>
            <c:bubble3D val="0"/>
            <c:spPr>
              <a:solidFill>
                <a:srgbClr val="C8960C"/>
              </a:solidFill>
              <a:effectLst/>
            </c:spPr>
          </c:dPt>
          <c:dPt>
            <c:idx val="9"/>
            <c:invertIfNegative val="0"/>
            <c:bubble3D val="0"/>
            <c:spPr>
              <a:solidFill>
                <a:srgbClr val="C8960C"/>
              </a:solidFill>
              <a:effectLst/>
            </c:spPr>
          </c:dPt>
          <c:dPt>
            <c:idx val="10"/>
            <c:invertIfNegative val="0"/>
            <c:bubble3D val="0"/>
            <c:spPr>
              <a:solidFill>
                <a:srgbClr val="C8960C"/>
              </a:solidFill>
              <a:effectLst/>
            </c:spPr>
          </c:dPt>
          <c:cat>
            <c:multiLvlStrRef>
              <c:f>Sheet1!$A$2:$A$12</c:f>
              <c:multiLvlStrCache>
                <c:ptCount val="11"/>
                <c:lvl>
                  <c:pt idx="0">
                    <c:v>Carient Ultra</c:v>
                  </c:pt>
                  <c:pt idx="1">
                    <c:v>Carient FS</c:v>
                  </c:pt>
                  <c:pt idx="2">
                    <c:v>Carient Plus</c:v>
                  </c:pt>
                  <c:pt idx="3">
                    <c:v>Carient SPRO</c:v>
                  </c:pt>
                  <c:pt idx="4">
                    <c:v>DEO 8000</c:v>
                  </c:pt>
                  <c:pt idx="5">
                    <c:v>DEO 6000</c:v>
                  </c:pt>
                  <c:pt idx="6">
                    <c:v>DEO 3000</c:v>
                  </c:pt>
                  <c:pt idx="7">
                    <c:v>DEO Max</c:v>
                  </c:pt>
                  <c:pt idx="8">
                    <c:v>Dieselube</c:v>
                  </c:pt>
                  <c:pt idx="9">
                    <c:v>Blaze 4T</c:v>
                  </c:pt>
                  <c:pt idx="10">
                    <c:v>Blaze Xtreme</c:v>
                  </c:pt>
                </c:lvl>
              </c:multiLvlStrCache>
            </c:multiLvlStrRef>
          </c:cat>
          <c:val>
            <c:numRef>
              <c:f>Sheet1!$B$2:$B$12</c:f>
              <c:numCache>
                <c:formatCode>General</c:formatCode>
                <c:ptCount val="11"/>
                <c:pt idx="0">
                  <c:v>9.8</c:v>
                </c:pt>
                <c:pt idx="1">
                  <c:v>96.9</c:v>
                </c:pt>
                <c:pt idx="2">
                  <c:v>-27.6</c:v>
                </c:pt>
                <c:pt idx="3">
                  <c:v>-10</c:v>
                </c:pt>
                <c:pt idx="4">
                  <c:v>4.1</c:v>
                </c:pt>
                <c:pt idx="5">
                  <c:v>1.9</c:v>
                </c:pt>
                <c:pt idx="6">
                  <c:v>-11.9</c:v>
                </c:pt>
                <c:pt idx="7">
                  <c:v>31.9</c:v>
                </c:pt>
                <c:pt idx="8">
                  <c:v>-13.4</c:v>
                </c:pt>
                <c:pt idx="9">
                  <c:v>-27.6</c:v>
                </c:pt>
                <c:pt idx="10">
                  <c:v>-26.2</c:v>
                </c:pt>
              </c:numCache>
            </c:numRef>
          </c:val>
        </c:ser>
        <c:dLbls>
          <c:numFmt formatCode="#,##0" sourceLinked="0"/>
          <c:txPr>
            <a:bodyPr/>
            <a:lstStyle/>
            <a:p>
              <a:pPr>
                <a:defRPr b="0" i="0" strike="noStrike" sz="700" u="none">
                  <a:solidFill>
                    <a:srgbClr val="000000"/>
                  </a:solidFill>
                  <a:latin typeface="Arial"/>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8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110"/>
          <c:min val="-35"/>
        </c:scaling>
        <c:delete val="0"/>
        <c:axPos val="b"/>
        <c:majorGridlines>
          <c:spPr>
            <a:ln w="12700" cap="flat">
              <a:solidFill>
                <a:srgbClr val="888888"/>
              </a:solidFill>
              <a:prstDash val="solid"/>
              <a:round/>
            </a:ln>
          </c:spPr>
        </c:majorGridlines>
        <c:title>
          <c:tx>
            <c:rich>
              <a:bodyPr/>
              <a:lstStyle/>
              <a:p>
                <a:pPr>
                  <a:defRPr b="0" i="0" u="none" strike="noStrike">
                    <a:solidFill>
                      <a:srgbClr val="000000"/>
                    </a:solidFill>
                    <a:latin typeface="Arial"/>
                  </a:defRPr>
                </a:pPr>
                <a:r>
                  <a:rPr b="0" i="0" u="none" strike="noStrike">
                    <a:solidFill>
                      <a:srgbClr val="000000"/>
                    </a:solidFill>
                    <a:latin typeface="Arial"/>
                  </a:rPr>
                  <a:t>% vs Market Median</a:t>
                </a:r>
              </a:p>
            </c:rich>
          </c:tx>
          <c:layout/>
          <c:overlay val="0"/>
        </c:title>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Opening slide. Introduce the project: this is a data-driven SKU-level pricing strategy for PSO's full lubricants retail portfolio. The recommendations are built from 365 live Daraz.pk price listings across 7 competitor brands, processed through 8 international pricing frameworks. All 45 retail SKUs (up to 4L pack size) with actual FY25 sales are covered.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through the 6 sections. Estimated time per section: Competitive Landscape 5 min | Portfolio Overview 3 min | 8 Frameworks 10 min | SKU Pricing 8 min | Market Signals 5 min | Recommendations &amp; Roadmap 5 min. Total: ~36 minutes plus Q&amp;A.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takeaway: PSO competes across all four tiers, but Shell dominates super-premium. ZIC and Aramco are the primary mainstream threats. Kixx and Equimoli create floor pressure in economy. Total and Caltex are present but have thinner SKU ranges. The 365 listings give us a statistically meaningful benchmark — this is not anecdotal data.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PSO's portfolio spans 12 sub-brands across 4 tiers and 3 engine oil categories. The tier structure is clear on paper but, as we'll see in the pricing data, the inter-tier price gaps are not always well-maintained — particularly in the HDEO segment where DEO 8000 and DEO 6000 are priced almost identically.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8 frameworks are not equally weighted. F1 (VBT) and F2 (CRP) together account for 60% of the recommended price — these are the market-facing anchors. F3 (PPA) provides pack-size consistency at 20%. F5 (Spec Premium) handles grade-level differentiation at 10%. F4 is a hard floor, not a weighted input — it overrides any price that would invert our margin. F6, F7, and F8 are reference frameworks used for regional and channel decisions.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VBT discount structure is conservative. At −8% for super-premium, we're leaving the door open to close the gap over time as PSO invests in brand building. These discounts were derived from a combination of Daraz.pk listing analysis and typical brand perception gaps seen in emerging market lubricant studies. The economy tier gap of −2% reflects that at the value end, PSO is already price-competitive and consumer brand loyalty is weaker.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CRP chart shows that in the super-premium tier (Shell/Caltex/Total), the market median is Rs 2,300/L. PSO's recommended price is set at Rs 2,106 — a 8.4% discount, matching our VBT framework. In the mainstream tier (ZIC/Aramco), the gap narrows to 6%. This confirms PSO is competitive but systematically leaves a small premium on the table, which is appropriate given current brand equity levels.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PPA curve for Carient Ultra shows the step-down: 1L at Rs 3,745/L → 3L at Rs 3,463/L → 4L at Rs 3,347/L. This is a roughly 4.5% step per pack size increment — consistent and defensible. Distributors cannot arbitrage by buying 4L and repacking because the margin doesn't justify it. This consistency needs to be enforced across all brands — currently, some brands show irregular step-downs that create channel conflict.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price waterfall for Carient Plus 15W-40 shows a floor of Rs 1,260/L. This means no pricing decision — no promotional activity, no channel discount, no geographic index — can take the actual realised price below this number without destroying margin. The F4 floor is automatically applied by the model: 3 of the 45 SKUs in our final recommendations were floored by F4, meaning the market-derived price would have been below cost-plus.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5W-30 bar is highlighted in red — at Rs 2,319/L, it's priced 127% above market median, which is disproportionate even accounting for the spec premium. The 0W-20 grade at Rs 3,745 makes sense because there are few competitors in this grade range. The F5 framework caps spec uplift at 30% for Group III grades — the 5W-30 outlier is an artifact of near-zero competitor supply, not genuine spec justification.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Geographic segmentation is a reference framework — PSO likely operates uniform national pricing at this stage. However, the regional index provides a basis for targeted trade promotions. South Pakistan (Karachi) is a high-value, high-volume market where premium pricing is more sustainable. North Pakistan has lower income per capita and higher logistics cost, justifying the −5% index. Central (Punjab) is our baseline.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BOI framework connects our pricing to raw material reality. A 12% YoY increase in Group III base oil (driven by USD/PKR movement and global API Group III supply tightness) directly impacts Carient Ultra's cost floor. Our model re-indexes automatically when these inputs change. The key ratio to watch: base oil as a percentage of finished lubricant cost — currently 55–60%. When this rises above 65%, all super-premium prices need to be revisited.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channel waterfall is critical for PSO's distribution model. Retail pump (petrol station) represents the highest price point — this is our base recommended price. Workshop channel receives a 12% trade discount, reflecting the workshop owner's role in brand recommendation. Distributors at −15% need a deeper margin to finance inventory and logistics. Fleet contracts at −20% are justifiable for bulk, predictable volume. These discounts should be non-negotiable — any exceptions create a slippery precedent.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the audience through the PCMO table by tier. Key points: (1) Carient Ultra 5W-30 is the outlier at +127% vs market — flag for immediate review. (2) Carient Plus across all grades is showing VALUE POSITION signals, meaning we're systematically under-recovering vs the market in our mainstream segment — this is the highest volume segment, so the margin opportunity is significant. (3) All recommendations carry HIGH confidence because they are backed by a statistically robust competitor dataset (365 listings).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HDEO: DEO Max and DEO 8000 are priced almost identically — this is a structural problem. A fleet buyer cannot see the value difference between these brands. The recommendation is to widen the gap by 10–12%. For MCO: all Blaze SKUs are VALUE POSITION, meaning PSO has been systematically under-recovering in the motorcycle segment. With Pakistan having one of the world's highest motorcycle-to-car ratios, this segment deserves more active pricing management.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bar chart tells the story at a glance: dark green = PREMIUM (above market), PSO green = AT MARKET, gold = VALUE POSITION (below market, revenue opportunity). The cluster of gold bars on the left (Blaze, Carient Plus, DEO 8000 10W-40) represents our most actionable upside. The Carient FS 5W-30 outlier at +96.9% is a concern on the premium end — it may be deterring trial from consumers considering moving up from Carient Plus.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 each finding as a discovery, not a pre-determined conclusion. Emphasise that these insights emerged from the data — 365 competitor listings, actual FY25 volume data from PSO's own SKU Wise sheet, and 8 independently-scored pricing frameworks. Finding 2 (5W-30 outlier) is the most urgent because it actively harms conversion at the top of the funnel. Finding 4 (MCO underpricing) has the highest revenue recovery potential in absolute terms.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Recommendations are sequenced by urgency and risk. #1 and #2 are immediate — they address specific pricing anomalies that are actively costing PSO money. #3 and #4 are medium-priority structural changes that require sales team alignment and distributor communication. #5 is the structural recommendation — moving from annual to quarterly price reviews is a capability shift that this pricing intelligence tool enables. The tool re-runs in minutes with updated Daraz.pk data.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12-month roadmap is deliberately conservative. We're not asking PSO to change all 45 SKU prices overnight — that would create channel disruption and distributors would not absorb the change. Instead, we start with the two highest-urgency corrections (5W-30 outlier and MCO under-recovery), then phase in the structural changes. By Q4, PSO should be running quarterly BOI-linked price reviews as standard practice.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with a summary of value delivered: 45 SKUs priced across 8 frameworks using live market data. The pricing intelligence system is repeatable — rerunning the scrape and model takes less than 30 minutes. Next steps: agree on which recommendations PSO wants to prioritise in Q1, and schedule a 30-day follow-up to review any pricing changes made.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chart" Target="/ppt/charts/chart3.xml"/><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chart" Target="/ppt/charts/chart4.xml"/><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chart" Target="/ppt/charts/chart5.xml"/><Relationship Id="rId2" Type="http://schemas.openxmlformats.org/officeDocument/2006/relationships/slideLayout" Target="../slideLayouts/slideLayout1.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23520"/>
        </a:solidFill>
      </p:bgPr>
    </p:bg>
    <p:spTree>
      <p:nvGrpSpPr>
        <p:cNvPr id="1" name=""/>
        <p:cNvGrpSpPr/>
        <p:nvPr/>
      </p:nvGrpSpPr>
      <p:grpSpPr>
        <a:xfrm>
          <a:off x="0" y="0"/>
          <a:ext cx="0" cy="0"/>
          <a:chOff x="0" y="0"/>
          <a:chExt cx="0" cy="0"/>
        </a:xfrm>
      </p:grpSpPr>
      <p:sp>
        <p:nvSpPr>
          <p:cNvPr id="2" name="Text 0"/>
          <p:cNvSpPr/>
          <p:nvPr/>
        </p:nvSpPr>
        <p:spPr>
          <a:xfrm>
            <a:off x="0" y="0"/>
            <a:ext cx="101501" cy="5143500"/>
          </a:xfrm>
          <a:prstGeom prst="rect">
            <a:avLst/>
          </a:prstGeom>
          <a:solidFill>
            <a:srgbClr val="C8960C"/>
          </a:solidFill>
          <a:ln/>
        </p:spPr>
        <p:txBody>
          <a:bodyPr wrap="square" rtlCol="0" anchor="ctr"/>
          <a:lstStyle/>
          <a:p>
            <a:pPr indent="0" marL="0">
              <a:buNone/>
            </a:pPr>
            <a:endParaRPr lang="en-US" dirty="0"/>
          </a:p>
        </p:txBody>
      </p:sp>
      <p:sp>
        <p:nvSpPr>
          <p:cNvPr id="3" name="Text 1"/>
          <p:cNvSpPr/>
          <p:nvPr/>
        </p:nvSpPr>
        <p:spPr>
          <a:xfrm>
            <a:off x="507950" y="1061591"/>
            <a:ext cx="6703391" cy="409575"/>
          </a:xfrm>
          <a:prstGeom prst="rect">
            <a:avLst/>
          </a:prstGeom>
          <a:noFill/>
          <a:ln/>
        </p:spPr>
        <p:txBody>
          <a:bodyPr wrap="square" lIns="0" tIns="0" rIns="0" bIns="0" rtlCol="0" anchor="t"/>
          <a:lstStyle/>
          <a:p>
            <a:pPr algn="l" indent="0" marL="0">
              <a:spcAft>
                <a:spcPts val="1800"/>
              </a:spcAft>
              <a:buNone/>
            </a:pPr>
            <a:r>
              <a:rPr lang="en-US" sz="2800" b="1" dirty="0">
                <a:solidFill>
                  <a:srgbClr val="C8960C"/>
                </a:solidFill>
                <a:latin typeface="Arial" pitchFamily="34" charset="0"/>
                <a:ea typeface="Arial" pitchFamily="34" charset="-122"/>
                <a:cs typeface="Arial" pitchFamily="34" charset="-120"/>
              </a:rPr>
              <a:t>PSO</a:t>
            </a:r>
            <a:endParaRPr lang="en-US" sz="2800" dirty="0"/>
          </a:p>
        </p:txBody>
      </p:sp>
      <p:sp>
        <p:nvSpPr>
          <p:cNvPr id="4" name="Text 2"/>
          <p:cNvSpPr/>
          <p:nvPr/>
        </p:nvSpPr>
        <p:spPr>
          <a:xfrm>
            <a:off x="507950" y="1699766"/>
            <a:ext cx="2539901" cy="25301"/>
          </a:xfrm>
          <a:prstGeom prst="rect">
            <a:avLst/>
          </a:prstGeom>
          <a:solidFill>
            <a:srgbClr val="C8960C"/>
          </a:solidFill>
          <a:ln/>
        </p:spPr>
        <p:txBody>
          <a:bodyPr wrap="square" rtlCol="0" anchor="ctr"/>
          <a:lstStyle/>
          <a:p>
            <a:pPr indent="0" marL="0">
              <a:buNone/>
            </a:pPr>
            <a:endParaRPr lang="en-US" dirty="0"/>
          </a:p>
        </p:txBody>
      </p:sp>
      <p:sp>
        <p:nvSpPr>
          <p:cNvPr id="5" name="Text 3"/>
          <p:cNvSpPr/>
          <p:nvPr/>
        </p:nvSpPr>
        <p:spPr>
          <a:xfrm>
            <a:off x="507950" y="1902768"/>
            <a:ext cx="6703391" cy="152400"/>
          </a:xfrm>
          <a:prstGeom prst="rect">
            <a:avLst/>
          </a:prstGeom>
          <a:noFill/>
          <a:ln/>
        </p:spPr>
        <p:txBody>
          <a:bodyPr wrap="square" lIns="0" tIns="0" rIns="0" bIns="0" rtlCol="0" anchor="t"/>
          <a:lstStyle/>
          <a:p>
            <a:pPr algn="l" indent="0" marL="0">
              <a:spcAft>
                <a:spcPts val="1000"/>
              </a:spcAft>
              <a:buNone/>
            </a:pPr>
            <a:r>
              <a:rPr lang="en-US" sz="1100" b="1" dirty="0">
                <a:solidFill>
                  <a:srgbClr val="C8960C"/>
                </a:solidFill>
                <a:latin typeface="Arial" pitchFamily="34" charset="0"/>
                <a:ea typeface="Arial" pitchFamily="34" charset="-122"/>
                <a:cs typeface="Arial" pitchFamily="34" charset="-120"/>
              </a:rPr>
              <a:t>LUBRICANTS BUSINESS UNIT</a:t>
            </a:r>
            <a:endParaRPr lang="en-US" sz="1100" dirty="0"/>
          </a:p>
        </p:txBody>
      </p:sp>
      <p:sp>
        <p:nvSpPr>
          <p:cNvPr id="6" name="Text 4"/>
          <p:cNvSpPr/>
          <p:nvPr/>
        </p:nvSpPr>
        <p:spPr>
          <a:xfrm>
            <a:off x="507950" y="2182118"/>
            <a:ext cx="6703391" cy="1061740"/>
          </a:xfrm>
          <a:prstGeom prst="rect">
            <a:avLst/>
          </a:prstGeom>
          <a:noFill/>
          <a:ln/>
        </p:spPr>
        <p:txBody>
          <a:bodyPr wrap="square" lIns="0" tIns="0" rIns="0" bIns="0" rtlCol="0" anchor="t"/>
          <a:lstStyle/>
          <a:p>
            <a:pPr algn="l" indent="0" marL="0">
              <a:lnSpc>
                <a:spcPts val="4180"/>
              </a:lnSpc>
              <a:spcAft>
                <a:spcPts val="800"/>
              </a:spcAft>
              <a:buNone/>
            </a:pPr>
            <a:r>
              <a:rPr lang="en-US" sz="3800" dirty="0">
                <a:solidFill>
                  <a:srgbClr val="FFFFFF"/>
                </a:solidFill>
                <a:latin typeface="Arial" pitchFamily="34" charset="0"/>
                <a:ea typeface="Arial" pitchFamily="34" charset="-122"/>
                <a:cs typeface="Arial" pitchFamily="34" charset="-120"/>
              </a:rPr>
              <a:t>Pricing Intelligence</a:t>
            </a:r>
            <a:endParaRPr lang="en-US" sz="3800" dirty="0"/>
          </a:p>
          <a:p>
            <a:pPr algn="l" indent="0" marL="0">
              <a:lnSpc>
                <a:spcPts val="4180"/>
              </a:lnSpc>
              <a:spcAft>
                <a:spcPts val="800"/>
              </a:spcAft>
              <a:buNone/>
            </a:pPr>
            <a:r>
              <a:rPr lang="en-US" sz="3800" dirty="0">
                <a:solidFill>
                  <a:srgbClr val="FFFFFF"/>
                </a:solidFill>
                <a:latin typeface="Arial" pitchFamily="34" charset="0"/>
                <a:ea typeface="Arial" pitchFamily="34" charset="-122"/>
                <a:cs typeface="Arial" pitchFamily="34" charset="-120"/>
              </a:rPr>
              <a:t>Strategy 2025–26</a:t>
            </a:r>
            <a:endParaRPr lang="en-US" sz="3800" dirty="0"/>
          </a:p>
        </p:txBody>
      </p:sp>
      <p:sp>
        <p:nvSpPr>
          <p:cNvPr id="7" name="Text 5"/>
          <p:cNvSpPr/>
          <p:nvPr/>
        </p:nvSpPr>
        <p:spPr>
          <a:xfrm>
            <a:off x="507950" y="3345359"/>
            <a:ext cx="6703391" cy="238125"/>
          </a:xfrm>
          <a:prstGeom prst="rect">
            <a:avLst/>
          </a:prstGeom>
          <a:noFill/>
          <a:ln/>
        </p:spPr>
        <p:txBody>
          <a:bodyPr wrap="square" lIns="0" tIns="0" rIns="0" bIns="0" rtlCol="0" anchor="t"/>
          <a:lstStyle/>
          <a:p>
            <a:pPr algn="l" indent="0" marL="0">
              <a:spcAft>
                <a:spcPts val="2800"/>
              </a:spcAft>
              <a:buNone/>
            </a:pPr>
            <a:r>
              <a:rPr lang="en-US" sz="1600" dirty="0">
                <a:solidFill>
                  <a:srgbClr val="A8D5BE"/>
                </a:solidFill>
                <a:latin typeface="Arial" pitchFamily="34" charset="0"/>
                <a:ea typeface="Arial" pitchFamily="34" charset="-122"/>
                <a:cs typeface="Arial" pitchFamily="34" charset="-120"/>
              </a:rPr>
              <a:t>SKU-Level Pricing Recommendations across 8 International Frameworks</a:t>
            </a:r>
            <a:endParaRPr lang="en-US" sz="1600" dirty="0"/>
          </a:p>
        </p:txBody>
      </p:sp>
      <p:sp>
        <p:nvSpPr>
          <p:cNvPr id="8" name="Text 6"/>
          <p:cNvSpPr/>
          <p:nvPr/>
        </p:nvSpPr>
        <p:spPr>
          <a:xfrm>
            <a:off x="507950" y="3939034"/>
            <a:ext cx="6703391" cy="142875"/>
          </a:xfrm>
          <a:prstGeom prst="rect">
            <a:avLst/>
          </a:prstGeom>
          <a:noFill/>
          <a:ln/>
        </p:spPr>
        <p:txBody>
          <a:bodyPr wrap="square" lIns="0" tIns="0" rIns="0" bIns="0" rtlCol="0" anchor="t"/>
          <a:lstStyle/>
          <a:p>
            <a:pPr algn="l" indent="0" marL="0">
              <a:buNone/>
            </a:pPr>
            <a:r>
              <a:rPr lang="en-US" sz="1000" dirty="0">
                <a:solidFill>
                  <a:srgbClr val="6FA882"/>
                </a:solidFill>
                <a:latin typeface="Arial" pitchFamily="34" charset="0"/>
                <a:ea typeface="Arial" pitchFamily="34" charset="-122"/>
                <a:cs typeface="Arial" pitchFamily="34" charset="-120"/>
              </a:rPr>
              <a:t>Confidential — Prepared for PSO Management | July 2026</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0" y="0"/>
            <a:ext cx="2793802" cy="5143500"/>
          </a:xfrm>
          <a:prstGeom prst="rect">
            <a:avLst/>
          </a:prstGeom>
          <a:solidFill>
            <a:srgbClr val="00703C"/>
          </a:solidFill>
          <a:ln/>
        </p:spPr>
        <p:txBody>
          <a:bodyPr wrap="square" rtlCol="0" anchor="ctr"/>
          <a:lstStyle/>
          <a:p>
            <a:pPr indent="0" marL="0">
              <a:buNone/>
            </a:pPr>
            <a:endParaRPr lang="en-US" dirty="0"/>
          </a:p>
        </p:txBody>
      </p:sp>
      <p:sp>
        <p:nvSpPr>
          <p:cNvPr id="3" name="Text 1"/>
          <p:cNvSpPr/>
          <p:nvPr/>
        </p:nvSpPr>
        <p:spPr>
          <a:xfrm>
            <a:off x="253901" y="3963888"/>
            <a:ext cx="2331720" cy="133350"/>
          </a:xfrm>
          <a:prstGeom prst="rect">
            <a:avLst/>
          </a:prstGeom>
          <a:noFill/>
          <a:ln/>
        </p:spPr>
        <p:txBody>
          <a:bodyPr wrap="square" lIns="0" tIns="0" rIns="0" bIns="0" rtlCol="0" anchor="t"/>
          <a:lstStyle/>
          <a:p>
            <a:pPr algn="l" indent="0" marL="0">
              <a:spcAft>
                <a:spcPts val="600"/>
              </a:spcAft>
              <a:buNone/>
            </a:pPr>
            <a:r>
              <a:rPr lang="en-US" sz="900" b="1" dirty="0">
                <a:solidFill>
                  <a:srgbClr val="C8960C"/>
                </a:solidFill>
                <a:latin typeface="Arial" pitchFamily="34" charset="0"/>
                <a:ea typeface="Arial" pitchFamily="34" charset="-122"/>
                <a:cs typeface="Arial" pitchFamily="34" charset="-120"/>
              </a:rPr>
              <a:t>TODAY'S</a:t>
            </a:r>
            <a:endParaRPr lang="en-US" sz="900" dirty="0"/>
          </a:p>
        </p:txBody>
      </p:sp>
      <p:sp>
        <p:nvSpPr>
          <p:cNvPr id="4" name="Text 2"/>
          <p:cNvSpPr/>
          <p:nvPr/>
        </p:nvSpPr>
        <p:spPr>
          <a:xfrm>
            <a:off x="253901" y="4173438"/>
            <a:ext cx="2331720" cy="335161"/>
          </a:xfrm>
          <a:prstGeom prst="rect">
            <a:avLst/>
          </a:prstGeom>
          <a:noFill/>
          <a:ln/>
        </p:spPr>
        <p:txBody>
          <a:bodyPr wrap="square" lIns="0" tIns="0" rIns="0" bIns="0" rtlCol="0" anchor="t"/>
          <a:lstStyle/>
          <a:p>
            <a:pPr algn="l" indent="0" marL="0">
              <a:lnSpc>
                <a:spcPts val="2640"/>
              </a:lnSpc>
              <a:buNone/>
            </a:pPr>
            <a:r>
              <a:rPr lang="en-US" sz="2200" b="1" dirty="0">
                <a:solidFill>
                  <a:srgbClr val="FFFFFF"/>
                </a:solidFill>
                <a:latin typeface="Arial" pitchFamily="34" charset="0"/>
                <a:ea typeface="Arial" pitchFamily="34" charset="-122"/>
                <a:cs typeface="Arial" pitchFamily="34" charset="-120"/>
              </a:rPr>
              <a:t>Agenda</a:t>
            </a:r>
            <a:endParaRPr lang="en-US" sz="2200" dirty="0"/>
          </a:p>
        </p:txBody>
      </p:sp>
      <p:sp>
        <p:nvSpPr>
          <p:cNvPr id="5" name="Text 3"/>
          <p:cNvSpPr/>
          <p:nvPr/>
        </p:nvSpPr>
        <p:spPr>
          <a:xfrm>
            <a:off x="3174802" y="355550"/>
            <a:ext cx="5699962" cy="152400"/>
          </a:xfrm>
          <a:prstGeom prst="rect">
            <a:avLst/>
          </a:prstGeom>
          <a:noFill/>
          <a:ln/>
        </p:spPr>
        <p:txBody>
          <a:bodyPr wrap="square" lIns="0" tIns="0" rIns="0" bIns="0" rtlCol="0" anchor="t"/>
          <a:lstStyle/>
          <a:p>
            <a:pPr algn="l" indent="0" marL="0">
              <a:spcAft>
                <a:spcPts val="2000"/>
              </a:spcAft>
              <a:buNone/>
            </a:pPr>
            <a:r>
              <a:rPr lang="en-US" sz="1100" b="1" dirty="0">
                <a:solidFill>
                  <a:srgbClr val="00703C"/>
                </a:solidFill>
                <a:latin typeface="Arial" pitchFamily="34" charset="0"/>
                <a:ea typeface="Arial" pitchFamily="34" charset="-122"/>
                <a:cs typeface="Arial" pitchFamily="34" charset="-120"/>
              </a:rPr>
              <a:t>PRESENTATION OUTLINE</a:t>
            </a:r>
            <a:endParaRPr lang="en-US" sz="1100" dirty="0"/>
          </a:p>
        </p:txBody>
      </p:sp>
      <p:sp>
        <p:nvSpPr>
          <p:cNvPr id="6" name="Text 4"/>
          <p:cNvSpPr/>
          <p:nvPr/>
        </p:nvSpPr>
        <p:spPr>
          <a:xfrm>
            <a:off x="3174802" y="761851"/>
            <a:ext cx="279350" cy="279350"/>
          </a:xfrm>
          <a:prstGeom prst="roundRect">
            <a:avLst>
              <a:gd name="adj" fmla="val 327331"/>
            </a:avLst>
          </a:prstGeom>
          <a:solidFill>
            <a:srgbClr val="00703C"/>
          </a:solidFill>
          <a:ln/>
        </p:spPr>
        <p:txBody>
          <a:bodyPr wrap="square" rtlCol="0" anchor="ctr"/>
          <a:lstStyle/>
          <a:p>
            <a:pPr indent="0" marL="0">
              <a:buNone/>
            </a:pPr>
            <a:endParaRPr lang="en-US" dirty="0"/>
          </a:p>
        </p:txBody>
      </p:sp>
      <p:sp>
        <p:nvSpPr>
          <p:cNvPr id="7" name="Text 5"/>
          <p:cNvSpPr/>
          <p:nvPr/>
        </p:nvSpPr>
        <p:spPr>
          <a:xfrm>
            <a:off x="3279130" y="830014"/>
            <a:ext cx="72107" cy="142875"/>
          </a:xfrm>
          <a:prstGeom prst="rect">
            <a:avLst/>
          </a:prstGeom>
          <a:noFill/>
          <a:ln/>
        </p:spPr>
        <p:txBody>
          <a:bodyPr wrap="square" lIns="0" tIns="0" rIns="0" bIns="0" rtlCol="0" anchor="t"/>
          <a:lstStyle/>
          <a:p>
            <a:pPr algn="l" indent="0" marL="0">
              <a:buNone/>
            </a:pPr>
            <a:r>
              <a:rPr lang="en-US" sz="1000" b="1" dirty="0">
                <a:solidFill>
                  <a:srgbClr val="FFFFFF"/>
                </a:solidFill>
                <a:latin typeface="Arial" pitchFamily="34" charset="0"/>
                <a:ea typeface="Arial" pitchFamily="34" charset="-122"/>
                <a:cs typeface="Arial" pitchFamily="34" charset="-120"/>
              </a:rPr>
              <a:t>1</a:t>
            </a:r>
            <a:endParaRPr lang="en-US" sz="1000" dirty="0"/>
          </a:p>
        </p:txBody>
      </p:sp>
      <p:sp>
        <p:nvSpPr>
          <p:cNvPr id="8" name="Text 6"/>
          <p:cNvSpPr/>
          <p:nvPr/>
        </p:nvSpPr>
        <p:spPr>
          <a:xfrm>
            <a:off x="3581102" y="799951"/>
            <a:ext cx="3640884" cy="152400"/>
          </a:xfrm>
          <a:prstGeom prst="rect">
            <a:avLst/>
          </a:prstGeom>
          <a:noFill/>
          <a:ln/>
        </p:spPr>
        <p:txBody>
          <a:bodyPr wrap="square" lIns="0" tIns="0" rIns="0" bIns="0" rtlCol="0" anchor="t"/>
          <a:lstStyle/>
          <a:p>
            <a:pPr algn="l" indent="0" marL="0">
              <a:buNone/>
            </a:pPr>
            <a:r>
              <a:rPr lang="en-US" sz="1100" dirty="0">
                <a:solidFill>
                  <a:srgbClr val="1A1A1A"/>
                </a:solidFill>
                <a:latin typeface="Arial" pitchFamily="34" charset="0"/>
                <a:ea typeface="Arial" pitchFamily="34" charset="-122"/>
                <a:cs typeface="Arial" pitchFamily="34" charset="-120"/>
              </a:rPr>
              <a:t>Competitive Landscape </a:t>
            </a:r>
            <a:pPr algn="l" indent="0" marL="0">
              <a:buNone/>
            </a:pPr>
            <a:r>
              <a:rPr lang="en-US" sz="900" dirty="0">
                <a:solidFill>
                  <a:srgbClr val="555555"/>
                </a:solidFill>
                <a:latin typeface="Arial" pitchFamily="34" charset="0"/>
                <a:ea typeface="Arial" pitchFamily="34" charset="-122"/>
                <a:cs typeface="Arial" pitchFamily="34" charset="-120"/>
              </a:rPr>
              <a:t>— 7 brands benchmarked on Daraz.pk</a:t>
            </a:r>
            <a:endParaRPr lang="en-US" sz="1100" dirty="0"/>
          </a:p>
        </p:txBody>
      </p:sp>
      <p:sp>
        <p:nvSpPr>
          <p:cNvPr id="9" name="Text 7"/>
          <p:cNvSpPr/>
          <p:nvPr/>
        </p:nvSpPr>
        <p:spPr>
          <a:xfrm>
            <a:off x="3174802" y="1193602"/>
            <a:ext cx="279350" cy="279350"/>
          </a:xfrm>
          <a:prstGeom prst="roundRect">
            <a:avLst>
              <a:gd name="adj" fmla="val 327331"/>
            </a:avLst>
          </a:prstGeom>
          <a:solidFill>
            <a:srgbClr val="00703C"/>
          </a:solidFill>
          <a:ln/>
        </p:spPr>
        <p:txBody>
          <a:bodyPr wrap="square" rtlCol="0" anchor="ctr"/>
          <a:lstStyle/>
          <a:p>
            <a:pPr indent="0" marL="0">
              <a:buNone/>
            </a:pPr>
            <a:endParaRPr lang="en-US" dirty="0"/>
          </a:p>
        </p:txBody>
      </p:sp>
      <p:sp>
        <p:nvSpPr>
          <p:cNvPr id="10" name="Text 8"/>
          <p:cNvSpPr/>
          <p:nvPr/>
        </p:nvSpPr>
        <p:spPr>
          <a:xfrm>
            <a:off x="3279130" y="1261765"/>
            <a:ext cx="72107" cy="142875"/>
          </a:xfrm>
          <a:prstGeom prst="rect">
            <a:avLst/>
          </a:prstGeom>
          <a:noFill/>
          <a:ln/>
        </p:spPr>
        <p:txBody>
          <a:bodyPr wrap="square" lIns="0" tIns="0" rIns="0" bIns="0" rtlCol="0" anchor="t"/>
          <a:lstStyle/>
          <a:p>
            <a:pPr algn="l" indent="0" marL="0">
              <a:buNone/>
            </a:pPr>
            <a:r>
              <a:rPr lang="en-US" sz="1000" b="1" dirty="0">
                <a:solidFill>
                  <a:srgbClr val="FFFFFF"/>
                </a:solidFill>
                <a:latin typeface="Arial" pitchFamily="34" charset="0"/>
                <a:ea typeface="Arial" pitchFamily="34" charset="-122"/>
                <a:cs typeface="Arial" pitchFamily="34" charset="-120"/>
              </a:rPr>
              <a:t>2</a:t>
            </a:r>
            <a:endParaRPr lang="en-US" sz="1000" dirty="0"/>
          </a:p>
        </p:txBody>
      </p:sp>
      <p:sp>
        <p:nvSpPr>
          <p:cNvPr id="11" name="Text 9"/>
          <p:cNvSpPr/>
          <p:nvPr/>
        </p:nvSpPr>
        <p:spPr>
          <a:xfrm>
            <a:off x="3581102" y="1231702"/>
            <a:ext cx="4145786" cy="152400"/>
          </a:xfrm>
          <a:prstGeom prst="rect">
            <a:avLst/>
          </a:prstGeom>
          <a:noFill/>
          <a:ln/>
        </p:spPr>
        <p:txBody>
          <a:bodyPr wrap="square" lIns="0" tIns="0" rIns="0" bIns="0" rtlCol="0" anchor="t"/>
          <a:lstStyle/>
          <a:p>
            <a:pPr algn="l" indent="0" marL="0">
              <a:buNone/>
            </a:pPr>
            <a:r>
              <a:rPr lang="en-US" sz="1100" dirty="0">
                <a:solidFill>
                  <a:srgbClr val="1A1A1A"/>
                </a:solidFill>
                <a:latin typeface="Arial" pitchFamily="34" charset="0"/>
                <a:ea typeface="Arial" pitchFamily="34" charset="-122"/>
                <a:cs typeface="Arial" pitchFamily="34" charset="-120"/>
              </a:rPr>
              <a:t>PSO Portfolio Overview </a:t>
            </a:r>
            <a:pPr algn="l" indent="0" marL="0">
              <a:buNone/>
            </a:pPr>
            <a:r>
              <a:rPr lang="en-US" sz="900" dirty="0">
                <a:solidFill>
                  <a:srgbClr val="555555"/>
                </a:solidFill>
                <a:latin typeface="Arial" pitchFamily="34" charset="0"/>
                <a:ea typeface="Arial" pitchFamily="34" charset="-122"/>
                <a:cs typeface="Arial" pitchFamily="34" charset="-120"/>
              </a:rPr>
              <a:t>— Tier positioning across PCMO, HDEO &amp; MCO</a:t>
            </a:r>
            <a:endParaRPr lang="en-US" sz="1100" dirty="0"/>
          </a:p>
        </p:txBody>
      </p:sp>
      <p:sp>
        <p:nvSpPr>
          <p:cNvPr id="12" name="Text 10"/>
          <p:cNvSpPr/>
          <p:nvPr/>
        </p:nvSpPr>
        <p:spPr>
          <a:xfrm>
            <a:off x="3174802" y="1625352"/>
            <a:ext cx="279350" cy="279350"/>
          </a:xfrm>
          <a:prstGeom prst="roundRect">
            <a:avLst>
              <a:gd name="adj" fmla="val 327331"/>
            </a:avLst>
          </a:prstGeom>
          <a:solidFill>
            <a:srgbClr val="00703C"/>
          </a:solidFill>
          <a:ln/>
        </p:spPr>
        <p:txBody>
          <a:bodyPr wrap="square" rtlCol="0" anchor="ctr"/>
          <a:lstStyle/>
          <a:p>
            <a:pPr indent="0" marL="0">
              <a:buNone/>
            </a:pPr>
            <a:endParaRPr lang="en-US" dirty="0"/>
          </a:p>
        </p:txBody>
      </p:sp>
      <p:sp>
        <p:nvSpPr>
          <p:cNvPr id="13" name="Text 11"/>
          <p:cNvSpPr/>
          <p:nvPr/>
        </p:nvSpPr>
        <p:spPr>
          <a:xfrm>
            <a:off x="3279130" y="1693515"/>
            <a:ext cx="72107" cy="142875"/>
          </a:xfrm>
          <a:prstGeom prst="rect">
            <a:avLst/>
          </a:prstGeom>
          <a:noFill/>
          <a:ln/>
        </p:spPr>
        <p:txBody>
          <a:bodyPr wrap="square" lIns="0" tIns="0" rIns="0" bIns="0" rtlCol="0" anchor="t"/>
          <a:lstStyle/>
          <a:p>
            <a:pPr algn="l" indent="0" marL="0">
              <a:buNone/>
            </a:pPr>
            <a:r>
              <a:rPr lang="en-US" sz="1000" b="1" dirty="0">
                <a:solidFill>
                  <a:srgbClr val="FFFFFF"/>
                </a:solidFill>
                <a:latin typeface="Arial" pitchFamily="34" charset="0"/>
                <a:ea typeface="Arial" pitchFamily="34" charset="-122"/>
                <a:cs typeface="Arial" pitchFamily="34" charset="-120"/>
              </a:rPr>
              <a:t>3</a:t>
            </a:r>
            <a:endParaRPr lang="en-US" sz="1000" dirty="0"/>
          </a:p>
        </p:txBody>
      </p:sp>
      <p:sp>
        <p:nvSpPr>
          <p:cNvPr id="14" name="Text 12"/>
          <p:cNvSpPr/>
          <p:nvPr/>
        </p:nvSpPr>
        <p:spPr>
          <a:xfrm>
            <a:off x="3581102" y="1663452"/>
            <a:ext cx="3865858" cy="152400"/>
          </a:xfrm>
          <a:prstGeom prst="rect">
            <a:avLst/>
          </a:prstGeom>
          <a:noFill/>
          <a:ln/>
        </p:spPr>
        <p:txBody>
          <a:bodyPr wrap="square" lIns="0" tIns="0" rIns="0" bIns="0" rtlCol="0" anchor="t"/>
          <a:lstStyle/>
          <a:p>
            <a:pPr algn="l" indent="0" marL="0">
              <a:buNone/>
            </a:pPr>
            <a:r>
              <a:rPr lang="en-US" sz="1100" dirty="0">
                <a:solidFill>
                  <a:srgbClr val="1A1A1A"/>
                </a:solidFill>
                <a:latin typeface="Arial" pitchFamily="34" charset="0"/>
                <a:ea typeface="Arial" pitchFamily="34" charset="-122"/>
                <a:cs typeface="Arial" pitchFamily="34" charset="-120"/>
              </a:rPr>
              <a:t>8 Pricing Frameworks </a:t>
            </a:r>
            <a:pPr algn="l" indent="0" marL="0">
              <a:buNone/>
            </a:pPr>
            <a:r>
              <a:rPr lang="en-US" sz="900" dirty="0">
                <a:solidFill>
                  <a:srgbClr val="555555"/>
                </a:solidFill>
                <a:latin typeface="Arial" pitchFamily="34" charset="0"/>
                <a:ea typeface="Arial" pitchFamily="34" charset="-122"/>
                <a:cs typeface="Arial" pitchFamily="34" charset="-120"/>
              </a:rPr>
              <a:t>— International models applied to PSO SKUs</a:t>
            </a:r>
            <a:endParaRPr lang="en-US" sz="1100" dirty="0"/>
          </a:p>
        </p:txBody>
      </p:sp>
      <p:sp>
        <p:nvSpPr>
          <p:cNvPr id="15" name="Text 13"/>
          <p:cNvSpPr/>
          <p:nvPr/>
        </p:nvSpPr>
        <p:spPr>
          <a:xfrm>
            <a:off x="3174802" y="2057102"/>
            <a:ext cx="279350" cy="279350"/>
          </a:xfrm>
          <a:prstGeom prst="roundRect">
            <a:avLst>
              <a:gd name="adj" fmla="val 327331"/>
            </a:avLst>
          </a:prstGeom>
          <a:solidFill>
            <a:srgbClr val="00703C"/>
          </a:solidFill>
          <a:ln/>
        </p:spPr>
        <p:txBody>
          <a:bodyPr wrap="square" rtlCol="0" anchor="ctr"/>
          <a:lstStyle/>
          <a:p>
            <a:pPr indent="0" marL="0">
              <a:buNone/>
            </a:pPr>
            <a:endParaRPr lang="en-US" dirty="0"/>
          </a:p>
        </p:txBody>
      </p:sp>
      <p:sp>
        <p:nvSpPr>
          <p:cNvPr id="16" name="Text 14"/>
          <p:cNvSpPr/>
          <p:nvPr/>
        </p:nvSpPr>
        <p:spPr>
          <a:xfrm>
            <a:off x="3279130" y="2125266"/>
            <a:ext cx="72107" cy="142875"/>
          </a:xfrm>
          <a:prstGeom prst="rect">
            <a:avLst/>
          </a:prstGeom>
          <a:noFill/>
          <a:ln/>
        </p:spPr>
        <p:txBody>
          <a:bodyPr wrap="square" lIns="0" tIns="0" rIns="0" bIns="0" rtlCol="0" anchor="t"/>
          <a:lstStyle/>
          <a:p>
            <a:pPr algn="l" indent="0" marL="0">
              <a:buNone/>
            </a:pPr>
            <a:r>
              <a:rPr lang="en-US" sz="1000" b="1" dirty="0">
                <a:solidFill>
                  <a:srgbClr val="FFFFFF"/>
                </a:solidFill>
                <a:latin typeface="Arial" pitchFamily="34" charset="0"/>
                <a:ea typeface="Arial" pitchFamily="34" charset="-122"/>
                <a:cs typeface="Arial" pitchFamily="34" charset="-120"/>
              </a:rPr>
              <a:t>4</a:t>
            </a:r>
            <a:endParaRPr lang="en-US" sz="1000" dirty="0"/>
          </a:p>
        </p:txBody>
      </p:sp>
      <p:sp>
        <p:nvSpPr>
          <p:cNvPr id="17" name="Text 15"/>
          <p:cNvSpPr/>
          <p:nvPr/>
        </p:nvSpPr>
        <p:spPr>
          <a:xfrm>
            <a:off x="3581102" y="2095202"/>
            <a:ext cx="4282714" cy="152400"/>
          </a:xfrm>
          <a:prstGeom prst="rect">
            <a:avLst/>
          </a:prstGeom>
          <a:noFill/>
          <a:ln/>
        </p:spPr>
        <p:txBody>
          <a:bodyPr wrap="square" lIns="0" tIns="0" rIns="0" bIns="0" rtlCol="0" anchor="t"/>
          <a:lstStyle/>
          <a:p>
            <a:pPr algn="l" indent="0" marL="0">
              <a:buNone/>
            </a:pPr>
            <a:r>
              <a:rPr lang="en-US" sz="1100" dirty="0">
                <a:solidFill>
                  <a:srgbClr val="1A1A1A"/>
                </a:solidFill>
                <a:latin typeface="Arial" pitchFamily="34" charset="0"/>
                <a:ea typeface="Arial" pitchFamily="34" charset="-122"/>
                <a:cs typeface="Arial" pitchFamily="34" charset="-120"/>
              </a:rPr>
              <a:t>SKU Pricing Recommendations </a:t>
            </a:r>
            <a:pPr algn="l" indent="0" marL="0">
              <a:buNone/>
            </a:pPr>
            <a:r>
              <a:rPr lang="en-US" sz="900" dirty="0">
                <a:solidFill>
                  <a:srgbClr val="555555"/>
                </a:solidFill>
                <a:latin typeface="Arial" pitchFamily="34" charset="0"/>
                <a:ea typeface="Arial" pitchFamily="34" charset="-122"/>
                <a:cs typeface="Arial" pitchFamily="34" charset="-120"/>
              </a:rPr>
              <a:t>— 45 retail SKUs, all pack sizes up to 4L</a:t>
            </a:r>
            <a:endParaRPr lang="en-US" sz="1100" dirty="0"/>
          </a:p>
        </p:txBody>
      </p:sp>
      <p:sp>
        <p:nvSpPr>
          <p:cNvPr id="18" name="Text 16"/>
          <p:cNvSpPr/>
          <p:nvPr/>
        </p:nvSpPr>
        <p:spPr>
          <a:xfrm>
            <a:off x="3174802" y="2488853"/>
            <a:ext cx="279350" cy="279350"/>
          </a:xfrm>
          <a:prstGeom prst="roundRect">
            <a:avLst>
              <a:gd name="adj" fmla="val 327331"/>
            </a:avLst>
          </a:prstGeom>
          <a:solidFill>
            <a:srgbClr val="00703C"/>
          </a:solidFill>
          <a:ln/>
        </p:spPr>
        <p:txBody>
          <a:bodyPr wrap="square" rtlCol="0" anchor="ctr"/>
          <a:lstStyle/>
          <a:p>
            <a:pPr indent="0" marL="0">
              <a:buNone/>
            </a:pPr>
            <a:endParaRPr lang="en-US" dirty="0"/>
          </a:p>
        </p:txBody>
      </p:sp>
      <p:sp>
        <p:nvSpPr>
          <p:cNvPr id="19" name="Text 17"/>
          <p:cNvSpPr/>
          <p:nvPr/>
        </p:nvSpPr>
        <p:spPr>
          <a:xfrm>
            <a:off x="3279130" y="2557016"/>
            <a:ext cx="72107" cy="142875"/>
          </a:xfrm>
          <a:prstGeom prst="rect">
            <a:avLst/>
          </a:prstGeom>
          <a:noFill/>
          <a:ln/>
        </p:spPr>
        <p:txBody>
          <a:bodyPr wrap="square" lIns="0" tIns="0" rIns="0" bIns="0" rtlCol="0" anchor="t"/>
          <a:lstStyle/>
          <a:p>
            <a:pPr algn="l" indent="0" marL="0">
              <a:buNone/>
            </a:pPr>
            <a:r>
              <a:rPr lang="en-US" sz="1000" b="1" dirty="0">
                <a:solidFill>
                  <a:srgbClr val="FFFFFF"/>
                </a:solidFill>
                <a:latin typeface="Arial" pitchFamily="34" charset="0"/>
                <a:ea typeface="Arial" pitchFamily="34" charset="-122"/>
                <a:cs typeface="Arial" pitchFamily="34" charset="-120"/>
              </a:rPr>
              <a:t>5</a:t>
            </a:r>
            <a:endParaRPr lang="en-US" sz="1000" dirty="0"/>
          </a:p>
        </p:txBody>
      </p:sp>
      <p:sp>
        <p:nvSpPr>
          <p:cNvPr id="20" name="Text 18"/>
          <p:cNvSpPr/>
          <p:nvPr/>
        </p:nvSpPr>
        <p:spPr>
          <a:xfrm>
            <a:off x="3581102" y="2526953"/>
            <a:ext cx="4778356" cy="152400"/>
          </a:xfrm>
          <a:prstGeom prst="rect">
            <a:avLst/>
          </a:prstGeom>
          <a:noFill/>
          <a:ln/>
        </p:spPr>
        <p:txBody>
          <a:bodyPr wrap="square" lIns="0" tIns="0" rIns="0" bIns="0" rtlCol="0" anchor="t"/>
          <a:lstStyle/>
          <a:p>
            <a:pPr algn="l" indent="0" marL="0">
              <a:buNone/>
            </a:pPr>
            <a:r>
              <a:rPr lang="en-US" sz="1100" dirty="0">
                <a:solidFill>
                  <a:srgbClr val="1A1A1A"/>
                </a:solidFill>
                <a:latin typeface="Arial" pitchFamily="34" charset="0"/>
                <a:ea typeface="Arial" pitchFamily="34" charset="-122"/>
                <a:cs typeface="Arial" pitchFamily="34" charset="-120"/>
              </a:rPr>
              <a:t>Market Signals &amp; Opportunities </a:t>
            </a:r>
            <a:pPr algn="l" indent="0" marL="0">
              <a:buNone/>
            </a:pPr>
            <a:r>
              <a:rPr lang="en-US" sz="900" dirty="0">
                <a:solidFill>
                  <a:srgbClr val="555555"/>
                </a:solidFill>
                <a:latin typeface="Arial" pitchFamily="34" charset="0"/>
                <a:ea typeface="Arial" pitchFamily="34" charset="-122"/>
                <a:cs typeface="Arial" pitchFamily="34" charset="-120"/>
              </a:rPr>
              <a:t>— Where PSO leads, matches, or trails the market</a:t>
            </a:r>
            <a:endParaRPr lang="en-US" sz="1100" dirty="0"/>
          </a:p>
        </p:txBody>
      </p:sp>
      <p:sp>
        <p:nvSpPr>
          <p:cNvPr id="21" name="Text 19"/>
          <p:cNvSpPr/>
          <p:nvPr/>
        </p:nvSpPr>
        <p:spPr>
          <a:xfrm>
            <a:off x="3174802" y="2920603"/>
            <a:ext cx="279350" cy="279350"/>
          </a:xfrm>
          <a:prstGeom prst="roundRect">
            <a:avLst>
              <a:gd name="adj" fmla="val 327331"/>
            </a:avLst>
          </a:prstGeom>
          <a:solidFill>
            <a:srgbClr val="00703C"/>
          </a:solidFill>
          <a:ln/>
        </p:spPr>
        <p:txBody>
          <a:bodyPr wrap="square" rtlCol="0" anchor="ctr"/>
          <a:lstStyle/>
          <a:p>
            <a:pPr indent="0" marL="0">
              <a:buNone/>
            </a:pPr>
            <a:endParaRPr lang="en-US" dirty="0"/>
          </a:p>
        </p:txBody>
      </p:sp>
      <p:sp>
        <p:nvSpPr>
          <p:cNvPr id="22" name="Text 20"/>
          <p:cNvSpPr/>
          <p:nvPr/>
        </p:nvSpPr>
        <p:spPr>
          <a:xfrm>
            <a:off x="3279130" y="2988766"/>
            <a:ext cx="72107" cy="142875"/>
          </a:xfrm>
          <a:prstGeom prst="rect">
            <a:avLst/>
          </a:prstGeom>
          <a:noFill/>
          <a:ln/>
        </p:spPr>
        <p:txBody>
          <a:bodyPr wrap="square" lIns="0" tIns="0" rIns="0" bIns="0" rtlCol="0" anchor="t"/>
          <a:lstStyle/>
          <a:p>
            <a:pPr algn="l" indent="0" marL="0">
              <a:buNone/>
            </a:pPr>
            <a:r>
              <a:rPr lang="en-US" sz="1000" b="1" dirty="0">
                <a:solidFill>
                  <a:srgbClr val="FFFFFF"/>
                </a:solidFill>
                <a:latin typeface="Arial" pitchFamily="34" charset="0"/>
                <a:ea typeface="Arial" pitchFamily="34" charset="-122"/>
                <a:cs typeface="Arial" pitchFamily="34" charset="-120"/>
              </a:rPr>
              <a:t>6</a:t>
            </a:r>
            <a:endParaRPr lang="en-US" sz="1000" dirty="0"/>
          </a:p>
        </p:txBody>
      </p:sp>
      <p:sp>
        <p:nvSpPr>
          <p:cNvPr id="23" name="Text 21"/>
          <p:cNvSpPr/>
          <p:nvPr/>
        </p:nvSpPr>
        <p:spPr>
          <a:xfrm>
            <a:off x="3581102" y="2958703"/>
            <a:ext cx="4431786" cy="152400"/>
          </a:xfrm>
          <a:prstGeom prst="rect">
            <a:avLst/>
          </a:prstGeom>
          <a:noFill/>
          <a:ln/>
        </p:spPr>
        <p:txBody>
          <a:bodyPr wrap="square" lIns="0" tIns="0" rIns="0" bIns="0" rtlCol="0" anchor="t"/>
          <a:lstStyle/>
          <a:p>
            <a:pPr algn="l" indent="0" marL="0">
              <a:buNone/>
            </a:pPr>
            <a:r>
              <a:rPr lang="en-US" sz="1100" dirty="0">
                <a:solidFill>
                  <a:srgbClr val="1A1A1A"/>
                </a:solidFill>
                <a:latin typeface="Arial" pitchFamily="34" charset="0"/>
                <a:ea typeface="Arial" pitchFamily="34" charset="-122"/>
                <a:cs typeface="Arial" pitchFamily="34" charset="-120"/>
              </a:rPr>
              <a:t>Strategic Recommendations </a:t>
            </a:r>
            <a:pPr algn="l" indent="0" marL="0">
              <a:buNone/>
            </a:pPr>
            <a:r>
              <a:rPr lang="en-US" sz="900" dirty="0">
                <a:solidFill>
                  <a:srgbClr val="555555"/>
                </a:solidFill>
                <a:latin typeface="Arial" pitchFamily="34" charset="0"/>
                <a:ea typeface="Arial" pitchFamily="34" charset="-122"/>
                <a:cs typeface="Arial" pitchFamily="34" charset="-120"/>
              </a:rPr>
              <a:t>— Priority actions with implementation roadmap</a:t>
            </a:r>
            <a:endParaRPr lang="en-US" sz="11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8F8F8"/>
        </a:solidFill>
      </p:bgPr>
    </p:bg>
    <p:spTree>
      <p:nvGrpSpPr>
        <p:cNvPr id="1" name=""/>
        <p:cNvGrpSpPr/>
        <p:nvPr/>
      </p:nvGrpSpPr>
      <p:grpSpPr>
        <a:xfrm>
          <a:off x="0" y="0"/>
          <a:ext cx="0" cy="0"/>
          <a:chOff x="0" y="0"/>
          <a:chExt cx="0" cy="0"/>
        </a:xfrm>
      </p:grpSpPr>
      <p:sp>
        <p:nvSpPr>
          <p:cNvPr id="2" name="Text 0"/>
          <p:cNvSpPr/>
          <p:nvPr/>
        </p:nvSpPr>
        <p:spPr>
          <a:xfrm>
            <a:off x="0" y="0"/>
            <a:ext cx="9144000" cy="780901"/>
          </a:xfrm>
          <a:prstGeom prst="rect">
            <a:avLst/>
          </a:prstGeom>
          <a:solidFill>
            <a:srgbClr val="00703C"/>
          </a:solidFill>
          <a:ln/>
        </p:spPr>
        <p:txBody>
          <a:bodyPr wrap="square" rtlCol="0" anchor="ctr"/>
          <a:lstStyle/>
          <a:p>
            <a:pPr indent="0" marL="0">
              <a:buNone/>
            </a:pPr>
            <a:endParaRPr lang="en-US" dirty="0"/>
          </a:p>
        </p:txBody>
      </p:sp>
      <p:sp>
        <p:nvSpPr>
          <p:cNvPr id="3" name="Text 1"/>
          <p:cNvSpPr/>
          <p:nvPr/>
        </p:nvSpPr>
        <p:spPr>
          <a:xfrm>
            <a:off x="355550" y="177701"/>
            <a:ext cx="8601557" cy="266700"/>
          </a:xfrm>
          <a:prstGeom prst="rect">
            <a:avLst/>
          </a:prstGeom>
          <a:noFill/>
          <a:ln/>
        </p:spPr>
        <p:txBody>
          <a:bodyPr wrap="square" lIns="0" tIns="0" rIns="0" bIns="0" rtlCol="0" anchor="t"/>
          <a:lstStyle/>
          <a:p>
            <a:pPr algn="l" indent="0" marL="0">
              <a:buNone/>
            </a:pPr>
            <a:r>
              <a:rPr lang="en-US" sz="1800" b="1" dirty="0">
                <a:solidFill>
                  <a:srgbClr val="FFFFFF"/>
                </a:solidFill>
                <a:latin typeface="Arial" pitchFamily="34" charset="0"/>
                <a:ea typeface="Arial" pitchFamily="34" charset="-122"/>
                <a:cs typeface="Arial" pitchFamily="34" charset="-120"/>
              </a:rPr>
              <a:t>Competitive Landscape</a:t>
            </a:r>
            <a:endParaRPr lang="en-US" sz="1800" dirty="0"/>
          </a:p>
        </p:txBody>
      </p:sp>
      <p:sp>
        <p:nvSpPr>
          <p:cNvPr id="4" name="Text 2"/>
          <p:cNvSpPr/>
          <p:nvPr/>
        </p:nvSpPr>
        <p:spPr>
          <a:xfrm>
            <a:off x="355550" y="495151"/>
            <a:ext cx="8601557" cy="133350"/>
          </a:xfrm>
          <a:prstGeom prst="rect">
            <a:avLst/>
          </a:prstGeom>
          <a:noFill/>
          <a:ln/>
        </p:spPr>
        <p:txBody>
          <a:bodyPr wrap="square" lIns="0" tIns="0" rIns="0" bIns="0" rtlCol="0" anchor="t"/>
          <a:lstStyle/>
          <a:p>
            <a:pPr algn="l" indent="0" marL="0">
              <a:spcBef>
                <a:spcPts val="400"/>
              </a:spcBef>
              <a:buNone/>
            </a:pPr>
            <a:r>
              <a:rPr lang="en-US" sz="900" dirty="0">
                <a:solidFill>
                  <a:srgbClr val="A8D5BE"/>
                </a:solidFill>
                <a:latin typeface="Arial" pitchFamily="34" charset="0"/>
                <a:ea typeface="Arial" pitchFamily="34" charset="-122"/>
                <a:cs typeface="Arial" pitchFamily="34" charset="-120"/>
              </a:rPr>
              <a:t>365 price listings scraped across Daraz.pk | 7 brands | PCMO, HDEO &amp; MCO categories</a:t>
            </a:r>
            <a:endParaRPr lang="en-US" sz="900" dirty="0"/>
          </a:p>
        </p:txBody>
      </p:sp>
      <p:sp>
        <p:nvSpPr>
          <p:cNvPr id="5" name="Text 3"/>
          <p:cNvSpPr/>
          <p:nvPr/>
        </p:nvSpPr>
        <p:spPr>
          <a:xfrm>
            <a:off x="355550" y="984052"/>
            <a:ext cx="8601557" cy="133350"/>
          </a:xfrm>
          <a:prstGeom prst="rect">
            <a:avLst/>
          </a:prstGeom>
          <a:noFill/>
          <a:ln/>
        </p:spPr>
        <p:txBody>
          <a:bodyPr wrap="square" lIns="0" tIns="0" rIns="0" bIns="0" rtlCol="0" anchor="t"/>
          <a:lstStyle/>
          <a:p>
            <a:pPr algn="l" indent="0" marL="0">
              <a:spcAft>
                <a:spcPts val="1200"/>
              </a:spcAft>
              <a:buNone/>
            </a:pPr>
            <a:r>
              <a:rPr lang="en-US" sz="900" dirty="0">
                <a:solidFill>
                  <a:srgbClr val="555555"/>
                </a:solidFill>
                <a:latin typeface="Arial" pitchFamily="34" charset="0"/>
                <a:ea typeface="Arial" pitchFamily="34" charset="-122"/>
                <a:cs typeface="Arial" pitchFamily="34" charset="-120"/>
              </a:rPr>
              <a:t>Source: Daraz.pk live price data (July 2026) | Price per litre (PKR) | Median of available pack sizes</a:t>
            </a:r>
            <a:endParaRPr lang="en-US" sz="9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355550" y="1269802"/>
          <a:ext cx="8432899" cy="3670548"/>
        </p:xfrm>
        <a:graphic>
          <a:graphicData uri="http://schemas.openxmlformats.org/drawingml/2006/table">
            <a:tbl>
              <a:tblPr/>
              <a:tblGrid>
                <a:gridCol w="1371600"/>
                <a:gridCol w="1097280"/>
                <a:gridCol w="914400"/>
                <a:gridCol w="1463040"/>
                <a:gridCol w="1097280"/>
                <a:gridCol w="1097280"/>
                <a:gridCol w="1097280"/>
              </a:tblGrid>
              <a:tr h="458819">
                <a:tc>
                  <a:txBody>
                    <a:bodyPr/>
                    <a:lstStyle/>
                    <a:p>
                      <a:pPr algn="ctr" indent="0" marL="0">
                        <a:buNone/>
                      </a:pPr>
                      <a:r>
                        <a:rPr lang="en-US" sz="800" dirty="0">
                          <a:solidFill>
                            <a:srgbClr val="000000"/>
                          </a:solidFill>
                        </a:rPr>
                        <a:t>Brand</a:t>
                      </a:r>
                      <a:endParaRPr lang="en-US" sz="800" dirty="0"/>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algn="ctr" indent="0" marL="0">
                        <a:buNone/>
                      </a:pPr>
                      <a:r>
                        <a:rPr lang="en-US" sz="800" dirty="0">
                          <a:solidFill>
                            <a:srgbClr val="000000"/>
                          </a:solidFill>
                        </a:rPr>
                        <a:t>Tier</a:t>
                      </a:r>
                      <a:endParaRPr lang="en-US" sz="800" dirty="0"/>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algn="ctr" indent="0" marL="0">
                        <a:buNone/>
                      </a:pPr>
                      <a:r>
                        <a:rPr lang="en-US" sz="800" dirty="0">
                          <a:solidFill>
                            <a:srgbClr val="000000"/>
                          </a:solidFill>
                        </a:rPr>
                        <a:t>Origin</a:t>
                      </a:r>
                      <a:endParaRPr lang="en-US" sz="800" dirty="0"/>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algn="ctr" indent="0" marL="0">
                        <a:buNone/>
                      </a:pPr>
                      <a:r>
                        <a:rPr lang="en-US" sz="800" dirty="0">
                          <a:solidFill>
                            <a:srgbClr val="000000"/>
                          </a:solidFill>
                        </a:rPr>
                        <a:t>Grades</a:t>
                      </a:r>
                      <a:endParaRPr lang="en-US" sz="800" dirty="0"/>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algn="ctr" indent="0" marL="0">
                        <a:buNone/>
                      </a:pPr>
                      <a:r>
                        <a:rPr lang="en-US" sz="800" dirty="0">
                          <a:solidFill>
                            <a:srgbClr val="000000"/>
                          </a:solidFill>
                        </a:rPr>
                        <a:t>Market Min</a:t>
                      </a:r>
                      <a:endParaRPr lang="en-US" sz="800" dirty="0"/>
                    </a:p>
                    <a:p>
                      <a:pPr algn="ctr" indent="0" marL="0">
                        <a:buNone/>
                      </a:pPr>
                      <a:r>
                        <a:rPr lang="en-US" sz="800" dirty="0">
                          <a:solidFill>
                            <a:srgbClr val="000000"/>
                          </a:solidFill>
                        </a:rPr>
                        <a:t>(PKR/L)</a:t>
                      </a:r>
                      <a:endParaRPr lang="en-US" sz="800" dirty="0"/>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algn="ctr" indent="0" marL="0">
                        <a:buNone/>
                      </a:pPr>
                      <a:r>
                        <a:rPr lang="en-US" sz="800" dirty="0">
                          <a:solidFill>
                            <a:srgbClr val="000000"/>
                          </a:solidFill>
                        </a:rPr>
                        <a:t>Market Med</a:t>
                      </a:r>
                      <a:endParaRPr lang="en-US" sz="800" dirty="0"/>
                    </a:p>
                    <a:p>
                      <a:pPr algn="ctr" indent="0" marL="0">
                        <a:buNone/>
                      </a:pPr>
                      <a:r>
                        <a:rPr lang="en-US" sz="800" dirty="0">
                          <a:solidFill>
                            <a:srgbClr val="000000"/>
                          </a:solidFill>
                        </a:rPr>
                        <a:t>(PKR/L)</a:t>
                      </a:r>
                      <a:endParaRPr lang="en-US" sz="800" dirty="0"/>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algn="ctr" indent="0" marL="0">
                        <a:buNone/>
                      </a:pPr>
                      <a:r>
                        <a:rPr lang="en-US" sz="800" dirty="0">
                          <a:solidFill>
                            <a:srgbClr val="000000"/>
                          </a:solidFill>
                        </a:rPr>
                        <a:t>Market Max</a:t>
                      </a:r>
                      <a:endParaRPr lang="en-US" sz="800" dirty="0"/>
                    </a:p>
                    <a:p>
                      <a:pPr algn="ctr" indent="0" marL="0">
                        <a:buNone/>
                      </a:pPr>
                      <a:r>
                        <a:rPr lang="en-US" sz="800" dirty="0">
                          <a:solidFill>
                            <a:srgbClr val="000000"/>
                          </a:solidFill>
                        </a:rPr>
                        <a:t>(PKR/L)</a:t>
                      </a:r>
                      <a:endParaRPr lang="en-US" sz="800" dirty="0"/>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r>
              <a:tr h="458819">
                <a:tc>
                  <a:txBody>
                    <a:bodyPr/>
                    <a:lstStyle/>
                    <a:p>
                      <a:pPr algn="ctr" indent="0" marL="0">
                        <a:buNone/>
                      </a:pPr>
                      <a:r>
                        <a:rPr lang="en-US" sz="800" dirty="0">
                          <a:solidFill>
                            <a:srgbClr val="000000"/>
                          </a:solidFill>
                        </a:rPr>
                        <a:t>Shell Helix</a:t>
                      </a:r>
                      <a:endParaRPr lang="en-US" sz="800" dirty="0"/>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algn="ctr" indent="0" marL="0">
                        <a:buNone/>
                      </a:pPr>
                      <a:r>
                        <a:rPr lang="en-US" sz="800" dirty="0">
                          <a:solidFill>
                            <a:srgbClr val="000000"/>
                          </a:solidFill>
                        </a:rPr>
                        <a:t>Super Premium</a:t>
                      </a:r>
                      <a:endParaRPr lang="en-US" sz="800" dirty="0"/>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algn="ctr" indent="0" marL="0">
                        <a:buNone/>
                      </a:pPr>
                      <a:r>
                        <a:rPr lang="en-US" sz="800" dirty="0">
                          <a:solidFill>
                            <a:srgbClr val="000000"/>
                          </a:solidFill>
                        </a:rPr>
                        <a:t>Imported</a:t>
                      </a:r>
                      <a:endParaRPr lang="en-US" sz="800" dirty="0"/>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algn="ctr" indent="0" marL="0">
                        <a:buNone/>
                      </a:pPr>
                      <a:r>
                        <a:rPr lang="en-US" sz="800" dirty="0">
                          <a:solidFill>
                            <a:srgbClr val="000000"/>
                          </a:solidFill>
                        </a:rPr>
                        <a:t>0W-20, 5W-30, 5W-40</a:t>
                      </a:r>
                      <a:endParaRPr lang="en-US" sz="800" dirty="0"/>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algn="ctr" indent="0" marL="0">
                        <a:buNone/>
                      </a:pPr>
                      <a:r>
                        <a:rPr lang="en-US" sz="800" dirty="0">
                          <a:solidFill>
                            <a:srgbClr val="000000"/>
                          </a:solidFill>
                        </a:rPr>
                        <a:t>3,375</a:t>
                      </a:r>
                      <a:endParaRPr lang="en-US" sz="800" dirty="0"/>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algn="ctr" indent="0" marL="0">
                        <a:buNone/>
                      </a:pPr>
                      <a:r>
                        <a:rPr lang="en-US" sz="800" dirty="0">
                          <a:solidFill>
                            <a:srgbClr val="000000"/>
                          </a:solidFill>
                        </a:rPr>
                        <a:t>3,412</a:t>
                      </a:r>
                      <a:endParaRPr lang="en-US" sz="800" dirty="0"/>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algn="ctr" indent="0" marL="0">
                        <a:buNone/>
                      </a:pPr>
                      <a:r>
                        <a:rPr lang="en-US" sz="800" dirty="0">
                          <a:solidFill>
                            <a:srgbClr val="000000"/>
                          </a:solidFill>
                        </a:rPr>
                        <a:t>4,012</a:t>
                      </a:r>
                      <a:endParaRPr lang="en-US" sz="800" dirty="0"/>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r>
              <a:tr h="458819">
                <a:tc>
                  <a:txBody>
                    <a:bodyPr/>
                    <a:lstStyle/>
                    <a:p>
                      <a:pPr algn="ctr" indent="0" marL="0">
                        <a:buNone/>
                      </a:pPr>
                      <a:r>
                        <a:rPr lang="en-US" sz="800" dirty="0">
                          <a:solidFill>
                            <a:srgbClr val="000000"/>
                          </a:solidFill>
                        </a:rPr>
                        <a:t>Caltex Havoline</a:t>
                      </a:r>
                      <a:endParaRPr lang="en-US" sz="800" dirty="0"/>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algn="ctr" indent="0" marL="0">
                        <a:buNone/>
                      </a:pPr>
                      <a:r>
                        <a:rPr lang="en-US" sz="800" dirty="0">
                          <a:solidFill>
                            <a:srgbClr val="000000"/>
                          </a:solidFill>
                        </a:rPr>
                        <a:t>Premium</a:t>
                      </a:r>
                      <a:endParaRPr lang="en-US" sz="800" dirty="0"/>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algn="ctr" indent="0" marL="0">
                        <a:buNone/>
                      </a:pPr>
                      <a:r>
                        <a:rPr lang="en-US" sz="800" dirty="0">
                          <a:solidFill>
                            <a:srgbClr val="000000"/>
                          </a:solidFill>
                        </a:rPr>
                        <a:t>Imported</a:t>
                      </a:r>
                      <a:endParaRPr lang="en-US" sz="800" dirty="0"/>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algn="ctr" indent="0" marL="0">
                        <a:buNone/>
                      </a:pPr>
                      <a:r>
                        <a:rPr lang="en-US" sz="800" dirty="0">
                          <a:solidFill>
                            <a:srgbClr val="000000"/>
                          </a:solidFill>
                        </a:rPr>
                        <a:t>5W-30, 10W-40</a:t>
                      </a:r>
                      <a:endParaRPr lang="en-US" sz="800" dirty="0"/>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algn="ctr" indent="0" marL="0">
                        <a:buNone/>
                      </a:pPr>
                      <a:r>
                        <a:rPr lang="en-US" sz="800" dirty="0">
                          <a:solidFill>
                            <a:srgbClr val="000000"/>
                          </a:solidFill>
                        </a:rPr>
                        <a:t>1,660</a:t>
                      </a:r>
                      <a:endParaRPr lang="en-US" sz="800" dirty="0"/>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algn="ctr" indent="0" marL="0">
                        <a:buNone/>
                      </a:pPr>
                      <a:r>
                        <a:rPr lang="en-US" sz="800" dirty="0">
                          <a:solidFill>
                            <a:srgbClr val="000000"/>
                          </a:solidFill>
                        </a:rPr>
                        <a:t>2,300</a:t>
                      </a:r>
                      <a:endParaRPr lang="en-US" sz="800" dirty="0"/>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algn="ctr" indent="0" marL="0">
                        <a:buNone/>
                      </a:pPr>
                      <a:r>
                        <a:rPr lang="en-US" sz="800" dirty="0">
                          <a:solidFill>
                            <a:srgbClr val="000000"/>
                          </a:solidFill>
                        </a:rPr>
                        <a:t>2,300</a:t>
                      </a:r>
                      <a:endParaRPr lang="en-US" sz="800" dirty="0"/>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r>
              <a:tr h="458819">
                <a:tc>
                  <a:txBody>
                    <a:bodyPr/>
                    <a:lstStyle/>
                    <a:p>
                      <a:pPr algn="ctr" indent="0" marL="0">
                        <a:buNone/>
                      </a:pPr>
                      <a:r>
                        <a:rPr lang="en-US" sz="800" dirty="0">
                          <a:solidFill>
                            <a:srgbClr val="000000"/>
                          </a:solidFill>
                        </a:rPr>
                        <a:t>Total Quartz</a:t>
                      </a:r>
                      <a:endParaRPr lang="en-US" sz="800" dirty="0"/>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algn="ctr" indent="0" marL="0">
                        <a:buNone/>
                      </a:pPr>
                      <a:r>
                        <a:rPr lang="en-US" sz="800" dirty="0">
                          <a:solidFill>
                            <a:srgbClr val="000000"/>
                          </a:solidFill>
                        </a:rPr>
                        <a:t>Premium</a:t>
                      </a:r>
                      <a:endParaRPr lang="en-US" sz="800" dirty="0"/>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algn="ctr" indent="0" marL="0">
                        <a:buNone/>
                      </a:pPr>
                      <a:r>
                        <a:rPr lang="en-US" sz="800" dirty="0">
                          <a:solidFill>
                            <a:srgbClr val="000000"/>
                          </a:solidFill>
                        </a:rPr>
                        <a:t>Imported</a:t>
                      </a:r>
                      <a:endParaRPr lang="en-US" sz="800" dirty="0"/>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algn="ctr" indent="0" marL="0">
                        <a:buNone/>
                      </a:pPr>
                      <a:r>
                        <a:rPr lang="en-US" sz="800" dirty="0">
                          <a:solidFill>
                            <a:srgbClr val="000000"/>
                          </a:solidFill>
                        </a:rPr>
                        <a:t>5W-30, 5W-40, 10W-40</a:t>
                      </a:r>
                      <a:endParaRPr lang="en-US" sz="800" dirty="0"/>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algn="ctr" indent="0" marL="0">
                        <a:buNone/>
                      </a:pPr>
                      <a:r>
                        <a:rPr lang="en-US" sz="800" dirty="0">
                          <a:solidFill>
                            <a:srgbClr val="000000"/>
                          </a:solidFill>
                        </a:rPr>
                        <a:t>1,660</a:t>
                      </a:r>
                      <a:endParaRPr lang="en-US" sz="800" dirty="0"/>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algn="ctr" indent="0" marL="0">
                        <a:buNone/>
                      </a:pPr>
                      <a:r>
                        <a:rPr lang="en-US" sz="800" dirty="0">
                          <a:solidFill>
                            <a:srgbClr val="000000"/>
                          </a:solidFill>
                        </a:rPr>
                        <a:t>2,300</a:t>
                      </a:r>
                      <a:endParaRPr lang="en-US" sz="800" dirty="0"/>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algn="ctr" indent="0" marL="0">
                        <a:buNone/>
                      </a:pPr>
                      <a:r>
                        <a:rPr lang="en-US" sz="800" dirty="0">
                          <a:solidFill>
                            <a:srgbClr val="000000"/>
                          </a:solidFill>
                        </a:rPr>
                        <a:t>2,300</a:t>
                      </a:r>
                      <a:endParaRPr lang="en-US" sz="800" dirty="0"/>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r>
              <a:tr h="458819">
                <a:tc>
                  <a:txBody>
                    <a:bodyPr/>
                    <a:lstStyle/>
                    <a:p>
                      <a:pPr algn="ctr" indent="0" marL="0">
                        <a:buNone/>
                      </a:pPr>
                      <a:r>
                        <a:rPr lang="en-US" sz="800" dirty="0">
                          <a:solidFill>
                            <a:srgbClr val="000000"/>
                          </a:solidFill>
                        </a:rPr>
                        <a:t>ZIC (SK)</a:t>
                      </a:r>
                      <a:endParaRPr lang="en-US" sz="800" dirty="0"/>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algn="ctr" indent="0" marL="0">
                        <a:buNone/>
                      </a:pPr>
                      <a:r>
                        <a:rPr lang="en-US" sz="800" dirty="0">
                          <a:solidFill>
                            <a:srgbClr val="000000"/>
                          </a:solidFill>
                        </a:rPr>
                        <a:t>Premium/Mainstream</a:t>
                      </a:r>
                      <a:endParaRPr lang="en-US" sz="800" dirty="0"/>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algn="ctr" indent="0" marL="0">
                        <a:buNone/>
                      </a:pPr>
                      <a:r>
                        <a:rPr lang="en-US" sz="800" dirty="0">
                          <a:solidFill>
                            <a:srgbClr val="000000"/>
                          </a:solidFill>
                        </a:rPr>
                        <a:t>Imported (Korea)</a:t>
                      </a:r>
                      <a:endParaRPr lang="en-US" sz="800" dirty="0"/>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algn="ctr" indent="0" marL="0">
                        <a:buNone/>
                      </a:pPr>
                      <a:r>
                        <a:rPr lang="en-US" sz="800" dirty="0">
                          <a:solidFill>
                            <a:srgbClr val="000000"/>
                          </a:solidFill>
                        </a:rPr>
                        <a:t>5W-30, 10W-40, 20W-50</a:t>
                      </a:r>
                      <a:endParaRPr lang="en-US" sz="800" dirty="0"/>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algn="ctr" indent="0" marL="0">
                        <a:buNone/>
                      </a:pPr>
                      <a:r>
                        <a:rPr lang="en-US" sz="800" dirty="0">
                          <a:solidFill>
                            <a:srgbClr val="000000"/>
                          </a:solidFill>
                        </a:rPr>
                        <a:t>1,088</a:t>
                      </a:r>
                      <a:endParaRPr lang="en-US" sz="800" dirty="0"/>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algn="ctr" indent="0" marL="0">
                        <a:buNone/>
                      </a:pPr>
                      <a:r>
                        <a:rPr lang="en-US" sz="800" dirty="0">
                          <a:solidFill>
                            <a:srgbClr val="000000"/>
                          </a:solidFill>
                        </a:rPr>
                        <a:t>1,750</a:t>
                      </a:r>
                      <a:endParaRPr lang="en-US" sz="800" dirty="0"/>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algn="ctr" indent="0" marL="0">
                        <a:buNone/>
                      </a:pPr>
                      <a:r>
                        <a:rPr lang="en-US" sz="800" dirty="0">
                          <a:solidFill>
                            <a:srgbClr val="000000"/>
                          </a:solidFill>
                        </a:rPr>
                        <a:t>2,262</a:t>
                      </a:r>
                      <a:endParaRPr lang="en-US" sz="800" dirty="0"/>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r>
              <a:tr h="458819">
                <a:tc>
                  <a:txBody>
                    <a:bodyPr/>
                    <a:lstStyle/>
                    <a:p>
                      <a:pPr algn="ctr" indent="0" marL="0">
                        <a:buNone/>
                      </a:pPr>
                      <a:r>
                        <a:rPr lang="en-US" sz="800" dirty="0">
                          <a:solidFill>
                            <a:srgbClr val="000000"/>
                          </a:solidFill>
                        </a:rPr>
                        <a:t>Aramco Mobil</a:t>
                      </a:r>
                      <a:endParaRPr lang="en-US" sz="800" dirty="0"/>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algn="ctr" indent="0" marL="0">
                        <a:buNone/>
                      </a:pPr>
                      <a:r>
                        <a:rPr lang="en-US" sz="800" dirty="0">
                          <a:solidFill>
                            <a:srgbClr val="000000"/>
                          </a:solidFill>
                        </a:rPr>
                        <a:t>Mainstream</a:t>
                      </a:r>
                      <a:endParaRPr lang="en-US" sz="800" dirty="0"/>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algn="ctr" indent="0" marL="0">
                        <a:buNone/>
                      </a:pPr>
                      <a:r>
                        <a:rPr lang="en-US" sz="800" dirty="0">
                          <a:solidFill>
                            <a:srgbClr val="000000"/>
                          </a:solidFill>
                        </a:rPr>
                        <a:t>Imported</a:t>
                      </a:r>
                      <a:endParaRPr lang="en-US" sz="800" dirty="0"/>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algn="ctr" indent="0" marL="0">
                        <a:buNone/>
                      </a:pPr>
                      <a:r>
                        <a:rPr lang="en-US" sz="800" dirty="0">
                          <a:solidFill>
                            <a:srgbClr val="000000"/>
                          </a:solidFill>
                        </a:rPr>
                        <a:t>10W-40, 15W-40</a:t>
                      </a:r>
                      <a:endParaRPr lang="en-US" sz="800" dirty="0"/>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algn="ctr" indent="0" marL="0">
                        <a:buNone/>
                      </a:pPr>
                      <a:r>
                        <a:rPr lang="en-US" sz="800" dirty="0">
                          <a:solidFill>
                            <a:srgbClr val="000000"/>
                          </a:solidFill>
                        </a:rPr>
                        <a:t>1,088</a:t>
                      </a:r>
                      <a:endParaRPr lang="en-US" sz="800" dirty="0"/>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algn="ctr" indent="0" marL="0">
                        <a:buNone/>
                      </a:pPr>
                      <a:r>
                        <a:rPr lang="en-US" sz="800" dirty="0">
                          <a:solidFill>
                            <a:srgbClr val="000000"/>
                          </a:solidFill>
                        </a:rPr>
                        <a:t>1,750</a:t>
                      </a:r>
                      <a:endParaRPr lang="en-US" sz="800" dirty="0"/>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algn="ctr" indent="0" marL="0">
                        <a:buNone/>
                      </a:pPr>
                      <a:r>
                        <a:rPr lang="en-US" sz="800" dirty="0">
                          <a:solidFill>
                            <a:srgbClr val="000000"/>
                          </a:solidFill>
                        </a:rPr>
                        <a:t>2,262</a:t>
                      </a:r>
                      <a:endParaRPr lang="en-US" sz="800" dirty="0"/>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r>
              <a:tr h="458819">
                <a:tc>
                  <a:txBody>
                    <a:bodyPr/>
                    <a:lstStyle/>
                    <a:p>
                      <a:pPr algn="ctr" indent="0" marL="0">
                        <a:buNone/>
                      </a:pPr>
                      <a:r>
                        <a:rPr lang="en-US" sz="800" dirty="0">
                          <a:solidFill>
                            <a:srgbClr val="000000"/>
                          </a:solidFill>
                        </a:rPr>
                        <a:t>Kixx (GS)</a:t>
                      </a:r>
                      <a:endParaRPr lang="en-US" sz="800" dirty="0"/>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algn="ctr" indent="0" marL="0">
                        <a:buNone/>
                      </a:pPr>
                      <a:r>
                        <a:rPr lang="en-US" sz="800" dirty="0">
                          <a:solidFill>
                            <a:srgbClr val="000000"/>
                          </a:solidFill>
                        </a:rPr>
                        <a:t>Mainstream/Economy</a:t>
                      </a:r>
                      <a:endParaRPr lang="en-US" sz="800" dirty="0"/>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algn="ctr" indent="0" marL="0">
                        <a:buNone/>
                      </a:pPr>
                      <a:r>
                        <a:rPr lang="en-US" sz="800" dirty="0">
                          <a:solidFill>
                            <a:srgbClr val="000000"/>
                          </a:solidFill>
                        </a:rPr>
                        <a:t>Imported (Korea)</a:t>
                      </a:r>
                      <a:endParaRPr lang="en-US" sz="800" dirty="0"/>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algn="ctr" indent="0" marL="0">
                        <a:buNone/>
                      </a:pPr>
                      <a:r>
                        <a:rPr lang="en-US" sz="800" dirty="0">
                          <a:solidFill>
                            <a:srgbClr val="000000"/>
                          </a:solidFill>
                        </a:rPr>
                        <a:t>10W-40, 15W-40, 20W-50</a:t>
                      </a:r>
                      <a:endParaRPr lang="en-US" sz="800" dirty="0"/>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algn="ctr" indent="0" marL="0">
                        <a:buNone/>
                      </a:pPr>
                      <a:r>
                        <a:rPr lang="en-US" sz="800" dirty="0">
                          <a:solidFill>
                            <a:srgbClr val="000000"/>
                          </a:solidFill>
                        </a:rPr>
                        <a:t>876</a:t>
                      </a:r>
                      <a:endParaRPr lang="en-US" sz="800" dirty="0"/>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algn="ctr" indent="0" marL="0">
                        <a:buNone/>
                      </a:pPr>
                      <a:r>
                        <a:rPr lang="en-US" sz="800" dirty="0">
                          <a:solidFill>
                            <a:srgbClr val="000000"/>
                          </a:solidFill>
                        </a:rPr>
                        <a:t>1,019</a:t>
                      </a:r>
                      <a:endParaRPr lang="en-US" sz="800" dirty="0"/>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algn="ctr" indent="0" marL="0">
                        <a:buNone/>
                      </a:pPr>
                      <a:r>
                        <a:rPr lang="en-US" sz="800" dirty="0">
                          <a:solidFill>
                            <a:srgbClr val="000000"/>
                          </a:solidFill>
                        </a:rPr>
                        <a:t>1,500</a:t>
                      </a:r>
                      <a:endParaRPr lang="en-US" sz="800" dirty="0"/>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r>
              <a:tr h="458819">
                <a:tc>
                  <a:txBody>
                    <a:bodyPr/>
                    <a:lstStyle/>
                    <a:p>
                      <a:pPr algn="ctr" indent="0" marL="0">
                        <a:buNone/>
                      </a:pPr>
                      <a:r>
                        <a:rPr lang="en-US" sz="800" dirty="0">
                          <a:solidFill>
                            <a:srgbClr val="000000"/>
                          </a:solidFill>
                        </a:rPr>
                        <a:t>Equimoli</a:t>
                      </a:r>
                      <a:endParaRPr lang="en-US" sz="800" dirty="0"/>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algn="ctr" indent="0" marL="0">
                        <a:buNone/>
                      </a:pPr>
                      <a:r>
                        <a:rPr lang="en-US" sz="800" dirty="0">
                          <a:solidFill>
                            <a:srgbClr val="000000"/>
                          </a:solidFill>
                        </a:rPr>
                        <a:t>Economy</a:t>
                      </a:r>
                      <a:endParaRPr lang="en-US" sz="800" dirty="0"/>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algn="ctr" indent="0" marL="0">
                        <a:buNone/>
                      </a:pPr>
                      <a:r>
                        <a:rPr lang="en-US" sz="800" dirty="0">
                          <a:solidFill>
                            <a:srgbClr val="000000"/>
                          </a:solidFill>
                        </a:rPr>
                        <a:t>Local/Imported</a:t>
                      </a:r>
                      <a:endParaRPr lang="en-US" sz="800" dirty="0"/>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algn="ctr" indent="0" marL="0">
                        <a:buNone/>
                      </a:pPr>
                      <a:r>
                        <a:rPr lang="en-US" sz="800" dirty="0">
                          <a:solidFill>
                            <a:srgbClr val="000000"/>
                          </a:solidFill>
                        </a:rPr>
                        <a:t>15W-40, 20W-50</a:t>
                      </a:r>
                      <a:endParaRPr lang="en-US" sz="800" dirty="0"/>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algn="ctr" indent="0" marL="0">
                        <a:buNone/>
                      </a:pPr>
                      <a:r>
                        <a:rPr lang="en-US" sz="800" dirty="0">
                          <a:solidFill>
                            <a:srgbClr val="000000"/>
                          </a:solidFill>
                        </a:rPr>
                        <a:t>922</a:t>
                      </a:r>
                      <a:endParaRPr lang="en-US" sz="800" dirty="0"/>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algn="ctr" indent="0" marL="0">
                        <a:buNone/>
                      </a:pPr>
                      <a:r>
                        <a:rPr lang="en-US" sz="800" dirty="0">
                          <a:solidFill>
                            <a:srgbClr val="000000"/>
                          </a:solidFill>
                        </a:rPr>
                        <a:t>1,025</a:t>
                      </a:r>
                      <a:endParaRPr lang="en-US" sz="800" dirty="0"/>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algn="ctr" indent="0" marL="0">
                        <a:buNone/>
                      </a:pPr>
                      <a:r>
                        <a:rPr lang="en-US" sz="800" dirty="0">
                          <a:solidFill>
                            <a:srgbClr val="000000"/>
                          </a:solidFill>
                        </a:rPr>
                        <a:t>2,150</a:t>
                      </a:r>
                      <a:endParaRPr lang="en-US" sz="800" dirty="0"/>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r>
            </a:tbl>
          </a:graphicData>
        </a:graphic>
      </p:graphicFrame>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0" y="0"/>
            <a:ext cx="9144000" cy="780901"/>
          </a:xfrm>
          <a:prstGeom prst="rect">
            <a:avLst/>
          </a:prstGeom>
          <a:solidFill>
            <a:srgbClr val="00703C"/>
          </a:solidFill>
          <a:ln/>
        </p:spPr>
        <p:txBody>
          <a:bodyPr wrap="square" rtlCol="0" anchor="ctr"/>
          <a:lstStyle/>
          <a:p>
            <a:pPr indent="0" marL="0">
              <a:buNone/>
            </a:pPr>
            <a:endParaRPr lang="en-US" dirty="0"/>
          </a:p>
        </p:txBody>
      </p:sp>
      <p:sp>
        <p:nvSpPr>
          <p:cNvPr id="3" name="Text 1"/>
          <p:cNvSpPr/>
          <p:nvPr/>
        </p:nvSpPr>
        <p:spPr>
          <a:xfrm>
            <a:off x="355550" y="177701"/>
            <a:ext cx="8601557" cy="266700"/>
          </a:xfrm>
          <a:prstGeom prst="rect">
            <a:avLst/>
          </a:prstGeom>
          <a:noFill/>
          <a:ln/>
        </p:spPr>
        <p:txBody>
          <a:bodyPr wrap="square" lIns="0" tIns="0" rIns="0" bIns="0" rtlCol="0" anchor="t"/>
          <a:lstStyle/>
          <a:p>
            <a:pPr algn="l" indent="0" marL="0">
              <a:buNone/>
            </a:pPr>
            <a:r>
              <a:rPr lang="en-US" sz="1800" b="1" dirty="0">
                <a:solidFill>
                  <a:srgbClr val="FFFFFF"/>
                </a:solidFill>
                <a:latin typeface="Arial" pitchFamily="34" charset="0"/>
                <a:ea typeface="Arial" pitchFamily="34" charset="-122"/>
                <a:cs typeface="Arial" pitchFamily="34" charset="-120"/>
              </a:rPr>
              <a:t>PSO Lubricants Portfolio — Tier Overview</a:t>
            </a:r>
            <a:endParaRPr lang="en-US" sz="1800" dirty="0"/>
          </a:p>
        </p:txBody>
      </p:sp>
      <p:sp>
        <p:nvSpPr>
          <p:cNvPr id="4" name="Text 2"/>
          <p:cNvSpPr/>
          <p:nvPr/>
        </p:nvSpPr>
        <p:spPr>
          <a:xfrm>
            <a:off x="355550" y="495151"/>
            <a:ext cx="8601557" cy="133350"/>
          </a:xfrm>
          <a:prstGeom prst="rect">
            <a:avLst/>
          </a:prstGeom>
          <a:noFill/>
          <a:ln/>
        </p:spPr>
        <p:txBody>
          <a:bodyPr wrap="square" lIns="0" tIns="0" rIns="0" bIns="0" rtlCol="0" anchor="t"/>
          <a:lstStyle/>
          <a:p>
            <a:pPr algn="l" indent="0" marL="0">
              <a:spcBef>
                <a:spcPts val="400"/>
              </a:spcBef>
              <a:buNone/>
            </a:pPr>
            <a:r>
              <a:rPr lang="en-US" sz="900" b="1" dirty="0">
                <a:solidFill>
                  <a:srgbClr val="A8D5BE"/>
                </a:solidFill>
                <a:latin typeface="Arial" pitchFamily="34" charset="0"/>
                <a:ea typeface="Arial" pitchFamily="34" charset="-122"/>
                <a:cs typeface="Arial" pitchFamily="34" charset="-120"/>
              </a:rPr>
              <a:t>12 sub-brands across 4 performance tiers | PCMO · HDEO · MCO categories</a:t>
            </a:r>
            <a:endParaRPr lang="en-US" sz="900" dirty="0"/>
          </a:p>
        </p:txBody>
      </p:sp>
      <p:sp>
        <p:nvSpPr>
          <p:cNvPr id="5" name="Text 3"/>
          <p:cNvSpPr/>
          <p:nvPr/>
        </p:nvSpPr>
        <p:spPr>
          <a:xfrm>
            <a:off x="355550" y="984052"/>
            <a:ext cx="2746299" cy="133350"/>
          </a:xfrm>
          <a:prstGeom prst="rect">
            <a:avLst/>
          </a:prstGeom>
          <a:noFill/>
          <a:ln/>
        </p:spPr>
        <p:txBody>
          <a:bodyPr wrap="square" lIns="0" tIns="0" rIns="0" bIns="0" rtlCol="0" anchor="t"/>
          <a:lstStyle/>
          <a:p>
            <a:pPr algn="l" indent="0" marL="0">
              <a:spcAft>
                <a:spcPts val="600"/>
              </a:spcAft>
              <a:buNone/>
            </a:pPr>
            <a:r>
              <a:rPr lang="en-US" sz="900" b="1" dirty="0">
                <a:solidFill>
                  <a:srgbClr val="555555"/>
                </a:solidFill>
                <a:latin typeface="Arial" pitchFamily="34" charset="0"/>
                <a:ea typeface="Arial" pitchFamily="34" charset="-122"/>
                <a:cs typeface="Arial" pitchFamily="34" charset="-120"/>
              </a:rPr>
              <a:t>PETROL ENGINE (PCMO)</a:t>
            </a:r>
            <a:endParaRPr lang="en-US" sz="900" dirty="0"/>
          </a:p>
        </p:txBody>
      </p:sp>
      <p:sp>
        <p:nvSpPr>
          <p:cNvPr id="6" name="Text 4"/>
          <p:cNvSpPr/>
          <p:nvPr/>
        </p:nvSpPr>
        <p:spPr>
          <a:xfrm>
            <a:off x="355550" y="1320552"/>
            <a:ext cx="2692450" cy="730002"/>
          </a:xfrm>
          <a:prstGeom prst="roundRect">
            <a:avLst>
              <a:gd name="adj" fmla="val 10438"/>
            </a:avLst>
          </a:prstGeom>
          <a:solidFill>
            <a:srgbClr val="023520"/>
          </a:solidFill>
          <a:ln/>
        </p:spPr>
        <p:txBody>
          <a:bodyPr wrap="square" rtlCol="0" anchor="ctr"/>
          <a:lstStyle/>
          <a:p>
            <a:pPr indent="0" marL="0">
              <a:buNone/>
            </a:pPr>
            <a:endParaRPr lang="en-US" dirty="0"/>
          </a:p>
        </p:txBody>
      </p:sp>
      <p:sp>
        <p:nvSpPr>
          <p:cNvPr id="7" name="Text 5"/>
          <p:cNvSpPr/>
          <p:nvPr/>
        </p:nvSpPr>
        <p:spPr>
          <a:xfrm>
            <a:off x="533251" y="1447502"/>
            <a:ext cx="2383789" cy="114300"/>
          </a:xfrm>
          <a:prstGeom prst="rect">
            <a:avLst/>
          </a:prstGeom>
          <a:noFill/>
          <a:ln/>
        </p:spPr>
        <p:txBody>
          <a:bodyPr wrap="square" lIns="0" tIns="0" rIns="0" bIns="0" rtlCol="0" anchor="t"/>
          <a:lstStyle/>
          <a:p>
            <a:pPr algn="l" indent="0" marL="0">
              <a:spcAft>
                <a:spcPts val="400"/>
              </a:spcAft>
              <a:buNone/>
            </a:pPr>
            <a:r>
              <a:rPr lang="en-US" sz="800" b="1" dirty="0">
                <a:solidFill>
                  <a:srgbClr val="FFFFFF"/>
                </a:solidFill>
                <a:latin typeface="Arial" pitchFamily="34" charset="0"/>
                <a:ea typeface="Arial" pitchFamily="34" charset="-122"/>
                <a:cs typeface="Arial" pitchFamily="34" charset="-120"/>
              </a:rPr>
              <a:t>SUPER PREMIUM</a:t>
            </a:r>
            <a:endParaRPr lang="en-US" sz="800" dirty="0"/>
          </a:p>
        </p:txBody>
      </p:sp>
      <p:sp>
        <p:nvSpPr>
          <p:cNvPr id="8" name="Text 6"/>
          <p:cNvSpPr/>
          <p:nvPr/>
        </p:nvSpPr>
        <p:spPr>
          <a:xfrm>
            <a:off x="533251" y="1612553"/>
            <a:ext cx="2383789" cy="171450"/>
          </a:xfrm>
          <a:prstGeom prst="rect">
            <a:avLst/>
          </a:prstGeom>
          <a:noFill/>
          <a:ln/>
        </p:spPr>
        <p:txBody>
          <a:bodyPr wrap="square" lIns="0" tIns="0" rIns="0" bIns="0" rtlCol="0" anchor="t"/>
          <a:lstStyle/>
          <a:p>
            <a:pPr algn="l" indent="0" marL="0">
              <a:spcAft>
                <a:spcPts val="200"/>
              </a:spcAft>
              <a:buNone/>
            </a:pPr>
            <a:r>
              <a:rPr lang="en-US" sz="1200" b="1" dirty="0">
                <a:solidFill>
                  <a:srgbClr val="FFFFFF"/>
                </a:solidFill>
                <a:latin typeface="Arial" pitchFamily="34" charset="0"/>
                <a:ea typeface="Arial" pitchFamily="34" charset="-122"/>
                <a:cs typeface="Arial" pitchFamily="34" charset="-120"/>
              </a:rPr>
              <a:t>Carient Ultra</a:t>
            </a:r>
            <a:endParaRPr lang="en-US" sz="1200" dirty="0"/>
          </a:p>
        </p:txBody>
      </p:sp>
      <p:sp>
        <p:nvSpPr>
          <p:cNvPr id="9" name="Text 7"/>
          <p:cNvSpPr/>
          <p:nvPr/>
        </p:nvSpPr>
        <p:spPr>
          <a:xfrm>
            <a:off x="533251" y="1809304"/>
            <a:ext cx="2383789" cy="114300"/>
          </a:xfrm>
          <a:prstGeom prst="rect">
            <a:avLst/>
          </a:prstGeom>
          <a:noFill/>
          <a:ln/>
        </p:spPr>
        <p:txBody>
          <a:bodyPr wrap="square" lIns="0" tIns="0" rIns="0" bIns="0" rtlCol="0" anchor="t"/>
          <a:lstStyle/>
          <a:p>
            <a:pPr algn="l" indent="0" marL="0">
              <a:buNone/>
            </a:pPr>
            <a:r>
              <a:rPr lang="en-US" sz="800" dirty="0">
                <a:solidFill>
                  <a:srgbClr val="FFFFFF"/>
                </a:solidFill>
                <a:latin typeface="Arial" pitchFamily="34" charset="0"/>
                <a:ea typeface="Arial" pitchFamily="34" charset="-122"/>
                <a:cs typeface="Arial" pitchFamily="34" charset="-120"/>
              </a:rPr>
              <a:t>0W-20, 5W-20, 5W-30, 5W-40 | Full Synthetic</a:t>
            </a:r>
            <a:endParaRPr lang="en-US" sz="800" dirty="0"/>
          </a:p>
        </p:txBody>
      </p:sp>
      <p:sp>
        <p:nvSpPr>
          <p:cNvPr id="10" name="Text 8"/>
          <p:cNvSpPr/>
          <p:nvPr/>
        </p:nvSpPr>
        <p:spPr>
          <a:xfrm>
            <a:off x="355550" y="2177504"/>
            <a:ext cx="2692450" cy="730002"/>
          </a:xfrm>
          <a:prstGeom prst="roundRect">
            <a:avLst>
              <a:gd name="adj" fmla="val 10438"/>
            </a:avLst>
          </a:prstGeom>
          <a:solidFill>
            <a:srgbClr val="00703C"/>
          </a:solidFill>
          <a:ln/>
        </p:spPr>
        <p:txBody>
          <a:bodyPr wrap="square" rtlCol="0" anchor="ctr"/>
          <a:lstStyle/>
          <a:p>
            <a:pPr indent="0" marL="0">
              <a:buNone/>
            </a:pPr>
            <a:endParaRPr lang="en-US" dirty="0"/>
          </a:p>
        </p:txBody>
      </p:sp>
      <p:sp>
        <p:nvSpPr>
          <p:cNvPr id="11" name="Text 9"/>
          <p:cNvSpPr/>
          <p:nvPr/>
        </p:nvSpPr>
        <p:spPr>
          <a:xfrm>
            <a:off x="533251" y="2304455"/>
            <a:ext cx="2383789" cy="114300"/>
          </a:xfrm>
          <a:prstGeom prst="rect">
            <a:avLst/>
          </a:prstGeom>
          <a:noFill/>
          <a:ln/>
        </p:spPr>
        <p:txBody>
          <a:bodyPr wrap="square" lIns="0" tIns="0" rIns="0" bIns="0" rtlCol="0" anchor="t"/>
          <a:lstStyle/>
          <a:p>
            <a:pPr algn="l" indent="0" marL="0">
              <a:spcAft>
                <a:spcPts val="400"/>
              </a:spcAft>
              <a:buNone/>
            </a:pPr>
            <a:r>
              <a:rPr lang="en-US" sz="800" b="1" dirty="0">
                <a:solidFill>
                  <a:srgbClr val="FFFFFF"/>
                </a:solidFill>
                <a:latin typeface="Arial" pitchFamily="34" charset="0"/>
                <a:ea typeface="Arial" pitchFamily="34" charset="-122"/>
                <a:cs typeface="Arial" pitchFamily="34" charset="-120"/>
              </a:rPr>
              <a:t>PREMIUM</a:t>
            </a:r>
            <a:endParaRPr lang="en-US" sz="800" dirty="0"/>
          </a:p>
        </p:txBody>
      </p:sp>
      <p:sp>
        <p:nvSpPr>
          <p:cNvPr id="12" name="Text 10"/>
          <p:cNvSpPr/>
          <p:nvPr/>
        </p:nvSpPr>
        <p:spPr>
          <a:xfrm>
            <a:off x="533251" y="2469505"/>
            <a:ext cx="2383789" cy="171450"/>
          </a:xfrm>
          <a:prstGeom prst="rect">
            <a:avLst/>
          </a:prstGeom>
          <a:noFill/>
          <a:ln/>
        </p:spPr>
        <p:txBody>
          <a:bodyPr wrap="square" lIns="0" tIns="0" rIns="0" bIns="0" rtlCol="0" anchor="t"/>
          <a:lstStyle/>
          <a:p>
            <a:pPr algn="l" indent="0" marL="0">
              <a:spcAft>
                <a:spcPts val="200"/>
              </a:spcAft>
              <a:buNone/>
            </a:pPr>
            <a:r>
              <a:rPr lang="en-US" sz="1200" b="1" dirty="0">
                <a:solidFill>
                  <a:srgbClr val="FFFFFF"/>
                </a:solidFill>
                <a:latin typeface="Arial" pitchFamily="34" charset="0"/>
                <a:ea typeface="Arial" pitchFamily="34" charset="-122"/>
                <a:cs typeface="Arial" pitchFamily="34" charset="-120"/>
              </a:rPr>
              <a:t>Carient FS</a:t>
            </a:r>
            <a:endParaRPr lang="en-US" sz="1200" dirty="0"/>
          </a:p>
        </p:txBody>
      </p:sp>
      <p:sp>
        <p:nvSpPr>
          <p:cNvPr id="13" name="Text 11"/>
          <p:cNvSpPr/>
          <p:nvPr/>
        </p:nvSpPr>
        <p:spPr>
          <a:xfrm>
            <a:off x="533251" y="2666256"/>
            <a:ext cx="2383789" cy="114300"/>
          </a:xfrm>
          <a:prstGeom prst="rect">
            <a:avLst/>
          </a:prstGeom>
          <a:noFill/>
          <a:ln/>
        </p:spPr>
        <p:txBody>
          <a:bodyPr wrap="square" lIns="0" tIns="0" rIns="0" bIns="0" rtlCol="0" anchor="t"/>
          <a:lstStyle/>
          <a:p>
            <a:pPr algn="l" indent="0" marL="0">
              <a:buNone/>
            </a:pPr>
            <a:r>
              <a:rPr lang="en-US" sz="800" dirty="0">
                <a:solidFill>
                  <a:srgbClr val="FFFFFF"/>
                </a:solidFill>
                <a:latin typeface="Arial" pitchFamily="34" charset="0"/>
                <a:ea typeface="Arial" pitchFamily="34" charset="-122"/>
                <a:cs typeface="Arial" pitchFamily="34" charset="-120"/>
              </a:rPr>
              <a:t>5W-30, 5W-40, 10W-40 | Semi-Synthetic</a:t>
            </a:r>
            <a:endParaRPr lang="en-US" sz="800" dirty="0"/>
          </a:p>
        </p:txBody>
      </p:sp>
      <p:sp>
        <p:nvSpPr>
          <p:cNvPr id="14" name="Text 12"/>
          <p:cNvSpPr/>
          <p:nvPr/>
        </p:nvSpPr>
        <p:spPr>
          <a:xfrm>
            <a:off x="355550" y="3034457"/>
            <a:ext cx="2692450" cy="749052"/>
          </a:xfrm>
          <a:prstGeom prst="roundRect">
            <a:avLst>
              <a:gd name="adj" fmla="val 10173"/>
            </a:avLst>
          </a:prstGeom>
          <a:solidFill>
            <a:srgbClr val="E8F5EE"/>
          </a:solidFill>
          <a:ln w="9525">
            <a:solidFill>
              <a:srgbClr val="00703C"/>
            </a:solidFill>
          </a:ln>
        </p:spPr>
        <p:txBody>
          <a:bodyPr wrap="square" rtlCol="0" anchor="ctr"/>
          <a:lstStyle/>
          <a:p>
            <a:pPr indent="0" marL="0">
              <a:buNone/>
            </a:pPr>
            <a:endParaRPr lang="en-US" dirty="0"/>
          </a:p>
        </p:txBody>
      </p:sp>
      <p:sp>
        <p:nvSpPr>
          <p:cNvPr id="15" name="Text 13"/>
          <p:cNvSpPr/>
          <p:nvPr/>
        </p:nvSpPr>
        <p:spPr>
          <a:xfrm>
            <a:off x="542776" y="3170932"/>
            <a:ext cx="2364358" cy="114300"/>
          </a:xfrm>
          <a:prstGeom prst="rect">
            <a:avLst/>
          </a:prstGeom>
          <a:noFill/>
          <a:ln/>
        </p:spPr>
        <p:txBody>
          <a:bodyPr wrap="square" lIns="0" tIns="0" rIns="0" bIns="0" rtlCol="0" anchor="t"/>
          <a:lstStyle/>
          <a:p>
            <a:pPr algn="l" indent="0" marL="0">
              <a:spcAft>
                <a:spcPts val="400"/>
              </a:spcAft>
              <a:buNone/>
            </a:pPr>
            <a:r>
              <a:rPr lang="en-US" sz="800" b="1" dirty="0">
                <a:solidFill>
                  <a:srgbClr val="023520"/>
                </a:solidFill>
                <a:latin typeface="Arial" pitchFamily="34" charset="0"/>
                <a:ea typeface="Arial" pitchFamily="34" charset="-122"/>
                <a:cs typeface="Arial" pitchFamily="34" charset="-120"/>
              </a:rPr>
              <a:t>MAINSTREAM</a:t>
            </a:r>
            <a:endParaRPr lang="en-US" sz="800" dirty="0"/>
          </a:p>
        </p:txBody>
      </p:sp>
      <p:sp>
        <p:nvSpPr>
          <p:cNvPr id="16" name="Text 14"/>
          <p:cNvSpPr/>
          <p:nvPr/>
        </p:nvSpPr>
        <p:spPr>
          <a:xfrm>
            <a:off x="542776" y="3335982"/>
            <a:ext cx="2364358" cy="171450"/>
          </a:xfrm>
          <a:prstGeom prst="rect">
            <a:avLst/>
          </a:prstGeom>
          <a:noFill/>
          <a:ln/>
        </p:spPr>
        <p:txBody>
          <a:bodyPr wrap="square" lIns="0" tIns="0" rIns="0" bIns="0" rtlCol="0" anchor="t"/>
          <a:lstStyle/>
          <a:p>
            <a:pPr algn="l" indent="0" marL="0">
              <a:spcAft>
                <a:spcPts val="200"/>
              </a:spcAft>
              <a:buNone/>
            </a:pPr>
            <a:r>
              <a:rPr lang="en-US" sz="1200" b="1" dirty="0">
                <a:solidFill>
                  <a:srgbClr val="023520"/>
                </a:solidFill>
                <a:latin typeface="Arial" pitchFamily="34" charset="0"/>
                <a:ea typeface="Arial" pitchFamily="34" charset="-122"/>
                <a:cs typeface="Arial" pitchFamily="34" charset="-120"/>
              </a:rPr>
              <a:t>Carient Plus</a:t>
            </a:r>
            <a:endParaRPr lang="en-US" sz="1200" dirty="0"/>
          </a:p>
        </p:txBody>
      </p:sp>
      <p:sp>
        <p:nvSpPr>
          <p:cNvPr id="17" name="Text 15"/>
          <p:cNvSpPr/>
          <p:nvPr/>
        </p:nvSpPr>
        <p:spPr>
          <a:xfrm>
            <a:off x="542776" y="3532733"/>
            <a:ext cx="2364358" cy="114300"/>
          </a:xfrm>
          <a:prstGeom prst="rect">
            <a:avLst/>
          </a:prstGeom>
          <a:noFill/>
          <a:ln/>
        </p:spPr>
        <p:txBody>
          <a:bodyPr wrap="square" lIns="0" tIns="0" rIns="0" bIns="0" rtlCol="0" anchor="t"/>
          <a:lstStyle/>
          <a:p>
            <a:pPr algn="l" indent="0" marL="0">
              <a:buNone/>
            </a:pPr>
            <a:r>
              <a:rPr lang="en-US" sz="800" dirty="0">
                <a:solidFill>
                  <a:srgbClr val="023520"/>
                </a:solidFill>
                <a:latin typeface="Arial" pitchFamily="34" charset="0"/>
                <a:ea typeface="Arial" pitchFamily="34" charset="-122"/>
                <a:cs typeface="Arial" pitchFamily="34" charset="-120"/>
              </a:rPr>
              <a:t>10W-40, 15W-40, 20W-50 | Mineral</a:t>
            </a:r>
            <a:endParaRPr lang="en-US" sz="800" dirty="0"/>
          </a:p>
        </p:txBody>
      </p:sp>
      <p:sp>
        <p:nvSpPr>
          <p:cNvPr id="18" name="Text 16"/>
          <p:cNvSpPr/>
          <p:nvPr/>
        </p:nvSpPr>
        <p:spPr>
          <a:xfrm>
            <a:off x="355550" y="3910459"/>
            <a:ext cx="2692450" cy="749052"/>
          </a:xfrm>
          <a:prstGeom prst="roundRect">
            <a:avLst>
              <a:gd name="adj" fmla="val 10173"/>
            </a:avLst>
          </a:prstGeom>
          <a:solidFill>
            <a:srgbClr val="F5F5F5"/>
          </a:solidFill>
          <a:ln w="9525">
            <a:solidFill>
              <a:srgbClr val="AAAAAA"/>
            </a:solidFill>
          </a:ln>
        </p:spPr>
        <p:txBody>
          <a:bodyPr wrap="square" rtlCol="0" anchor="ctr"/>
          <a:lstStyle/>
          <a:p>
            <a:pPr indent="0" marL="0">
              <a:buNone/>
            </a:pPr>
            <a:endParaRPr lang="en-US" dirty="0"/>
          </a:p>
        </p:txBody>
      </p:sp>
      <p:sp>
        <p:nvSpPr>
          <p:cNvPr id="19" name="Text 17"/>
          <p:cNvSpPr/>
          <p:nvPr/>
        </p:nvSpPr>
        <p:spPr>
          <a:xfrm>
            <a:off x="542776" y="4046934"/>
            <a:ext cx="2364358" cy="114300"/>
          </a:xfrm>
          <a:prstGeom prst="rect">
            <a:avLst/>
          </a:prstGeom>
          <a:noFill/>
          <a:ln/>
        </p:spPr>
        <p:txBody>
          <a:bodyPr wrap="square" lIns="0" tIns="0" rIns="0" bIns="0" rtlCol="0" anchor="t"/>
          <a:lstStyle/>
          <a:p>
            <a:pPr algn="l" indent="0" marL="0">
              <a:spcAft>
                <a:spcPts val="400"/>
              </a:spcAft>
              <a:buNone/>
            </a:pPr>
            <a:r>
              <a:rPr lang="en-US" sz="800" b="1" dirty="0">
                <a:solidFill>
                  <a:srgbClr val="333333"/>
                </a:solidFill>
                <a:latin typeface="Arial" pitchFamily="34" charset="0"/>
                <a:ea typeface="Arial" pitchFamily="34" charset="-122"/>
                <a:cs typeface="Arial" pitchFamily="34" charset="-120"/>
              </a:rPr>
              <a:t>ECONOMY</a:t>
            </a:r>
            <a:endParaRPr lang="en-US" sz="800" dirty="0"/>
          </a:p>
        </p:txBody>
      </p:sp>
      <p:sp>
        <p:nvSpPr>
          <p:cNvPr id="20" name="Text 18"/>
          <p:cNvSpPr/>
          <p:nvPr/>
        </p:nvSpPr>
        <p:spPr>
          <a:xfrm>
            <a:off x="542776" y="4211985"/>
            <a:ext cx="2364358" cy="171450"/>
          </a:xfrm>
          <a:prstGeom prst="rect">
            <a:avLst/>
          </a:prstGeom>
          <a:noFill/>
          <a:ln/>
        </p:spPr>
        <p:txBody>
          <a:bodyPr wrap="square" lIns="0" tIns="0" rIns="0" bIns="0" rtlCol="0" anchor="t"/>
          <a:lstStyle/>
          <a:p>
            <a:pPr algn="l" indent="0" marL="0">
              <a:spcAft>
                <a:spcPts val="200"/>
              </a:spcAft>
              <a:buNone/>
            </a:pPr>
            <a:r>
              <a:rPr lang="en-US" sz="1200" b="1" dirty="0">
                <a:solidFill>
                  <a:srgbClr val="333333"/>
                </a:solidFill>
                <a:latin typeface="Arial" pitchFamily="34" charset="0"/>
                <a:ea typeface="Arial" pitchFamily="34" charset="-122"/>
                <a:cs typeface="Arial" pitchFamily="34" charset="-120"/>
              </a:rPr>
              <a:t>Carient SPRO</a:t>
            </a:r>
            <a:endParaRPr lang="en-US" sz="1200" dirty="0"/>
          </a:p>
        </p:txBody>
      </p:sp>
      <p:sp>
        <p:nvSpPr>
          <p:cNvPr id="21" name="Text 19"/>
          <p:cNvSpPr/>
          <p:nvPr/>
        </p:nvSpPr>
        <p:spPr>
          <a:xfrm>
            <a:off x="542776" y="4408736"/>
            <a:ext cx="2364358" cy="114300"/>
          </a:xfrm>
          <a:prstGeom prst="rect">
            <a:avLst/>
          </a:prstGeom>
          <a:noFill/>
          <a:ln/>
        </p:spPr>
        <p:txBody>
          <a:bodyPr wrap="square" lIns="0" tIns="0" rIns="0" bIns="0" rtlCol="0" anchor="t"/>
          <a:lstStyle/>
          <a:p>
            <a:pPr algn="l" indent="0" marL="0">
              <a:buNone/>
            </a:pPr>
            <a:r>
              <a:rPr lang="en-US" sz="800" dirty="0">
                <a:solidFill>
                  <a:srgbClr val="333333"/>
                </a:solidFill>
                <a:latin typeface="Arial" pitchFamily="34" charset="0"/>
                <a:ea typeface="Arial" pitchFamily="34" charset="-122"/>
                <a:cs typeface="Arial" pitchFamily="34" charset="-120"/>
              </a:rPr>
              <a:t>15W-40, 20W-50 | Mineral</a:t>
            </a:r>
            <a:endParaRPr lang="en-US" sz="800" dirty="0"/>
          </a:p>
        </p:txBody>
      </p:sp>
      <p:sp>
        <p:nvSpPr>
          <p:cNvPr id="22" name="Text 20"/>
          <p:cNvSpPr/>
          <p:nvPr/>
        </p:nvSpPr>
        <p:spPr>
          <a:xfrm>
            <a:off x="3225701" y="984052"/>
            <a:ext cx="2746450" cy="133350"/>
          </a:xfrm>
          <a:prstGeom prst="rect">
            <a:avLst/>
          </a:prstGeom>
          <a:noFill/>
          <a:ln/>
        </p:spPr>
        <p:txBody>
          <a:bodyPr wrap="square" lIns="0" tIns="0" rIns="0" bIns="0" rtlCol="0" anchor="t"/>
          <a:lstStyle/>
          <a:p>
            <a:pPr algn="l" indent="0" marL="0">
              <a:spcAft>
                <a:spcPts val="600"/>
              </a:spcAft>
              <a:buNone/>
            </a:pPr>
            <a:r>
              <a:rPr lang="en-US" sz="900" b="1" dirty="0">
                <a:solidFill>
                  <a:srgbClr val="555555"/>
                </a:solidFill>
                <a:latin typeface="Arial" pitchFamily="34" charset="0"/>
                <a:ea typeface="Arial" pitchFamily="34" charset="-122"/>
                <a:cs typeface="Arial" pitchFamily="34" charset="-120"/>
              </a:rPr>
              <a:t>DIESEL ENGINE (HDEO)</a:t>
            </a:r>
            <a:endParaRPr lang="en-US" sz="900" dirty="0"/>
          </a:p>
        </p:txBody>
      </p:sp>
      <p:sp>
        <p:nvSpPr>
          <p:cNvPr id="23" name="Text 21"/>
          <p:cNvSpPr/>
          <p:nvPr/>
        </p:nvSpPr>
        <p:spPr>
          <a:xfrm>
            <a:off x="3225701" y="1320552"/>
            <a:ext cx="2692598" cy="730002"/>
          </a:xfrm>
          <a:prstGeom prst="roundRect">
            <a:avLst>
              <a:gd name="adj" fmla="val 10438"/>
            </a:avLst>
          </a:prstGeom>
          <a:solidFill>
            <a:srgbClr val="023520"/>
          </a:solidFill>
          <a:ln/>
        </p:spPr>
        <p:txBody>
          <a:bodyPr wrap="square" rtlCol="0" anchor="ctr"/>
          <a:lstStyle/>
          <a:p>
            <a:pPr indent="0" marL="0">
              <a:buNone/>
            </a:pPr>
            <a:endParaRPr lang="en-US" dirty="0"/>
          </a:p>
        </p:txBody>
      </p:sp>
      <p:sp>
        <p:nvSpPr>
          <p:cNvPr id="24" name="Text 22"/>
          <p:cNvSpPr/>
          <p:nvPr/>
        </p:nvSpPr>
        <p:spPr>
          <a:xfrm>
            <a:off x="3403402" y="1447502"/>
            <a:ext cx="2383941" cy="114300"/>
          </a:xfrm>
          <a:prstGeom prst="rect">
            <a:avLst/>
          </a:prstGeom>
          <a:noFill/>
          <a:ln/>
        </p:spPr>
        <p:txBody>
          <a:bodyPr wrap="square" lIns="0" tIns="0" rIns="0" bIns="0" rtlCol="0" anchor="t"/>
          <a:lstStyle/>
          <a:p>
            <a:pPr algn="l" indent="0" marL="0">
              <a:spcAft>
                <a:spcPts val="400"/>
              </a:spcAft>
              <a:buNone/>
            </a:pPr>
            <a:r>
              <a:rPr lang="en-US" sz="800" b="1" dirty="0">
                <a:solidFill>
                  <a:srgbClr val="FFFFFF"/>
                </a:solidFill>
                <a:latin typeface="Arial" pitchFamily="34" charset="0"/>
                <a:ea typeface="Arial" pitchFamily="34" charset="-122"/>
                <a:cs typeface="Arial" pitchFamily="34" charset="-120"/>
              </a:rPr>
              <a:t>SUPER PREMIUM</a:t>
            </a:r>
            <a:endParaRPr lang="en-US" sz="800" dirty="0"/>
          </a:p>
        </p:txBody>
      </p:sp>
      <p:sp>
        <p:nvSpPr>
          <p:cNvPr id="25" name="Text 23"/>
          <p:cNvSpPr/>
          <p:nvPr/>
        </p:nvSpPr>
        <p:spPr>
          <a:xfrm>
            <a:off x="3403402" y="1612553"/>
            <a:ext cx="2383941" cy="171450"/>
          </a:xfrm>
          <a:prstGeom prst="rect">
            <a:avLst/>
          </a:prstGeom>
          <a:noFill/>
          <a:ln/>
        </p:spPr>
        <p:txBody>
          <a:bodyPr wrap="square" lIns="0" tIns="0" rIns="0" bIns="0" rtlCol="0" anchor="t"/>
          <a:lstStyle/>
          <a:p>
            <a:pPr algn="l" indent="0" marL="0">
              <a:spcAft>
                <a:spcPts val="200"/>
              </a:spcAft>
              <a:buNone/>
            </a:pPr>
            <a:r>
              <a:rPr lang="en-US" sz="1200" b="1" dirty="0">
                <a:solidFill>
                  <a:srgbClr val="FFFFFF"/>
                </a:solidFill>
                <a:latin typeface="Arial" pitchFamily="34" charset="0"/>
                <a:ea typeface="Arial" pitchFamily="34" charset="-122"/>
                <a:cs typeface="Arial" pitchFamily="34" charset="-120"/>
              </a:rPr>
              <a:t>DEO Max / DEO 8000</a:t>
            </a:r>
            <a:endParaRPr lang="en-US" sz="1200" dirty="0"/>
          </a:p>
        </p:txBody>
      </p:sp>
      <p:sp>
        <p:nvSpPr>
          <p:cNvPr id="26" name="Text 24"/>
          <p:cNvSpPr/>
          <p:nvPr/>
        </p:nvSpPr>
        <p:spPr>
          <a:xfrm>
            <a:off x="3403402" y="1809304"/>
            <a:ext cx="2383941" cy="114300"/>
          </a:xfrm>
          <a:prstGeom prst="rect">
            <a:avLst/>
          </a:prstGeom>
          <a:noFill/>
          <a:ln/>
        </p:spPr>
        <p:txBody>
          <a:bodyPr wrap="square" lIns="0" tIns="0" rIns="0" bIns="0" rtlCol="0" anchor="t"/>
          <a:lstStyle/>
          <a:p>
            <a:pPr algn="l" indent="0" marL="0">
              <a:buNone/>
            </a:pPr>
            <a:r>
              <a:rPr lang="en-US" sz="800" dirty="0">
                <a:solidFill>
                  <a:srgbClr val="FFFFFF"/>
                </a:solidFill>
                <a:latin typeface="Arial" pitchFamily="34" charset="0"/>
                <a:ea typeface="Arial" pitchFamily="34" charset="-122"/>
                <a:cs typeface="Arial" pitchFamily="34" charset="-120"/>
              </a:rPr>
              <a:t>10W-40, 15W-40 | Heavy-duty Diesel</a:t>
            </a:r>
            <a:endParaRPr lang="en-US" sz="800" dirty="0"/>
          </a:p>
        </p:txBody>
      </p:sp>
      <p:sp>
        <p:nvSpPr>
          <p:cNvPr id="27" name="Text 25"/>
          <p:cNvSpPr/>
          <p:nvPr/>
        </p:nvSpPr>
        <p:spPr>
          <a:xfrm>
            <a:off x="3225701" y="2177504"/>
            <a:ext cx="2692598" cy="730002"/>
          </a:xfrm>
          <a:prstGeom prst="roundRect">
            <a:avLst>
              <a:gd name="adj" fmla="val 10438"/>
            </a:avLst>
          </a:prstGeom>
          <a:solidFill>
            <a:srgbClr val="00703C"/>
          </a:solidFill>
          <a:ln/>
        </p:spPr>
        <p:txBody>
          <a:bodyPr wrap="square" rtlCol="0" anchor="ctr"/>
          <a:lstStyle/>
          <a:p>
            <a:pPr indent="0" marL="0">
              <a:buNone/>
            </a:pPr>
            <a:endParaRPr lang="en-US" dirty="0"/>
          </a:p>
        </p:txBody>
      </p:sp>
      <p:sp>
        <p:nvSpPr>
          <p:cNvPr id="28" name="Text 26"/>
          <p:cNvSpPr/>
          <p:nvPr/>
        </p:nvSpPr>
        <p:spPr>
          <a:xfrm>
            <a:off x="3403402" y="2304455"/>
            <a:ext cx="2383941" cy="114300"/>
          </a:xfrm>
          <a:prstGeom prst="rect">
            <a:avLst/>
          </a:prstGeom>
          <a:noFill/>
          <a:ln/>
        </p:spPr>
        <p:txBody>
          <a:bodyPr wrap="square" lIns="0" tIns="0" rIns="0" bIns="0" rtlCol="0" anchor="t"/>
          <a:lstStyle/>
          <a:p>
            <a:pPr algn="l" indent="0" marL="0">
              <a:spcAft>
                <a:spcPts val="400"/>
              </a:spcAft>
              <a:buNone/>
            </a:pPr>
            <a:r>
              <a:rPr lang="en-US" sz="800" b="1" dirty="0">
                <a:solidFill>
                  <a:srgbClr val="FFFFFF"/>
                </a:solidFill>
                <a:latin typeface="Arial" pitchFamily="34" charset="0"/>
                <a:ea typeface="Arial" pitchFamily="34" charset="-122"/>
                <a:cs typeface="Arial" pitchFamily="34" charset="-120"/>
              </a:rPr>
              <a:t>PREMIUM</a:t>
            </a:r>
            <a:endParaRPr lang="en-US" sz="800" dirty="0"/>
          </a:p>
        </p:txBody>
      </p:sp>
      <p:sp>
        <p:nvSpPr>
          <p:cNvPr id="29" name="Text 27"/>
          <p:cNvSpPr/>
          <p:nvPr/>
        </p:nvSpPr>
        <p:spPr>
          <a:xfrm>
            <a:off x="3403402" y="2469505"/>
            <a:ext cx="2383941" cy="171450"/>
          </a:xfrm>
          <a:prstGeom prst="rect">
            <a:avLst/>
          </a:prstGeom>
          <a:noFill/>
          <a:ln/>
        </p:spPr>
        <p:txBody>
          <a:bodyPr wrap="square" lIns="0" tIns="0" rIns="0" bIns="0" rtlCol="0" anchor="t"/>
          <a:lstStyle/>
          <a:p>
            <a:pPr algn="l" indent="0" marL="0">
              <a:spcAft>
                <a:spcPts val="200"/>
              </a:spcAft>
              <a:buNone/>
            </a:pPr>
            <a:r>
              <a:rPr lang="en-US" sz="1200" b="1" dirty="0">
                <a:solidFill>
                  <a:srgbClr val="FFFFFF"/>
                </a:solidFill>
                <a:latin typeface="Arial" pitchFamily="34" charset="0"/>
                <a:ea typeface="Arial" pitchFamily="34" charset="-122"/>
                <a:cs typeface="Arial" pitchFamily="34" charset="-120"/>
              </a:rPr>
              <a:t>DEO 6000</a:t>
            </a:r>
            <a:endParaRPr lang="en-US" sz="1200" dirty="0"/>
          </a:p>
        </p:txBody>
      </p:sp>
      <p:sp>
        <p:nvSpPr>
          <p:cNvPr id="30" name="Text 28"/>
          <p:cNvSpPr/>
          <p:nvPr/>
        </p:nvSpPr>
        <p:spPr>
          <a:xfrm>
            <a:off x="3403402" y="2666256"/>
            <a:ext cx="2383941" cy="114300"/>
          </a:xfrm>
          <a:prstGeom prst="rect">
            <a:avLst/>
          </a:prstGeom>
          <a:noFill/>
          <a:ln/>
        </p:spPr>
        <p:txBody>
          <a:bodyPr wrap="square" lIns="0" tIns="0" rIns="0" bIns="0" rtlCol="0" anchor="t"/>
          <a:lstStyle/>
          <a:p>
            <a:pPr algn="l" indent="0" marL="0">
              <a:buNone/>
            </a:pPr>
            <a:r>
              <a:rPr lang="en-US" sz="800" dirty="0">
                <a:solidFill>
                  <a:srgbClr val="FFFFFF"/>
                </a:solidFill>
                <a:latin typeface="Arial" pitchFamily="34" charset="0"/>
                <a:ea typeface="Arial" pitchFamily="34" charset="-122"/>
                <a:cs typeface="Arial" pitchFamily="34" charset="-120"/>
              </a:rPr>
              <a:t>15W-40 | Commercial Fleet</a:t>
            </a:r>
            <a:endParaRPr lang="en-US" sz="800" dirty="0"/>
          </a:p>
        </p:txBody>
      </p:sp>
      <p:sp>
        <p:nvSpPr>
          <p:cNvPr id="31" name="Text 29"/>
          <p:cNvSpPr/>
          <p:nvPr/>
        </p:nvSpPr>
        <p:spPr>
          <a:xfrm>
            <a:off x="3225701" y="3034457"/>
            <a:ext cx="2692598" cy="749052"/>
          </a:xfrm>
          <a:prstGeom prst="roundRect">
            <a:avLst>
              <a:gd name="adj" fmla="val 10173"/>
            </a:avLst>
          </a:prstGeom>
          <a:solidFill>
            <a:srgbClr val="E8F5EE"/>
          </a:solidFill>
          <a:ln w="9525">
            <a:solidFill>
              <a:srgbClr val="00703C"/>
            </a:solidFill>
          </a:ln>
        </p:spPr>
        <p:txBody>
          <a:bodyPr wrap="square" rtlCol="0" anchor="ctr"/>
          <a:lstStyle/>
          <a:p>
            <a:pPr indent="0" marL="0">
              <a:buNone/>
            </a:pPr>
            <a:endParaRPr lang="en-US" dirty="0"/>
          </a:p>
        </p:txBody>
      </p:sp>
      <p:sp>
        <p:nvSpPr>
          <p:cNvPr id="32" name="Text 30"/>
          <p:cNvSpPr/>
          <p:nvPr/>
        </p:nvSpPr>
        <p:spPr>
          <a:xfrm>
            <a:off x="3412927" y="3170932"/>
            <a:ext cx="2364510" cy="114300"/>
          </a:xfrm>
          <a:prstGeom prst="rect">
            <a:avLst/>
          </a:prstGeom>
          <a:noFill/>
          <a:ln/>
        </p:spPr>
        <p:txBody>
          <a:bodyPr wrap="square" lIns="0" tIns="0" rIns="0" bIns="0" rtlCol="0" anchor="t"/>
          <a:lstStyle/>
          <a:p>
            <a:pPr algn="l" indent="0" marL="0">
              <a:spcAft>
                <a:spcPts val="400"/>
              </a:spcAft>
              <a:buNone/>
            </a:pPr>
            <a:r>
              <a:rPr lang="en-US" sz="800" b="1" dirty="0">
                <a:solidFill>
                  <a:srgbClr val="023520"/>
                </a:solidFill>
                <a:latin typeface="Arial" pitchFamily="34" charset="0"/>
                <a:ea typeface="Arial" pitchFamily="34" charset="-122"/>
                <a:cs typeface="Arial" pitchFamily="34" charset="-120"/>
              </a:rPr>
              <a:t>MAINSTREAM</a:t>
            </a:r>
            <a:endParaRPr lang="en-US" sz="800" dirty="0"/>
          </a:p>
        </p:txBody>
      </p:sp>
      <p:sp>
        <p:nvSpPr>
          <p:cNvPr id="33" name="Text 31"/>
          <p:cNvSpPr/>
          <p:nvPr/>
        </p:nvSpPr>
        <p:spPr>
          <a:xfrm>
            <a:off x="3412927" y="3335982"/>
            <a:ext cx="2364510" cy="171450"/>
          </a:xfrm>
          <a:prstGeom prst="rect">
            <a:avLst/>
          </a:prstGeom>
          <a:noFill/>
          <a:ln/>
        </p:spPr>
        <p:txBody>
          <a:bodyPr wrap="square" lIns="0" tIns="0" rIns="0" bIns="0" rtlCol="0" anchor="t"/>
          <a:lstStyle/>
          <a:p>
            <a:pPr algn="l" indent="0" marL="0">
              <a:spcAft>
                <a:spcPts val="200"/>
              </a:spcAft>
              <a:buNone/>
            </a:pPr>
            <a:r>
              <a:rPr lang="en-US" sz="1200" b="1" dirty="0">
                <a:solidFill>
                  <a:srgbClr val="023520"/>
                </a:solidFill>
                <a:latin typeface="Arial" pitchFamily="34" charset="0"/>
                <a:ea typeface="Arial" pitchFamily="34" charset="-122"/>
                <a:cs typeface="Arial" pitchFamily="34" charset="-120"/>
              </a:rPr>
              <a:t>DEO 3000</a:t>
            </a:r>
            <a:endParaRPr lang="en-US" sz="1200" dirty="0"/>
          </a:p>
        </p:txBody>
      </p:sp>
      <p:sp>
        <p:nvSpPr>
          <p:cNvPr id="34" name="Text 32"/>
          <p:cNvSpPr/>
          <p:nvPr/>
        </p:nvSpPr>
        <p:spPr>
          <a:xfrm>
            <a:off x="3412927" y="3532733"/>
            <a:ext cx="2364510" cy="114300"/>
          </a:xfrm>
          <a:prstGeom prst="rect">
            <a:avLst/>
          </a:prstGeom>
          <a:noFill/>
          <a:ln/>
        </p:spPr>
        <p:txBody>
          <a:bodyPr wrap="square" lIns="0" tIns="0" rIns="0" bIns="0" rtlCol="0" anchor="t"/>
          <a:lstStyle/>
          <a:p>
            <a:pPr algn="l" indent="0" marL="0">
              <a:buNone/>
            </a:pPr>
            <a:r>
              <a:rPr lang="en-US" sz="800" dirty="0">
                <a:solidFill>
                  <a:srgbClr val="023520"/>
                </a:solidFill>
                <a:latin typeface="Arial" pitchFamily="34" charset="0"/>
                <a:ea typeface="Arial" pitchFamily="34" charset="-122"/>
                <a:cs typeface="Arial" pitchFamily="34" charset="-120"/>
              </a:rPr>
              <a:t>15W-40, 20W-50 | Light Trucks</a:t>
            </a:r>
            <a:endParaRPr lang="en-US" sz="800" dirty="0"/>
          </a:p>
        </p:txBody>
      </p:sp>
      <p:sp>
        <p:nvSpPr>
          <p:cNvPr id="35" name="Text 33"/>
          <p:cNvSpPr/>
          <p:nvPr/>
        </p:nvSpPr>
        <p:spPr>
          <a:xfrm>
            <a:off x="3225701" y="3910459"/>
            <a:ext cx="2692598" cy="749052"/>
          </a:xfrm>
          <a:prstGeom prst="roundRect">
            <a:avLst>
              <a:gd name="adj" fmla="val 10173"/>
            </a:avLst>
          </a:prstGeom>
          <a:solidFill>
            <a:srgbClr val="F5F5F5"/>
          </a:solidFill>
          <a:ln w="9525">
            <a:solidFill>
              <a:srgbClr val="AAAAAA"/>
            </a:solidFill>
          </a:ln>
        </p:spPr>
        <p:txBody>
          <a:bodyPr wrap="square" rtlCol="0" anchor="ctr"/>
          <a:lstStyle/>
          <a:p>
            <a:pPr indent="0" marL="0">
              <a:buNone/>
            </a:pPr>
            <a:endParaRPr lang="en-US" dirty="0"/>
          </a:p>
        </p:txBody>
      </p:sp>
      <p:sp>
        <p:nvSpPr>
          <p:cNvPr id="36" name="Text 34"/>
          <p:cNvSpPr/>
          <p:nvPr/>
        </p:nvSpPr>
        <p:spPr>
          <a:xfrm>
            <a:off x="3412927" y="4046934"/>
            <a:ext cx="2364510" cy="114300"/>
          </a:xfrm>
          <a:prstGeom prst="rect">
            <a:avLst/>
          </a:prstGeom>
          <a:noFill/>
          <a:ln/>
        </p:spPr>
        <p:txBody>
          <a:bodyPr wrap="square" lIns="0" tIns="0" rIns="0" bIns="0" rtlCol="0" anchor="t"/>
          <a:lstStyle/>
          <a:p>
            <a:pPr algn="l" indent="0" marL="0">
              <a:spcAft>
                <a:spcPts val="400"/>
              </a:spcAft>
              <a:buNone/>
            </a:pPr>
            <a:r>
              <a:rPr lang="en-US" sz="800" b="1" dirty="0">
                <a:solidFill>
                  <a:srgbClr val="333333"/>
                </a:solidFill>
                <a:latin typeface="Arial" pitchFamily="34" charset="0"/>
                <a:ea typeface="Arial" pitchFamily="34" charset="-122"/>
                <a:cs typeface="Arial" pitchFamily="34" charset="-120"/>
              </a:rPr>
              <a:t>ECONOMY</a:t>
            </a:r>
            <a:endParaRPr lang="en-US" sz="800" dirty="0"/>
          </a:p>
        </p:txBody>
      </p:sp>
      <p:sp>
        <p:nvSpPr>
          <p:cNvPr id="37" name="Text 35"/>
          <p:cNvSpPr/>
          <p:nvPr/>
        </p:nvSpPr>
        <p:spPr>
          <a:xfrm>
            <a:off x="3412927" y="4211985"/>
            <a:ext cx="2364510" cy="171450"/>
          </a:xfrm>
          <a:prstGeom prst="rect">
            <a:avLst/>
          </a:prstGeom>
          <a:noFill/>
          <a:ln/>
        </p:spPr>
        <p:txBody>
          <a:bodyPr wrap="square" lIns="0" tIns="0" rIns="0" bIns="0" rtlCol="0" anchor="t"/>
          <a:lstStyle/>
          <a:p>
            <a:pPr algn="l" indent="0" marL="0">
              <a:spcAft>
                <a:spcPts val="200"/>
              </a:spcAft>
              <a:buNone/>
            </a:pPr>
            <a:r>
              <a:rPr lang="en-US" sz="1200" b="1" dirty="0">
                <a:solidFill>
                  <a:srgbClr val="333333"/>
                </a:solidFill>
                <a:latin typeface="Arial" pitchFamily="34" charset="0"/>
                <a:ea typeface="Arial" pitchFamily="34" charset="-122"/>
                <a:cs typeface="Arial" pitchFamily="34" charset="-120"/>
              </a:rPr>
              <a:t>Dieselube</a:t>
            </a:r>
            <a:endParaRPr lang="en-US" sz="1200" dirty="0"/>
          </a:p>
        </p:txBody>
      </p:sp>
      <p:sp>
        <p:nvSpPr>
          <p:cNvPr id="38" name="Text 36"/>
          <p:cNvSpPr/>
          <p:nvPr/>
        </p:nvSpPr>
        <p:spPr>
          <a:xfrm>
            <a:off x="3412927" y="4408736"/>
            <a:ext cx="2364510" cy="114300"/>
          </a:xfrm>
          <a:prstGeom prst="rect">
            <a:avLst/>
          </a:prstGeom>
          <a:noFill/>
          <a:ln/>
        </p:spPr>
        <p:txBody>
          <a:bodyPr wrap="square" lIns="0" tIns="0" rIns="0" bIns="0" rtlCol="0" anchor="t"/>
          <a:lstStyle/>
          <a:p>
            <a:pPr algn="l" indent="0" marL="0">
              <a:buNone/>
            </a:pPr>
            <a:r>
              <a:rPr lang="en-US" sz="800" dirty="0">
                <a:solidFill>
                  <a:srgbClr val="333333"/>
                </a:solidFill>
                <a:latin typeface="Arial" pitchFamily="34" charset="0"/>
                <a:ea typeface="Arial" pitchFamily="34" charset="-122"/>
                <a:cs typeface="Arial" pitchFamily="34" charset="-120"/>
              </a:rPr>
              <a:t>15W-40, 20W-50 | Value Segment</a:t>
            </a:r>
            <a:endParaRPr lang="en-US" sz="800" dirty="0"/>
          </a:p>
        </p:txBody>
      </p:sp>
      <p:sp>
        <p:nvSpPr>
          <p:cNvPr id="39" name="Text 37"/>
          <p:cNvSpPr/>
          <p:nvPr/>
        </p:nvSpPr>
        <p:spPr>
          <a:xfrm>
            <a:off x="6096000" y="984052"/>
            <a:ext cx="2746299" cy="133350"/>
          </a:xfrm>
          <a:prstGeom prst="rect">
            <a:avLst/>
          </a:prstGeom>
          <a:noFill/>
          <a:ln/>
        </p:spPr>
        <p:txBody>
          <a:bodyPr wrap="square" lIns="0" tIns="0" rIns="0" bIns="0" rtlCol="0" anchor="t"/>
          <a:lstStyle/>
          <a:p>
            <a:pPr algn="l" indent="0" marL="0">
              <a:spcAft>
                <a:spcPts val="600"/>
              </a:spcAft>
              <a:buNone/>
            </a:pPr>
            <a:r>
              <a:rPr lang="en-US" sz="900" b="1" dirty="0">
                <a:solidFill>
                  <a:srgbClr val="555555"/>
                </a:solidFill>
                <a:latin typeface="Arial" pitchFamily="34" charset="0"/>
                <a:ea typeface="Arial" pitchFamily="34" charset="-122"/>
                <a:cs typeface="Arial" pitchFamily="34" charset="-120"/>
              </a:rPr>
              <a:t>MOTORCYCLE (MCO)</a:t>
            </a:r>
            <a:endParaRPr lang="en-US" sz="900" dirty="0"/>
          </a:p>
        </p:txBody>
      </p:sp>
      <p:sp>
        <p:nvSpPr>
          <p:cNvPr id="40" name="Text 38"/>
          <p:cNvSpPr/>
          <p:nvPr/>
        </p:nvSpPr>
        <p:spPr>
          <a:xfrm>
            <a:off x="6096000" y="1320552"/>
            <a:ext cx="2692450" cy="730002"/>
          </a:xfrm>
          <a:prstGeom prst="roundRect">
            <a:avLst>
              <a:gd name="adj" fmla="val 10438"/>
            </a:avLst>
          </a:prstGeom>
          <a:solidFill>
            <a:srgbClr val="00703C"/>
          </a:solidFill>
          <a:ln/>
        </p:spPr>
        <p:txBody>
          <a:bodyPr wrap="square" rtlCol="0" anchor="ctr"/>
          <a:lstStyle/>
          <a:p>
            <a:pPr indent="0" marL="0">
              <a:buNone/>
            </a:pPr>
            <a:endParaRPr lang="en-US" dirty="0"/>
          </a:p>
        </p:txBody>
      </p:sp>
      <p:sp>
        <p:nvSpPr>
          <p:cNvPr id="41" name="Text 39"/>
          <p:cNvSpPr/>
          <p:nvPr/>
        </p:nvSpPr>
        <p:spPr>
          <a:xfrm>
            <a:off x="6273701" y="1447502"/>
            <a:ext cx="2383789" cy="114300"/>
          </a:xfrm>
          <a:prstGeom prst="rect">
            <a:avLst/>
          </a:prstGeom>
          <a:noFill/>
          <a:ln/>
        </p:spPr>
        <p:txBody>
          <a:bodyPr wrap="square" lIns="0" tIns="0" rIns="0" bIns="0" rtlCol="0" anchor="t"/>
          <a:lstStyle/>
          <a:p>
            <a:pPr algn="l" indent="0" marL="0">
              <a:spcAft>
                <a:spcPts val="400"/>
              </a:spcAft>
              <a:buNone/>
            </a:pPr>
            <a:r>
              <a:rPr lang="en-US" sz="800" b="1" dirty="0">
                <a:solidFill>
                  <a:srgbClr val="FFFFFF"/>
                </a:solidFill>
                <a:latin typeface="Arial" pitchFamily="34" charset="0"/>
                <a:ea typeface="Arial" pitchFamily="34" charset="-122"/>
                <a:cs typeface="Arial" pitchFamily="34" charset="-120"/>
              </a:rPr>
              <a:t>PREMIUM</a:t>
            </a:r>
            <a:endParaRPr lang="en-US" sz="800" dirty="0"/>
          </a:p>
        </p:txBody>
      </p:sp>
      <p:sp>
        <p:nvSpPr>
          <p:cNvPr id="42" name="Text 40"/>
          <p:cNvSpPr/>
          <p:nvPr/>
        </p:nvSpPr>
        <p:spPr>
          <a:xfrm>
            <a:off x="6273701" y="1612553"/>
            <a:ext cx="2383789" cy="171450"/>
          </a:xfrm>
          <a:prstGeom prst="rect">
            <a:avLst/>
          </a:prstGeom>
          <a:noFill/>
          <a:ln/>
        </p:spPr>
        <p:txBody>
          <a:bodyPr wrap="square" lIns="0" tIns="0" rIns="0" bIns="0" rtlCol="0" anchor="t"/>
          <a:lstStyle/>
          <a:p>
            <a:pPr algn="l" indent="0" marL="0">
              <a:spcAft>
                <a:spcPts val="200"/>
              </a:spcAft>
              <a:buNone/>
            </a:pPr>
            <a:r>
              <a:rPr lang="en-US" sz="1200" b="1" dirty="0">
                <a:solidFill>
                  <a:srgbClr val="FFFFFF"/>
                </a:solidFill>
                <a:latin typeface="Arial" pitchFamily="34" charset="0"/>
                <a:ea typeface="Arial" pitchFamily="34" charset="-122"/>
                <a:cs typeface="Arial" pitchFamily="34" charset="-120"/>
              </a:rPr>
              <a:t>Blaze Xtreme</a:t>
            </a:r>
            <a:endParaRPr lang="en-US" sz="1200" dirty="0"/>
          </a:p>
        </p:txBody>
      </p:sp>
      <p:sp>
        <p:nvSpPr>
          <p:cNvPr id="43" name="Text 41"/>
          <p:cNvSpPr/>
          <p:nvPr/>
        </p:nvSpPr>
        <p:spPr>
          <a:xfrm>
            <a:off x="6273701" y="1809304"/>
            <a:ext cx="2383789" cy="114300"/>
          </a:xfrm>
          <a:prstGeom prst="rect">
            <a:avLst/>
          </a:prstGeom>
          <a:noFill/>
          <a:ln/>
        </p:spPr>
        <p:txBody>
          <a:bodyPr wrap="square" lIns="0" tIns="0" rIns="0" bIns="0" rtlCol="0" anchor="t"/>
          <a:lstStyle/>
          <a:p>
            <a:pPr algn="l" indent="0" marL="0">
              <a:buNone/>
            </a:pPr>
            <a:r>
              <a:rPr lang="en-US" sz="800" dirty="0">
                <a:solidFill>
                  <a:srgbClr val="FFFFFF"/>
                </a:solidFill>
                <a:latin typeface="Arial" pitchFamily="34" charset="0"/>
                <a:ea typeface="Arial" pitchFamily="34" charset="-122"/>
                <a:cs typeface="Arial" pitchFamily="34" charset="-120"/>
              </a:rPr>
              <a:t>10W-40 | Performance 4-Stroke</a:t>
            </a:r>
            <a:endParaRPr lang="en-US" sz="800" dirty="0"/>
          </a:p>
        </p:txBody>
      </p:sp>
      <p:sp>
        <p:nvSpPr>
          <p:cNvPr id="44" name="Text 42"/>
          <p:cNvSpPr/>
          <p:nvPr/>
        </p:nvSpPr>
        <p:spPr>
          <a:xfrm>
            <a:off x="6096000" y="2177504"/>
            <a:ext cx="2692450" cy="749052"/>
          </a:xfrm>
          <a:prstGeom prst="roundRect">
            <a:avLst>
              <a:gd name="adj" fmla="val 10173"/>
            </a:avLst>
          </a:prstGeom>
          <a:solidFill>
            <a:srgbClr val="E8F5EE"/>
          </a:solidFill>
          <a:ln w="9525">
            <a:solidFill>
              <a:srgbClr val="00703C"/>
            </a:solidFill>
          </a:ln>
        </p:spPr>
        <p:txBody>
          <a:bodyPr wrap="square" rtlCol="0" anchor="ctr"/>
          <a:lstStyle/>
          <a:p>
            <a:pPr indent="0" marL="0">
              <a:buNone/>
            </a:pPr>
            <a:endParaRPr lang="en-US" dirty="0"/>
          </a:p>
        </p:txBody>
      </p:sp>
      <p:sp>
        <p:nvSpPr>
          <p:cNvPr id="45" name="Text 43"/>
          <p:cNvSpPr/>
          <p:nvPr/>
        </p:nvSpPr>
        <p:spPr>
          <a:xfrm>
            <a:off x="6283226" y="2313980"/>
            <a:ext cx="2364358" cy="114300"/>
          </a:xfrm>
          <a:prstGeom prst="rect">
            <a:avLst/>
          </a:prstGeom>
          <a:noFill/>
          <a:ln/>
        </p:spPr>
        <p:txBody>
          <a:bodyPr wrap="square" lIns="0" tIns="0" rIns="0" bIns="0" rtlCol="0" anchor="t"/>
          <a:lstStyle/>
          <a:p>
            <a:pPr algn="l" indent="0" marL="0">
              <a:spcAft>
                <a:spcPts val="400"/>
              </a:spcAft>
              <a:buNone/>
            </a:pPr>
            <a:r>
              <a:rPr lang="en-US" sz="800" b="1" dirty="0">
                <a:solidFill>
                  <a:srgbClr val="023520"/>
                </a:solidFill>
                <a:latin typeface="Arial" pitchFamily="34" charset="0"/>
                <a:ea typeface="Arial" pitchFamily="34" charset="-122"/>
                <a:cs typeface="Arial" pitchFamily="34" charset="-120"/>
              </a:rPr>
              <a:t>MAINSTREAM</a:t>
            </a:r>
            <a:endParaRPr lang="en-US" sz="800" dirty="0"/>
          </a:p>
        </p:txBody>
      </p:sp>
      <p:sp>
        <p:nvSpPr>
          <p:cNvPr id="46" name="Text 44"/>
          <p:cNvSpPr/>
          <p:nvPr/>
        </p:nvSpPr>
        <p:spPr>
          <a:xfrm>
            <a:off x="6283226" y="2479030"/>
            <a:ext cx="2364358" cy="171450"/>
          </a:xfrm>
          <a:prstGeom prst="rect">
            <a:avLst/>
          </a:prstGeom>
          <a:noFill/>
          <a:ln/>
        </p:spPr>
        <p:txBody>
          <a:bodyPr wrap="square" lIns="0" tIns="0" rIns="0" bIns="0" rtlCol="0" anchor="t"/>
          <a:lstStyle/>
          <a:p>
            <a:pPr algn="l" indent="0" marL="0">
              <a:spcAft>
                <a:spcPts val="200"/>
              </a:spcAft>
              <a:buNone/>
            </a:pPr>
            <a:r>
              <a:rPr lang="en-US" sz="1200" b="1" dirty="0">
                <a:solidFill>
                  <a:srgbClr val="023520"/>
                </a:solidFill>
                <a:latin typeface="Arial" pitchFamily="34" charset="0"/>
                <a:ea typeface="Arial" pitchFamily="34" charset="-122"/>
                <a:cs typeface="Arial" pitchFamily="34" charset="-120"/>
              </a:rPr>
              <a:t>Blaze 4T</a:t>
            </a:r>
            <a:endParaRPr lang="en-US" sz="1200" dirty="0"/>
          </a:p>
        </p:txBody>
      </p:sp>
      <p:sp>
        <p:nvSpPr>
          <p:cNvPr id="47" name="Text 45"/>
          <p:cNvSpPr/>
          <p:nvPr/>
        </p:nvSpPr>
        <p:spPr>
          <a:xfrm>
            <a:off x="6283226" y="2675781"/>
            <a:ext cx="2364358" cy="114300"/>
          </a:xfrm>
          <a:prstGeom prst="rect">
            <a:avLst/>
          </a:prstGeom>
          <a:noFill/>
          <a:ln/>
        </p:spPr>
        <p:txBody>
          <a:bodyPr wrap="square" lIns="0" tIns="0" rIns="0" bIns="0" rtlCol="0" anchor="t"/>
          <a:lstStyle/>
          <a:p>
            <a:pPr algn="l" indent="0" marL="0">
              <a:buNone/>
            </a:pPr>
            <a:r>
              <a:rPr lang="en-US" sz="800" dirty="0">
                <a:solidFill>
                  <a:srgbClr val="023520"/>
                </a:solidFill>
                <a:latin typeface="Arial" pitchFamily="34" charset="0"/>
                <a:ea typeface="Arial" pitchFamily="34" charset="-122"/>
                <a:cs typeface="Arial" pitchFamily="34" charset="-120"/>
              </a:rPr>
              <a:t>10W-40, 20W-50 | 0.7L &amp; 1L packs</a:t>
            </a:r>
            <a:endParaRPr lang="en-US" sz="8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8F8F8"/>
        </a:solidFill>
      </p:bgPr>
    </p:bg>
    <p:spTree>
      <p:nvGrpSpPr>
        <p:cNvPr id="1" name=""/>
        <p:cNvGrpSpPr/>
        <p:nvPr/>
      </p:nvGrpSpPr>
      <p:grpSpPr>
        <a:xfrm>
          <a:off x="0" y="0"/>
          <a:ext cx="0" cy="0"/>
          <a:chOff x="0" y="0"/>
          <a:chExt cx="0" cy="0"/>
        </a:xfrm>
      </p:grpSpPr>
      <p:sp>
        <p:nvSpPr>
          <p:cNvPr id="2" name="Text 0"/>
          <p:cNvSpPr/>
          <p:nvPr/>
        </p:nvSpPr>
        <p:spPr>
          <a:xfrm>
            <a:off x="0" y="0"/>
            <a:ext cx="9144000" cy="730151"/>
          </a:xfrm>
          <a:prstGeom prst="rect">
            <a:avLst/>
          </a:prstGeom>
          <a:solidFill>
            <a:srgbClr val="00703C"/>
          </a:solidFill>
          <a:ln/>
        </p:spPr>
        <p:txBody>
          <a:bodyPr wrap="square" rtlCol="0" anchor="ctr"/>
          <a:lstStyle/>
          <a:p>
            <a:pPr indent="0" marL="0">
              <a:buNone/>
            </a:pPr>
            <a:endParaRPr lang="en-US" dirty="0"/>
          </a:p>
        </p:txBody>
      </p:sp>
      <p:sp>
        <p:nvSpPr>
          <p:cNvPr id="3" name="Text 1"/>
          <p:cNvSpPr/>
          <p:nvPr/>
        </p:nvSpPr>
        <p:spPr>
          <a:xfrm>
            <a:off x="355550" y="152400"/>
            <a:ext cx="8601557" cy="266700"/>
          </a:xfrm>
          <a:prstGeom prst="rect">
            <a:avLst/>
          </a:prstGeom>
          <a:noFill/>
          <a:ln/>
        </p:spPr>
        <p:txBody>
          <a:bodyPr wrap="square" lIns="0" tIns="0" rIns="0" bIns="0" rtlCol="0" anchor="t"/>
          <a:lstStyle/>
          <a:p>
            <a:pPr algn="l" indent="0" marL="0">
              <a:buNone/>
            </a:pPr>
            <a:r>
              <a:rPr lang="en-US" sz="1800" b="1" dirty="0">
                <a:solidFill>
                  <a:srgbClr val="FFFFFF"/>
                </a:solidFill>
                <a:latin typeface="Arial" pitchFamily="34" charset="0"/>
                <a:ea typeface="Arial" pitchFamily="34" charset="-122"/>
                <a:cs typeface="Arial" pitchFamily="34" charset="-120"/>
              </a:rPr>
              <a:t>8 International Pricing Frameworks Applied</a:t>
            </a:r>
            <a:endParaRPr lang="en-US" sz="1800" dirty="0"/>
          </a:p>
        </p:txBody>
      </p:sp>
      <p:sp>
        <p:nvSpPr>
          <p:cNvPr id="4" name="Text 2"/>
          <p:cNvSpPr/>
          <p:nvPr/>
        </p:nvSpPr>
        <p:spPr>
          <a:xfrm>
            <a:off x="355550" y="469850"/>
            <a:ext cx="8601557" cy="133350"/>
          </a:xfrm>
          <a:prstGeom prst="rect">
            <a:avLst/>
          </a:prstGeom>
          <a:noFill/>
          <a:ln/>
        </p:spPr>
        <p:txBody>
          <a:bodyPr wrap="square" lIns="0" tIns="0" rIns="0" bIns="0" rtlCol="0" anchor="t"/>
          <a:lstStyle/>
          <a:p>
            <a:pPr algn="l" indent="0" marL="0">
              <a:spcBef>
                <a:spcPts val="400"/>
              </a:spcBef>
              <a:buNone/>
            </a:pPr>
            <a:r>
              <a:rPr lang="en-US" sz="900" b="1" dirty="0">
                <a:solidFill>
                  <a:srgbClr val="A8D5BE"/>
                </a:solidFill>
                <a:latin typeface="Arial" pitchFamily="34" charset="0"/>
                <a:ea typeface="Arial" pitchFamily="34" charset="-122"/>
                <a:cs typeface="Arial" pitchFamily="34" charset="-120"/>
              </a:rPr>
              <a:t>Each framework independently scored — combined via weighted synthesis (F1+F2 = 60% weight)</a:t>
            </a:r>
            <a:endParaRPr lang="en-US" sz="900" dirty="0"/>
          </a:p>
        </p:txBody>
      </p:sp>
      <p:sp>
        <p:nvSpPr>
          <p:cNvPr id="5" name="Text 3"/>
          <p:cNvSpPr/>
          <p:nvPr/>
        </p:nvSpPr>
        <p:spPr>
          <a:xfrm>
            <a:off x="279350" y="907852"/>
            <a:ext cx="2257127" cy="1022747"/>
          </a:xfrm>
          <a:prstGeom prst="roundRect">
            <a:avLst>
              <a:gd name="adj" fmla="val 7451"/>
            </a:avLst>
          </a:prstGeom>
          <a:solidFill>
            <a:srgbClr val="FFFFFF"/>
          </a:solidFill>
          <a:ln/>
          <a:effectLst>
            <a:outerShdw sx="100000" sy="100000" kx="0" ky="0" algn="bl" rotWithShape="0" blurRad="50800" dist="17960" dir="2700000">
              <a:srgbClr val="000000">
                <a:alpha val="8000"/>
              </a:srgbClr>
            </a:outerShdw>
          </a:effectLst>
        </p:spPr>
        <p:txBody>
          <a:bodyPr wrap="square" rtlCol="0" anchor="ctr"/>
          <a:lstStyle/>
          <a:p>
            <a:pPr indent="0" marL="0">
              <a:buNone/>
            </a:pPr>
            <a:endParaRPr lang="en-US" dirty="0"/>
          </a:p>
        </p:txBody>
      </p:sp>
      <p:sp>
        <p:nvSpPr>
          <p:cNvPr id="6" name="Shape 4"/>
          <p:cNvSpPr/>
          <p:nvPr/>
        </p:nvSpPr>
        <p:spPr>
          <a:xfrm>
            <a:off x="303163" y="907852"/>
            <a:ext cx="0" cy="1022747"/>
          </a:xfrm>
          <a:prstGeom prst="line">
            <a:avLst/>
          </a:prstGeom>
          <a:noFill/>
          <a:ln w="47625">
            <a:solidFill>
              <a:srgbClr val="00703C"/>
            </a:solidFill>
            <a:prstDash val="solid"/>
          </a:ln>
        </p:spPr>
      </p:sp>
      <p:sp>
        <p:nvSpPr>
          <p:cNvPr id="7" name="Text 5"/>
          <p:cNvSpPr/>
          <p:nvPr/>
        </p:nvSpPr>
        <p:spPr>
          <a:xfrm>
            <a:off x="466576" y="1022152"/>
            <a:ext cx="1968907" cy="133350"/>
          </a:xfrm>
          <a:prstGeom prst="rect">
            <a:avLst/>
          </a:prstGeom>
          <a:noFill/>
          <a:ln/>
        </p:spPr>
        <p:txBody>
          <a:bodyPr wrap="square" lIns="0" tIns="0" rIns="0" bIns="0" rtlCol="0" anchor="t"/>
          <a:lstStyle/>
          <a:p>
            <a:pPr algn="l" indent="0" marL="0">
              <a:spcAft>
                <a:spcPts val="300"/>
              </a:spcAft>
              <a:buNone/>
            </a:pPr>
            <a:r>
              <a:rPr lang="en-US" sz="900" b="1" dirty="0">
                <a:solidFill>
                  <a:srgbClr val="C8960C"/>
                </a:solidFill>
                <a:latin typeface="Arial" pitchFamily="34" charset="0"/>
                <a:ea typeface="Arial" pitchFamily="34" charset="-122"/>
                <a:cs typeface="Arial" pitchFamily="34" charset="-120"/>
              </a:rPr>
              <a:t>F1</a:t>
            </a:r>
            <a:endParaRPr lang="en-US" sz="900" dirty="0"/>
          </a:p>
        </p:txBody>
      </p:sp>
      <p:sp>
        <p:nvSpPr>
          <p:cNvPr id="8" name="Text 6"/>
          <p:cNvSpPr/>
          <p:nvPr/>
        </p:nvSpPr>
        <p:spPr>
          <a:xfrm>
            <a:off x="466576" y="1193602"/>
            <a:ext cx="1968907" cy="142875"/>
          </a:xfrm>
          <a:prstGeom prst="rect">
            <a:avLst/>
          </a:prstGeom>
          <a:noFill/>
          <a:ln/>
        </p:spPr>
        <p:txBody>
          <a:bodyPr wrap="square" lIns="0" tIns="0" rIns="0" bIns="0" rtlCol="0" anchor="t"/>
          <a:lstStyle/>
          <a:p>
            <a:pPr algn="l" indent="0" marL="0">
              <a:spcAft>
                <a:spcPts val="400"/>
              </a:spcAft>
              <a:buNone/>
            </a:pPr>
            <a:r>
              <a:rPr lang="en-US" sz="1000" b="1" dirty="0">
                <a:solidFill>
                  <a:srgbClr val="023520"/>
                </a:solidFill>
                <a:latin typeface="Arial" pitchFamily="34" charset="0"/>
                <a:ea typeface="Arial" pitchFamily="34" charset="-122"/>
                <a:cs typeface="Arial" pitchFamily="34" charset="-120"/>
              </a:rPr>
              <a:t>Value-Based Tiering</a:t>
            </a:r>
            <a:endParaRPr lang="en-US" sz="1000" dirty="0"/>
          </a:p>
        </p:txBody>
      </p:sp>
      <p:sp>
        <p:nvSpPr>
          <p:cNvPr id="9" name="Text 7"/>
          <p:cNvSpPr/>
          <p:nvPr/>
        </p:nvSpPr>
        <p:spPr>
          <a:xfrm>
            <a:off x="466576" y="1387227"/>
            <a:ext cx="1968907" cy="264021"/>
          </a:xfrm>
          <a:prstGeom prst="rect">
            <a:avLst/>
          </a:prstGeom>
          <a:noFill/>
          <a:ln/>
        </p:spPr>
        <p:txBody>
          <a:bodyPr wrap="square" lIns="0" tIns="0" rIns="0" bIns="0" rtlCol="0" anchor="t"/>
          <a:lstStyle/>
          <a:p>
            <a:pPr algn="l" indent="0" marL="0">
              <a:lnSpc>
                <a:spcPts val="1040"/>
              </a:lnSpc>
              <a:spcAft>
                <a:spcPts val="400"/>
              </a:spcAft>
              <a:buNone/>
            </a:pPr>
            <a:r>
              <a:rPr lang="en-US" sz="800" dirty="0">
                <a:solidFill>
                  <a:srgbClr val="555555"/>
                </a:solidFill>
                <a:latin typeface="Arial" pitchFamily="34" charset="0"/>
                <a:ea typeface="Arial" pitchFamily="34" charset="-122"/>
                <a:cs typeface="Arial" pitchFamily="34" charset="-120"/>
              </a:rPr>
              <a:t>Price anchored to tier perception vs Shell equivalent</a:t>
            </a:r>
            <a:endParaRPr lang="en-US" sz="800" dirty="0"/>
          </a:p>
        </p:txBody>
      </p:sp>
      <p:sp>
        <p:nvSpPr>
          <p:cNvPr id="10" name="Text 8"/>
          <p:cNvSpPr/>
          <p:nvPr/>
        </p:nvSpPr>
        <p:spPr>
          <a:xfrm>
            <a:off x="466576" y="1701998"/>
            <a:ext cx="1968907" cy="114300"/>
          </a:xfrm>
          <a:prstGeom prst="rect">
            <a:avLst/>
          </a:prstGeom>
          <a:noFill/>
          <a:ln/>
        </p:spPr>
        <p:txBody>
          <a:bodyPr wrap="square" lIns="0" tIns="0" rIns="0" bIns="0" rtlCol="0" anchor="t"/>
          <a:lstStyle/>
          <a:p>
            <a:pPr algn="l" indent="0" marL="0">
              <a:buNone/>
            </a:pPr>
            <a:r>
              <a:rPr lang="en-US" sz="800" b="1" dirty="0">
                <a:solidFill>
                  <a:srgbClr val="00703C"/>
                </a:solidFill>
                <a:latin typeface="Arial" pitchFamily="34" charset="0"/>
                <a:ea typeface="Arial" pitchFamily="34" charset="-122"/>
                <a:cs typeface="Arial" pitchFamily="34" charset="-120"/>
              </a:rPr>
              <a:t>Weight: 30%</a:t>
            </a:r>
            <a:endParaRPr lang="en-US" sz="800" dirty="0"/>
          </a:p>
        </p:txBody>
      </p:sp>
      <p:sp>
        <p:nvSpPr>
          <p:cNvPr id="11" name="Text 9"/>
          <p:cNvSpPr/>
          <p:nvPr/>
        </p:nvSpPr>
        <p:spPr>
          <a:xfrm>
            <a:off x="2663428" y="907852"/>
            <a:ext cx="2257127" cy="1022747"/>
          </a:xfrm>
          <a:prstGeom prst="roundRect">
            <a:avLst>
              <a:gd name="adj" fmla="val 7451"/>
            </a:avLst>
          </a:prstGeom>
          <a:solidFill>
            <a:srgbClr val="FFFFFF"/>
          </a:solidFill>
          <a:ln/>
          <a:effectLst>
            <a:outerShdw sx="100000" sy="100000" kx="0" ky="0" algn="bl" rotWithShape="0" blurRad="50800" dist="17960" dir="2700000">
              <a:srgbClr val="000000">
                <a:alpha val="8000"/>
              </a:srgbClr>
            </a:outerShdw>
          </a:effectLst>
        </p:spPr>
        <p:txBody>
          <a:bodyPr wrap="square" rtlCol="0" anchor="ctr"/>
          <a:lstStyle/>
          <a:p>
            <a:pPr indent="0" marL="0">
              <a:buNone/>
            </a:pPr>
            <a:endParaRPr lang="en-US" dirty="0"/>
          </a:p>
        </p:txBody>
      </p:sp>
      <p:sp>
        <p:nvSpPr>
          <p:cNvPr id="12" name="Shape 10"/>
          <p:cNvSpPr/>
          <p:nvPr/>
        </p:nvSpPr>
        <p:spPr>
          <a:xfrm>
            <a:off x="2687241" y="907852"/>
            <a:ext cx="0" cy="1022747"/>
          </a:xfrm>
          <a:prstGeom prst="line">
            <a:avLst/>
          </a:prstGeom>
          <a:noFill/>
          <a:ln w="47625">
            <a:solidFill>
              <a:srgbClr val="00703C"/>
            </a:solidFill>
            <a:prstDash val="solid"/>
          </a:ln>
        </p:spPr>
      </p:sp>
      <p:sp>
        <p:nvSpPr>
          <p:cNvPr id="13" name="Text 11"/>
          <p:cNvSpPr/>
          <p:nvPr/>
        </p:nvSpPr>
        <p:spPr>
          <a:xfrm>
            <a:off x="2850654" y="1022152"/>
            <a:ext cx="1968907" cy="133350"/>
          </a:xfrm>
          <a:prstGeom prst="rect">
            <a:avLst/>
          </a:prstGeom>
          <a:noFill/>
          <a:ln/>
        </p:spPr>
        <p:txBody>
          <a:bodyPr wrap="square" lIns="0" tIns="0" rIns="0" bIns="0" rtlCol="0" anchor="t"/>
          <a:lstStyle/>
          <a:p>
            <a:pPr algn="l" indent="0" marL="0">
              <a:spcAft>
                <a:spcPts val="300"/>
              </a:spcAft>
              <a:buNone/>
            </a:pPr>
            <a:r>
              <a:rPr lang="en-US" sz="900" b="1" dirty="0">
                <a:solidFill>
                  <a:srgbClr val="C8960C"/>
                </a:solidFill>
                <a:latin typeface="Arial" pitchFamily="34" charset="0"/>
                <a:ea typeface="Arial" pitchFamily="34" charset="-122"/>
                <a:cs typeface="Arial" pitchFamily="34" charset="-120"/>
              </a:rPr>
              <a:t>F2</a:t>
            </a:r>
            <a:endParaRPr lang="en-US" sz="900" dirty="0"/>
          </a:p>
        </p:txBody>
      </p:sp>
      <p:sp>
        <p:nvSpPr>
          <p:cNvPr id="14" name="Text 12"/>
          <p:cNvSpPr/>
          <p:nvPr/>
        </p:nvSpPr>
        <p:spPr>
          <a:xfrm>
            <a:off x="2850654" y="1193602"/>
            <a:ext cx="1968907" cy="142875"/>
          </a:xfrm>
          <a:prstGeom prst="rect">
            <a:avLst/>
          </a:prstGeom>
          <a:noFill/>
          <a:ln/>
        </p:spPr>
        <p:txBody>
          <a:bodyPr wrap="square" lIns="0" tIns="0" rIns="0" bIns="0" rtlCol="0" anchor="t"/>
          <a:lstStyle/>
          <a:p>
            <a:pPr algn="l" indent="0" marL="0">
              <a:spcAft>
                <a:spcPts val="400"/>
              </a:spcAft>
              <a:buNone/>
            </a:pPr>
            <a:r>
              <a:rPr lang="en-US" sz="1000" b="1" dirty="0">
                <a:solidFill>
                  <a:srgbClr val="023520"/>
                </a:solidFill>
                <a:latin typeface="Arial" pitchFamily="34" charset="0"/>
                <a:ea typeface="Arial" pitchFamily="34" charset="-122"/>
                <a:cs typeface="Arial" pitchFamily="34" charset="-120"/>
              </a:rPr>
              <a:t>Competitive Reference Price</a:t>
            </a:r>
            <a:endParaRPr lang="en-US" sz="1000" dirty="0"/>
          </a:p>
        </p:txBody>
      </p:sp>
      <p:sp>
        <p:nvSpPr>
          <p:cNvPr id="15" name="Text 13"/>
          <p:cNvSpPr/>
          <p:nvPr/>
        </p:nvSpPr>
        <p:spPr>
          <a:xfrm>
            <a:off x="2850654" y="1387227"/>
            <a:ext cx="1968907" cy="264021"/>
          </a:xfrm>
          <a:prstGeom prst="rect">
            <a:avLst/>
          </a:prstGeom>
          <a:noFill/>
          <a:ln/>
        </p:spPr>
        <p:txBody>
          <a:bodyPr wrap="square" lIns="0" tIns="0" rIns="0" bIns="0" rtlCol="0" anchor="t"/>
          <a:lstStyle/>
          <a:p>
            <a:pPr algn="l" indent="0" marL="0">
              <a:lnSpc>
                <a:spcPts val="1040"/>
              </a:lnSpc>
              <a:spcAft>
                <a:spcPts val="400"/>
              </a:spcAft>
              <a:buNone/>
            </a:pPr>
            <a:r>
              <a:rPr lang="en-US" sz="800" dirty="0">
                <a:solidFill>
                  <a:srgbClr val="555555"/>
                </a:solidFill>
                <a:latin typeface="Arial" pitchFamily="34" charset="0"/>
                <a:ea typeface="Arial" pitchFamily="34" charset="-122"/>
                <a:cs typeface="Arial" pitchFamily="34" charset="-120"/>
              </a:rPr>
              <a:t>PSO price relative to scraped Daraz.pk market median</a:t>
            </a:r>
            <a:endParaRPr lang="en-US" sz="800" dirty="0"/>
          </a:p>
        </p:txBody>
      </p:sp>
      <p:sp>
        <p:nvSpPr>
          <p:cNvPr id="16" name="Text 14"/>
          <p:cNvSpPr/>
          <p:nvPr/>
        </p:nvSpPr>
        <p:spPr>
          <a:xfrm>
            <a:off x="2850654" y="1701998"/>
            <a:ext cx="1968907" cy="114300"/>
          </a:xfrm>
          <a:prstGeom prst="rect">
            <a:avLst/>
          </a:prstGeom>
          <a:noFill/>
          <a:ln/>
        </p:spPr>
        <p:txBody>
          <a:bodyPr wrap="square" lIns="0" tIns="0" rIns="0" bIns="0" rtlCol="0" anchor="t"/>
          <a:lstStyle/>
          <a:p>
            <a:pPr algn="l" indent="0" marL="0">
              <a:buNone/>
            </a:pPr>
            <a:r>
              <a:rPr lang="en-US" sz="800" b="1" dirty="0">
                <a:solidFill>
                  <a:srgbClr val="00703C"/>
                </a:solidFill>
                <a:latin typeface="Arial" pitchFamily="34" charset="0"/>
                <a:ea typeface="Arial" pitchFamily="34" charset="-122"/>
                <a:cs typeface="Arial" pitchFamily="34" charset="-120"/>
              </a:rPr>
              <a:t>Weight: 30%</a:t>
            </a:r>
            <a:endParaRPr lang="en-US" sz="800" dirty="0"/>
          </a:p>
        </p:txBody>
      </p:sp>
      <p:sp>
        <p:nvSpPr>
          <p:cNvPr id="17" name="Text 15"/>
          <p:cNvSpPr/>
          <p:nvPr/>
        </p:nvSpPr>
        <p:spPr>
          <a:xfrm>
            <a:off x="5047506" y="907852"/>
            <a:ext cx="2257127" cy="1022747"/>
          </a:xfrm>
          <a:prstGeom prst="roundRect">
            <a:avLst>
              <a:gd name="adj" fmla="val 7451"/>
            </a:avLst>
          </a:prstGeom>
          <a:solidFill>
            <a:srgbClr val="FFFFFF"/>
          </a:solidFill>
          <a:ln/>
          <a:effectLst>
            <a:outerShdw sx="100000" sy="100000" kx="0" ky="0" algn="bl" rotWithShape="0" blurRad="50800" dist="17960" dir="2700000">
              <a:srgbClr val="000000">
                <a:alpha val="8000"/>
              </a:srgbClr>
            </a:outerShdw>
          </a:effectLst>
        </p:spPr>
        <p:txBody>
          <a:bodyPr wrap="square" rtlCol="0" anchor="ctr"/>
          <a:lstStyle/>
          <a:p>
            <a:pPr indent="0" marL="0">
              <a:buNone/>
            </a:pPr>
            <a:endParaRPr lang="en-US" dirty="0"/>
          </a:p>
        </p:txBody>
      </p:sp>
      <p:sp>
        <p:nvSpPr>
          <p:cNvPr id="18" name="Shape 16"/>
          <p:cNvSpPr/>
          <p:nvPr/>
        </p:nvSpPr>
        <p:spPr>
          <a:xfrm>
            <a:off x="5071318" y="907852"/>
            <a:ext cx="0" cy="1022747"/>
          </a:xfrm>
          <a:prstGeom prst="line">
            <a:avLst/>
          </a:prstGeom>
          <a:noFill/>
          <a:ln w="47625">
            <a:solidFill>
              <a:srgbClr val="00703C"/>
            </a:solidFill>
            <a:prstDash val="solid"/>
          </a:ln>
        </p:spPr>
      </p:sp>
      <p:sp>
        <p:nvSpPr>
          <p:cNvPr id="19" name="Text 17"/>
          <p:cNvSpPr/>
          <p:nvPr/>
        </p:nvSpPr>
        <p:spPr>
          <a:xfrm>
            <a:off x="5234732" y="1022152"/>
            <a:ext cx="1968907" cy="133350"/>
          </a:xfrm>
          <a:prstGeom prst="rect">
            <a:avLst/>
          </a:prstGeom>
          <a:noFill/>
          <a:ln/>
        </p:spPr>
        <p:txBody>
          <a:bodyPr wrap="square" lIns="0" tIns="0" rIns="0" bIns="0" rtlCol="0" anchor="t"/>
          <a:lstStyle/>
          <a:p>
            <a:pPr algn="l" indent="0" marL="0">
              <a:spcAft>
                <a:spcPts val="300"/>
              </a:spcAft>
              <a:buNone/>
            </a:pPr>
            <a:r>
              <a:rPr lang="en-US" sz="900" b="1" dirty="0">
                <a:solidFill>
                  <a:srgbClr val="C8960C"/>
                </a:solidFill>
                <a:latin typeface="Arial" pitchFamily="34" charset="0"/>
                <a:ea typeface="Arial" pitchFamily="34" charset="-122"/>
                <a:cs typeface="Arial" pitchFamily="34" charset="-120"/>
              </a:rPr>
              <a:t>F3</a:t>
            </a:r>
            <a:endParaRPr lang="en-US" sz="900" dirty="0"/>
          </a:p>
        </p:txBody>
      </p:sp>
      <p:sp>
        <p:nvSpPr>
          <p:cNvPr id="20" name="Text 18"/>
          <p:cNvSpPr/>
          <p:nvPr/>
        </p:nvSpPr>
        <p:spPr>
          <a:xfrm>
            <a:off x="5234732" y="1193602"/>
            <a:ext cx="1968907" cy="142875"/>
          </a:xfrm>
          <a:prstGeom prst="rect">
            <a:avLst/>
          </a:prstGeom>
          <a:noFill/>
          <a:ln/>
        </p:spPr>
        <p:txBody>
          <a:bodyPr wrap="square" lIns="0" tIns="0" rIns="0" bIns="0" rtlCol="0" anchor="t"/>
          <a:lstStyle/>
          <a:p>
            <a:pPr algn="l" indent="0" marL="0">
              <a:spcAft>
                <a:spcPts val="400"/>
              </a:spcAft>
              <a:buNone/>
            </a:pPr>
            <a:r>
              <a:rPr lang="en-US" sz="1000" b="1" dirty="0">
                <a:solidFill>
                  <a:srgbClr val="023520"/>
                </a:solidFill>
                <a:latin typeface="Arial" pitchFamily="34" charset="0"/>
                <a:ea typeface="Arial" pitchFamily="34" charset="-122"/>
                <a:cs typeface="Arial" pitchFamily="34" charset="-120"/>
              </a:rPr>
              <a:t>Price-Pack Architecture</a:t>
            </a:r>
            <a:endParaRPr lang="en-US" sz="1000" dirty="0"/>
          </a:p>
        </p:txBody>
      </p:sp>
      <p:sp>
        <p:nvSpPr>
          <p:cNvPr id="21" name="Text 19"/>
          <p:cNvSpPr/>
          <p:nvPr/>
        </p:nvSpPr>
        <p:spPr>
          <a:xfrm>
            <a:off x="5234732" y="1387227"/>
            <a:ext cx="1968907" cy="264021"/>
          </a:xfrm>
          <a:prstGeom prst="rect">
            <a:avLst/>
          </a:prstGeom>
          <a:noFill/>
          <a:ln/>
        </p:spPr>
        <p:txBody>
          <a:bodyPr wrap="square" lIns="0" tIns="0" rIns="0" bIns="0" rtlCol="0" anchor="t"/>
          <a:lstStyle/>
          <a:p>
            <a:pPr algn="l" indent="0" marL="0">
              <a:lnSpc>
                <a:spcPts val="1040"/>
              </a:lnSpc>
              <a:spcAft>
                <a:spcPts val="400"/>
              </a:spcAft>
              <a:buNone/>
            </a:pPr>
            <a:r>
              <a:rPr lang="en-US" sz="800" dirty="0">
                <a:solidFill>
                  <a:srgbClr val="555555"/>
                </a:solidFill>
                <a:latin typeface="Arial" pitchFamily="34" charset="0"/>
                <a:ea typeface="Arial" pitchFamily="34" charset="-122"/>
                <a:cs typeface="Arial" pitchFamily="34" charset="-120"/>
              </a:rPr>
              <a:t>Consistent per-litre premium curve across pack sizes</a:t>
            </a:r>
            <a:endParaRPr lang="en-US" sz="800" dirty="0"/>
          </a:p>
        </p:txBody>
      </p:sp>
      <p:sp>
        <p:nvSpPr>
          <p:cNvPr id="22" name="Text 20"/>
          <p:cNvSpPr/>
          <p:nvPr/>
        </p:nvSpPr>
        <p:spPr>
          <a:xfrm>
            <a:off x="5234732" y="1701998"/>
            <a:ext cx="1968907" cy="114300"/>
          </a:xfrm>
          <a:prstGeom prst="rect">
            <a:avLst/>
          </a:prstGeom>
          <a:noFill/>
          <a:ln/>
        </p:spPr>
        <p:txBody>
          <a:bodyPr wrap="square" lIns="0" tIns="0" rIns="0" bIns="0" rtlCol="0" anchor="t"/>
          <a:lstStyle/>
          <a:p>
            <a:pPr algn="l" indent="0" marL="0">
              <a:buNone/>
            </a:pPr>
            <a:r>
              <a:rPr lang="en-US" sz="800" b="1" dirty="0">
                <a:solidFill>
                  <a:srgbClr val="00703C"/>
                </a:solidFill>
                <a:latin typeface="Arial" pitchFamily="34" charset="0"/>
                <a:ea typeface="Arial" pitchFamily="34" charset="-122"/>
                <a:cs typeface="Arial" pitchFamily="34" charset="-120"/>
              </a:rPr>
              <a:t>Weight: 20%</a:t>
            </a:r>
            <a:endParaRPr lang="en-US" sz="800" dirty="0"/>
          </a:p>
        </p:txBody>
      </p:sp>
      <p:sp>
        <p:nvSpPr>
          <p:cNvPr id="23" name="Text 21"/>
          <p:cNvSpPr/>
          <p:nvPr/>
        </p:nvSpPr>
        <p:spPr>
          <a:xfrm>
            <a:off x="279350" y="2057549"/>
            <a:ext cx="2257127" cy="1022747"/>
          </a:xfrm>
          <a:prstGeom prst="roundRect">
            <a:avLst>
              <a:gd name="adj" fmla="val 7451"/>
            </a:avLst>
          </a:prstGeom>
          <a:solidFill>
            <a:srgbClr val="FFFFFF"/>
          </a:solidFill>
          <a:ln/>
          <a:effectLst>
            <a:outerShdw sx="100000" sy="100000" kx="0" ky="0" algn="bl" rotWithShape="0" blurRad="50800" dist="17960" dir="2700000">
              <a:srgbClr val="000000">
                <a:alpha val="8000"/>
              </a:srgbClr>
            </a:outerShdw>
          </a:effectLst>
        </p:spPr>
        <p:txBody>
          <a:bodyPr wrap="square" rtlCol="0" anchor="ctr"/>
          <a:lstStyle/>
          <a:p>
            <a:pPr indent="0" marL="0">
              <a:buNone/>
            </a:pPr>
            <a:endParaRPr lang="en-US" dirty="0"/>
          </a:p>
        </p:txBody>
      </p:sp>
      <p:sp>
        <p:nvSpPr>
          <p:cNvPr id="24" name="Shape 22"/>
          <p:cNvSpPr/>
          <p:nvPr/>
        </p:nvSpPr>
        <p:spPr>
          <a:xfrm>
            <a:off x="303163" y="2057549"/>
            <a:ext cx="0" cy="1022747"/>
          </a:xfrm>
          <a:prstGeom prst="line">
            <a:avLst/>
          </a:prstGeom>
          <a:noFill/>
          <a:ln w="47625">
            <a:solidFill>
              <a:srgbClr val="00703C"/>
            </a:solidFill>
            <a:prstDash val="solid"/>
          </a:ln>
        </p:spPr>
      </p:sp>
      <p:sp>
        <p:nvSpPr>
          <p:cNvPr id="25" name="Text 23"/>
          <p:cNvSpPr/>
          <p:nvPr/>
        </p:nvSpPr>
        <p:spPr>
          <a:xfrm>
            <a:off x="466576" y="2171849"/>
            <a:ext cx="1968907" cy="133350"/>
          </a:xfrm>
          <a:prstGeom prst="rect">
            <a:avLst/>
          </a:prstGeom>
          <a:noFill/>
          <a:ln/>
        </p:spPr>
        <p:txBody>
          <a:bodyPr wrap="square" lIns="0" tIns="0" rIns="0" bIns="0" rtlCol="0" anchor="t"/>
          <a:lstStyle/>
          <a:p>
            <a:pPr algn="l" indent="0" marL="0">
              <a:spcAft>
                <a:spcPts val="300"/>
              </a:spcAft>
              <a:buNone/>
            </a:pPr>
            <a:r>
              <a:rPr lang="en-US" sz="900" b="1" dirty="0">
                <a:solidFill>
                  <a:srgbClr val="C8960C"/>
                </a:solidFill>
                <a:latin typeface="Arial" pitchFamily="34" charset="0"/>
                <a:ea typeface="Arial" pitchFamily="34" charset="-122"/>
                <a:cs typeface="Arial" pitchFamily="34" charset="-120"/>
              </a:rPr>
              <a:t>F4</a:t>
            </a:r>
            <a:endParaRPr lang="en-US" sz="900" dirty="0"/>
          </a:p>
        </p:txBody>
      </p:sp>
      <p:sp>
        <p:nvSpPr>
          <p:cNvPr id="26" name="Text 24"/>
          <p:cNvSpPr/>
          <p:nvPr/>
        </p:nvSpPr>
        <p:spPr>
          <a:xfrm>
            <a:off x="466576" y="2343299"/>
            <a:ext cx="1968907" cy="142875"/>
          </a:xfrm>
          <a:prstGeom prst="rect">
            <a:avLst/>
          </a:prstGeom>
          <a:noFill/>
          <a:ln/>
        </p:spPr>
        <p:txBody>
          <a:bodyPr wrap="square" lIns="0" tIns="0" rIns="0" bIns="0" rtlCol="0" anchor="t"/>
          <a:lstStyle/>
          <a:p>
            <a:pPr algn="l" indent="0" marL="0">
              <a:spcAft>
                <a:spcPts val="400"/>
              </a:spcAft>
              <a:buNone/>
            </a:pPr>
            <a:r>
              <a:rPr lang="en-US" sz="1000" b="1" dirty="0">
                <a:solidFill>
                  <a:srgbClr val="023520"/>
                </a:solidFill>
                <a:latin typeface="Arial" pitchFamily="34" charset="0"/>
                <a:ea typeface="Arial" pitchFamily="34" charset="-122"/>
                <a:cs typeface="Arial" pitchFamily="34" charset="-120"/>
              </a:rPr>
              <a:t>Price Waterfall</a:t>
            </a:r>
            <a:endParaRPr lang="en-US" sz="1000" dirty="0"/>
          </a:p>
        </p:txBody>
      </p:sp>
      <p:sp>
        <p:nvSpPr>
          <p:cNvPr id="27" name="Text 25"/>
          <p:cNvSpPr/>
          <p:nvPr/>
        </p:nvSpPr>
        <p:spPr>
          <a:xfrm>
            <a:off x="466576" y="2536924"/>
            <a:ext cx="1968907" cy="264021"/>
          </a:xfrm>
          <a:prstGeom prst="rect">
            <a:avLst/>
          </a:prstGeom>
          <a:noFill/>
          <a:ln/>
        </p:spPr>
        <p:txBody>
          <a:bodyPr wrap="square" lIns="0" tIns="0" rIns="0" bIns="0" rtlCol="0" anchor="t"/>
          <a:lstStyle/>
          <a:p>
            <a:pPr algn="l" indent="0" marL="0">
              <a:lnSpc>
                <a:spcPts val="1040"/>
              </a:lnSpc>
              <a:spcAft>
                <a:spcPts val="400"/>
              </a:spcAft>
              <a:buNone/>
            </a:pPr>
            <a:r>
              <a:rPr lang="en-US" sz="800" dirty="0">
                <a:solidFill>
                  <a:srgbClr val="555555"/>
                </a:solidFill>
                <a:latin typeface="Arial" pitchFamily="34" charset="0"/>
                <a:ea typeface="Arial" pitchFamily="34" charset="-122"/>
                <a:cs typeface="Arial" pitchFamily="34" charset="-120"/>
              </a:rPr>
              <a:t>Hard cost-plus floor — ensures no margin inversion</a:t>
            </a:r>
            <a:endParaRPr lang="en-US" sz="800" dirty="0"/>
          </a:p>
        </p:txBody>
      </p:sp>
      <p:sp>
        <p:nvSpPr>
          <p:cNvPr id="28" name="Text 26"/>
          <p:cNvSpPr/>
          <p:nvPr/>
        </p:nvSpPr>
        <p:spPr>
          <a:xfrm>
            <a:off x="466576" y="2851696"/>
            <a:ext cx="1968907" cy="114300"/>
          </a:xfrm>
          <a:prstGeom prst="rect">
            <a:avLst/>
          </a:prstGeom>
          <a:noFill/>
          <a:ln/>
        </p:spPr>
        <p:txBody>
          <a:bodyPr wrap="square" lIns="0" tIns="0" rIns="0" bIns="0" rtlCol="0" anchor="t"/>
          <a:lstStyle/>
          <a:p>
            <a:pPr algn="l" indent="0" marL="0">
              <a:buNone/>
            </a:pPr>
            <a:r>
              <a:rPr lang="en-US" sz="800" b="1" dirty="0">
                <a:solidFill>
                  <a:srgbClr val="00703C"/>
                </a:solidFill>
                <a:latin typeface="Arial" pitchFamily="34" charset="0"/>
                <a:ea typeface="Arial" pitchFamily="34" charset="-122"/>
                <a:cs typeface="Arial" pitchFamily="34" charset="-120"/>
              </a:rPr>
              <a:t>Hard Floor</a:t>
            </a:r>
            <a:endParaRPr lang="en-US" sz="800" dirty="0"/>
          </a:p>
        </p:txBody>
      </p:sp>
      <p:sp>
        <p:nvSpPr>
          <p:cNvPr id="29" name="Text 27"/>
          <p:cNvSpPr/>
          <p:nvPr/>
        </p:nvSpPr>
        <p:spPr>
          <a:xfrm>
            <a:off x="2663428" y="2057549"/>
            <a:ext cx="2257127" cy="1022747"/>
          </a:xfrm>
          <a:prstGeom prst="roundRect">
            <a:avLst>
              <a:gd name="adj" fmla="val 7451"/>
            </a:avLst>
          </a:prstGeom>
          <a:solidFill>
            <a:srgbClr val="FFFFFF"/>
          </a:solidFill>
          <a:ln/>
          <a:effectLst>
            <a:outerShdw sx="100000" sy="100000" kx="0" ky="0" algn="bl" rotWithShape="0" blurRad="50800" dist="17960" dir="2700000">
              <a:srgbClr val="000000">
                <a:alpha val="8000"/>
              </a:srgbClr>
            </a:outerShdw>
          </a:effectLst>
        </p:spPr>
        <p:txBody>
          <a:bodyPr wrap="square" rtlCol="0" anchor="ctr"/>
          <a:lstStyle/>
          <a:p>
            <a:pPr indent="0" marL="0">
              <a:buNone/>
            </a:pPr>
            <a:endParaRPr lang="en-US" dirty="0"/>
          </a:p>
        </p:txBody>
      </p:sp>
      <p:sp>
        <p:nvSpPr>
          <p:cNvPr id="30" name="Shape 28"/>
          <p:cNvSpPr/>
          <p:nvPr/>
        </p:nvSpPr>
        <p:spPr>
          <a:xfrm>
            <a:off x="2687241" y="2057549"/>
            <a:ext cx="0" cy="1022747"/>
          </a:xfrm>
          <a:prstGeom prst="line">
            <a:avLst/>
          </a:prstGeom>
          <a:noFill/>
          <a:ln w="47625">
            <a:solidFill>
              <a:srgbClr val="00703C"/>
            </a:solidFill>
            <a:prstDash val="solid"/>
          </a:ln>
        </p:spPr>
      </p:sp>
      <p:sp>
        <p:nvSpPr>
          <p:cNvPr id="31" name="Text 29"/>
          <p:cNvSpPr/>
          <p:nvPr/>
        </p:nvSpPr>
        <p:spPr>
          <a:xfrm>
            <a:off x="2850654" y="2171849"/>
            <a:ext cx="1968907" cy="133350"/>
          </a:xfrm>
          <a:prstGeom prst="rect">
            <a:avLst/>
          </a:prstGeom>
          <a:noFill/>
          <a:ln/>
        </p:spPr>
        <p:txBody>
          <a:bodyPr wrap="square" lIns="0" tIns="0" rIns="0" bIns="0" rtlCol="0" anchor="t"/>
          <a:lstStyle/>
          <a:p>
            <a:pPr algn="l" indent="0" marL="0">
              <a:spcAft>
                <a:spcPts val="300"/>
              </a:spcAft>
              <a:buNone/>
            </a:pPr>
            <a:r>
              <a:rPr lang="en-US" sz="900" b="1" dirty="0">
                <a:solidFill>
                  <a:srgbClr val="C8960C"/>
                </a:solidFill>
                <a:latin typeface="Arial" pitchFamily="34" charset="0"/>
                <a:ea typeface="Arial" pitchFamily="34" charset="-122"/>
                <a:cs typeface="Arial" pitchFamily="34" charset="-120"/>
              </a:rPr>
              <a:t>F5</a:t>
            </a:r>
            <a:endParaRPr lang="en-US" sz="900" dirty="0"/>
          </a:p>
        </p:txBody>
      </p:sp>
      <p:sp>
        <p:nvSpPr>
          <p:cNvPr id="32" name="Text 30"/>
          <p:cNvSpPr/>
          <p:nvPr/>
        </p:nvSpPr>
        <p:spPr>
          <a:xfrm>
            <a:off x="2850654" y="2343299"/>
            <a:ext cx="1968907" cy="142875"/>
          </a:xfrm>
          <a:prstGeom prst="rect">
            <a:avLst/>
          </a:prstGeom>
          <a:noFill/>
          <a:ln/>
        </p:spPr>
        <p:txBody>
          <a:bodyPr wrap="square" lIns="0" tIns="0" rIns="0" bIns="0" rtlCol="0" anchor="t"/>
          <a:lstStyle/>
          <a:p>
            <a:pPr algn="l" indent="0" marL="0">
              <a:spcAft>
                <a:spcPts val="400"/>
              </a:spcAft>
              <a:buNone/>
            </a:pPr>
            <a:r>
              <a:rPr lang="en-US" sz="1000" b="1" dirty="0">
                <a:solidFill>
                  <a:srgbClr val="023520"/>
                </a:solidFill>
                <a:latin typeface="Arial" pitchFamily="34" charset="0"/>
                <a:ea typeface="Arial" pitchFamily="34" charset="-122"/>
                <a:cs typeface="Arial" pitchFamily="34" charset="-120"/>
              </a:rPr>
              <a:t>Spec Premium</a:t>
            </a:r>
            <a:endParaRPr lang="en-US" sz="1000" dirty="0"/>
          </a:p>
        </p:txBody>
      </p:sp>
      <p:sp>
        <p:nvSpPr>
          <p:cNvPr id="33" name="Text 31"/>
          <p:cNvSpPr/>
          <p:nvPr/>
        </p:nvSpPr>
        <p:spPr>
          <a:xfrm>
            <a:off x="2850654" y="2536924"/>
            <a:ext cx="1968907" cy="264021"/>
          </a:xfrm>
          <a:prstGeom prst="rect">
            <a:avLst/>
          </a:prstGeom>
          <a:noFill/>
          <a:ln/>
        </p:spPr>
        <p:txBody>
          <a:bodyPr wrap="square" lIns="0" tIns="0" rIns="0" bIns="0" rtlCol="0" anchor="t"/>
          <a:lstStyle/>
          <a:p>
            <a:pPr algn="l" indent="0" marL="0">
              <a:lnSpc>
                <a:spcPts val="1040"/>
              </a:lnSpc>
              <a:spcAft>
                <a:spcPts val="400"/>
              </a:spcAft>
              <a:buNone/>
            </a:pPr>
            <a:r>
              <a:rPr lang="en-US" sz="800" dirty="0">
                <a:solidFill>
                  <a:srgbClr val="555555"/>
                </a:solidFill>
                <a:latin typeface="Arial" pitchFamily="34" charset="0"/>
                <a:ea typeface="Arial" pitchFamily="34" charset="-122"/>
                <a:cs typeface="Arial" pitchFamily="34" charset="-120"/>
              </a:rPr>
              <a:t>API/ACEA spec uplift for synthetic &amp; semi-synthetic grades</a:t>
            </a:r>
            <a:endParaRPr lang="en-US" sz="800" dirty="0"/>
          </a:p>
        </p:txBody>
      </p:sp>
      <p:sp>
        <p:nvSpPr>
          <p:cNvPr id="34" name="Text 32"/>
          <p:cNvSpPr/>
          <p:nvPr/>
        </p:nvSpPr>
        <p:spPr>
          <a:xfrm>
            <a:off x="2850654" y="2851696"/>
            <a:ext cx="1968907" cy="114300"/>
          </a:xfrm>
          <a:prstGeom prst="rect">
            <a:avLst/>
          </a:prstGeom>
          <a:noFill/>
          <a:ln/>
        </p:spPr>
        <p:txBody>
          <a:bodyPr wrap="square" lIns="0" tIns="0" rIns="0" bIns="0" rtlCol="0" anchor="t"/>
          <a:lstStyle/>
          <a:p>
            <a:pPr algn="l" indent="0" marL="0">
              <a:buNone/>
            </a:pPr>
            <a:r>
              <a:rPr lang="en-US" sz="800" b="1" dirty="0">
                <a:solidFill>
                  <a:srgbClr val="00703C"/>
                </a:solidFill>
                <a:latin typeface="Arial" pitchFamily="34" charset="0"/>
                <a:ea typeface="Arial" pitchFamily="34" charset="-122"/>
                <a:cs typeface="Arial" pitchFamily="34" charset="-120"/>
              </a:rPr>
              <a:t>Weight: 10%</a:t>
            </a:r>
            <a:endParaRPr lang="en-US" sz="800" dirty="0"/>
          </a:p>
        </p:txBody>
      </p:sp>
      <p:sp>
        <p:nvSpPr>
          <p:cNvPr id="35" name="Text 33"/>
          <p:cNvSpPr/>
          <p:nvPr/>
        </p:nvSpPr>
        <p:spPr>
          <a:xfrm>
            <a:off x="5047506" y="2057549"/>
            <a:ext cx="2257127" cy="1022747"/>
          </a:xfrm>
          <a:prstGeom prst="roundRect">
            <a:avLst>
              <a:gd name="adj" fmla="val 7451"/>
            </a:avLst>
          </a:prstGeom>
          <a:solidFill>
            <a:srgbClr val="FFFFFF"/>
          </a:solidFill>
          <a:ln/>
          <a:effectLst>
            <a:outerShdw sx="100000" sy="100000" kx="0" ky="0" algn="bl" rotWithShape="0" blurRad="50800" dist="17960" dir="2700000">
              <a:srgbClr val="000000">
                <a:alpha val="8000"/>
              </a:srgbClr>
            </a:outerShdw>
          </a:effectLst>
        </p:spPr>
        <p:txBody>
          <a:bodyPr wrap="square" rtlCol="0" anchor="ctr"/>
          <a:lstStyle/>
          <a:p>
            <a:pPr indent="0" marL="0">
              <a:buNone/>
            </a:pPr>
            <a:endParaRPr lang="en-US" dirty="0"/>
          </a:p>
        </p:txBody>
      </p:sp>
      <p:sp>
        <p:nvSpPr>
          <p:cNvPr id="36" name="Shape 34"/>
          <p:cNvSpPr/>
          <p:nvPr/>
        </p:nvSpPr>
        <p:spPr>
          <a:xfrm>
            <a:off x="5071318" y="2057549"/>
            <a:ext cx="0" cy="1022747"/>
          </a:xfrm>
          <a:prstGeom prst="line">
            <a:avLst/>
          </a:prstGeom>
          <a:noFill/>
          <a:ln w="47625">
            <a:solidFill>
              <a:srgbClr val="00703C"/>
            </a:solidFill>
            <a:prstDash val="solid"/>
          </a:ln>
        </p:spPr>
      </p:sp>
      <p:sp>
        <p:nvSpPr>
          <p:cNvPr id="37" name="Text 35"/>
          <p:cNvSpPr/>
          <p:nvPr/>
        </p:nvSpPr>
        <p:spPr>
          <a:xfrm>
            <a:off x="5234732" y="2171849"/>
            <a:ext cx="1968907" cy="133350"/>
          </a:xfrm>
          <a:prstGeom prst="rect">
            <a:avLst/>
          </a:prstGeom>
          <a:noFill/>
          <a:ln/>
        </p:spPr>
        <p:txBody>
          <a:bodyPr wrap="square" lIns="0" tIns="0" rIns="0" bIns="0" rtlCol="0" anchor="t"/>
          <a:lstStyle/>
          <a:p>
            <a:pPr algn="l" indent="0" marL="0">
              <a:spcAft>
                <a:spcPts val="300"/>
              </a:spcAft>
              <a:buNone/>
            </a:pPr>
            <a:r>
              <a:rPr lang="en-US" sz="900" b="1" dirty="0">
                <a:solidFill>
                  <a:srgbClr val="C8960C"/>
                </a:solidFill>
                <a:latin typeface="Arial" pitchFamily="34" charset="0"/>
                <a:ea typeface="Arial" pitchFamily="34" charset="-122"/>
                <a:cs typeface="Arial" pitchFamily="34" charset="-120"/>
              </a:rPr>
              <a:t>F6</a:t>
            </a:r>
            <a:endParaRPr lang="en-US" sz="900" dirty="0"/>
          </a:p>
        </p:txBody>
      </p:sp>
      <p:sp>
        <p:nvSpPr>
          <p:cNvPr id="38" name="Text 36"/>
          <p:cNvSpPr/>
          <p:nvPr/>
        </p:nvSpPr>
        <p:spPr>
          <a:xfrm>
            <a:off x="5234732" y="2343299"/>
            <a:ext cx="1968907" cy="142875"/>
          </a:xfrm>
          <a:prstGeom prst="rect">
            <a:avLst/>
          </a:prstGeom>
          <a:noFill/>
          <a:ln/>
        </p:spPr>
        <p:txBody>
          <a:bodyPr wrap="square" lIns="0" tIns="0" rIns="0" bIns="0" rtlCol="0" anchor="t"/>
          <a:lstStyle/>
          <a:p>
            <a:pPr algn="l" indent="0" marL="0">
              <a:spcAft>
                <a:spcPts val="400"/>
              </a:spcAft>
              <a:buNone/>
            </a:pPr>
            <a:r>
              <a:rPr lang="en-US" sz="1000" b="1" dirty="0">
                <a:solidFill>
                  <a:srgbClr val="023520"/>
                </a:solidFill>
                <a:latin typeface="Arial" pitchFamily="34" charset="0"/>
                <a:ea typeface="Arial" pitchFamily="34" charset="-122"/>
                <a:cs typeface="Arial" pitchFamily="34" charset="-120"/>
              </a:rPr>
              <a:t>Geographic Segmentation</a:t>
            </a:r>
            <a:endParaRPr lang="en-US" sz="1000" dirty="0"/>
          </a:p>
        </p:txBody>
      </p:sp>
      <p:sp>
        <p:nvSpPr>
          <p:cNvPr id="39" name="Text 37"/>
          <p:cNvSpPr/>
          <p:nvPr/>
        </p:nvSpPr>
        <p:spPr>
          <a:xfrm>
            <a:off x="5234732" y="2536924"/>
            <a:ext cx="1968907" cy="264021"/>
          </a:xfrm>
          <a:prstGeom prst="rect">
            <a:avLst/>
          </a:prstGeom>
          <a:noFill/>
          <a:ln/>
        </p:spPr>
        <p:txBody>
          <a:bodyPr wrap="square" lIns="0" tIns="0" rIns="0" bIns="0" rtlCol="0" anchor="t"/>
          <a:lstStyle/>
          <a:p>
            <a:pPr algn="l" indent="0" marL="0">
              <a:lnSpc>
                <a:spcPts val="1040"/>
              </a:lnSpc>
              <a:spcAft>
                <a:spcPts val="400"/>
              </a:spcAft>
              <a:buNone/>
            </a:pPr>
            <a:r>
              <a:rPr lang="en-US" sz="800" dirty="0">
                <a:solidFill>
                  <a:srgbClr val="555555"/>
                </a:solidFill>
                <a:latin typeface="Arial" pitchFamily="34" charset="0"/>
                <a:ea typeface="Arial" pitchFamily="34" charset="-122"/>
                <a:cs typeface="Arial" pitchFamily="34" charset="-120"/>
              </a:rPr>
              <a:t>South / Central / North regional index adjustments</a:t>
            </a:r>
            <a:endParaRPr lang="en-US" sz="800" dirty="0"/>
          </a:p>
        </p:txBody>
      </p:sp>
      <p:sp>
        <p:nvSpPr>
          <p:cNvPr id="40" name="Text 38"/>
          <p:cNvSpPr/>
          <p:nvPr/>
        </p:nvSpPr>
        <p:spPr>
          <a:xfrm>
            <a:off x="5234732" y="2851696"/>
            <a:ext cx="1968907" cy="114300"/>
          </a:xfrm>
          <a:prstGeom prst="rect">
            <a:avLst/>
          </a:prstGeom>
          <a:noFill/>
          <a:ln/>
        </p:spPr>
        <p:txBody>
          <a:bodyPr wrap="square" lIns="0" tIns="0" rIns="0" bIns="0" rtlCol="0" anchor="t"/>
          <a:lstStyle/>
          <a:p>
            <a:pPr algn="l" indent="0" marL="0">
              <a:buNone/>
            </a:pPr>
            <a:r>
              <a:rPr lang="en-US" sz="800" b="1" dirty="0">
                <a:solidFill>
                  <a:srgbClr val="00703C"/>
                </a:solidFill>
                <a:latin typeface="Arial" pitchFamily="34" charset="0"/>
                <a:ea typeface="Arial" pitchFamily="34" charset="-122"/>
                <a:cs typeface="Arial" pitchFamily="34" charset="-120"/>
              </a:rPr>
              <a:t>Reference</a:t>
            </a:r>
            <a:endParaRPr lang="en-US" sz="800" dirty="0"/>
          </a:p>
        </p:txBody>
      </p:sp>
      <p:sp>
        <p:nvSpPr>
          <p:cNvPr id="41" name="Text 39"/>
          <p:cNvSpPr/>
          <p:nvPr/>
        </p:nvSpPr>
        <p:spPr>
          <a:xfrm>
            <a:off x="279350" y="3207246"/>
            <a:ext cx="2257127" cy="1022747"/>
          </a:xfrm>
          <a:prstGeom prst="roundRect">
            <a:avLst>
              <a:gd name="adj" fmla="val 7451"/>
            </a:avLst>
          </a:prstGeom>
          <a:solidFill>
            <a:srgbClr val="FFFFFF"/>
          </a:solidFill>
          <a:ln/>
          <a:effectLst>
            <a:outerShdw sx="100000" sy="100000" kx="0" ky="0" algn="bl" rotWithShape="0" blurRad="50800" dist="17960" dir="2700000">
              <a:srgbClr val="000000">
                <a:alpha val="8000"/>
              </a:srgbClr>
            </a:outerShdw>
          </a:effectLst>
        </p:spPr>
        <p:txBody>
          <a:bodyPr wrap="square" rtlCol="0" anchor="ctr"/>
          <a:lstStyle/>
          <a:p>
            <a:pPr indent="0" marL="0">
              <a:buNone/>
            </a:pPr>
            <a:endParaRPr lang="en-US" dirty="0"/>
          </a:p>
        </p:txBody>
      </p:sp>
      <p:sp>
        <p:nvSpPr>
          <p:cNvPr id="42" name="Shape 40"/>
          <p:cNvSpPr/>
          <p:nvPr/>
        </p:nvSpPr>
        <p:spPr>
          <a:xfrm>
            <a:off x="303163" y="3207246"/>
            <a:ext cx="0" cy="1022747"/>
          </a:xfrm>
          <a:prstGeom prst="line">
            <a:avLst/>
          </a:prstGeom>
          <a:noFill/>
          <a:ln w="47625">
            <a:solidFill>
              <a:srgbClr val="00703C"/>
            </a:solidFill>
            <a:prstDash val="solid"/>
          </a:ln>
        </p:spPr>
      </p:sp>
      <p:sp>
        <p:nvSpPr>
          <p:cNvPr id="43" name="Text 41"/>
          <p:cNvSpPr/>
          <p:nvPr/>
        </p:nvSpPr>
        <p:spPr>
          <a:xfrm>
            <a:off x="466576" y="3321546"/>
            <a:ext cx="1968907" cy="133350"/>
          </a:xfrm>
          <a:prstGeom prst="rect">
            <a:avLst/>
          </a:prstGeom>
          <a:noFill/>
          <a:ln/>
        </p:spPr>
        <p:txBody>
          <a:bodyPr wrap="square" lIns="0" tIns="0" rIns="0" bIns="0" rtlCol="0" anchor="t"/>
          <a:lstStyle/>
          <a:p>
            <a:pPr algn="l" indent="0" marL="0">
              <a:spcAft>
                <a:spcPts val="300"/>
              </a:spcAft>
              <a:buNone/>
            </a:pPr>
            <a:r>
              <a:rPr lang="en-US" sz="900" b="1" dirty="0">
                <a:solidFill>
                  <a:srgbClr val="C8960C"/>
                </a:solidFill>
                <a:latin typeface="Arial" pitchFamily="34" charset="0"/>
                <a:ea typeface="Arial" pitchFamily="34" charset="-122"/>
                <a:cs typeface="Arial" pitchFamily="34" charset="-120"/>
              </a:rPr>
              <a:t>F7</a:t>
            </a:r>
            <a:endParaRPr lang="en-US" sz="900" dirty="0"/>
          </a:p>
        </p:txBody>
      </p:sp>
      <p:sp>
        <p:nvSpPr>
          <p:cNvPr id="44" name="Text 42"/>
          <p:cNvSpPr/>
          <p:nvPr/>
        </p:nvSpPr>
        <p:spPr>
          <a:xfrm>
            <a:off x="466576" y="3492996"/>
            <a:ext cx="1968907" cy="142875"/>
          </a:xfrm>
          <a:prstGeom prst="rect">
            <a:avLst/>
          </a:prstGeom>
          <a:noFill/>
          <a:ln/>
        </p:spPr>
        <p:txBody>
          <a:bodyPr wrap="square" lIns="0" tIns="0" rIns="0" bIns="0" rtlCol="0" anchor="t"/>
          <a:lstStyle/>
          <a:p>
            <a:pPr algn="l" indent="0" marL="0">
              <a:spcAft>
                <a:spcPts val="400"/>
              </a:spcAft>
              <a:buNone/>
            </a:pPr>
            <a:r>
              <a:rPr lang="en-US" sz="1000" b="1" dirty="0">
                <a:solidFill>
                  <a:srgbClr val="023520"/>
                </a:solidFill>
                <a:latin typeface="Arial" pitchFamily="34" charset="0"/>
                <a:ea typeface="Arial" pitchFamily="34" charset="-122"/>
                <a:cs typeface="Arial" pitchFamily="34" charset="-120"/>
              </a:rPr>
              <a:t>Base Oil Index</a:t>
            </a:r>
            <a:endParaRPr lang="en-US" sz="1000" dirty="0"/>
          </a:p>
        </p:txBody>
      </p:sp>
      <p:sp>
        <p:nvSpPr>
          <p:cNvPr id="45" name="Text 43"/>
          <p:cNvSpPr/>
          <p:nvPr/>
        </p:nvSpPr>
        <p:spPr>
          <a:xfrm>
            <a:off x="466576" y="3686621"/>
            <a:ext cx="1968907" cy="264021"/>
          </a:xfrm>
          <a:prstGeom prst="rect">
            <a:avLst/>
          </a:prstGeom>
          <a:noFill/>
          <a:ln/>
        </p:spPr>
        <p:txBody>
          <a:bodyPr wrap="square" lIns="0" tIns="0" rIns="0" bIns="0" rtlCol="0" anchor="t"/>
          <a:lstStyle/>
          <a:p>
            <a:pPr algn="l" indent="0" marL="0">
              <a:lnSpc>
                <a:spcPts val="1040"/>
              </a:lnSpc>
              <a:spcAft>
                <a:spcPts val="400"/>
              </a:spcAft>
              <a:buNone/>
            </a:pPr>
            <a:r>
              <a:rPr lang="en-US" sz="800" dirty="0">
                <a:solidFill>
                  <a:srgbClr val="555555"/>
                </a:solidFill>
                <a:latin typeface="Arial" pitchFamily="34" charset="0"/>
                <a:ea typeface="Arial" pitchFamily="34" charset="-122"/>
                <a:cs typeface="Arial" pitchFamily="34" charset="-120"/>
              </a:rPr>
              <a:t>Raw material cost floor linked to Group II/III base oil</a:t>
            </a:r>
            <a:endParaRPr lang="en-US" sz="800" dirty="0"/>
          </a:p>
        </p:txBody>
      </p:sp>
      <p:sp>
        <p:nvSpPr>
          <p:cNvPr id="46" name="Text 44"/>
          <p:cNvSpPr/>
          <p:nvPr/>
        </p:nvSpPr>
        <p:spPr>
          <a:xfrm>
            <a:off x="466576" y="4001393"/>
            <a:ext cx="1968907" cy="114300"/>
          </a:xfrm>
          <a:prstGeom prst="rect">
            <a:avLst/>
          </a:prstGeom>
          <a:noFill/>
          <a:ln/>
        </p:spPr>
        <p:txBody>
          <a:bodyPr wrap="square" lIns="0" tIns="0" rIns="0" bIns="0" rtlCol="0" anchor="t"/>
          <a:lstStyle/>
          <a:p>
            <a:pPr algn="l" indent="0" marL="0">
              <a:buNone/>
            </a:pPr>
            <a:r>
              <a:rPr lang="en-US" sz="800" b="1" dirty="0">
                <a:solidFill>
                  <a:srgbClr val="00703C"/>
                </a:solidFill>
                <a:latin typeface="Arial" pitchFamily="34" charset="0"/>
                <a:ea typeface="Arial" pitchFamily="34" charset="-122"/>
                <a:cs typeface="Arial" pitchFamily="34" charset="-120"/>
              </a:rPr>
              <a:t>Reference</a:t>
            </a:r>
            <a:endParaRPr lang="en-US" sz="800" dirty="0"/>
          </a:p>
        </p:txBody>
      </p:sp>
      <p:sp>
        <p:nvSpPr>
          <p:cNvPr id="47" name="Text 45"/>
          <p:cNvSpPr/>
          <p:nvPr/>
        </p:nvSpPr>
        <p:spPr>
          <a:xfrm>
            <a:off x="2663428" y="3207246"/>
            <a:ext cx="2257127" cy="1022747"/>
          </a:xfrm>
          <a:prstGeom prst="roundRect">
            <a:avLst>
              <a:gd name="adj" fmla="val 7451"/>
            </a:avLst>
          </a:prstGeom>
          <a:solidFill>
            <a:srgbClr val="FFFFFF"/>
          </a:solidFill>
          <a:ln/>
          <a:effectLst>
            <a:outerShdw sx="100000" sy="100000" kx="0" ky="0" algn="bl" rotWithShape="0" blurRad="50800" dist="17960" dir="2700000">
              <a:srgbClr val="000000">
                <a:alpha val="8000"/>
              </a:srgbClr>
            </a:outerShdw>
          </a:effectLst>
        </p:spPr>
        <p:txBody>
          <a:bodyPr wrap="square" rtlCol="0" anchor="ctr"/>
          <a:lstStyle/>
          <a:p>
            <a:pPr indent="0" marL="0">
              <a:buNone/>
            </a:pPr>
            <a:endParaRPr lang="en-US" dirty="0"/>
          </a:p>
        </p:txBody>
      </p:sp>
      <p:sp>
        <p:nvSpPr>
          <p:cNvPr id="48" name="Shape 46"/>
          <p:cNvSpPr/>
          <p:nvPr/>
        </p:nvSpPr>
        <p:spPr>
          <a:xfrm>
            <a:off x="2687241" y="3207246"/>
            <a:ext cx="0" cy="1022747"/>
          </a:xfrm>
          <a:prstGeom prst="line">
            <a:avLst/>
          </a:prstGeom>
          <a:noFill/>
          <a:ln w="47625">
            <a:solidFill>
              <a:srgbClr val="00703C"/>
            </a:solidFill>
            <a:prstDash val="solid"/>
          </a:ln>
        </p:spPr>
      </p:sp>
      <p:sp>
        <p:nvSpPr>
          <p:cNvPr id="49" name="Text 47"/>
          <p:cNvSpPr/>
          <p:nvPr/>
        </p:nvSpPr>
        <p:spPr>
          <a:xfrm>
            <a:off x="2850654" y="3321546"/>
            <a:ext cx="1968907" cy="133350"/>
          </a:xfrm>
          <a:prstGeom prst="rect">
            <a:avLst/>
          </a:prstGeom>
          <a:noFill/>
          <a:ln/>
        </p:spPr>
        <p:txBody>
          <a:bodyPr wrap="square" lIns="0" tIns="0" rIns="0" bIns="0" rtlCol="0" anchor="t"/>
          <a:lstStyle/>
          <a:p>
            <a:pPr algn="l" indent="0" marL="0">
              <a:spcAft>
                <a:spcPts val="300"/>
              </a:spcAft>
              <a:buNone/>
            </a:pPr>
            <a:r>
              <a:rPr lang="en-US" sz="900" b="1" dirty="0">
                <a:solidFill>
                  <a:srgbClr val="C8960C"/>
                </a:solidFill>
                <a:latin typeface="Arial" pitchFamily="34" charset="0"/>
                <a:ea typeface="Arial" pitchFamily="34" charset="-122"/>
                <a:cs typeface="Arial" pitchFamily="34" charset="-120"/>
              </a:rPr>
              <a:t>F8</a:t>
            </a:r>
            <a:endParaRPr lang="en-US" sz="900" dirty="0"/>
          </a:p>
        </p:txBody>
      </p:sp>
      <p:sp>
        <p:nvSpPr>
          <p:cNvPr id="50" name="Text 48"/>
          <p:cNvSpPr/>
          <p:nvPr/>
        </p:nvSpPr>
        <p:spPr>
          <a:xfrm>
            <a:off x="2850654" y="3492996"/>
            <a:ext cx="1968907" cy="142875"/>
          </a:xfrm>
          <a:prstGeom prst="rect">
            <a:avLst/>
          </a:prstGeom>
          <a:noFill/>
          <a:ln/>
        </p:spPr>
        <p:txBody>
          <a:bodyPr wrap="square" lIns="0" tIns="0" rIns="0" bIns="0" rtlCol="0" anchor="t"/>
          <a:lstStyle/>
          <a:p>
            <a:pPr algn="l" indent="0" marL="0">
              <a:spcAft>
                <a:spcPts val="400"/>
              </a:spcAft>
              <a:buNone/>
            </a:pPr>
            <a:r>
              <a:rPr lang="en-US" sz="1000" b="1" dirty="0">
                <a:solidFill>
                  <a:srgbClr val="023520"/>
                </a:solidFill>
                <a:latin typeface="Arial" pitchFamily="34" charset="0"/>
                <a:ea typeface="Arial" pitchFamily="34" charset="-122"/>
                <a:cs typeface="Arial" pitchFamily="34" charset="-120"/>
              </a:rPr>
              <a:t>Channel Pricing</a:t>
            </a:r>
            <a:endParaRPr lang="en-US" sz="1000" dirty="0"/>
          </a:p>
        </p:txBody>
      </p:sp>
      <p:sp>
        <p:nvSpPr>
          <p:cNvPr id="51" name="Text 49"/>
          <p:cNvSpPr/>
          <p:nvPr/>
        </p:nvSpPr>
        <p:spPr>
          <a:xfrm>
            <a:off x="2850654" y="3686621"/>
            <a:ext cx="1968907" cy="264021"/>
          </a:xfrm>
          <a:prstGeom prst="rect">
            <a:avLst/>
          </a:prstGeom>
          <a:noFill/>
          <a:ln/>
        </p:spPr>
        <p:txBody>
          <a:bodyPr wrap="square" lIns="0" tIns="0" rIns="0" bIns="0" rtlCol="0" anchor="t"/>
          <a:lstStyle/>
          <a:p>
            <a:pPr algn="l" indent="0" marL="0">
              <a:lnSpc>
                <a:spcPts val="1040"/>
              </a:lnSpc>
              <a:spcAft>
                <a:spcPts val="400"/>
              </a:spcAft>
              <a:buNone/>
            </a:pPr>
            <a:r>
              <a:rPr lang="en-US" sz="800" dirty="0">
                <a:solidFill>
                  <a:srgbClr val="555555"/>
                </a:solidFill>
                <a:latin typeface="Arial" pitchFamily="34" charset="0"/>
                <a:ea typeface="Arial" pitchFamily="34" charset="-122"/>
                <a:cs typeface="Arial" pitchFamily="34" charset="-120"/>
              </a:rPr>
              <a:t>Pump / Workshop / Distributor / Fleet price waterfall</a:t>
            </a:r>
            <a:endParaRPr lang="en-US" sz="800" dirty="0"/>
          </a:p>
        </p:txBody>
      </p:sp>
      <p:sp>
        <p:nvSpPr>
          <p:cNvPr id="52" name="Text 50"/>
          <p:cNvSpPr/>
          <p:nvPr/>
        </p:nvSpPr>
        <p:spPr>
          <a:xfrm>
            <a:off x="2850654" y="4001393"/>
            <a:ext cx="1968907" cy="114300"/>
          </a:xfrm>
          <a:prstGeom prst="rect">
            <a:avLst/>
          </a:prstGeom>
          <a:noFill/>
          <a:ln/>
        </p:spPr>
        <p:txBody>
          <a:bodyPr wrap="square" lIns="0" tIns="0" rIns="0" bIns="0" rtlCol="0" anchor="t"/>
          <a:lstStyle/>
          <a:p>
            <a:pPr algn="l" indent="0" marL="0">
              <a:buNone/>
            </a:pPr>
            <a:r>
              <a:rPr lang="en-US" sz="800" b="1" dirty="0">
                <a:solidFill>
                  <a:srgbClr val="00703C"/>
                </a:solidFill>
                <a:latin typeface="Arial" pitchFamily="34" charset="0"/>
                <a:ea typeface="Arial" pitchFamily="34" charset="-122"/>
                <a:cs typeface="Arial" pitchFamily="34" charset="-120"/>
              </a:rPr>
              <a:t>Reference</a:t>
            </a:r>
            <a:endParaRPr lang="en-US" sz="8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0" y="0"/>
            <a:ext cx="9144000" cy="536525"/>
          </a:xfrm>
          <a:prstGeom prst="rect">
            <a:avLst/>
          </a:prstGeom>
          <a:solidFill>
            <a:srgbClr val="00703C"/>
          </a:solidFill>
          <a:ln/>
        </p:spPr>
        <p:txBody>
          <a:bodyPr wrap="square" rtlCol="0" anchor="ctr"/>
          <a:lstStyle/>
          <a:p>
            <a:pPr indent="0" marL="0">
              <a:buNone/>
            </a:pPr>
            <a:endParaRPr lang="en-US" dirty="0"/>
          </a:p>
        </p:txBody>
      </p:sp>
      <p:sp>
        <p:nvSpPr>
          <p:cNvPr id="3" name="Text 1"/>
          <p:cNvSpPr/>
          <p:nvPr/>
        </p:nvSpPr>
        <p:spPr>
          <a:xfrm>
            <a:off x="355550" y="152400"/>
            <a:ext cx="3347901" cy="257175"/>
          </a:xfrm>
          <a:prstGeom prst="rect">
            <a:avLst/>
          </a:prstGeom>
          <a:noFill/>
          <a:ln/>
        </p:spPr>
        <p:txBody>
          <a:bodyPr wrap="square" lIns="0" tIns="0" rIns="0" bIns="0" rtlCol="0" anchor="t"/>
          <a:lstStyle/>
          <a:p>
            <a:pPr algn="l" indent="0" marL="0">
              <a:buNone/>
            </a:pPr>
            <a:r>
              <a:rPr lang="en-US" sz="1700" b="1" dirty="0">
                <a:solidFill>
                  <a:srgbClr val="FFFFFF"/>
                </a:solidFill>
                <a:latin typeface="Arial" pitchFamily="34" charset="0"/>
                <a:ea typeface="Arial" pitchFamily="34" charset="-122"/>
                <a:cs typeface="Arial" pitchFamily="34" charset="-120"/>
              </a:rPr>
              <a:t>F1 — Value-Based Tiering (VBT)</a:t>
            </a:r>
            <a:endParaRPr lang="en-US" sz="1700" dirty="0"/>
          </a:p>
        </p:txBody>
      </p:sp>
      <p:sp>
        <p:nvSpPr>
          <p:cNvPr id="4" name="Text 2"/>
          <p:cNvSpPr/>
          <p:nvPr/>
        </p:nvSpPr>
        <p:spPr>
          <a:xfrm>
            <a:off x="7842349" y="176213"/>
            <a:ext cx="946100" cy="209550"/>
          </a:xfrm>
          <a:prstGeom prst="roundRect">
            <a:avLst>
              <a:gd name="adj" fmla="val 18182"/>
            </a:avLst>
          </a:prstGeom>
          <a:solidFill>
            <a:srgbClr val="C8960C"/>
          </a:solidFill>
          <a:ln/>
        </p:spPr>
        <p:txBody>
          <a:bodyPr wrap="square" rtlCol="0" anchor="ctr"/>
          <a:lstStyle/>
          <a:p>
            <a:pPr indent="0" marL="0">
              <a:buNone/>
            </a:pPr>
            <a:endParaRPr lang="en-US" dirty="0"/>
          </a:p>
        </p:txBody>
      </p:sp>
      <p:sp>
        <p:nvSpPr>
          <p:cNvPr id="5" name="Text 3"/>
          <p:cNvSpPr/>
          <p:nvPr/>
        </p:nvSpPr>
        <p:spPr>
          <a:xfrm>
            <a:off x="7943850" y="214313"/>
            <a:ext cx="757961" cy="133350"/>
          </a:xfrm>
          <a:prstGeom prst="rect">
            <a:avLst/>
          </a:prstGeom>
          <a:noFill/>
          <a:ln/>
        </p:spPr>
        <p:txBody>
          <a:bodyPr wrap="square" lIns="0" tIns="0" rIns="0" bIns="0" rtlCol="0" anchor="t"/>
          <a:lstStyle/>
          <a:p>
            <a:pPr algn="l" indent="0" marL="0">
              <a:buNone/>
            </a:pPr>
            <a:r>
              <a:rPr lang="en-US" sz="900" b="1" dirty="0">
                <a:solidFill>
                  <a:srgbClr val="FFFFFF"/>
                </a:solidFill>
                <a:latin typeface="Arial" pitchFamily="34" charset="0"/>
                <a:ea typeface="Arial" pitchFamily="34" charset="-122"/>
                <a:cs typeface="Arial" pitchFamily="34" charset="-120"/>
              </a:rPr>
              <a:t>WEIGHT: 30%</a:t>
            </a:r>
            <a:endParaRPr lang="en-US" sz="900" dirty="0"/>
          </a:p>
        </p:txBody>
      </p:sp>
      <p:sp>
        <p:nvSpPr>
          <p:cNvPr id="6" name="Text 4"/>
          <p:cNvSpPr/>
          <p:nvPr/>
        </p:nvSpPr>
        <p:spPr>
          <a:xfrm>
            <a:off x="304800" y="739676"/>
            <a:ext cx="5337149" cy="114300"/>
          </a:xfrm>
          <a:prstGeom prst="rect">
            <a:avLst/>
          </a:prstGeom>
          <a:noFill/>
          <a:ln/>
        </p:spPr>
        <p:txBody>
          <a:bodyPr wrap="square" lIns="0" tIns="0" rIns="0" bIns="0" rtlCol="0" anchor="t"/>
          <a:lstStyle/>
          <a:p>
            <a:pPr algn="l" indent="0" marL="0">
              <a:spcAft>
                <a:spcPts val="1000"/>
              </a:spcAft>
              <a:buNone/>
            </a:pPr>
            <a:r>
              <a:rPr lang="en-US" sz="800" b="1" dirty="0">
                <a:solidFill>
                  <a:srgbClr val="C8960C"/>
                </a:solidFill>
                <a:latin typeface="Arial" pitchFamily="34" charset="0"/>
                <a:ea typeface="Arial" pitchFamily="34" charset="-122"/>
                <a:cs typeface="Arial" pitchFamily="34" charset="-120"/>
              </a:rPr>
              <a:t>TIER DISCOUNT APPLIED vs SHELL BENCHMARK</a:t>
            </a:r>
            <a:endParaRPr lang="en-US" sz="800" dirty="0"/>
          </a:p>
        </p:txBody>
      </p:sp>
      <p:sp>
        <p:nvSpPr>
          <p:cNvPr id="7" name="Text 5"/>
          <p:cNvSpPr/>
          <p:nvPr/>
        </p:nvSpPr>
        <p:spPr>
          <a:xfrm>
            <a:off x="304800" y="980926"/>
            <a:ext cx="5232499" cy="599777"/>
          </a:xfrm>
          <a:prstGeom prst="roundRect">
            <a:avLst>
              <a:gd name="adj" fmla="val 10587"/>
            </a:avLst>
          </a:prstGeom>
          <a:solidFill>
            <a:srgbClr val="023520"/>
          </a:solidFill>
          <a:ln/>
        </p:spPr>
        <p:txBody>
          <a:bodyPr wrap="square" rtlCol="0" anchor="ctr"/>
          <a:lstStyle/>
          <a:p>
            <a:pPr indent="0" marL="0">
              <a:buNone/>
            </a:pPr>
            <a:endParaRPr lang="en-US" dirty="0"/>
          </a:p>
        </p:txBody>
      </p:sp>
      <p:sp>
        <p:nvSpPr>
          <p:cNvPr id="8" name="Text 6"/>
          <p:cNvSpPr/>
          <p:nvPr/>
        </p:nvSpPr>
        <p:spPr>
          <a:xfrm>
            <a:off x="457200" y="1209377"/>
            <a:ext cx="4789590" cy="142875"/>
          </a:xfrm>
          <a:prstGeom prst="rect">
            <a:avLst/>
          </a:prstGeom>
          <a:noFill/>
          <a:ln/>
        </p:spPr>
        <p:txBody>
          <a:bodyPr wrap="square" lIns="0" tIns="0" rIns="0" bIns="0" rtlCol="0" anchor="t"/>
          <a:lstStyle/>
          <a:p>
            <a:pPr algn="l" indent="0" marL="0">
              <a:spcBef>
                <a:spcPts val="1000"/>
              </a:spcBef>
              <a:spcAft>
                <a:spcPts val="1000"/>
              </a:spcAft>
              <a:buNone/>
            </a:pPr>
            <a:r>
              <a:rPr lang="en-US" sz="1000" b="1" dirty="0">
                <a:solidFill>
                  <a:srgbClr val="FFFFFF"/>
                </a:solidFill>
                <a:latin typeface="Arial" pitchFamily="34" charset="0"/>
                <a:ea typeface="Arial" pitchFamily="34" charset="-122"/>
                <a:cs typeface="Arial" pitchFamily="34" charset="-120"/>
              </a:rPr>
              <a:t>Super Premium (Carient Ultra, DEO Max, DEO 8000)</a:t>
            </a:r>
            <a:endParaRPr lang="en-US" sz="1000" dirty="0"/>
          </a:p>
        </p:txBody>
      </p:sp>
      <p:sp>
        <p:nvSpPr>
          <p:cNvPr id="9" name="Text 7"/>
          <p:cNvSpPr/>
          <p:nvPr/>
        </p:nvSpPr>
        <p:spPr>
          <a:xfrm>
            <a:off x="5152876" y="1214140"/>
            <a:ext cx="236664" cy="133350"/>
          </a:xfrm>
          <a:prstGeom prst="rect">
            <a:avLst/>
          </a:prstGeom>
          <a:noFill/>
          <a:ln/>
        </p:spPr>
        <p:txBody>
          <a:bodyPr wrap="square" lIns="0" tIns="0" rIns="0" bIns="0" rtlCol="0" anchor="t"/>
          <a:lstStyle/>
          <a:p>
            <a:pPr algn="l" indent="0" marL="0">
              <a:spcBef>
                <a:spcPts val="900"/>
              </a:spcBef>
              <a:spcAft>
                <a:spcPts val="900"/>
              </a:spcAft>
              <a:buNone/>
            </a:pPr>
            <a:r>
              <a:rPr lang="en-US" sz="900" b="1" dirty="0">
                <a:solidFill>
                  <a:srgbClr val="C8960C"/>
                </a:solidFill>
                <a:latin typeface="Arial" pitchFamily="34" charset="0"/>
                <a:ea typeface="Arial" pitchFamily="34" charset="-122"/>
                <a:cs typeface="Arial" pitchFamily="34" charset="-120"/>
              </a:rPr>
              <a:t>−8%</a:t>
            </a:r>
            <a:endParaRPr lang="en-US" sz="900" dirty="0"/>
          </a:p>
        </p:txBody>
      </p:sp>
      <p:sp>
        <p:nvSpPr>
          <p:cNvPr id="10" name="Text 8"/>
          <p:cNvSpPr/>
          <p:nvPr/>
        </p:nvSpPr>
        <p:spPr>
          <a:xfrm>
            <a:off x="304800" y="1707654"/>
            <a:ext cx="5232499" cy="599777"/>
          </a:xfrm>
          <a:prstGeom prst="roundRect">
            <a:avLst>
              <a:gd name="adj" fmla="val 10587"/>
            </a:avLst>
          </a:prstGeom>
          <a:solidFill>
            <a:srgbClr val="00703C"/>
          </a:solidFill>
          <a:ln/>
        </p:spPr>
        <p:txBody>
          <a:bodyPr wrap="square" rtlCol="0" anchor="ctr"/>
          <a:lstStyle/>
          <a:p>
            <a:pPr indent="0" marL="0">
              <a:buNone/>
            </a:pPr>
            <a:endParaRPr lang="en-US" dirty="0"/>
          </a:p>
        </p:txBody>
      </p:sp>
      <p:sp>
        <p:nvSpPr>
          <p:cNvPr id="11" name="Text 9"/>
          <p:cNvSpPr/>
          <p:nvPr/>
        </p:nvSpPr>
        <p:spPr>
          <a:xfrm>
            <a:off x="457200" y="1936105"/>
            <a:ext cx="4789590" cy="142875"/>
          </a:xfrm>
          <a:prstGeom prst="rect">
            <a:avLst/>
          </a:prstGeom>
          <a:noFill/>
          <a:ln/>
        </p:spPr>
        <p:txBody>
          <a:bodyPr wrap="square" lIns="0" tIns="0" rIns="0" bIns="0" rtlCol="0" anchor="t"/>
          <a:lstStyle/>
          <a:p>
            <a:pPr algn="l" indent="0" marL="0">
              <a:spcBef>
                <a:spcPts val="1000"/>
              </a:spcBef>
              <a:spcAft>
                <a:spcPts val="1000"/>
              </a:spcAft>
              <a:buNone/>
            </a:pPr>
            <a:r>
              <a:rPr lang="en-US" sz="1000" b="1" dirty="0">
                <a:solidFill>
                  <a:srgbClr val="FFFFFF"/>
                </a:solidFill>
                <a:latin typeface="Arial" pitchFamily="34" charset="0"/>
                <a:ea typeface="Arial" pitchFamily="34" charset="-122"/>
                <a:cs typeface="Arial" pitchFamily="34" charset="-120"/>
              </a:rPr>
              <a:t>Premium (Carient FS, DEO 6000, Blaze Xtreme)</a:t>
            </a:r>
            <a:endParaRPr lang="en-US" sz="1000" dirty="0"/>
          </a:p>
        </p:txBody>
      </p:sp>
      <p:sp>
        <p:nvSpPr>
          <p:cNvPr id="12" name="Text 10"/>
          <p:cNvSpPr/>
          <p:nvPr/>
        </p:nvSpPr>
        <p:spPr>
          <a:xfrm>
            <a:off x="5152876" y="1940868"/>
            <a:ext cx="236664" cy="133350"/>
          </a:xfrm>
          <a:prstGeom prst="rect">
            <a:avLst/>
          </a:prstGeom>
          <a:noFill/>
          <a:ln/>
        </p:spPr>
        <p:txBody>
          <a:bodyPr wrap="square" lIns="0" tIns="0" rIns="0" bIns="0" rtlCol="0" anchor="t"/>
          <a:lstStyle/>
          <a:p>
            <a:pPr algn="l" indent="0" marL="0">
              <a:spcBef>
                <a:spcPts val="900"/>
              </a:spcBef>
              <a:spcAft>
                <a:spcPts val="900"/>
              </a:spcAft>
              <a:buNone/>
            </a:pPr>
            <a:r>
              <a:rPr lang="en-US" sz="900" b="1" dirty="0">
                <a:solidFill>
                  <a:srgbClr val="C8960C"/>
                </a:solidFill>
                <a:latin typeface="Arial" pitchFamily="34" charset="0"/>
                <a:ea typeface="Arial" pitchFamily="34" charset="-122"/>
                <a:cs typeface="Arial" pitchFamily="34" charset="-120"/>
              </a:rPr>
              <a:t>−6%</a:t>
            </a:r>
            <a:endParaRPr lang="en-US" sz="900" dirty="0"/>
          </a:p>
        </p:txBody>
      </p:sp>
      <p:sp>
        <p:nvSpPr>
          <p:cNvPr id="13" name="Text 11"/>
          <p:cNvSpPr/>
          <p:nvPr/>
        </p:nvSpPr>
        <p:spPr>
          <a:xfrm>
            <a:off x="304800" y="2434382"/>
            <a:ext cx="5232499" cy="618827"/>
          </a:xfrm>
          <a:prstGeom prst="roundRect">
            <a:avLst>
              <a:gd name="adj" fmla="val 10261"/>
            </a:avLst>
          </a:prstGeom>
          <a:solidFill>
            <a:srgbClr val="E8F5EE"/>
          </a:solidFill>
          <a:ln w="9525">
            <a:solidFill>
              <a:srgbClr val="00703C"/>
            </a:solidFill>
          </a:ln>
        </p:spPr>
        <p:txBody>
          <a:bodyPr wrap="square" rtlCol="0" anchor="ctr"/>
          <a:lstStyle/>
          <a:p>
            <a:pPr indent="0" marL="0">
              <a:buNone/>
            </a:pPr>
            <a:endParaRPr lang="en-US" dirty="0"/>
          </a:p>
        </p:txBody>
      </p:sp>
      <p:sp>
        <p:nvSpPr>
          <p:cNvPr id="14" name="Text 12"/>
          <p:cNvSpPr/>
          <p:nvPr/>
        </p:nvSpPr>
        <p:spPr>
          <a:xfrm>
            <a:off x="466725" y="2672358"/>
            <a:ext cx="4770159" cy="142875"/>
          </a:xfrm>
          <a:prstGeom prst="rect">
            <a:avLst/>
          </a:prstGeom>
          <a:noFill/>
          <a:ln/>
        </p:spPr>
        <p:txBody>
          <a:bodyPr wrap="square" lIns="0" tIns="0" rIns="0" bIns="0" rtlCol="0" anchor="t"/>
          <a:lstStyle/>
          <a:p>
            <a:pPr algn="l" indent="0" marL="0">
              <a:spcBef>
                <a:spcPts val="1000"/>
              </a:spcBef>
              <a:spcAft>
                <a:spcPts val="1000"/>
              </a:spcAft>
              <a:buNone/>
            </a:pPr>
            <a:r>
              <a:rPr lang="en-US" sz="1000" b="1" dirty="0">
                <a:solidFill>
                  <a:srgbClr val="023520"/>
                </a:solidFill>
                <a:latin typeface="Arial" pitchFamily="34" charset="0"/>
                <a:ea typeface="Arial" pitchFamily="34" charset="-122"/>
                <a:cs typeface="Arial" pitchFamily="34" charset="-120"/>
              </a:rPr>
              <a:t>Mainstream (Carient Plus, DEO 3000, Blaze 4T)</a:t>
            </a:r>
            <a:endParaRPr lang="en-US" sz="1000" dirty="0"/>
          </a:p>
        </p:txBody>
      </p:sp>
      <p:sp>
        <p:nvSpPr>
          <p:cNvPr id="15" name="Text 13"/>
          <p:cNvSpPr/>
          <p:nvPr/>
        </p:nvSpPr>
        <p:spPr>
          <a:xfrm>
            <a:off x="5143351" y="2677120"/>
            <a:ext cx="236664" cy="133350"/>
          </a:xfrm>
          <a:prstGeom prst="rect">
            <a:avLst/>
          </a:prstGeom>
          <a:noFill/>
          <a:ln/>
        </p:spPr>
        <p:txBody>
          <a:bodyPr wrap="square" lIns="0" tIns="0" rIns="0" bIns="0" rtlCol="0" anchor="t"/>
          <a:lstStyle/>
          <a:p>
            <a:pPr algn="l" indent="0" marL="0">
              <a:spcBef>
                <a:spcPts val="900"/>
              </a:spcBef>
              <a:spcAft>
                <a:spcPts val="900"/>
              </a:spcAft>
              <a:buNone/>
            </a:pPr>
            <a:r>
              <a:rPr lang="en-US" sz="900" b="1" dirty="0">
                <a:solidFill>
                  <a:srgbClr val="00703C"/>
                </a:solidFill>
                <a:latin typeface="Arial" pitchFamily="34" charset="0"/>
                <a:ea typeface="Arial" pitchFamily="34" charset="-122"/>
                <a:cs typeface="Arial" pitchFamily="34" charset="-120"/>
              </a:rPr>
              <a:t>−4%</a:t>
            </a:r>
            <a:endParaRPr lang="en-US" sz="900" dirty="0"/>
          </a:p>
        </p:txBody>
      </p:sp>
      <p:sp>
        <p:nvSpPr>
          <p:cNvPr id="16" name="Text 14"/>
          <p:cNvSpPr/>
          <p:nvPr/>
        </p:nvSpPr>
        <p:spPr>
          <a:xfrm>
            <a:off x="304800" y="3180159"/>
            <a:ext cx="5232499" cy="618827"/>
          </a:xfrm>
          <a:prstGeom prst="roundRect">
            <a:avLst>
              <a:gd name="adj" fmla="val 10261"/>
            </a:avLst>
          </a:prstGeom>
          <a:solidFill>
            <a:srgbClr val="F5F5F5"/>
          </a:solidFill>
          <a:ln w="9525">
            <a:solidFill>
              <a:srgbClr val="AAAAAA"/>
            </a:solidFill>
          </a:ln>
        </p:spPr>
        <p:txBody>
          <a:bodyPr wrap="square" rtlCol="0" anchor="ctr"/>
          <a:lstStyle/>
          <a:p>
            <a:pPr indent="0" marL="0">
              <a:buNone/>
            </a:pPr>
            <a:endParaRPr lang="en-US" dirty="0"/>
          </a:p>
        </p:txBody>
      </p:sp>
      <p:sp>
        <p:nvSpPr>
          <p:cNvPr id="17" name="Text 15"/>
          <p:cNvSpPr/>
          <p:nvPr/>
        </p:nvSpPr>
        <p:spPr>
          <a:xfrm>
            <a:off x="466725" y="3418136"/>
            <a:ext cx="4770159" cy="142875"/>
          </a:xfrm>
          <a:prstGeom prst="rect">
            <a:avLst/>
          </a:prstGeom>
          <a:noFill/>
          <a:ln/>
        </p:spPr>
        <p:txBody>
          <a:bodyPr wrap="square" lIns="0" tIns="0" rIns="0" bIns="0" rtlCol="0" anchor="t"/>
          <a:lstStyle/>
          <a:p>
            <a:pPr algn="l" indent="0" marL="0">
              <a:spcBef>
                <a:spcPts val="1000"/>
              </a:spcBef>
              <a:spcAft>
                <a:spcPts val="1000"/>
              </a:spcAft>
              <a:buNone/>
            </a:pPr>
            <a:r>
              <a:rPr lang="en-US" sz="1000" b="1" dirty="0">
                <a:solidFill>
                  <a:srgbClr val="023520"/>
                </a:solidFill>
                <a:latin typeface="Arial" pitchFamily="34" charset="0"/>
                <a:ea typeface="Arial" pitchFamily="34" charset="-122"/>
                <a:cs typeface="Arial" pitchFamily="34" charset="-120"/>
              </a:rPr>
              <a:t>Economy (Carient SPRO, Dieselube)</a:t>
            </a:r>
            <a:endParaRPr lang="en-US" sz="1000" dirty="0"/>
          </a:p>
        </p:txBody>
      </p:sp>
      <p:sp>
        <p:nvSpPr>
          <p:cNvPr id="18" name="Text 16"/>
          <p:cNvSpPr/>
          <p:nvPr/>
        </p:nvSpPr>
        <p:spPr>
          <a:xfrm>
            <a:off x="5143351" y="3422898"/>
            <a:ext cx="236664" cy="133350"/>
          </a:xfrm>
          <a:prstGeom prst="rect">
            <a:avLst/>
          </a:prstGeom>
          <a:noFill/>
          <a:ln/>
        </p:spPr>
        <p:txBody>
          <a:bodyPr wrap="square" lIns="0" tIns="0" rIns="0" bIns="0" rtlCol="0" anchor="t"/>
          <a:lstStyle/>
          <a:p>
            <a:pPr algn="l" indent="0" marL="0">
              <a:spcBef>
                <a:spcPts val="900"/>
              </a:spcBef>
              <a:spcAft>
                <a:spcPts val="900"/>
              </a:spcAft>
              <a:buNone/>
            </a:pPr>
            <a:r>
              <a:rPr lang="en-US" sz="900" b="1" dirty="0">
                <a:solidFill>
                  <a:srgbClr val="00703C"/>
                </a:solidFill>
                <a:latin typeface="Arial" pitchFamily="34" charset="0"/>
                <a:ea typeface="Arial" pitchFamily="34" charset="-122"/>
                <a:cs typeface="Arial" pitchFamily="34" charset="-120"/>
              </a:rPr>
              <a:t>−2%</a:t>
            </a:r>
            <a:endParaRPr lang="en-US" sz="900" dirty="0"/>
          </a:p>
        </p:txBody>
      </p:sp>
      <p:sp>
        <p:nvSpPr>
          <p:cNvPr id="19" name="Text 17"/>
          <p:cNvSpPr/>
          <p:nvPr/>
        </p:nvSpPr>
        <p:spPr>
          <a:xfrm>
            <a:off x="5791200" y="739676"/>
            <a:ext cx="3108960" cy="114300"/>
          </a:xfrm>
          <a:prstGeom prst="rect">
            <a:avLst/>
          </a:prstGeom>
          <a:noFill/>
          <a:ln/>
        </p:spPr>
        <p:txBody>
          <a:bodyPr wrap="square" lIns="0" tIns="0" rIns="0" bIns="0" rtlCol="0" anchor="t"/>
          <a:lstStyle/>
          <a:p>
            <a:pPr algn="l" indent="0" marL="0">
              <a:spcAft>
                <a:spcPts val="1000"/>
              </a:spcAft>
              <a:buNone/>
            </a:pPr>
            <a:r>
              <a:rPr lang="en-US" sz="800" b="1" dirty="0">
                <a:solidFill>
                  <a:srgbClr val="C8960C"/>
                </a:solidFill>
                <a:latin typeface="Arial" pitchFamily="34" charset="0"/>
                <a:ea typeface="Arial" pitchFamily="34" charset="-122"/>
                <a:cs typeface="Arial" pitchFamily="34" charset="-120"/>
              </a:rPr>
              <a:t>KEY INSIGHT</a:t>
            </a:r>
            <a:endParaRPr lang="en-US" sz="800" dirty="0"/>
          </a:p>
        </p:txBody>
      </p:sp>
      <p:sp>
        <p:nvSpPr>
          <p:cNvPr id="20" name="Text 18"/>
          <p:cNvSpPr/>
          <p:nvPr/>
        </p:nvSpPr>
        <p:spPr>
          <a:xfrm>
            <a:off x="5791200" y="980926"/>
            <a:ext cx="3048000" cy="1720602"/>
          </a:xfrm>
          <a:prstGeom prst="roundRect">
            <a:avLst>
              <a:gd name="adj" fmla="val 4429"/>
            </a:avLst>
          </a:prstGeom>
          <a:solidFill>
            <a:srgbClr val="023520"/>
          </a:solidFill>
          <a:ln/>
        </p:spPr>
        <p:txBody>
          <a:bodyPr wrap="square" rtlCol="0" anchor="ctr"/>
          <a:lstStyle/>
          <a:p>
            <a:pPr indent="0" marL="0">
              <a:buNone/>
            </a:pPr>
            <a:endParaRPr lang="en-US" dirty="0"/>
          </a:p>
        </p:txBody>
      </p:sp>
      <p:sp>
        <p:nvSpPr>
          <p:cNvPr id="21" name="Text 19"/>
          <p:cNvSpPr/>
          <p:nvPr/>
        </p:nvSpPr>
        <p:spPr>
          <a:xfrm>
            <a:off x="5968901" y="1158627"/>
            <a:ext cx="2746450" cy="114300"/>
          </a:xfrm>
          <a:prstGeom prst="rect">
            <a:avLst/>
          </a:prstGeom>
          <a:noFill/>
          <a:ln/>
        </p:spPr>
        <p:txBody>
          <a:bodyPr wrap="square" lIns="0" tIns="0" rIns="0" bIns="0" rtlCol="0" anchor="t"/>
          <a:lstStyle/>
          <a:p>
            <a:pPr algn="l" indent="0" marL="0">
              <a:spcAft>
                <a:spcPts val="600"/>
              </a:spcAft>
              <a:buNone/>
            </a:pPr>
            <a:r>
              <a:rPr lang="en-US" sz="800" b="1" dirty="0">
                <a:solidFill>
                  <a:srgbClr val="C8960C"/>
                </a:solidFill>
                <a:latin typeface="Arial" pitchFamily="34" charset="0"/>
                <a:ea typeface="Arial" pitchFamily="34" charset="-122"/>
                <a:cs typeface="Arial" pitchFamily="34" charset="-120"/>
              </a:rPr>
              <a:t>WHY THIS MATTERS</a:t>
            </a:r>
            <a:endParaRPr lang="en-US" sz="800" dirty="0"/>
          </a:p>
        </p:txBody>
      </p:sp>
      <p:sp>
        <p:nvSpPr>
          <p:cNvPr id="22" name="Text 20"/>
          <p:cNvSpPr/>
          <p:nvPr/>
        </p:nvSpPr>
        <p:spPr>
          <a:xfrm>
            <a:off x="5968901" y="1349127"/>
            <a:ext cx="2746450" cy="844600"/>
          </a:xfrm>
          <a:prstGeom prst="rect">
            <a:avLst/>
          </a:prstGeom>
          <a:noFill/>
          <a:ln/>
        </p:spPr>
        <p:txBody>
          <a:bodyPr wrap="square" lIns="0" tIns="0" rIns="0" bIns="0" rtlCol="0" anchor="t"/>
          <a:lstStyle/>
          <a:p>
            <a:pPr algn="l" indent="0" marL="0">
              <a:lnSpc>
                <a:spcPts val="1330"/>
              </a:lnSpc>
              <a:spcAft>
                <a:spcPts val="800"/>
              </a:spcAft>
              <a:buNone/>
            </a:pPr>
            <a:r>
              <a:rPr lang="en-US" sz="950" dirty="0">
                <a:solidFill>
                  <a:srgbClr val="FFFFFF"/>
                </a:solidFill>
                <a:latin typeface="Arial" pitchFamily="34" charset="0"/>
                <a:ea typeface="Arial" pitchFamily="34" charset="-122"/>
                <a:cs typeface="Arial" pitchFamily="34" charset="-120"/>
              </a:rPr>
              <a:t>PSO has a measurable brand perception gap vs Shell. VBT anchors PSO's recommended price at a consistent discount to Shell's equivalent grade — preserving value perception while staying competitive.</a:t>
            </a:r>
            <a:endParaRPr lang="en-US" sz="950" dirty="0"/>
          </a:p>
        </p:txBody>
      </p:sp>
      <p:sp>
        <p:nvSpPr>
          <p:cNvPr id="23" name="Text 21"/>
          <p:cNvSpPr/>
          <p:nvPr/>
        </p:nvSpPr>
        <p:spPr>
          <a:xfrm>
            <a:off x="5968901" y="2295227"/>
            <a:ext cx="2746450" cy="228600"/>
          </a:xfrm>
          <a:prstGeom prst="rect">
            <a:avLst/>
          </a:prstGeom>
          <a:noFill/>
          <a:ln/>
        </p:spPr>
        <p:txBody>
          <a:bodyPr wrap="square" lIns="0" tIns="0" rIns="0" bIns="0" rtlCol="0" anchor="t"/>
          <a:lstStyle/>
          <a:p>
            <a:pPr algn="l" indent="0" marL="0">
              <a:buNone/>
            </a:pPr>
            <a:r>
              <a:rPr lang="en-US" sz="800" dirty="0">
                <a:solidFill>
                  <a:srgbClr val="A8D5BE"/>
                </a:solidFill>
                <a:latin typeface="Arial" pitchFamily="34" charset="0"/>
                <a:ea typeface="Arial" pitchFamily="34" charset="-122"/>
                <a:cs typeface="Arial" pitchFamily="34" charset="-120"/>
              </a:rPr>
              <a:t>Discounts calibrated from consumer research benchmarks and Daraz.pk listing data (n=365 SKUs).</a:t>
            </a:r>
            <a:endParaRPr lang="en-US" sz="8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0" y="0"/>
            <a:ext cx="9144000" cy="536525"/>
          </a:xfrm>
          <a:prstGeom prst="rect">
            <a:avLst/>
          </a:prstGeom>
          <a:solidFill>
            <a:srgbClr val="00703C"/>
          </a:solidFill>
          <a:ln/>
        </p:spPr>
        <p:txBody>
          <a:bodyPr wrap="square" rtlCol="0" anchor="ctr"/>
          <a:lstStyle/>
          <a:p>
            <a:pPr indent="0" marL="0">
              <a:buNone/>
            </a:pPr>
            <a:endParaRPr lang="en-US" dirty="0"/>
          </a:p>
        </p:txBody>
      </p:sp>
      <p:sp>
        <p:nvSpPr>
          <p:cNvPr id="3" name="Text 1"/>
          <p:cNvSpPr/>
          <p:nvPr/>
        </p:nvSpPr>
        <p:spPr>
          <a:xfrm>
            <a:off x="355550" y="152400"/>
            <a:ext cx="4257514" cy="257175"/>
          </a:xfrm>
          <a:prstGeom prst="rect">
            <a:avLst/>
          </a:prstGeom>
          <a:noFill/>
          <a:ln/>
        </p:spPr>
        <p:txBody>
          <a:bodyPr wrap="square" lIns="0" tIns="0" rIns="0" bIns="0" rtlCol="0" anchor="t"/>
          <a:lstStyle/>
          <a:p>
            <a:pPr algn="l" indent="0" marL="0">
              <a:buNone/>
            </a:pPr>
            <a:r>
              <a:rPr lang="en-US" sz="1700" b="1" dirty="0">
                <a:solidFill>
                  <a:srgbClr val="FFFFFF"/>
                </a:solidFill>
                <a:latin typeface="Arial" pitchFamily="34" charset="0"/>
                <a:ea typeface="Arial" pitchFamily="34" charset="-122"/>
                <a:cs typeface="Arial" pitchFamily="34" charset="-120"/>
              </a:rPr>
              <a:t>F2 — Competitive Reference Price (CRP)</a:t>
            </a:r>
            <a:endParaRPr lang="en-US" sz="1700" dirty="0"/>
          </a:p>
        </p:txBody>
      </p:sp>
      <p:sp>
        <p:nvSpPr>
          <p:cNvPr id="4" name="Text 2"/>
          <p:cNvSpPr/>
          <p:nvPr/>
        </p:nvSpPr>
        <p:spPr>
          <a:xfrm>
            <a:off x="7842349" y="176213"/>
            <a:ext cx="946100" cy="209550"/>
          </a:xfrm>
          <a:prstGeom prst="roundRect">
            <a:avLst>
              <a:gd name="adj" fmla="val 18182"/>
            </a:avLst>
          </a:prstGeom>
          <a:solidFill>
            <a:srgbClr val="C8960C"/>
          </a:solidFill>
          <a:ln/>
        </p:spPr>
        <p:txBody>
          <a:bodyPr wrap="square" rtlCol="0" anchor="ctr"/>
          <a:lstStyle/>
          <a:p>
            <a:pPr indent="0" marL="0">
              <a:buNone/>
            </a:pPr>
            <a:endParaRPr lang="en-US" dirty="0"/>
          </a:p>
        </p:txBody>
      </p:sp>
      <p:sp>
        <p:nvSpPr>
          <p:cNvPr id="5" name="Text 3"/>
          <p:cNvSpPr/>
          <p:nvPr/>
        </p:nvSpPr>
        <p:spPr>
          <a:xfrm>
            <a:off x="7943850" y="214313"/>
            <a:ext cx="757961" cy="133350"/>
          </a:xfrm>
          <a:prstGeom prst="rect">
            <a:avLst/>
          </a:prstGeom>
          <a:noFill/>
          <a:ln/>
        </p:spPr>
        <p:txBody>
          <a:bodyPr wrap="square" lIns="0" tIns="0" rIns="0" bIns="0" rtlCol="0" anchor="t"/>
          <a:lstStyle/>
          <a:p>
            <a:pPr algn="l" indent="0" marL="0">
              <a:buNone/>
            </a:pPr>
            <a:r>
              <a:rPr lang="en-US" sz="900" b="1" dirty="0">
                <a:solidFill>
                  <a:srgbClr val="FFFFFF"/>
                </a:solidFill>
                <a:latin typeface="Arial" pitchFamily="34" charset="0"/>
                <a:ea typeface="Arial" pitchFamily="34" charset="-122"/>
                <a:cs typeface="Arial" pitchFamily="34" charset="-120"/>
              </a:rPr>
              <a:t>WEIGHT: 30%</a:t>
            </a:r>
            <a:endParaRPr lang="en-US" sz="900" dirty="0"/>
          </a:p>
        </p:txBody>
      </p:sp>
      <p:sp>
        <p:nvSpPr>
          <p:cNvPr id="6" name="Text 4"/>
          <p:cNvSpPr/>
          <p:nvPr/>
        </p:nvSpPr>
        <p:spPr>
          <a:xfrm>
            <a:off x="304800" y="1273522"/>
            <a:ext cx="2720340" cy="114300"/>
          </a:xfrm>
          <a:prstGeom prst="rect">
            <a:avLst/>
          </a:prstGeom>
          <a:noFill/>
          <a:ln/>
        </p:spPr>
        <p:txBody>
          <a:bodyPr wrap="square" lIns="0" tIns="0" rIns="0" bIns="0" rtlCol="0" anchor="t"/>
          <a:lstStyle/>
          <a:p>
            <a:pPr algn="l" indent="0" marL="0">
              <a:spcAft>
                <a:spcPts val="1000"/>
              </a:spcAft>
              <a:buNone/>
            </a:pPr>
            <a:r>
              <a:rPr lang="en-US" sz="800" b="1" dirty="0">
                <a:solidFill>
                  <a:srgbClr val="C8960C"/>
                </a:solidFill>
                <a:latin typeface="Arial" pitchFamily="34" charset="0"/>
                <a:ea typeface="Arial" pitchFamily="34" charset="-122"/>
                <a:cs typeface="Arial" pitchFamily="34" charset="-120"/>
              </a:rPr>
              <a:t>MARKET BENCHMARK</a:t>
            </a:r>
            <a:endParaRPr lang="en-US" sz="800" dirty="0"/>
          </a:p>
        </p:txBody>
      </p:sp>
      <p:sp>
        <p:nvSpPr>
          <p:cNvPr id="7" name="Text 5"/>
          <p:cNvSpPr/>
          <p:nvPr/>
        </p:nvSpPr>
        <p:spPr>
          <a:xfrm>
            <a:off x="304800" y="1514773"/>
            <a:ext cx="2720340" cy="723900"/>
          </a:xfrm>
          <a:prstGeom prst="rect">
            <a:avLst/>
          </a:prstGeom>
          <a:noFill/>
          <a:ln/>
        </p:spPr>
        <p:txBody>
          <a:bodyPr wrap="square" lIns="0" tIns="0" rIns="0" bIns="0" rtlCol="0" anchor="t"/>
          <a:lstStyle/>
          <a:p>
            <a:pPr algn="l" indent="0" marL="0">
              <a:lnSpc>
                <a:spcPts val="1425"/>
              </a:lnSpc>
              <a:spcAft>
                <a:spcPts val="1400"/>
              </a:spcAft>
              <a:buNone/>
            </a:pPr>
            <a:r>
              <a:rPr lang="en-US" sz="950" dirty="0">
                <a:solidFill>
                  <a:srgbClr val="333333"/>
                </a:solidFill>
                <a:latin typeface="Arial" pitchFamily="34" charset="0"/>
                <a:ea typeface="Arial" pitchFamily="34" charset="-122"/>
                <a:cs typeface="Arial" pitchFamily="34" charset="-120"/>
              </a:rPr>
              <a:t>PSO's recommended price targets the market median minus a brand-perception discount. Where PSO already leads on price, the CRP framework protects margin.</a:t>
            </a:r>
            <a:endParaRPr lang="en-US" sz="950" dirty="0"/>
          </a:p>
        </p:txBody>
      </p:sp>
      <p:sp>
        <p:nvSpPr>
          <p:cNvPr id="8" name="Text 6"/>
          <p:cNvSpPr/>
          <p:nvPr/>
        </p:nvSpPr>
        <p:spPr>
          <a:xfrm>
            <a:off x="304800" y="2416373"/>
            <a:ext cx="2667000" cy="536377"/>
          </a:xfrm>
          <a:prstGeom prst="roundRect">
            <a:avLst>
              <a:gd name="adj" fmla="val 7103"/>
            </a:avLst>
          </a:prstGeom>
          <a:solidFill>
            <a:srgbClr val="E8F5EE"/>
          </a:solidFill>
          <a:ln/>
        </p:spPr>
        <p:txBody>
          <a:bodyPr wrap="square" rtlCol="0" anchor="ctr"/>
          <a:lstStyle/>
          <a:p>
            <a:pPr indent="0" marL="0">
              <a:buNone/>
            </a:pPr>
            <a:endParaRPr lang="en-US" dirty="0"/>
          </a:p>
        </p:txBody>
      </p:sp>
      <p:sp>
        <p:nvSpPr>
          <p:cNvPr id="9" name="Shape 7"/>
          <p:cNvSpPr/>
          <p:nvPr/>
        </p:nvSpPr>
        <p:spPr>
          <a:xfrm>
            <a:off x="323850" y="2416373"/>
            <a:ext cx="0" cy="536377"/>
          </a:xfrm>
          <a:prstGeom prst="line">
            <a:avLst/>
          </a:prstGeom>
          <a:noFill/>
          <a:ln w="38100">
            <a:solidFill>
              <a:srgbClr val="00703C"/>
            </a:solidFill>
            <a:prstDash val="solid"/>
          </a:ln>
        </p:spPr>
      </p:sp>
      <p:sp>
        <p:nvSpPr>
          <p:cNvPr id="10" name="Text 8"/>
          <p:cNvSpPr/>
          <p:nvPr/>
        </p:nvSpPr>
        <p:spPr>
          <a:xfrm>
            <a:off x="469850" y="2517874"/>
            <a:ext cx="2422499" cy="219075"/>
          </a:xfrm>
          <a:prstGeom prst="rect">
            <a:avLst/>
          </a:prstGeom>
          <a:noFill/>
          <a:ln/>
        </p:spPr>
        <p:txBody>
          <a:bodyPr wrap="square" lIns="0" tIns="0" rIns="0" bIns="0" rtlCol="0" anchor="t"/>
          <a:lstStyle/>
          <a:p>
            <a:pPr algn="l" indent="0" marL="0">
              <a:buNone/>
            </a:pPr>
            <a:r>
              <a:rPr lang="en-US" sz="1500" b="1" dirty="0">
                <a:solidFill>
                  <a:srgbClr val="023520"/>
                </a:solidFill>
                <a:latin typeface="Arial" pitchFamily="34" charset="0"/>
                <a:ea typeface="Arial" pitchFamily="34" charset="-122"/>
                <a:cs typeface="Arial" pitchFamily="34" charset="-120"/>
              </a:rPr>
              <a:t>Rs 1,750</a:t>
            </a:r>
            <a:endParaRPr lang="en-US" sz="1500" dirty="0"/>
          </a:p>
        </p:txBody>
      </p:sp>
      <p:sp>
        <p:nvSpPr>
          <p:cNvPr id="11" name="Text 9"/>
          <p:cNvSpPr/>
          <p:nvPr/>
        </p:nvSpPr>
        <p:spPr>
          <a:xfrm>
            <a:off x="469850" y="2736949"/>
            <a:ext cx="2422499" cy="114300"/>
          </a:xfrm>
          <a:prstGeom prst="rect">
            <a:avLst/>
          </a:prstGeom>
          <a:noFill/>
          <a:ln/>
        </p:spPr>
        <p:txBody>
          <a:bodyPr wrap="square" lIns="0" tIns="0" rIns="0" bIns="0" rtlCol="0" anchor="t"/>
          <a:lstStyle/>
          <a:p>
            <a:pPr algn="l" indent="0" marL="0">
              <a:buNone/>
            </a:pPr>
            <a:r>
              <a:rPr lang="en-US" sz="800" dirty="0">
                <a:solidFill>
                  <a:srgbClr val="555555"/>
                </a:solidFill>
                <a:latin typeface="Arial" pitchFamily="34" charset="0"/>
                <a:ea typeface="Arial" pitchFamily="34" charset="-122"/>
                <a:cs typeface="Arial" pitchFamily="34" charset="-120"/>
              </a:rPr>
              <a:t>Median market price/L (15W-40)</a:t>
            </a:r>
            <a:endParaRPr lang="en-US" sz="800" dirty="0"/>
          </a:p>
        </p:txBody>
      </p:sp>
      <p:sp>
        <p:nvSpPr>
          <p:cNvPr id="12" name="Text 10"/>
          <p:cNvSpPr/>
          <p:nvPr/>
        </p:nvSpPr>
        <p:spPr>
          <a:xfrm>
            <a:off x="304800" y="3079700"/>
            <a:ext cx="2667000" cy="536377"/>
          </a:xfrm>
          <a:prstGeom prst="roundRect">
            <a:avLst>
              <a:gd name="adj" fmla="val 7103"/>
            </a:avLst>
          </a:prstGeom>
          <a:solidFill>
            <a:srgbClr val="E8F5EE"/>
          </a:solidFill>
          <a:ln/>
        </p:spPr>
        <p:txBody>
          <a:bodyPr wrap="square" rtlCol="0" anchor="ctr"/>
          <a:lstStyle/>
          <a:p>
            <a:pPr indent="0" marL="0">
              <a:buNone/>
            </a:pPr>
            <a:endParaRPr lang="en-US" dirty="0"/>
          </a:p>
        </p:txBody>
      </p:sp>
      <p:sp>
        <p:nvSpPr>
          <p:cNvPr id="13" name="Shape 11"/>
          <p:cNvSpPr/>
          <p:nvPr/>
        </p:nvSpPr>
        <p:spPr>
          <a:xfrm>
            <a:off x="323850" y="3079700"/>
            <a:ext cx="0" cy="536377"/>
          </a:xfrm>
          <a:prstGeom prst="line">
            <a:avLst/>
          </a:prstGeom>
          <a:noFill/>
          <a:ln w="38100">
            <a:solidFill>
              <a:srgbClr val="00703C"/>
            </a:solidFill>
            <a:prstDash val="solid"/>
          </a:ln>
        </p:spPr>
      </p:sp>
      <p:sp>
        <p:nvSpPr>
          <p:cNvPr id="14" name="Text 12"/>
          <p:cNvSpPr/>
          <p:nvPr/>
        </p:nvSpPr>
        <p:spPr>
          <a:xfrm>
            <a:off x="469850" y="3181201"/>
            <a:ext cx="2422499" cy="219075"/>
          </a:xfrm>
          <a:prstGeom prst="rect">
            <a:avLst/>
          </a:prstGeom>
          <a:noFill/>
          <a:ln/>
        </p:spPr>
        <p:txBody>
          <a:bodyPr wrap="square" lIns="0" tIns="0" rIns="0" bIns="0" rtlCol="0" anchor="t"/>
          <a:lstStyle/>
          <a:p>
            <a:pPr algn="l" indent="0" marL="0">
              <a:buNone/>
            </a:pPr>
            <a:r>
              <a:rPr lang="en-US" sz="1500" b="1" dirty="0">
                <a:solidFill>
                  <a:srgbClr val="023520"/>
                </a:solidFill>
                <a:latin typeface="Arial" pitchFamily="34" charset="0"/>
                <a:ea typeface="Arial" pitchFamily="34" charset="-122"/>
                <a:cs typeface="Arial" pitchFamily="34" charset="-120"/>
              </a:rPr>
              <a:t>365</a:t>
            </a:r>
            <a:endParaRPr lang="en-US" sz="1500" dirty="0"/>
          </a:p>
        </p:txBody>
      </p:sp>
      <p:sp>
        <p:nvSpPr>
          <p:cNvPr id="15" name="Text 13"/>
          <p:cNvSpPr/>
          <p:nvPr/>
        </p:nvSpPr>
        <p:spPr>
          <a:xfrm>
            <a:off x="469850" y="3400276"/>
            <a:ext cx="2422499" cy="114300"/>
          </a:xfrm>
          <a:prstGeom prst="rect">
            <a:avLst/>
          </a:prstGeom>
          <a:noFill/>
          <a:ln/>
        </p:spPr>
        <p:txBody>
          <a:bodyPr wrap="square" lIns="0" tIns="0" rIns="0" bIns="0" rtlCol="0" anchor="t"/>
          <a:lstStyle/>
          <a:p>
            <a:pPr algn="l" indent="0" marL="0">
              <a:buNone/>
            </a:pPr>
            <a:r>
              <a:rPr lang="en-US" sz="800" dirty="0">
                <a:solidFill>
                  <a:srgbClr val="555555"/>
                </a:solidFill>
                <a:latin typeface="Arial" pitchFamily="34" charset="0"/>
                <a:ea typeface="Arial" pitchFamily="34" charset="-122"/>
                <a:cs typeface="Arial" pitchFamily="34" charset="-120"/>
              </a:rPr>
              <a:t>Live listings benchmarked on Daraz.pk</a:t>
            </a:r>
            <a:endParaRPr lang="en-US" sz="800" dirty="0"/>
          </a:p>
        </p:txBody>
      </p:sp>
      <p:sp>
        <p:nvSpPr>
          <p:cNvPr id="16" name="Text 14"/>
          <p:cNvSpPr/>
          <p:nvPr/>
        </p:nvSpPr>
        <p:spPr>
          <a:xfrm>
            <a:off x="304800" y="3743027"/>
            <a:ext cx="2667000" cy="536377"/>
          </a:xfrm>
          <a:prstGeom prst="roundRect">
            <a:avLst>
              <a:gd name="adj" fmla="val 7103"/>
            </a:avLst>
          </a:prstGeom>
          <a:solidFill>
            <a:srgbClr val="E8F5EE"/>
          </a:solidFill>
          <a:ln/>
        </p:spPr>
        <p:txBody>
          <a:bodyPr wrap="square" rtlCol="0" anchor="ctr"/>
          <a:lstStyle/>
          <a:p>
            <a:pPr indent="0" marL="0">
              <a:buNone/>
            </a:pPr>
            <a:endParaRPr lang="en-US" dirty="0"/>
          </a:p>
        </p:txBody>
      </p:sp>
      <p:sp>
        <p:nvSpPr>
          <p:cNvPr id="17" name="Shape 15"/>
          <p:cNvSpPr/>
          <p:nvPr/>
        </p:nvSpPr>
        <p:spPr>
          <a:xfrm>
            <a:off x="323850" y="3743027"/>
            <a:ext cx="0" cy="536377"/>
          </a:xfrm>
          <a:prstGeom prst="line">
            <a:avLst/>
          </a:prstGeom>
          <a:noFill/>
          <a:ln w="38100">
            <a:solidFill>
              <a:srgbClr val="00703C"/>
            </a:solidFill>
            <a:prstDash val="solid"/>
          </a:ln>
        </p:spPr>
      </p:sp>
      <p:sp>
        <p:nvSpPr>
          <p:cNvPr id="18" name="Text 16"/>
          <p:cNvSpPr/>
          <p:nvPr/>
        </p:nvSpPr>
        <p:spPr>
          <a:xfrm>
            <a:off x="469850" y="3844528"/>
            <a:ext cx="2422499" cy="219075"/>
          </a:xfrm>
          <a:prstGeom prst="rect">
            <a:avLst/>
          </a:prstGeom>
          <a:noFill/>
          <a:ln/>
        </p:spPr>
        <p:txBody>
          <a:bodyPr wrap="square" lIns="0" tIns="0" rIns="0" bIns="0" rtlCol="0" anchor="t"/>
          <a:lstStyle/>
          <a:p>
            <a:pPr algn="l" indent="0" marL="0">
              <a:buNone/>
            </a:pPr>
            <a:r>
              <a:rPr lang="en-US" sz="1500" b="1" dirty="0">
                <a:solidFill>
                  <a:srgbClr val="023520"/>
                </a:solidFill>
                <a:latin typeface="Arial" pitchFamily="34" charset="0"/>
                <a:ea typeface="Arial" pitchFamily="34" charset="-122"/>
                <a:cs typeface="Arial" pitchFamily="34" charset="-120"/>
              </a:rPr>
              <a:t>7</a:t>
            </a:r>
            <a:endParaRPr lang="en-US" sz="1500" dirty="0"/>
          </a:p>
        </p:txBody>
      </p:sp>
      <p:sp>
        <p:nvSpPr>
          <p:cNvPr id="19" name="Text 17"/>
          <p:cNvSpPr/>
          <p:nvPr/>
        </p:nvSpPr>
        <p:spPr>
          <a:xfrm>
            <a:off x="469850" y="4063603"/>
            <a:ext cx="2422499" cy="114300"/>
          </a:xfrm>
          <a:prstGeom prst="rect">
            <a:avLst/>
          </a:prstGeom>
          <a:noFill/>
          <a:ln/>
        </p:spPr>
        <p:txBody>
          <a:bodyPr wrap="square" lIns="0" tIns="0" rIns="0" bIns="0" rtlCol="0" anchor="t"/>
          <a:lstStyle/>
          <a:p>
            <a:pPr algn="l" indent="0" marL="0">
              <a:buNone/>
            </a:pPr>
            <a:r>
              <a:rPr lang="en-US" sz="800" dirty="0">
                <a:solidFill>
                  <a:srgbClr val="555555"/>
                </a:solidFill>
                <a:latin typeface="Arial" pitchFamily="34" charset="0"/>
                <a:ea typeface="Arial" pitchFamily="34" charset="-122"/>
                <a:cs typeface="Arial" pitchFamily="34" charset="-120"/>
              </a:rPr>
              <a:t>Competitor brands tracked</a:t>
            </a:r>
            <a:endParaRPr lang="en-US" sz="800" dirty="0"/>
          </a:p>
        </p:txBody>
      </p:sp>
      <p:sp>
        <p:nvSpPr>
          <p:cNvPr id="20" name="Text 18"/>
          <p:cNvSpPr/>
          <p:nvPr/>
        </p:nvSpPr>
        <p:spPr>
          <a:xfrm>
            <a:off x="3174950" y="714226"/>
            <a:ext cx="5855259" cy="114300"/>
          </a:xfrm>
          <a:prstGeom prst="rect">
            <a:avLst/>
          </a:prstGeom>
          <a:noFill/>
          <a:ln/>
        </p:spPr>
        <p:txBody>
          <a:bodyPr wrap="square" lIns="0" tIns="0" rIns="0" bIns="0" rtlCol="0" anchor="t"/>
          <a:lstStyle/>
          <a:p>
            <a:pPr algn="l" indent="0" marL="0">
              <a:spcAft>
                <a:spcPts val="800"/>
              </a:spcAft>
              <a:buNone/>
            </a:pPr>
            <a:r>
              <a:rPr lang="en-US" sz="800" dirty="0">
                <a:solidFill>
                  <a:srgbClr val="555555"/>
                </a:solidFill>
                <a:latin typeface="Arial" pitchFamily="34" charset="0"/>
                <a:ea typeface="Arial" pitchFamily="34" charset="-122"/>
                <a:cs typeface="Arial" pitchFamily="34" charset="-120"/>
              </a:rPr>
              <a:t>Market Median Price/L (PKR) vs PSO Recommended Price — by Brand Group</a:t>
            </a:r>
            <a:endParaRPr lang="en-US" sz="800" dirty="0"/>
          </a:p>
        </p:txBody>
      </p:sp>
      <p:graphicFrame>
        <p:nvGraphicFramePr>
          <p:cNvPr id="21" name="Chart 0" descr=""/>
          <p:cNvGraphicFramePr/>
          <p:nvPr/>
        </p:nvGraphicFramePr>
        <p:xfrm>
          <a:off x="3174950" y="930027"/>
          <a:ext cx="5740450" cy="4035772"/>
        </p:xfrm>
        <a:graphic xmlns:a="http://schemas.openxmlformats.org/drawingml/2006/main">
          <a:graphicData uri="http://schemas.openxmlformats.org/drawingml/2006/chart">
            <c:chart xmlns:c="http://schemas.openxmlformats.org/drawingml/2006/chart" r:id="rId1"/>
          </a:graphicData>
        </a:graphic>
      </p:graphicFrame>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0" y="0"/>
            <a:ext cx="9144000" cy="536525"/>
          </a:xfrm>
          <a:prstGeom prst="rect">
            <a:avLst/>
          </a:prstGeom>
          <a:solidFill>
            <a:srgbClr val="00703C"/>
          </a:solidFill>
          <a:ln/>
        </p:spPr>
        <p:txBody>
          <a:bodyPr wrap="square" rtlCol="0" anchor="ctr"/>
          <a:lstStyle/>
          <a:p>
            <a:pPr indent="0" marL="0">
              <a:buNone/>
            </a:pPr>
            <a:endParaRPr lang="en-US" dirty="0"/>
          </a:p>
        </p:txBody>
      </p:sp>
      <p:sp>
        <p:nvSpPr>
          <p:cNvPr id="3" name="Text 1"/>
          <p:cNvSpPr/>
          <p:nvPr/>
        </p:nvSpPr>
        <p:spPr>
          <a:xfrm>
            <a:off x="355550" y="152400"/>
            <a:ext cx="3719518" cy="257175"/>
          </a:xfrm>
          <a:prstGeom prst="rect">
            <a:avLst/>
          </a:prstGeom>
          <a:noFill/>
          <a:ln/>
        </p:spPr>
        <p:txBody>
          <a:bodyPr wrap="square" lIns="0" tIns="0" rIns="0" bIns="0" rtlCol="0" anchor="t"/>
          <a:lstStyle/>
          <a:p>
            <a:pPr algn="l" indent="0" marL="0">
              <a:buNone/>
            </a:pPr>
            <a:r>
              <a:rPr lang="en-US" sz="1700" b="1" dirty="0">
                <a:solidFill>
                  <a:srgbClr val="FFFFFF"/>
                </a:solidFill>
                <a:latin typeface="Arial" pitchFamily="34" charset="0"/>
                <a:ea typeface="Arial" pitchFamily="34" charset="-122"/>
                <a:cs typeface="Arial" pitchFamily="34" charset="-120"/>
              </a:rPr>
              <a:t>F3 — Price-Pack Architecture (PPA)</a:t>
            </a:r>
            <a:endParaRPr lang="en-US" sz="1700" dirty="0"/>
          </a:p>
        </p:txBody>
      </p:sp>
      <p:sp>
        <p:nvSpPr>
          <p:cNvPr id="4" name="Text 2"/>
          <p:cNvSpPr/>
          <p:nvPr/>
        </p:nvSpPr>
        <p:spPr>
          <a:xfrm>
            <a:off x="7842349" y="176213"/>
            <a:ext cx="946100" cy="209550"/>
          </a:xfrm>
          <a:prstGeom prst="roundRect">
            <a:avLst>
              <a:gd name="adj" fmla="val 18182"/>
            </a:avLst>
          </a:prstGeom>
          <a:solidFill>
            <a:srgbClr val="C8960C"/>
          </a:solidFill>
          <a:ln/>
        </p:spPr>
        <p:txBody>
          <a:bodyPr wrap="square" rtlCol="0" anchor="ctr"/>
          <a:lstStyle/>
          <a:p>
            <a:pPr indent="0" marL="0">
              <a:buNone/>
            </a:pPr>
            <a:endParaRPr lang="en-US" dirty="0"/>
          </a:p>
        </p:txBody>
      </p:sp>
      <p:sp>
        <p:nvSpPr>
          <p:cNvPr id="5" name="Text 3"/>
          <p:cNvSpPr/>
          <p:nvPr/>
        </p:nvSpPr>
        <p:spPr>
          <a:xfrm>
            <a:off x="7943850" y="214313"/>
            <a:ext cx="757961" cy="133350"/>
          </a:xfrm>
          <a:prstGeom prst="rect">
            <a:avLst/>
          </a:prstGeom>
          <a:noFill/>
          <a:ln/>
        </p:spPr>
        <p:txBody>
          <a:bodyPr wrap="square" lIns="0" tIns="0" rIns="0" bIns="0" rtlCol="0" anchor="t"/>
          <a:lstStyle/>
          <a:p>
            <a:pPr algn="l" indent="0" marL="0">
              <a:buNone/>
            </a:pPr>
            <a:r>
              <a:rPr lang="en-US" sz="900" b="1" dirty="0">
                <a:solidFill>
                  <a:srgbClr val="FFFFFF"/>
                </a:solidFill>
                <a:latin typeface="Arial" pitchFamily="34" charset="0"/>
                <a:ea typeface="Arial" pitchFamily="34" charset="-122"/>
                <a:cs typeface="Arial" pitchFamily="34" charset="-120"/>
              </a:rPr>
              <a:t>WEIGHT: 20%</a:t>
            </a:r>
            <a:endParaRPr lang="en-US" sz="900" dirty="0"/>
          </a:p>
        </p:txBody>
      </p:sp>
      <p:sp>
        <p:nvSpPr>
          <p:cNvPr id="6" name="Text 4"/>
          <p:cNvSpPr/>
          <p:nvPr/>
        </p:nvSpPr>
        <p:spPr>
          <a:xfrm>
            <a:off x="304800" y="739676"/>
            <a:ext cx="5078170" cy="114300"/>
          </a:xfrm>
          <a:prstGeom prst="rect">
            <a:avLst/>
          </a:prstGeom>
          <a:noFill/>
          <a:ln/>
        </p:spPr>
        <p:txBody>
          <a:bodyPr wrap="square" lIns="0" tIns="0" rIns="0" bIns="0" rtlCol="0" anchor="t"/>
          <a:lstStyle/>
          <a:p>
            <a:pPr algn="l" indent="0" marL="0">
              <a:spcAft>
                <a:spcPts val="1000"/>
              </a:spcAft>
              <a:buNone/>
            </a:pPr>
            <a:r>
              <a:rPr lang="en-US" sz="800" b="1" dirty="0">
                <a:solidFill>
                  <a:srgbClr val="C8960C"/>
                </a:solidFill>
                <a:latin typeface="Arial" pitchFamily="34" charset="0"/>
                <a:ea typeface="Arial" pitchFamily="34" charset="-122"/>
                <a:cs typeface="Arial" pitchFamily="34" charset="-120"/>
              </a:rPr>
              <a:t>PACK PREMIUM LOGIC</a:t>
            </a:r>
            <a:endParaRPr lang="en-US" sz="800" dirty="0"/>
          </a:p>
        </p:txBody>
      </p:sp>
      <p:sp>
        <p:nvSpPr>
          <p:cNvPr id="7" name="Text 5"/>
          <p:cNvSpPr/>
          <p:nvPr/>
        </p:nvSpPr>
        <p:spPr>
          <a:xfrm>
            <a:off x="304800" y="980926"/>
            <a:ext cx="5078170" cy="361950"/>
          </a:xfrm>
          <a:prstGeom prst="rect">
            <a:avLst/>
          </a:prstGeom>
          <a:noFill/>
          <a:ln/>
        </p:spPr>
        <p:txBody>
          <a:bodyPr wrap="square" lIns="0" tIns="0" rIns="0" bIns="0" rtlCol="0" anchor="t"/>
          <a:lstStyle/>
          <a:p>
            <a:pPr algn="l" indent="0" marL="0">
              <a:lnSpc>
                <a:spcPts val="1425"/>
              </a:lnSpc>
              <a:spcAft>
                <a:spcPts val="1200"/>
              </a:spcAft>
              <a:buNone/>
            </a:pPr>
            <a:r>
              <a:rPr lang="en-US" sz="950" dirty="0">
                <a:solidFill>
                  <a:srgbClr val="333333"/>
                </a:solidFill>
                <a:latin typeface="Arial" pitchFamily="34" charset="0"/>
                <a:ea typeface="Arial" pitchFamily="34" charset="-122"/>
                <a:cs typeface="Arial" pitchFamily="34" charset="-120"/>
              </a:rPr>
              <a:t>Larger packs should carry a lower price-per-litre — rewarding bulk buyers while protecting per-unit margin on small packs. PPA enforces a consistent step-down curve.</a:t>
            </a:r>
            <a:endParaRPr lang="en-US" sz="950" dirty="0"/>
          </a:p>
        </p:txBody>
      </p:sp>
      <p:sp>
        <p:nvSpPr>
          <p:cNvPr id="8" name="Text 6"/>
          <p:cNvSpPr/>
          <p:nvPr/>
        </p:nvSpPr>
        <p:spPr>
          <a:xfrm>
            <a:off x="304800" y="1495276"/>
            <a:ext cx="4978598" cy="606921"/>
          </a:xfrm>
          <a:prstGeom prst="roundRect">
            <a:avLst>
              <a:gd name="adj" fmla="val 10463"/>
            </a:avLst>
          </a:prstGeom>
          <a:solidFill>
            <a:srgbClr val="023520"/>
          </a:solidFill>
          <a:ln/>
        </p:spPr>
        <p:txBody>
          <a:bodyPr wrap="square" rtlCol="0" anchor="ctr"/>
          <a:lstStyle/>
          <a:p>
            <a:pPr indent="0" marL="0">
              <a:buNone/>
            </a:pPr>
            <a:endParaRPr lang="en-US" dirty="0"/>
          </a:p>
        </p:txBody>
      </p:sp>
      <p:sp>
        <p:nvSpPr>
          <p:cNvPr id="9" name="Text 7"/>
          <p:cNvSpPr/>
          <p:nvPr/>
        </p:nvSpPr>
        <p:spPr>
          <a:xfrm>
            <a:off x="482501" y="1622227"/>
            <a:ext cx="4715661" cy="142280"/>
          </a:xfrm>
          <a:prstGeom prst="rect">
            <a:avLst/>
          </a:prstGeom>
          <a:noFill/>
          <a:ln/>
        </p:spPr>
        <p:txBody>
          <a:bodyPr wrap="square" lIns="0" tIns="0" rIns="0" bIns="0" rtlCol="0" anchor="t"/>
          <a:lstStyle/>
          <a:p>
            <a:pPr algn="l" indent="0" marL="0">
              <a:lnSpc>
                <a:spcPts val="1120"/>
              </a:lnSpc>
              <a:spcAft>
                <a:spcPts val="400"/>
              </a:spcAft>
              <a:buNone/>
            </a:pPr>
            <a:r>
              <a:rPr lang="en-US" sz="800" b="1" dirty="0">
                <a:solidFill>
                  <a:srgbClr val="C8960C"/>
                </a:solidFill>
                <a:latin typeface="Arial" pitchFamily="34" charset="0"/>
                <a:ea typeface="Arial" pitchFamily="34" charset="-122"/>
                <a:cs typeface="Arial" pitchFamily="34" charset="-120"/>
              </a:rPr>
              <a:t>STEP-DOWN RULE APPLIED</a:t>
            </a:r>
            <a:endParaRPr lang="en-US" sz="800" dirty="0"/>
          </a:p>
        </p:txBody>
      </p:sp>
      <p:sp>
        <p:nvSpPr>
          <p:cNvPr id="10" name="Text 8"/>
          <p:cNvSpPr/>
          <p:nvPr/>
        </p:nvSpPr>
        <p:spPr>
          <a:xfrm>
            <a:off x="482501" y="1815257"/>
            <a:ext cx="4715661" cy="159990"/>
          </a:xfrm>
          <a:prstGeom prst="rect">
            <a:avLst/>
          </a:prstGeom>
          <a:noFill/>
          <a:ln/>
        </p:spPr>
        <p:txBody>
          <a:bodyPr wrap="square" lIns="0" tIns="0" rIns="0" bIns="0" rtlCol="0" anchor="t"/>
          <a:lstStyle/>
          <a:p>
            <a:pPr algn="l" indent="0" marL="0">
              <a:lnSpc>
                <a:spcPts val="1260"/>
              </a:lnSpc>
              <a:buNone/>
            </a:pPr>
            <a:r>
              <a:rPr lang="en-US" sz="900" dirty="0">
                <a:solidFill>
                  <a:srgbClr val="FFFFFF"/>
                </a:solidFill>
                <a:latin typeface="Arial" pitchFamily="34" charset="0"/>
                <a:ea typeface="Arial" pitchFamily="34" charset="-122"/>
                <a:cs typeface="Arial" pitchFamily="34" charset="-120"/>
              </a:rPr>
              <a:t>0.7L → 1L: flat premium (convenience premium justified)</a:t>
            </a:r>
            <a:endParaRPr lang="en-US" sz="900" dirty="0"/>
          </a:p>
        </p:txBody>
      </p:sp>
      <p:sp>
        <p:nvSpPr>
          <p:cNvPr id="11" name="Text 9"/>
          <p:cNvSpPr/>
          <p:nvPr/>
        </p:nvSpPr>
        <p:spPr>
          <a:xfrm>
            <a:off x="304800" y="2229148"/>
            <a:ext cx="4978598" cy="606921"/>
          </a:xfrm>
          <a:prstGeom prst="roundRect">
            <a:avLst>
              <a:gd name="adj" fmla="val 10463"/>
            </a:avLst>
          </a:prstGeom>
          <a:solidFill>
            <a:srgbClr val="023520"/>
          </a:solidFill>
          <a:ln/>
        </p:spPr>
        <p:txBody>
          <a:bodyPr wrap="square" rtlCol="0" anchor="ctr"/>
          <a:lstStyle/>
          <a:p>
            <a:pPr indent="0" marL="0">
              <a:buNone/>
            </a:pPr>
            <a:endParaRPr lang="en-US" dirty="0"/>
          </a:p>
        </p:txBody>
      </p:sp>
      <p:sp>
        <p:nvSpPr>
          <p:cNvPr id="12" name="Text 10"/>
          <p:cNvSpPr/>
          <p:nvPr/>
        </p:nvSpPr>
        <p:spPr>
          <a:xfrm>
            <a:off x="482501" y="2356098"/>
            <a:ext cx="4715661" cy="142280"/>
          </a:xfrm>
          <a:prstGeom prst="rect">
            <a:avLst/>
          </a:prstGeom>
          <a:noFill/>
          <a:ln/>
        </p:spPr>
        <p:txBody>
          <a:bodyPr wrap="square" lIns="0" tIns="0" rIns="0" bIns="0" rtlCol="0" anchor="t"/>
          <a:lstStyle/>
          <a:p>
            <a:pPr algn="l" indent="0" marL="0">
              <a:lnSpc>
                <a:spcPts val="1120"/>
              </a:lnSpc>
              <a:spcAft>
                <a:spcPts val="400"/>
              </a:spcAft>
              <a:buNone/>
            </a:pPr>
            <a:r>
              <a:rPr lang="en-US" sz="800" b="1" dirty="0">
                <a:solidFill>
                  <a:srgbClr val="C8960C"/>
                </a:solidFill>
                <a:latin typeface="Arial" pitchFamily="34" charset="0"/>
                <a:ea typeface="Arial" pitchFamily="34" charset="-122"/>
                <a:cs typeface="Arial" pitchFamily="34" charset="-120"/>
              </a:rPr>
              <a:t>BULK DISCOUNT APPLIED</a:t>
            </a:r>
            <a:endParaRPr lang="en-US" sz="800" dirty="0"/>
          </a:p>
        </p:txBody>
      </p:sp>
      <p:sp>
        <p:nvSpPr>
          <p:cNvPr id="13" name="Text 11"/>
          <p:cNvSpPr/>
          <p:nvPr/>
        </p:nvSpPr>
        <p:spPr>
          <a:xfrm>
            <a:off x="482501" y="2549128"/>
            <a:ext cx="4715661" cy="159990"/>
          </a:xfrm>
          <a:prstGeom prst="rect">
            <a:avLst/>
          </a:prstGeom>
          <a:noFill/>
          <a:ln/>
        </p:spPr>
        <p:txBody>
          <a:bodyPr wrap="square" lIns="0" tIns="0" rIns="0" bIns="0" rtlCol="0" anchor="t"/>
          <a:lstStyle/>
          <a:p>
            <a:pPr algn="l" indent="0" marL="0">
              <a:lnSpc>
                <a:spcPts val="1260"/>
              </a:lnSpc>
              <a:buNone/>
            </a:pPr>
            <a:r>
              <a:rPr lang="en-US" sz="900" dirty="0">
                <a:solidFill>
                  <a:srgbClr val="FFFFFF"/>
                </a:solidFill>
                <a:latin typeface="Arial" pitchFamily="34" charset="0"/>
                <a:ea typeface="Arial" pitchFamily="34" charset="-122"/>
                <a:cs typeface="Arial" pitchFamily="34" charset="-120"/>
              </a:rPr>
              <a:t>1L → 3L: −8% per litre | 3L → 4L: −4% per litre</a:t>
            </a:r>
            <a:endParaRPr lang="en-US" sz="900" dirty="0"/>
          </a:p>
        </p:txBody>
      </p:sp>
      <p:sp>
        <p:nvSpPr>
          <p:cNvPr id="14" name="Text 12"/>
          <p:cNvSpPr/>
          <p:nvPr/>
        </p:nvSpPr>
        <p:spPr>
          <a:xfrm>
            <a:off x="5537299" y="739676"/>
            <a:ext cx="3367939" cy="114300"/>
          </a:xfrm>
          <a:prstGeom prst="rect">
            <a:avLst/>
          </a:prstGeom>
          <a:noFill/>
          <a:ln/>
        </p:spPr>
        <p:txBody>
          <a:bodyPr wrap="square" lIns="0" tIns="0" rIns="0" bIns="0" rtlCol="0" anchor="t"/>
          <a:lstStyle/>
          <a:p>
            <a:pPr algn="l" indent="0" marL="0">
              <a:spcAft>
                <a:spcPts val="600"/>
              </a:spcAft>
              <a:buNone/>
            </a:pPr>
            <a:r>
              <a:rPr lang="en-US" sz="800" dirty="0">
                <a:solidFill>
                  <a:srgbClr val="555555"/>
                </a:solidFill>
                <a:latin typeface="Arial" pitchFamily="34" charset="0"/>
                <a:ea typeface="Arial" pitchFamily="34" charset="-122"/>
                <a:cs typeface="Arial" pitchFamily="34" charset="-120"/>
              </a:rPr>
              <a:t>Carient Ultra: Recommended Price/L vs Pack Size (PKR)</a:t>
            </a:r>
            <a:endParaRPr lang="en-US" sz="800" dirty="0"/>
          </a:p>
        </p:txBody>
      </p:sp>
      <p:graphicFrame>
        <p:nvGraphicFramePr>
          <p:cNvPr id="15" name="Chart 0" descr=""/>
          <p:cNvGraphicFramePr/>
          <p:nvPr/>
        </p:nvGraphicFramePr>
        <p:xfrm>
          <a:off x="5537299" y="930176"/>
          <a:ext cx="3301901" cy="19050"/>
        </p:xfrm>
        <a:graphic xmlns:a="http://schemas.openxmlformats.org/drawingml/2006/main">
          <a:graphicData uri="http://schemas.openxmlformats.org/drawingml/2006/chart">
            <c:chart xmlns:c="http://schemas.openxmlformats.org/drawingml/2006/chart" r:id="rId1"/>
          </a:graphicData>
        </a:graphic>
      </p:graphicFrame>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0" y="0"/>
            <a:ext cx="9144000" cy="536525"/>
          </a:xfrm>
          <a:prstGeom prst="rect">
            <a:avLst/>
          </a:prstGeom>
          <a:solidFill>
            <a:srgbClr val="00703C"/>
          </a:solidFill>
          <a:ln/>
        </p:spPr>
        <p:txBody>
          <a:bodyPr wrap="square" rtlCol="0" anchor="ctr"/>
          <a:lstStyle/>
          <a:p>
            <a:pPr indent="0" marL="0">
              <a:buNone/>
            </a:pPr>
            <a:endParaRPr lang="en-US" dirty="0"/>
          </a:p>
        </p:txBody>
      </p:sp>
      <p:sp>
        <p:nvSpPr>
          <p:cNvPr id="3" name="Text 1"/>
          <p:cNvSpPr/>
          <p:nvPr/>
        </p:nvSpPr>
        <p:spPr>
          <a:xfrm>
            <a:off x="355550" y="152400"/>
            <a:ext cx="3992008" cy="257175"/>
          </a:xfrm>
          <a:prstGeom prst="rect">
            <a:avLst/>
          </a:prstGeom>
          <a:noFill/>
          <a:ln/>
        </p:spPr>
        <p:txBody>
          <a:bodyPr wrap="square" lIns="0" tIns="0" rIns="0" bIns="0" rtlCol="0" anchor="t"/>
          <a:lstStyle/>
          <a:p>
            <a:pPr algn="l" indent="0" marL="0">
              <a:buNone/>
            </a:pPr>
            <a:r>
              <a:rPr lang="en-US" sz="1700" b="1" dirty="0">
                <a:solidFill>
                  <a:srgbClr val="FFFFFF"/>
                </a:solidFill>
                <a:latin typeface="Arial" pitchFamily="34" charset="0"/>
                <a:ea typeface="Arial" pitchFamily="34" charset="-122"/>
                <a:cs typeface="Arial" pitchFamily="34" charset="-120"/>
              </a:rPr>
              <a:t>F4 — Price Waterfall (Hard Cost Floor)</a:t>
            </a:r>
            <a:endParaRPr lang="en-US" sz="1700" dirty="0"/>
          </a:p>
        </p:txBody>
      </p:sp>
      <p:sp>
        <p:nvSpPr>
          <p:cNvPr id="4" name="Text 2"/>
          <p:cNvSpPr/>
          <p:nvPr/>
        </p:nvSpPr>
        <p:spPr>
          <a:xfrm>
            <a:off x="7194649" y="176213"/>
            <a:ext cx="1593800" cy="209550"/>
          </a:xfrm>
          <a:prstGeom prst="roundRect">
            <a:avLst>
              <a:gd name="adj" fmla="val 18182"/>
            </a:avLst>
          </a:prstGeom>
          <a:solidFill>
            <a:srgbClr val="555555"/>
          </a:solidFill>
          <a:ln/>
        </p:spPr>
        <p:txBody>
          <a:bodyPr wrap="square" rtlCol="0" anchor="ctr"/>
          <a:lstStyle/>
          <a:p>
            <a:pPr indent="0" marL="0">
              <a:buNone/>
            </a:pPr>
            <a:endParaRPr lang="en-US" dirty="0"/>
          </a:p>
        </p:txBody>
      </p:sp>
      <p:sp>
        <p:nvSpPr>
          <p:cNvPr id="5" name="Text 3"/>
          <p:cNvSpPr/>
          <p:nvPr/>
        </p:nvSpPr>
        <p:spPr>
          <a:xfrm>
            <a:off x="7296150" y="214313"/>
            <a:ext cx="1418615" cy="133350"/>
          </a:xfrm>
          <a:prstGeom prst="rect">
            <a:avLst/>
          </a:prstGeom>
          <a:noFill/>
          <a:ln/>
        </p:spPr>
        <p:txBody>
          <a:bodyPr wrap="square" lIns="0" tIns="0" rIns="0" bIns="0" rtlCol="0" anchor="t"/>
          <a:lstStyle/>
          <a:p>
            <a:pPr algn="l" indent="0" marL="0">
              <a:buNone/>
            </a:pPr>
            <a:r>
              <a:rPr lang="en-US" sz="900" b="1" dirty="0">
                <a:solidFill>
                  <a:srgbClr val="FFFFFF"/>
                </a:solidFill>
                <a:latin typeface="Arial" pitchFamily="34" charset="0"/>
                <a:ea typeface="Arial" pitchFamily="34" charset="-122"/>
                <a:cs typeface="Arial" pitchFamily="34" charset="-120"/>
              </a:rPr>
              <a:t>HARD FLOOR OVERRIDE</a:t>
            </a:r>
            <a:endParaRPr lang="en-US" sz="900" dirty="0"/>
          </a:p>
        </p:txBody>
      </p:sp>
      <p:sp>
        <p:nvSpPr>
          <p:cNvPr id="6" name="Text 4"/>
          <p:cNvSpPr/>
          <p:nvPr/>
        </p:nvSpPr>
        <p:spPr>
          <a:xfrm>
            <a:off x="355550" y="1030932"/>
            <a:ext cx="5181701" cy="114300"/>
          </a:xfrm>
          <a:prstGeom prst="rect">
            <a:avLst/>
          </a:prstGeom>
          <a:noFill/>
          <a:ln/>
        </p:spPr>
        <p:txBody>
          <a:bodyPr wrap="square" lIns="0" tIns="0" rIns="0" bIns="0" rtlCol="0" anchor="t"/>
          <a:lstStyle/>
          <a:p>
            <a:pPr algn="l" indent="0" marL="0">
              <a:spcAft>
                <a:spcPts val="1200"/>
              </a:spcAft>
              <a:buNone/>
            </a:pPr>
            <a:r>
              <a:rPr lang="en-US" sz="800" b="1" dirty="0">
                <a:solidFill>
                  <a:srgbClr val="C8960C"/>
                </a:solidFill>
                <a:latin typeface="Arial" pitchFamily="34" charset="0"/>
                <a:ea typeface="Arial" pitchFamily="34" charset="-122"/>
                <a:cs typeface="Arial" pitchFamily="34" charset="-120"/>
              </a:rPr>
              <a:t>WATERFALL STRUCTURE (EXAMPLE: CARIENT PLUS 15W-40)</a:t>
            </a:r>
            <a:endParaRPr lang="en-US" sz="800" dirty="0"/>
          </a:p>
        </p:txBody>
      </p:sp>
      <p:sp>
        <p:nvSpPr>
          <p:cNvPr id="7" name="Text 5"/>
          <p:cNvSpPr/>
          <p:nvPr/>
        </p:nvSpPr>
        <p:spPr>
          <a:xfrm>
            <a:off x="355550" y="1297632"/>
            <a:ext cx="5080099" cy="564952"/>
          </a:xfrm>
          <a:prstGeom prst="roundRect">
            <a:avLst>
              <a:gd name="adj" fmla="val 8992"/>
            </a:avLst>
          </a:prstGeom>
          <a:solidFill>
            <a:srgbClr val="E8F5EE"/>
          </a:solidFill>
          <a:ln w="9525">
            <a:solidFill>
              <a:srgbClr val="00703C"/>
            </a:solidFill>
          </a:ln>
        </p:spPr>
        <p:txBody>
          <a:bodyPr wrap="square" rtlCol="0" anchor="ctr"/>
          <a:lstStyle/>
          <a:p>
            <a:pPr indent="0" marL="0">
              <a:buNone/>
            </a:pPr>
            <a:endParaRPr lang="en-US" dirty="0"/>
          </a:p>
        </p:txBody>
      </p:sp>
      <p:sp>
        <p:nvSpPr>
          <p:cNvPr id="8" name="Text 6"/>
          <p:cNvSpPr/>
          <p:nvPr/>
        </p:nvSpPr>
        <p:spPr>
          <a:xfrm>
            <a:off x="517475" y="1408658"/>
            <a:ext cx="4851374" cy="133350"/>
          </a:xfrm>
          <a:prstGeom prst="rect">
            <a:avLst/>
          </a:prstGeom>
          <a:noFill/>
          <a:ln/>
        </p:spPr>
        <p:txBody>
          <a:bodyPr wrap="square" lIns="0" tIns="0" rIns="0" bIns="0" rtlCol="0" anchor="t"/>
          <a:lstStyle/>
          <a:p>
            <a:pPr algn="l" indent="0" marL="0">
              <a:buNone/>
            </a:pPr>
            <a:r>
              <a:rPr lang="en-US" sz="900" dirty="0">
                <a:solidFill>
                  <a:srgbClr val="023520"/>
                </a:solidFill>
                <a:latin typeface="Arial" pitchFamily="34" charset="0"/>
                <a:ea typeface="Arial" pitchFamily="34" charset="-122"/>
                <a:cs typeface="Arial" pitchFamily="34" charset="-120"/>
              </a:rPr>
              <a:t>Base Oil + Additives Cost</a:t>
            </a:r>
            <a:endParaRPr lang="en-US" sz="900" dirty="0"/>
          </a:p>
        </p:txBody>
      </p:sp>
      <p:sp>
        <p:nvSpPr>
          <p:cNvPr id="9" name="Text 7"/>
          <p:cNvSpPr/>
          <p:nvPr/>
        </p:nvSpPr>
        <p:spPr>
          <a:xfrm>
            <a:off x="517475" y="1580108"/>
            <a:ext cx="4851374" cy="171450"/>
          </a:xfrm>
          <a:prstGeom prst="rect">
            <a:avLst/>
          </a:prstGeom>
          <a:noFill/>
          <a:ln/>
        </p:spPr>
        <p:txBody>
          <a:bodyPr wrap="square" lIns="0" tIns="0" rIns="0" bIns="0" rtlCol="0" anchor="t"/>
          <a:lstStyle/>
          <a:p>
            <a:pPr algn="l" indent="0" marL="0">
              <a:spcBef>
                <a:spcPts val="300"/>
              </a:spcBef>
              <a:buNone/>
            </a:pPr>
            <a:r>
              <a:rPr lang="en-US" sz="1200" b="1" dirty="0">
                <a:solidFill>
                  <a:srgbClr val="023520"/>
                </a:solidFill>
                <a:latin typeface="Arial" pitchFamily="34" charset="0"/>
                <a:ea typeface="Arial" pitchFamily="34" charset="-122"/>
                <a:cs typeface="Arial" pitchFamily="34" charset="-120"/>
              </a:rPr>
              <a:t>Rs 850/L</a:t>
            </a:r>
            <a:endParaRPr lang="en-US" sz="1200" dirty="0"/>
          </a:p>
        </p:txBody>
      </p:sp>
      <p:sp>
        <p:nvSpPr>
          <p:cNvPr id="10" name="Text 8"/>
          <p:cNvSpPr/>
          <p:nvPr/>
        </p:nvSpPr>
        <p:spPr>
          <a:xfrm>
            <a:off x="304749" y="1964085"/>
            <a:ext cx="5181701" cy="209550"/>
          </a:xfrm>
          <a:prstGeom prst="rect">
            <a:avLst/>
          </a:prstGeom>
          <a:noFill/>
          <a:ln/>
        </p:spPr>
        <p:txBody>
          <a:bodyPr wrap="square" lIns="0" tIns="0" rIns="0" bIns="0" rtlCol="0" anchor="t"/>
          <a:lstStyle/>
          <a:p>
            <a:pPr algn="ctr" indent="0" marL="0">
              <a:buNone/>
            </a:pPr>
            <a:r>
              <a:rPr lang="en-US" sz="1400" dirty="0">
                <a:solidFill>
                  <a:srgbClr val="AAAAAA"/>
                </a:solidFill>
                <a:latin typeface="Arial" pitchFamily="34" charset="0"/>
                <a:ea typeface="Arial" pitchFamily="34" charset="-122"/>
                <a:cs typeface="Arial" pitchFamily="34" charset="-120"/>
              </a:rPr>
              <a:t>+</a:t>
            </a:r>
            <a:endParaRPr lang="en-US" sz="1400" dirty="0"/>
          </a:p>
        </p:txBody>
      </p:sp>
      <p:sp>
        <p:nvSpPr>
          <p:cNvPr id="11" name="Text 9"/>
          <p:cNvSpPr/>
          <p:nvPr/>
        </p:nvSpPr>
        <p:spPr>
          <a:xfrm>
            <a:off x="355550" y="2198936"/>
            <a:ext cx="5080099" cy="564952"/>
          </a:xfrm>
          <a:prstGeom prst="roundRect">
            <a:avLst>
              <a:gd name="adj" fmla="val 8992"/>
            </a:avLst>
          </a:prstGeom>
          <a:solidFill>
            <a:srgbClr val="F0F0F0"/>
          </a:solidFill>
          <a:ln w="9525">
            <a:solidFill>
              <a:srgbClr val="AAAAAA"/>
            </a:solidFill>
          </a:ln>
        </p:spPr>
        <p:txBody>
          <a:bodyPr wrap="square" rtlCol="0" anchor="ctr"/>
          <a:lstStyle/>
          <a:p>
            <a:pPr indent="0" marL="0">
              <a:buNone/>
            </a:pPr>
            <a:endParaRPr lang="en-US" dirty="0"/>
          </a:p>
        </p:txBody>
      </p:sp>
      <p:sp>
        <p:nvSpPr>
          <p:cNvPr id="12" name="Text 10"/>
          <p:cNvSpPr/>
          <p:nvPr/>
        </p:nvSpPr>
        <p:spPr>
          <a:xfrm>
            <a:off x="517475" y="2309961"/>
            <a:ext cx="4851374" cy="133350"/>
          </a:xfrm>
          <a:prstGeom prst="rect">
            <a:avLst/>
          </a:prstGeom>
          <a:noFill/>
          <a:ln/>
        </p:spPr>
        <p:txBody>
          <a:bodyPr wrap="square" lIns="0" tIns="0" rIns="0" bIns="0" rtlCol="0" anchor="t"/>
          <a:lstStyle/>
          <a:p>
            <a:pPr algn="l" indent="0" marL="0">
              <a:buNone/>
            </a:pPr>
            <a:r>
              <a:rPr lang="en-US" sz="900" dirty="0">
                <a:solidFill>
                  <a:srgbClr val="444444"/>
                </a:solidFill>
                <a:latin typeface="Arial" pitchFamily="34" charset="0"/>
                <a:ea typeface="Arial" pitchFamily="34" charset="-122"/>
                <a:cs typeface="Arial" pitchFamily="34" charset="-120"/>
              </a:rPr>
              <a:t>Manufacturing + Fixed Overheads</a:t>
            </a:r>
            <a:endParaRPr lang="en-US" sz="900" dirty="0"/>
          </a:p>
        </p:txBody>
      </p:sp>
      <p:sp>
        <p:nvSpPr>
          <p:cNvPr id="13" name="Text 11"/>
          <p:cNvSpPr/>
          <p:nvPr/>
        </p:nvSpPr>
        <p:spPr>
          <a:xfrm>
            <a:off x="517475" y="2481411"/>
            <a:ext cx="4851374" cy="171450"/>
          </a:xfrm>
          <a:prstGeom prst="rect">
            <a:avLst/>
          </a:prstGeom>
          <a:noFill/>
          <a:ln/>
        </p:spPr>
        <p:txBody>
          <a:bodyPr wrap="square" lIns="0" tIns="0" rIns="0" bIns="0" rtlCol="0" anchor="t"/>
          <a:lstStyle/>
          <a:p>
            <a:pPr algn="l" indent="0" marL="0">
              <a:spcBef>
                <a:spcPts val="300"/>
              </a:spcBef>
              <a:buNone/>
            </a:pPr>
            <a:r>
              <a:rPr lang="en-US" sz="1200" b="1" dirty="0">
                <a:solidFill>
                  <a:srgbClr val="444444"/>
                </a:solidFill>
                <a:latin typeface="Arial" pitchFamily="34" charset="0"/>
                <a:ea typeface="Arial" pitchFamily="34" charset="-122"/>
                <a:cs typeface="Arial" pitchFamily="34" charset="-120"/>
              </a:rPr>
              <a:t>Rs 180/L</a:t>
            </a:r>
            <a:endParaRPr lang="en-US" sz="1200" dirty="0"/>
          </a:p>
        </p:txBody>
      </p:sp>
      <p:sp>
        <p:nvSpPr>
          <p:cNvPr id="14" name="Text 12"/>
          <p:cNvSpPr/>
          <p:nvPr/>
        </p:nvSpPr>
        <p:spPr>
          <a:xfrm>
            <a:off x="304749" y="2865388"/>
            <a:ext cx="5181701" cy="209550"/>
          </a:xfrm>
          <a:prstGeom prst="rect">
            <a:avLst/>
          </a:prstGeom>
          <a:noFill/>
          <a:ln/>
        </p:spPr>
        <p:txBody>
          <a:bodyPr wrap="square" lIns="0" tIns="0" rIns="0" bIns="0" rtlCol="0" anchor="t"/>
          <a:lstStyle/>
          <a:p>
            <a:pPr algn="ctr" indent="0" marL="0">
              <a:buNone/>
            </a:pPr>
            <a:r>
              <a:rPr lang="en-US" sz="1400" dirty="0">
                <a:solidFill>
                  <a:srgbClr val="AAAAAA"/>
                </a:solidFill>
                <a:latin typeface="Arial" pitchFamily="34" charset="0"/>
                <a:ea typeface="Arial" pitchFamily="34" charset="-122"/>
                <a:cs typeface="Arial" pitchFamily="34" charset="-120"/>
              </a:rPr>
              <a:t>+</a:t>
            </a:r>
            <a:endParaRPr lang="en-US" sz="1400" dirty="0"/>
          </a:p>
        </p:txBody>
      </p:sp>
      <p:sp>
        <p:nvSpPr>
          <p:cNvPr id="15" name="Text 13"/>
          <p:cNvSpPr/>
          <p:nvPr/>
        </p:nvSpPr>
        <p:spPr>
          <a:xfrm>
            <a:off x="355550" y="3100239"/>
            <a:ext cx="5080099" cy="564952"/>
          </a:xfrm>
          <a:prstGeom prst="roundRect">
            <a:avLst>
              <a:gd name="adj" fmla="val 8992"/>
            </a:avLst>
          </a:prstGeom>
          <a:solidFill>
            <a:srgbClr val="FFF8E6"/>
          </a:solidFill>
          <a:ln w="9525">
            <a:solidFill>
              <a:srgbClr val="C8960C"/>
            </a:solidFill>
          </a:ln>
        </p:spPr>
        <p:txBody>
          <a:bodyPr wrap="square" rtlCol="0" anchor="ctr"/>
          <a:lstStyle/>
          <a:p>
            <a:pPr indent="0" marL="0">
              <a:buNone/>
            </a:pPr>
            <a:endParaRPr lang="en-US" dirty="0"/>
          </a:p>
        </p:txBody>
      </p:sp>
      <p:sp>
        <p:nvSpPr>
          <p:cNvPr id="16" name="Text 14"/>
          <p:cNvSpPr/>
          <p:nvPr/>
        </p:nvSpPr>
        <p:spPr>
          <a:xfrm>
            <a:off x="517475" y="3211264"/>
            <a:ext cx="4851374" cy="133350"/>
          </a:xfrm>
          <a:prstGeom prst="rect">
            <a:avLst/>
          </a:prstGeom>
          <a:noFill/>
          <a:ln/>
        </p:spPr>
        <p:txBody>
          <a:bodyPr wrap="square" lIns="0" tIns="0" rIns="0" bIns="0" rtlCol="0" anchor="t"/>
          <a:lstStyle/>
          <a:p>
            <a:pPr algn="l" indent="0" marL="0">
              <a:buNone/>
            </a:pPr>
            <a:r>
              <a:rPr lang="en-US" sz="900" dirty="0">
                <a:solidFill>
                  <a:srgbClr val="7A5C00"/>
                </a:solidFill>
                <a:latin typeface="Arial" pitchFamily="34" charset="0"/>
                <a:ea typeface="Arial" pitchFamily="34" charset="-122"/>
                <a:cs typeface="Arial" pitchFamily="34" charset="-120"/>
              </a:rPr>
              <a:t>Target Gross Margin (20–30%)</a:t>
            </a:r>
            <a:endParaRPr lang="en-US" sz="900" dirty="0"/>
          </a:p>
        </p:txBody>
      </p:sp>
      <p:sp>
        <p:nvSpPr>
          <p:cNvPr id="17" name="Text 15"/>
          <p:cNvSpPr/>
          <p:nvPr/>
        </p:nvSpPr>
        <p:spPr>
          <a:xfrm>
            <a:off x="517475" y="3382714"/>
            <a:ext cx="4851374" cy="171450"/>
          </a:xfrm>
          <a:prstGeom prst="rect">
            <a:avLst/>
          </a:prstGeom>
          <a:noFill/>
          <a:ln/>
        </p:spPr>
        <p:txBody>
          <a:bodyPr wrap="square" lIns="0" tIns="0" rIns="0" bIns="0" rtlCol="0" anchor="t"/>
          <a:lstStyle/>
          <a:p>
            <a:pPr algn="l" indent="0" marL="0">
              <a:spcBef>
                <a:spcPts val="300"/>
              </a:spcBef>
              <a:buNone/>
            </a:pPr>
            <a:r>
              <a:rPr lang="en-US" sz="1200" b="1" dirty="0">
                <a:solidFill>
                  <a:srgbClr val="7A5C00"/>
                </a:solidFill>
                <a:latin typeface="Arial" pitchFamily="34" charset="0"/>
                <a:ea typeface="Arial" pitchFamily="34" charset="-122"/>
                <a:cs typeface="Arial" pitchFamily="34" charset="-120"/>
              </a:rPr>
              <a:t>Rs 230/L</a:t>
            </a:r>
            <a:endParaRPr lang="en-US" sz="1200" dirty="0"/>
          </a:p>
        </p:txBody>
      </p:sp>
      <p:sp>
        <p:nvSpPr>
          <p:cNvPr id="18" name="Text 16"/>
          <p:cNvSpPr/>
          <p:nvPr/>
        </p:nvSpPr>
        <p:spPr>
          <a:xfrm>
            <a:off x="304749" y="3766691"/>
            <a:ext cx="5181701" cy="209550"/>
          </a:xfrm>
          <a:prstGeom prst="rect">
            <a:avLst/>
          </a:prstGeom>
          <a:noFill/>
          <a:ln/>
        </p:spPr>
        <p:txBody>
          <a:bodyPr wrap="square" lIns="0" tIns="0" rIns="0" bIns="0" rtlCol="0" anchor="t"/>
          <a:lstStyle/>
          <a:p>
            <a:pPr algn="ctr" indent="0" marL="0">
              <a:buNone/>
            </a:pPr>
            <a:r>
              <a:rPr lang="en-US" sz="1400" dirty="0">
                <a:solidFill>
                  <a:srgbClr val="AAAAAA"/>
                </a:solidFill>
                <a:latin typeface="Arial" pitchFamily="34" charset="0"/>
                <a:ea typeface="Arial" pitchFamily="34" charset="-122"/>
                <a:cs typeface="Arial" pitchFamily="34" charset="-120"/>
              </a:rPr>
              <a:t>↓</a:t>
            </a:r>
            <a:endParaRPr lang="en-US" sz="1400" dirty="0"/>
          </a:p>
        </p:txBody>
      </p:sp>
      <p:sp>
        <p:nvSpPr>
          <p:cNvPr id="19" name="Text 17"/>
          <p:cNvSpPr/>
          <p:nvPr/>
        </p:nvSpPr>
        <p:spPr>
          <a:xfrm>
            <a:off x="355550" y="4001542"/>
            <a:ext cx="5080099" cy="545902"/>
          </a:xfrm>
          <a:prstGeom prst="roundRect">
            <a:avLst>
              <a:gd name="adj" fmla="val 9306"/>
            </a:avLst>
          </a:prstGeom>
          <a:solidFill>
            <a:srgbClr val="023520"/>
          </a:solidFill>
          <a:ln/>
        </p:spPr>
        <p:txBody>
          <a:bodyPr wrap="square" rtlCol="0" anchor="ctr"/>
          <a:lstStyle/>
          <a:p>
            <a:pPr indent="0" marL="0">
              <a:buNone/>
            </a:pPr>
            <a:endParaRPr lang="en-US" dirty="0"/>
          </a:p>
        </p:txBody>
      </p:sp>
      <p:sp>
        <p:nvSpPr>
          <p:cNvPr id="20" name="Text 18"/>
          <p:cNvSpPr/>
          <p:nvPr/>
        </p:nvSpPr>
        <p:spPr>
          <a:xfrm>
            <a:off x="507950" y="4103043"/>
            <a:ext cx="4870805" cy="133350"/>
          </a:xfrm>
          <a:prstGeom prst="rect">
            <a:avLst/>
          </a:prstGeom>
          <a:noFill/>
          <a:ln/>
        </p:spPr>
        <p:txBody>
          <a:bodyPr wrap="square" lIns="0" tIns="0" rIns="0" bIns="0" rtlCol="0" anchor="t"/>
          <a:lstStyle/>
          <a:p>
            <a:pPr algn="l" indent="0" marL="0">
              <a:buNone/>
            </a:pPr>
            <a:r>
              <a:rPr lang="en-US" sz="900" dirty="0">
                <a:solidFill>
                  <a:srgbClr val="A8D5BE"/>
                </a:solidFill>
                <a:latin typeface="Arial" pitchFamily="34" charset="0"/>
                <a:ea typeface="Arial" pitchFamily="34" charset="-122"/>
                <a:cs typeface="Arial" pitchFamily="34" charset="-120"/>
              </a:rPr>
              <a:t>Price Waterfall Floor</a:t>
            </a:r>
            <a:endParaRPr lang="en-US" sz="900" dirty="0"/>
          </a:p>
        </p:txBody>
      </p:sp>
      <p:sp>
        <p:nvSpPr>
          <p:cNvPr id="21" name="Text 19"/>
          <p:cNvSpPr/>
          <p:nvPr/>
        </p:nvSpPr>
        <p:spPr>
          <a:xfrm>
            <a:off x="507950" y="4274493"/>
            <a:ext cx="4870805" cy="171450"/>
          </a:xfrm>
          <a:prstGeom prst="rect">
            <a:avLst/>
          </a:prstGeom>
          <a:noFill/>
          <a:ln/>
        </p:spPr>
        <p:txBody>
          <a:bodyPr wrap="square" lIns="0" tIns="0" rIns="0" bIns="0" rtlCol="0" anchor="t"/>
          <a:lstStyle/>
          <a:p>
            <a:pPr algn="l" indent="0" marL="0">
              <a:spcBef>
                <a:spcPts val="300"/>
              </a:spcBef>
              <a:buNone/>
            </a:pPr>
            <a:r>
              <a:rPr lang="en-US" sz="1200" b="1" dirty="0">
                <a:solidFill>
                  <a:srgbClr val="FFFFFF"/>
                </a:solidFill>
                <a:latin typeface="Arial" pitchFamily="34" charset="0"/>
                <a:ea typeface="Arial" pitchFamily="34" charset="-122"/>
                <a:cs typeface="Arial" pitchFamily="34" charset="-120"/>
              </a:rPr>
              <a:t>Rs 1,260/L minimum</a:t>
            </a:r>
            <a:endParaRPr lang="en-US" sz="1200" dirty="0"/>
          </a:p>
        </p:txBody>
      </p:sp>
      <p:sp>
        <p:nvSpPr>
          <p:cNvPr id="22" name="Text 20"/>
          <p:cNvSpPr/>
          <p:nvPr/>
        </p:nvSpPr>
        <p:spPr>
          <a:xfrm>
            <a:off x="5740450" y="2112318"/>
            <a:ext cx="3048000" cy="1455241"/>
          </a:xfrm>
          <a:prstGeom prst="roundRect">
            <a:avLst>
              <a:gd name="adj" fmla="val 2618"/>
            </a:avLst>
          </a:prstGeom>
          <a:solidFill>
            <a:srgbClr val="F8F8F8"/>
          </a:solidFill>
          <a:ln/>
        </p:spPr>
        <p:txBody>
          <a:bodyPr wrap="square" rtlCol="0" anchor="ctr"/>
          <a:lstStyle/>
          <a:p>
            <a:pPr indent="0" marL="0">
              <a:buNone/>
            </a:pPr>
            <a:endParaRPr lang="en-US" dirty="0"/>
          </a:p>
        </p:txBody>
      </p:sp>
      <p:sp>
        <p:nvSpPr>
          <p:cNvPr id="23" name="Shape 21"/>
          <p:cNvSpPr/>
          <p:nvPr/>
        </p:nvSpPr>
        <p:spPr>
          <a:xfrm>
            <a:off x="5764262" y="2112318"/>
            <a:ext cx="0" cy="1455241"/>
          </a:xfrm>
          <a:prstGeom prst="line">
            <a:avLst/>
          </a:prstGeom>
          <a:noFill/>
          <a:ln w="47625">
            <a:solidFill>
              <a:srgbClr val="C8960C"/>
            </a:solidFill>
            <a:prstDash val="solid"/>
          </a:ln>
        </p:spPr>
      </p:sp>
      <p:sp>
        <p:nvSpPr>
          <p:cNvPr id="24" name="Text 22"/>
          <p:cNvSpPr/>
          <p:nvPr/>
        </p:nvSpPr>
        <p:spPr>
          <a:xfrm>
            <a:off x="5965775" y="2264718"/>
            <a:ext cx="2697873" cy="114300"/>
          </a:xfrm>
          <a:prstGeom prst="rect">
            <a:avLst/>
          </a:prstGeom>
          <a:noFill/>
          <a:ln/>
        </p:spPr>
        <p:txBody>
          <a:bodyPr wrap="square" lIns="0" tIns="0" rIns="0" bIns="0" rtlCol="0" anchor="t"/>
          <a:lstStyle/>
          <a:p>
            <a:pPr algn="l" indent="0" marL="0">
              <a:spcAft>
                <a:spcPts val="600"/>
              </a:spcAft>
              <a:buNone/>
            </a:pPr>
            <a:r>
              <a:rPr lang="en-US" sz="800" b="1" dirty="0">
                <a:solidFill>
                  <a:srgbClr val="C8960C"/>
                </a:solidFill>
                <a:latin typeface="Arial" pitchFamily="34" charset="0"/>
                <a:ea typeface="Arial" pitchFamily="34" charset="-122"/>
                <a:cs typeface="Arial" pitchFamily="34" charset="-120"/>
              </a:rPr>
              <a:t>WHY A HARD FLOOR?</a:t>
            </a:r>
            <a:endParaRPr lang="en-US" sz="800" dirty="0"/>
          </a:p>
        </p:txBody>
      </p:sp>
      <p:sp>
        <p:nvSpPr>
          <p:cNvPr id="25" name="Text 23"/>
          <p:cNvSpPr/>
          <p:nvPr/>
        </p:nvSpPr>
        <p:spPr>
          <a:xfrm>
            <a:off x="5965775" y="2455218"/>
            <a:ext cx="2697873" cy="959941"/>
          </a:xfrm>
          <a:prstGeom prst="rect">
            <a:avLst/>
          </a:prstGeom>
          <a:noFill/>
          <a:ln/>
        </p:spPr>
        <p:txBody>
          <a:bodyPr wrap="square" lIns="0" tIns="0" rIns="0" bIns="0" rtlCol="0" anchor="t"/>
          <a:lstStyle/>
          <a:p>
            <a:pPr algn="l" indent="0" marL="0">
              <a:lnSpc>
                <a:spcPts val="1260"/>
              </a:lnSpc>
              <a:buNone/>
            </a:pPr>
            <a:r>
              <a:rPr lang="en-US" sz="900" dirty="0">
                <a:solidFill>
                  <a:srgbClr val="333333"/>
                </a:solidFill>
                <a:latin typeface="Arial" pitchFamily="34" charset="0"/>
                <a:ea typeface="Arial" pitchFamily="34" charset="-122"/>
                <a:cs typeface="Arial" pitchFamily="34" charset="-120"/>
              </a:rPr>
              <a:t>The F4 waterfall is not a weighted input — it is an absolute override. No recommended price can fall below the cost-plus floor, regardless of what other frameworks suggest. This prevents margin inversion especially in the economy tier where competitive pressure is highest.</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0" y="0"/>
            <a:ext cx="9144000" cy="536525"/>
          </a:xfrm>
          <a:prstGeom prst="rect">
            <a:avLst/>
          </a:prstGeom>
          <a:solidFill>
            <a:srgbClr val="00703C"/>
          </a:solidFill>
          <a:ln/>
        </p:spPr>
        <p:txBody>
          <a:bodyPr wrap="square" rtlCol="0" anchor="ctr"/>
          <a:lstStyle/>
          <a:p>
            <a:pPr indent="0" marL="0">
              <a:buNone/>
            </a:pPr>
            <a:endParaRPr lang="en-US" dirty="0"/>
          </a:p>
        </p:txBody>
      </p:sp>
      <p:sp>
        <p:nvSpPr>
          <p:cNvPr id="3" name="Text 1"/>
          <p:cNvSpPr/>
          <p:nvPr/>
        </p:nvSpPr>
        <p:spPr>
          <a:xfrm>
            <a:off x="355550" y="152400"/>
            <a:ext cx="2972943" cy="257175"/>
          </a:xfrm>
          <a:prstGeom prst="rect">
            <a:avLst/>
          </a:prstGeom>
          <a:noFill/>
          <a:ln/>
        </p:spPr>
        <p:txBody>
          <a:bodyPr wrap="square" lIns="0" tIns="0" rIns="0" bIns="0" rtlCol="0" anchor="t"/>
          <a:lstStyle/>
          <a:p>
            <a:pPr algn="l" indent="0" marL="0">
              <a:buNone/>
            </a:pPr>
            <a:r>
              <a:rPr lang="en-US" sz="1700" b="1" dirty="0">
                <a:solidFill>
                  <a:srgbClr val="FFFFFF"/>
                </a:solidFill>
                <a:latin typeface="Arial" pitchFamily="34" charset="0"/>
                <a:ea typeface="Arial" pitchFamily="34" charset="-122"/>
                <a:cs typeface="Arial" pitchFamily="34" charset="-120"/>
              </a:rPr>
              <a:t>F5 — Specification Premium</a:t>
            </a:r>
            <a:endParaRPr lang="en-US" sz="1700" dirty="0"/>
          </a:p>
        </p:txBody>
      </p:sp>
      <p:sp>
        <p:nvSpPr>
          <p:cNvPr id="4" name="Text 2"/>
          <p:cNvSpPr/>
          <p:nvPr/>
        </p:nvSpPr>
        <p:spPr>
          <a:xfrm>
            <a:off x="7842349" y="176213"/>
            <a:ext cx="946100" cy="209550"/>
          </a:xfrm>
          <a:prstGeom prst="roundRect">
            <a:avLst>
              <a:gd name="adj" fmla="val 18182"/>
            </a:avLst>
          </a:prstGeom>
          <a:solidFill>
            <a:srgbClr val="C8960C"/>
          </a:solidFill>
          <a:ln/>
        </p:spPr>
        <p:txBody>
          <a:bodyPr wrap="square" rtlCol="0" anchor="ctr"/>
          <a:lstStyle/>
          <a:p>
            <a:pPr indent="0" marL="0">
              <a:buNone/>
            </a:pPr>
            <a:endParaRPr lang="en-US" dirty="0"/>
          </a:p>
        </p:txBody>
      </p:sp>
      <p:sp>
        <p:nvSpPr>
          <p:cNvPr id="5" name="Text 3"/>
          <p:cNvSpPr/>
          <p:nvPr/>
        </p:nvSpPr>
        <p:spPr>
          <a:xfrm>
            <a:off x="7943850" y="214313"/>
            <a:ext cx="757961" cy="133350"/>
          </a:xfrm>
          <a:prstGeom prst="rect">
            <a:avLst/>
          </a:prstGeom>
          <a:noFill/>
          <a:ln/>
        </p:spPr>
        <p:txBody>
          <a:bodyPr wrap="square" lIns="0" tIns="0" rIns="0" bIns="0" rtlCol="0" anchor="t"/>
          <a:lstStyle/>
          <a:p>
            <a:pPr algn="l" indent="0" marL="0">
              <a:buNone/>
            </a:pPr>
            <a:r>
              <a:rPr lang="en-US" sz="900" b="1" dirty="0">
                <a:solidFill>
                  <a:srgbClr val="FFFFFF"/>
                </a:solidFill>
                <a:latin typeface="Arial" pitchFamily="34" charset="0"/>
                <a:ea typeface="Arial" pitchFamily="34" charset="-122"/>
                <a:cs typeface="Arial" pitchFamily="34" charset="-120"/>
              </a:rPr>
              <a:t>WEIGHT: 10%</a:t>
            </a:r>
            <a:endParaRPr lang="en-US" sz="900" dirty="0"/>
          </a:p>
        </p:txBody>
      </p:sp>
      <p:sp>
        <p:nvSpPr>
          <p:cNvPr id="6" name="Text 4"/>
          <p:cNvSpPr/>
          <p:nvPr/>
        </p:nvSpPr>
        <p:spPr>
          <a:xfrm>
            <a:off x="355550" y="739676"/>
            <a:ext cx="4974640" cy="114300"/>
          </a:xfrm>
          <a:prstGeom prst="rect">
            <a:avLst/>
          </a:prstGeom>
          <a:noFill/>
          <a:ln/>
        </p:spPr>
        <p:txBody>
          <a:bodyPr wrap="square" lIns="0" tIns="0" rIns="0" bIns="0" rtlCol="0" anchor="t"/>
          <a:lstStyle/>
          <a:p>
            <a:pPr algn="l" indent="0" marL="0">
              <a:spcAft>
                <a:spcPts val="1000"/>
              </a:spcAft>
              <a:buNone/>
            </a:pPr>
            <a:r>
              <a:rPr lang="en-US" sz="800" b="1" dirty="0">
                <a:solidFill>
                  <a:srgbClr val="C8960C"/>
                </a:solidFill>
                <a:latin typeface="Arial" pitchFamily="34" charset="0"/>
                <a:ea typeface="Arial" pitchFamily="34" charset="-122"/>
                <a:cs typeface="Arial" pitchFamily="34" charset="-120"/>
              </a:rPr>
              <a:t>SPEC UPLIFT TABLE</a:t>
            </a:r>
            <a:endParaRPr lang="en-US" sz="800" dirty="0"/>
          </a:p>
        </p:txBody>
      </p:sp>
      <p:sp>
        <p:nvSpPr>
          <p:cNvPr id="7" name="Text 5"/>
          <p:cNvSpPr/>
          <p:nvPr/>
        </p:nvSpPr>
        <p:spPr>
          <a:xfrm>
            <a:off x="355550" y="980926"/>
            <a:ext cx="4877098" cy="320576"/>
          </a:xfrm>
          <a:prstGeom prst="roundRect">
            <a:avLst>
              <a:gd name="adj" fmla="val 15846"/>
            </a:avLst>
          </a:prstGeom>
          <a:solidFill>
            <a:srgbClr val="F8F8F8"/>
          </a:solidFill>
          <a:ln/>
        </p:spPr>
        <p:txBody>
          <a:bodyPr wrap="square" rtlCol="0" anchor="ctr"/>
          <a:lstStyle/>
          <a:p>
            <a:pPr indent="0" marL="0">
              <a:buNone/>
            </a:pPr>
            <a:endParaRPr lang="en-US" dirty="0"/>
          </a:p>
        </p:txBody>
      </p:sp>
      <p:sp>
        <p:nvSpPr>
          <p:cNvPr id="8" name="Shape 6"/>
          <p:cNvSpPr/>
          <p:nvPr/>
        </p:nvSpPr>
        <p:spPr>
          <a:xfrm>
            <a:off x="374600" y="980926"/>
            <a:ext cx="0" cy="320576"/>
          </a:xfrm>
          <a:prstGeom prst="line">
            <a:avLst/>
          </a:prstGeom>
          <a:noFill/>
          <a:ln w="38100">
            <a:solidFill>
              <a:srgbClr val="00703C"/>
            </a:solidFill>
            <a:prstDash val="solid"/>
          </a:ln>
        </p:spPr>
      </p:sp>
      <p:sp>
        <p:nvSpPr>
          <p:cNvPr id="9" name="Text 7"/>
          <p:cNvSpPr/>
          <p:nvPr/>
        </p:nvSpPr>
        <p:spPr>
          <a:xfrm>
            <a:off x="520601" y="1074539"/>
            <a:ext cx="4125748" cy="133350"/>
          </a:xfrm>
          <a:prstGeom prst="rect">
            <a:avLst/>
          </a:prstGeom>
          <a:noFill/>
          <a:ln/>
        </p:spPr>
        <p:txBody>
          <a:bodyPr wrap="square" lIns="0" tIns="0" rIns="0" bIns="0" rtlCol="0" anchor="t"/>
          <a:lstStyle/>
          <a:p>
            <a:pPr algn="l" indent="0" marL="0">
              <a:buNone/>
            </a:pPr>
            <a:r>
              <a:rPr lang="en-US" sz="900" b="1" dirty="0">
                <a:solidFill>
                  <a:srgbClr val="023520"/>
                </a:solidFill>
                <a:latin typeface="Arial" pitchFamily="34" charset="0"/>
                <a:ea typeface="Arial" pitchFamily="34" charset="-122"/>
                <a:cs typeface="Arial" pitchFamily="34" charset="-120"/>
              </a:rPr>
              <a:t>Full Synthetic (0W-20, 5W-20)</a:t>
            </a:r>
            <a:endParaRPr lang="en-US" sz="900" dirty="0"/>
          </a:p>
        </p:txBody>
      </p:sp>
      <p:sp>
        <p:nvSpPr>
          <p:cNvPr id="10" name="Text 8"/>
          <p:cNvSpPr/>
          <p:nvPr/>
        </p:nvSpPr>
        <p:spPr>
          <a:xfrm>
            <a:off x="4565452" y="1069777"/>
            <a:ext cx="551051" cy="142875"/>
          </a:xfrm>
          <a:prstGeom prst="rect">
            <a:avLst/>
          </a:prstGeom>
          <a:noFill/>
          <a:ln/>
        </p:spPr>
        <p:txBody>
          <a:bodyPr wrap="square" lIns="0" tIns="0" rIns="0" bIns="0" rtlCol="0" anchor="t"/>
          <a:lstStyle/>
          <a:p>
            <a:pPr algn="l" indent="0" marL="0">
              <a:buNone/>
            </a:pPr>
            <a:r>
              <a:rPr lang="en-US" sz="1000" b="1" dirty="0">
                <a:solidFill>
                  <a:srgbClr val="C8960C"/>
                </a:solidFill>
                <a:latin typeface="Arial" pitchFamily="34" charset="0"/>
                <a:ea typeface="Arial" pitchFamily="34" charset="-122"/>
                <a:cs typeface="Arial" pitchFamily="34" charset="-120"/>
              </a:rPr>
              <a:t>+25–30%</a:t>
            </a:r>
            <a:endParaRPr lang="en-US" sz="1000" dirty="0"/>
          </a:p>
        </p:txBody>
      </p:sp>
      <p:sp>
        <p:nvSpPr>
          <p:cNvPr id="11" name="Text 9"/>
          <p:cNvSpPr/>
          <p:nvPr/>
        </p:nvSpPr>
        <p:spPr>
          <a:xfrm>
            <a:off x="355550" y="1403003"/>
            <a:ext cx="4877098" cy="320576"/>
          </a:xfrm>
          <a:prstGeom prst="roundRect">
            <a:avLst>
              <a:gd name="adj" fmla="val 15846"/>
            </a:avLst>
          </a:prstGeom>
          <a:solidFill>
            <a:srgbClr val="F8F8F8"/>
          </a:solidFill>
          <a:ln/>
        </p:spPr>
        <p:txBody>
          <a:bodyPr wrap="square" rtlCol="0" anchor="ctr"/>
          <a:lstStyle/>
          <a:p>
            <a:pPr indent="0" marL="0">
              <a:buNone/>
            </a:pPr>
            <a:endParaRPr lang="en-US" dirty="0"/>
          </a:p>
        </p:txBody>
      </p:sp>
      <p:sp>
        <p:nvSpPr>
          <p:cNvPr id="12" name="Shape 10"/>
          <p:cNvSpPr/>
          <p:nvPr/>
        </p:nvSpPr>
        <p:spPr>
          <a:xfrm>
            <a:off x="374600" y="1403003"/>
            <a:ext cx="0" cy="320576"/>
          </a:xfrm>
          <a:prstGeom prst="line">
            <a:avLst/>
          </a:prstGeom>
          <a:noFill/>
          <a:ln w="38100">
            <a:solidFill>
              <a:srgbClr val="00703C"/>
            </a:solidFill>
            <a:prstDash val="solid"/>
          </a:ln>
        </p:spPr>
      </p:sp>
      <p:sp>
        <p:nvSpPr>
          <p:cNvPr id="13" name="Text 11"/>
          <p:cNvSpPr/>
          <p:nvPr/>
        </p:nvSpPr>
        <p:spPr>
          <a:xfrm>
            <a:off x="520601" y="1496616"/>
            <a:ext cx="4125748" cy="133350"/>
          </a:xfrm>
          <a:prstGeom prst="rect">
            <a:avLst/>
          </a:prstGeom>
          <a:noFill/>
          <a:ln/>
        </p:spPr>
        <p:txBody>
          <a:bodyPr wrap="square" lIns="0" tIns="0" rIns="0" bIns="0" rtlCol="0" anchor="t"/>
          <a:lstStyle/>
          <a:p>
            <a:pPr algn="l" indent="0" marL="0">
              <a:buNone/>
            </a:pPr>
            <a:r>
              <a:rPr lang="en-US" sz="900" b="1" dirty="0">
                <a:solidFill>
                  <a:srgbClr val="023520"/>
                </a:solidFill>
                <a:latin typeface="Arial" pitchFamily="34" charset="0"/>
                <a:ea typeface="Arial" pitchFamily="34" charset="-122"/>
                <a:cs typeface="Arial" pitchFamily="34" charset="-120"/>
              </a:rPr>
              <a:t>Full Synthetic (5W-30, 5W-40)</a:t>
            </a:r>
            <a:endParaRPr lang="en-US" sz="900" dirty="0"/>
          </a:p>
        </p:txBody>
      </p:sp>
      <p:sp>
        <p:nvSpPr>
          <p:cNvPr id="14" name="Text 12"/>
          <p:cNvSpPr/>
          <p:nvPr/>
        </p:nvSpPr>
        <p:spPr>
          <a:xfrm>
            <a:off x="4565452" y="1491853"/>
            <a:ext cx="551051" cy="142875"/>
          </a:xfrm>
          <a:prstGeom prst="rect">
            <a:avLst/>
          </a:prstGeom>
          <a:noFill/>
          <a:ln/>
        </p:spPr>
        <p:txBody>
          <a:bodyPr wrap="square" lIns="0" tIns="0" rIns="0" bIns="0" rtlCol="0" anchor="t"/>
          <a:lstStyle/>
          <a:p>
            <a:pPr algn="l" indent="0" marL="0">
              <a:buNone/>
            </a:pPr>
            <a:r>
              <a:rPr lang="en-US" sz="1000" b="1" dirty="0">
                <a:solidFill>
                  <a:srgbClr val="C8960C"/>
                </a:solidFill>
                <a:latin typeface="Arial" pitchFamily="34" charset="0"/>
                <a:ea typeface="Arial" pitchFamily="34" charset="-122"/>
                <a:cs typeface="Arial" pitchFamily="34" charset="-120"/>
              </a:rPr>
              <a:t>+18–22%</a:t>
            </a:r>
            <a:endParaRPr lang="en-US" sz="1000" dirty="0"/>
          </a:p>
        </p:txBody>
      </p:sp>
      <p:sp>
        <p:nvSpPr>
          <p:cNvPr id="15" name="Text 13"/>
          <p:cNvSpPr/>
          <p:nvPr/>
        </p:nvSpPr>
        <p:spPr>
          <a:xfrm>
            <a:off x="355550" y="1825079"/>
            <a:ext cx="4877098" cy="320576"/>
          </a:xfrm>
          <a:prstGeom prst="roundRect">
            <a:avLst>
              <a:gd name="adj" fmla="val 15846"/>
            </a:avLst>
          </a:prstGeom>
          <a:solidFill>
            <a:srgbClr val="F8F8F8"/>
          </a:solidFill>
          <a:ln/>
        </p:spPr>
        <p:txBody>
          <a:bodyPr wrap="square" rtlCol="0" anchor="ctr"/>
          <a:lstStyle/>
          <a:p>
            <a:pPr indent="0" marL="0">
              <a:buNone/>
            </a:pPr>
            <a:endParaRPr lang="en-US" dirty="0"/>
          </a:p>
        </p:txBody>
      </p:sp>
      <p:sp>
        <p:nvSpPr>
          <p:cNvPr id="16" name="Shape 14"/>
          <p:cNvSpPr/>
          <p:nvPr/>
        </p:nvSpPr>
        <p:spPr>
          <a:xfrm>
            <a:off x="374600" y="1825079"/>
            <a:ext cx="0" cy="320576"/>
          </a:xfrm>
          <a:prstGeom prst="line">
            <a:avLst/>
          </a:prstGeom>
          <a:noFill/>
          <a:ln w="38100">
            <a:solidFill>
              <a:srgbClr val="00703C"/>
            </a:solidFill>
            <a:prstDash val="solid"/>
          </a:ln>
        </p:spPr>
      </p:sp>
      <p:sp>
        <p:nvSpPr>
          <p:cNvPr id="17" name="Text 15"/>
          <p:cNvSpPr/>
          <p:nvPr/>
        </p:nvSpPr>
        <p:spPr>
          <a:xfrm>
            <a:off x="520601" y="1918692"/>
            <a:ext cx="4125748" cy="133350"/>
          </a:xfrm>
          <a:prstGeom prst="rect">
            <a:avLst/>
          </a:prstGeom>
          <a:noFill/>
          <a:ln/>
        </p:spPr>
        <p:txBody>
          <a:bodyPr wrap="square" lIns="0" tIns="0" rIns="0" bIns="0" rtlCol="0" anchor="t"/>
          <a:lstStyle/>
          <a:p>
            <a:pPr algn="l" indent="0" marL="0">
              <a:buNone/>
            </a:pPr>
            <a:r>
              <a:rPr lang="en-US" sz="900" b="1" dirty="0">
                <a:solidFill>
                  <a:srgbClr val="023520"/>
                </a:solidFill>
                <a:latin typeface="Arial" pitchFamily="34" charset="0"/>
                <a:ea typeface="Arial" pitchFamily="34" charset="-122"/>
                <a:cs typeface="Arial" pitchFamily="34" charset="-120"/>
              </a:rPr>
              <a:t>Semi-Synthetic (10W-40)</a:t>
            </a:r>
            <a:endParaRPr lang="en-US" sz="900" dirty="0"/>
          </a:p>
        </p:txBody>
      </p:sp>
      <p:sp>
        <p:nvSpPr>
          <p:cNvPr id="18" name="Text 16"/>
          <p:cNvSpPr/>
          <p:nvPr/>
        </p:nvSpPr>
        <p:spPr>
          <a:xfrm>
            <a:off x="4565452" y="1913930"/>
            <a:ext cx="551051" cy="142875"/>
          </a:xfrm>
          <a:prstGeom prst="rect">
            <a:avLst/>
          </a:prstGeom>
          <a:noFill/>
          <a:ln/>
        </p:spPr>
        <p:txBody>
          <a:bodyPr wrap="square" lIns="0" tIns="0" rIns="0" bIns="0" rtlCol="0" anchor="t"/>
          <a:lstStyle/>
          <a:p>
            <a:pPr algn="l" indent="0" marL="0">
              <a:buNone/>
            </a:pPr>
            <a:r>
              <a:rPr lang="en-US" sz="1000" b="1" dirty="0">
                <a:solidFill>
                  <a:srgbClr val="C8960C"/>
                </a:solidFill>
                <a:latin typeface="Arial" pitchFamily="34" charset="0"/>
                <a:ea typeface="Arial" pitchFamily="34" charset="-122"/>
                <a:cs typeface="Arial" pitchFamily="34" charset="-120"/>
              </a:rPr>
              <a:t>+10–14%</a:t>
            </a:r>
            <a:endParaRPr lang="en-US" sz="1000" dirty="0"/>
          </a:p>
        </p:txBody>
      </p:sp>
      <p:sp>
        <p:nvSpPr>
          <p:cNvPr id="19" name="Text 17"/>
          <p:cNvSpPr/>
          <p:nvPr/>
        </p:nvSpPr>
        <p:spPr>
          <a:xfrm>
            <a:off x="355550" y="2247156"/>
            <a:ext cx="4877098" cy="320576"/>
          </a:xfrm>
          <a:prstGeom prst="roundRect">
            <a:avLst>
              <a:gd name="adj" fmla="val 15846"/>
            </a:avLst>
          </a:prstGeom>
          <a:solidFill>
            <a:srgbClr val="F8F8F8"/>
          </a:solidFill>
          <a:ln/>
        </p:spPr>
        <p:txBody>
          <a:bodyPr wrap="square" rtlCol="0" anchor="ctr"/>
          <a:lstStyle/>
          <a:p>
            <a:pPr indent="0" marL="0">
              <a:buNone/>
            </a:pPr>
            <a:endParaRPr lang="en-US" dirty="0"/>
          </a:p>
        </p:txBody>
      </p:sp>
      <p:sp>
        <p:nvSpPr>
          <p:cNvPr id="20" name="Shape 18"/>
          <p:cNvSpPr/>
          <p:nvPr/>
        </p:nvSpPr>
        <p:spPr>
          <a:xfrm>
            <a:off x="374600" y="2247156"/>
            <a:ext cx="0" cy="320576"/>
          </a:xfrm>
          <a:prstGeom prst="line">
            <a:avLst/>
          </a:prstGeom>
          <a:noFill/>
          <a:ln w="38100">
            <a:solidFill>
              <a:srgbClr val="00703C"/>
            </a:solidFill>
            <a:prstDash val="solid"/>
          </a:ln>
        </p:spPr>
      </p:sp>
      <p:sp>
        <p:nvSpPr>
          <p:cNvPr id="21" name="Text 19"/>
          <p:cNvSpPr/>
          <p:nvPr/>
        </p:nvSpPr>
        <p:spPr>
          <a:xfrm>
            <a:off x="520601" y="2340769"/>
            <a:ext cx="4143964" cy="133350"/>
          </a:xfrm>
          <a:prstGeom prst="rect">
            <a:avLst/>
          </a:prstGeom>
          <a:noFill/>
          <a:ln/>
        </p:spPr>
        <p:txBody>
          <a:bodyPr wrap="square" lIns="0" tIns="0" rIns="0" bIns="0" rtlCol="0" anchor="t"/>
          <a:lstStyle/>
          <a:p>
            <a:pPr algn="l" indent="0" marL="0">
              <a:buNone/>
            </a:pPr>
            <a:r>
              <a:rPr lang="en-US" sz="900" b="1" dirty="0">
                <a:solidFill>
                  <a:srgbClr val="023520"/>
                </a:solidFill>
                <a:latin typeface="Arial" pitchFamily="34" charset="0"/>
                <a:ea typeface="Arial" pitchFamily="34" charset="-122"/>
                <a:cs typeface="Arial" pitchFamily="34" charset="-120"/>
              </a:rPr>
              <a:t>Mineral (15W-40)</a:t>
            </a:r>
            <a:endParaRPr lang="en-US" sz="900" dirty="0"/>
          </a:p>
        </p:txBody>
      </p:sp>
      <p:sp>
        <p:nvSpPr>
          <p:cNvPr id="22" name="Text 20"/>
          <p:cNvSpPr/>
          <p:nvPr/>
        </p:nvSpPr>
        <p:spPr>
          <a:xfrm>
            <a:off x="4583311" y="2336006"/>
            <a:ext cx="532834" cy="142875"/>
          </a:xfrm>
          <a:prstGeom prst="rect">
            <a:avLst/>
          </a:prstGeom>
          <a:noFill/>
          <a:ln/>
        </p:spPr>
        <p:txBody>
          <a:bodyPr wrap="square" lIns="0" tIns="0" rIns="0" bIns="0" rtlCol="0" anchor="t"/>
          <a:lstStyle/>
          <a:p>
            <a:pPr algn="l" indent="0" marL="0">
              <a:buNone/>
            </a:pPr>
            <a:r>
              <a:rPr lang="en-US" sz="1000" b="1" dirty="0">
                <a:solidFill>
                  <a:srgbClr val="C8960C"/>
                </a:solidFill>
                <a:latin typeface="Arial" pitchFamily="34" charset="0"/>
                <a:ea typeface="Arial" pitchFamily="34" charset="-122"/>
                <a:cs typeface="Arial" pitchFamily="34" charset="-120"/>
              </a:rPr>
              <a:t>Baseline</a:t>
            </a:r>
            <a:endParaRPr lang="en-US" sz="1000" dirty="0"/>
          </a:p>
        </p:txBody>
      </p:sp>
      <p:sp>
        <p:nvSpPr>
          <p:cNvPr id="23" name="Text 21"/>
          <p:cNvSpPr/>
          <p:nvPr/>
        </p:nvSpPr>
        <p:spPr>
          <a:xfrm>
            <a:off x="355550" y="2669232"/>
            <a:ext cx="4877098" cy="320576"/>
          </a:xfrm>
          <a:prstGeom prst="roundRect">
            <a:avLst>
              <a:gd name="adj" fmla="val 15846"/>
            </a:avLst>
          </a:prstGeom>
          <a:solidFill>
            <a:srgbClr val="F8F8F8"/>
          </a:solidFill>
          <a:ln/>
        </p:spPr>
        <p:txBody>
          <a:bodyPr wrap="square" rtlCol="0" anchor="ctr"/>
          <a:lstStyle/>
          <a:p>
            <a:pPr indent="0" marL="0">
              <a:buNone/>
            </a:pPr>
            <a:endParaRPr lang="en-US" dirty="0"/>
          </a:p>
        </p:txBody>
      </p:sp>
      <p:sp>
        <p:nvSpPr>
          <p:cNvPr id="24" name="Shape 22"/>
          <p:cNvSpPr/>
          <p:nvPr/>
        </p:nvSpPr>
        <p:spPr>
          <a:xfrm>
            <a:off x="374600" y="2669232"/>
            <a:ext cx="0" cy="320576"/>
          </a:xfrm>
          <a:prstGeom prst="line">
            <a:avLst/>
          </a:prstGeom>
          <a:noFill/>
          <a:ln w="38100">
            <a:solidFill>
              <a:srgbClr val="00703C"/>
            </a:solidFill>
            <a:prstDash val="solid"/>
          </a:ln>
        </p:spPr>
      </p:sp>
      <p:sp>
        <p:nvSpPr>
          <p:cNvPr id="25" name="Text 23"/>
          <p:cNvSpPr/>
          <p:nvPr/>
        </p:nvSpPr>
        <p:spPr>
          <a:xfrm>
            <a:off x="520601" y="2762845"/>
            <a:ext cx="4197855" cy="133350"/>
          </a:xfrm>
          <a:prstGeom prst="rect">
            <a:avLst/>
          </a:prstGeom>
          <a:noFill/>
          <a:ln/>
        </p:spPr>
        <p:txBody>
          <a:bodyPr wrap="square" lIns="0" tIns="0" rIns="0" bIns="0" rtlCol="0" anchor="t"/>
          <a:lstStyle/>
          <a:p>
            <a:pPr algn="l" indent="0" marL="0">
              <a:buNone/>
            </a:pPr>
            <a:r>
              <a:rPr lang="en-US" sz="900" b="1" dirty="0">
                <a:solidFill>
                  <a:srgbClr val="023520"/>
                </a:solidFill>
                <a:latin typeface="Arial" pitchFamily="34" charset="0"/>
                <a:ea typeface="Arial" pitchFamily="34" charset="-122"/>
                <a:cs typeface="Arial" pitchFamily="34" charset="-120"/>
              </a:rPr>
              <a:t>Mineral (20W-50)</a:t>
            </a:r>
            <a:endParaRPr lang="en-US" sz="900" dirty="0"/>
          </a:p>
        </p:txBody>
      </p:sp>
      <p:sp>
        <p:nvSpPr>
          <p:cNvPr id="26" name="Text 24"/>
          <p:cNvSpPr/>
          <p:nvPr/>
        </p:nvSpPr>
        <p:spPr>
          <a:xfrm>
            <a:off x="4636145" y="2758083"/>
            <a:ext cx="478944" cy="142875"/>
          </a:xfrm>
          <a:prstGeom prst="rect">
            <a:avLst/>
          </a:prstGeom>
          <a:noFill/>
          <a:ln/>
        </p:spPr>
        <p:txBody>
          <a:bodyPr wrap="square" lIns="0" tIns="0" rIns="0" bIns="0" rtlCol="0" anchor="t"/>
          <a:lstStyle/>
          <a:p>
            <a:pPr algn="l" indent="0" marL="0">
              <a:buNone/>
            </a:pPr>
            <a:r>
              <a:rPr lang="en-US" sz="1000" b="1" dirty="0">
                <a:solidFill>
                  <a:srgbClr val="C8960C"/>
                </a:solidFill>
                <a:latin typeface="Arial" pitchFamily="34" charset="0"/>
                <a:ea typeface="Arial" pitchFamily="34" charset="-122"/>
                <a:cs typeface="Arial" pitchFamily="34" charset="-120"/>
              </a:rPr>
              <a:t>−8–10%</a:t>
            </a:r>
            <a:endParaRPr lang="en-US" sz="1000" dirty="0"/>
          </a:p>
        </p:txBody>
      </p:sp>
      <p:sp>
        <p:nvSpPr>
          <p:cNvPr id="27" name="Text 25"/>
          <p:cNvSpPr/>
          <p:nvPr/>
        </p:nvSpPr>
        <p:spPr>
          <a:xfrm>
            <a:off x="355550" y="3116759"/>
            <a:ext cx="4974640" cy="114300"/>
          </a:xfrm>
          <a:prstGeom prst="rect">
            <a:avLst/>
          </a:prstGeom>
          <a:noFill/>
          <a:ln/>
        </p:spPr>
        <p:txBody>
          <a:bodyPr wrap="square" lIns="0" tIns="0" rIns="0" bIns="0" rtlCol="0" anchor="t"/>
          <a:lstStyle/>
          <a:p>
            <a:pPr algn="l" indent="0" marL="0">
              <a:spcBef>
                <a:spcPts val="1000"/>
              </a:spcBef>
              <a:buNone/>
            </a:pPr>
            <a:r>
              <a:rPr lang="en-US" sz="800" dirty="0">
                <a:solidFill>
                  <a:srgbClr val="555555"/>
                </a:solidFill>
                <a:latin typeface="Arial" pitchFamily="34" charset="0"/>
                <a:ea typeface="Arial" pitchFamily="34" charset="-122"/>
                <a:cs typeface="Arial" pitchFamily="34" charset="-120"/>
              </a:rPr>
              <a:t>Uplift vs mineral 15W-40 baseline. Source: API/ACEA production cost ratios.</a:t>
            </a:r>
            <a:endParaRPr lang="en-US" sz="800" dirty="0"/>
          </a:p>
        </p:txBody>
      </p:sp>
      <p:sp>
        <p:nvSpPr>
          <p:cNvPr id="28" name="Text 26"/>
          <p:cNvSpPr/>
          <p:nvPr/>
        </p:nvSpPr>
        <p:spPr>
          <a:xfrm>
            <a:off x="5486549" y="739676"/>
            <a:ext cx="3367939" cy="114300"/>
          </a:xfrm>
          <a:prstGeom prst="rect">
            <a:avLst/>
          </a:prstGeom>
          <a:noFill/>
          <a:ln/>
        </p:spPr>
        <p:txBody>
          <a:bodyPr wrap="square" lIns="0" tIns="0" rIns="0" bIns="0" rtlCol="0" anchor="t"/>
          <a:lstStyle/>
          <a:p>
            <a:pPr algn="l" indent="0" marL="0">
              <a:spcAft>
                <a:spcPts val="600"/>
              </a:spcAft>
              <a:buNone/>
            </a:pPr>
            <a:r>
              <a:rPr lang="en-US" sz="800" dirty="0">
                <a:solidFill>
                  <a:srgbClr val="555555"/>
                </a:solidFill>
                <a:latin typeface="Arial" pitchFamily="34" charset="0"/>
                <a:ea typeface="Arial" pitchFamily="34" charset="-122"/>
                <a:cs typeface="Arial" pitchFamily="34" charset="-120"/>
              </a:rPr>
              <a:t>Spec Premium Impact on Carient Ultra Price/L (PKR)</a:t>
            </a:r>
            <a:endParaRPr lang="en-US" sz="800" dirty="0"/>
          </a:p>
        </p:txBody>
      </p:sp>
      <p:graphicFrame>
        <p:nvGraphicFramePr>
          <p:cNvPr id="29" name="Chart 0" descr=""/>
          <p:cNvGraphicFramePr/>
          <p:nvPr/>
        </p:nvGraphicFramePr>
        <p:xfrm>
          <a:off x="5486549" y="930176"/>
          <a:ext cx="3301901" cy="19050"/>
        </p:xfrm>
        <a:graphic xmlns:a="http://schemas.openxmlformats.org/drawingml/2006/main">
          <a:graphicData uri="http://schemas.openxmlformats.org/drawingml/2006/chart">
            <c:chart xmlns:c="http://schemas.openxmlformats.org/drawingml/2006/chart" r:id="rId1"/>
          </a:graphicData>
        </a:graphic>
      </p:graphicFrame>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0" y="0"/>
            <a:ext cx="9144000" cy="536525"/>
          </a:xfrm>
          <a:prstGeom prst="rect">
            <a:avLst/>
          </a:prstGeom>
          <a:solidFill>
            <a:srgbClr val="00703C"/>
          </a:solidFill>
          <a:ln/>
        </p:spPr>
        <p:txBody>
          <a:bodyPr wrap="square" rtlCol="0" anchor="ctr"/>
          <a:lstStyle/>
          <a:p>
            <a:pPr indent="0" marL="0">
              <a:buNone/>
            </a:pPr>
            <a:endParaRPr lang="en-US" dirty="0"/>
          </a:p>
        </p:txBody>
      </p:sp>
      <p:sp>
        <p:nvSpPr>
          <p:cNvPr id="3" name="Text 1"/>
          <p:cNvSpPr/>
          <p:nvPr/>
        </p:nvSpPr>
        <p:spPr>
          <a:xfrm>
            <a:off x="355550" y="152400"/>
            <a:ext cx="3339551" cy="257175"/>
          </a:xfrm>
          <a:prstGeom prst="rect">
            <a:avLst/>
          </a:prstGeom>
          <a:noFill/>
          <a:ln/>
        </p:spPr>
        <p:txBody>
          <a:bodyPr wrap="square" lIns="0" tIns="0" rIns="0" bIns="0" rtlCol="0" anchor="t"/>
          <a:lstStyle/>
          <a:p>
            <a:pPr algn="l" indent="0" marL="0">
              <a:buNone/>
            </a:pPr>
            <a:r>
              <a:rPr lang="en-US" sz="1700" b="1" dirty="0">
                <a:solidFill>
                  <a:srgbClr val="FFFFFF"/>
                </a:solidFill>
                <a:latin typeface="Arial" pitchFamily="34" charset="0"/>
                <a:ea typeface="Arial" pitchFamily="34" charset="-122"/>
                <a:cs typeface="Arial" pitchFamily="34" charset="-120"/>
              </a:rPr>
              <a:t>F6 — Geographic Segmentation</a:t>
            </a:r>
            <a:endParaRPr lang="en-US" sz="1700" dirty="0"/>
          </a:p>
        </p:txBody>
      </p:sp>
      <p:sp>
        <p:nvSpPr>
          <p:cNvPr id="4" name="Text 2"/>
          <p:cNvSpPr/>
          <p:nvPr/>
        </p:nvSpPr>
        <p:spPr>
          <a:xfrm>
            <a:off x="7080498" y="176213"/>
            <a:ext cx="1707952" cy="209550"/>
          </a:xfrm>
          <a:prstGeom prst="roundRect">
            <a:avLst>
              <a:gd name="adj" fmla="val 18182"/>
            </a:avLst>
          </a:prstGeom>
          <a:solidFill>
            <a:srgbClr val="555555"/>
          </a:solidFill>
          <a:ln/>
        </p:spPr>
        <p:txBody>
          <a:bodyPr wrap="square" rtlCol="0" anchor="ctr"/>
          <a:lstStyle/>
          <a:p>
            <a:pPr indent="0" marL="0">
              <a:buNone/>
            </a:pPr>
            <a:endParaRPr lang="en-US" dirty="0"/>
          </a:p>
        </p:txBody>
      </p:sp>
      <p:sp>
        <p:nvSpPr>
          <p:cNvPr id="5" name="Text 3"/>
          <p:cNvSpPr/>
          <p:nvPr/>
        </p:nvSpPr>
        <p:spPr>
          <a:xfrm>
            <a:off x="7181999" y="214313"/>
            <a:ext cx="1535049" cy="133350"/>
          </a:xfrm>
          <a:prstGeom prst="rect">
            <a:avLst/>
          </a:prstGeom>
          <a:noFill/>
          <a:ln/>
        </p:spPr>
        <p:txBody>
          <a:bodyPr wrap="square" lIns="0" tIns="0" rIns="0" bIns="0" rtlCol="0" anchor="t"/>
          <a:lstStyle/>
          <a:p>
            <a:pPr algn="l" indent="0" marL="0">
              <a:buNone/>
            </a:pPr>
            <a:r>
              <a:rPr lang="en-US" sz="900" b="1" dirty="0">
                <a:solidFill>
                  <a:srgbClr val="FFFFFF"/>
                </a:solidFill>
                <a:latin typeface="Arial" pitchFamily="34" charset="0"/>
                <a:ea typeface="Arial" pitchFamily="34" charset="-122"/>
                <a:cs typeface="Arial" pitchFamily="34" charset="-120"/>
              </a:rPr>
              <a:t>REFERENCE FRAMEWORK</a:t>
            </a:r>
            <a:endParaRPr lang="en-US" sz="900" dirty="0"/>
          </a:p>
        </p:txBody>
      </p:sp>
      <p:sp>
        <p:nvSpPr>
          <p:cNvPr id="6" name="Text 4"/>
          <p:cNvSpPr/>
          <p:nvPr/>
        </p:nvSpPr>
        <p:spPr>
          <a:xfrm>
            <a:off x="304800" y="1646634"/>
            <a:ext cx="2539901" cy="704552"/>
          </a:xfrm>
          <a:prstGeom prst="roundRect">
            <a:avLst>
              <a:gd name="adj" fmla="val 10815"/>
            </a:avLst>
          </a:prstGeom>
          <a:solidFill>
            <a:srgbClr val="023520"/>
          </a:solidFill>
          <a:ln/>
        </p:spPr>
        <p:txBody>
          <a:bodyPr wrap="square" rtlCol="0" anchor="ctr"/>
          <a:lstStyle/>
          <a:p>
            <a:pPr indent="0" marL="0">
              <a:buNone/>
            </a:pPr>
            <a:endParaRPr lang="en-US" dirty="0"/>
          </a:p>
        </p:txBody>
      </p:sp>
      <p:sp>
        <p:nvSpPr>
          <p:cNvPr id="7" name="Text 5"/>
          <p:cNvSpPr/>
          <p:nvPr/>
        </p:nvSpPr>
        <p:spPr>
          <a:xfrm>
            <a:off x="482501" y="1773585"/>
            <a:ext cx="2228189" cy="152400"/>
          </a:xfrm>
          <a:prstGeom prst="rect">
            <a:avLst/>
          </a:prstGeom>
          <a:noFill/>
          <a:ln/>
        </p:spPr>
        <p:txBody>
          <a:bodyPr wrap="square" lIns="0" tIns="0" rIns="0" bIns="0" rtlCol="0" anchor="t"/>
          <a:lstStyle/>
          <a:p>
            <a:pPr algn="l" indent="0" marL="0">
              <a:spcAft>
                <a:spcPts val="200"/>
              </a:spcAft>
              <a:buNone/>
            </a:pPr>
            <a:r>
              <a:rPr lang="en-US" sz="1100" b="1" dirty="0">
                <a:solidFill>
                  <a:srgbClr val="FFFFFF"/>
                </a:solidFill>
                <a:latin typeface="Arial" pitchFamily="34" charset="0"/>
                <a:ea typeface="Arial" pitchFamily="34" charset="-122"/>
                <a:cs typeface="Arial" pitchFamily="34" charset="-120"/>
              </a:rPr>
              <a:t>South</a:t>
            </a:r>
            <a:endParaRPr lang="en-US" sz="1100" dirty="0"/>
          </a:p>
        </p:txBody>
      </p:sp>
      <p:sp>
        <p:nvSpPr>
          <p:cNvPr id="8" name="Text 6"/>
          <p:cNvSpPr/>
          <p:nvPr/>
        </p:nvSpPr>
        <p:spPr>
          <a:xfrm>
            <a:off x="482501" y="1951286"/>
            <a:ext cx="2228189" cy="133350"/>
          </a:xfrm>
          <a:prstGeom prst="rect">
            <a:avLst/>
          </a:prstGeom>
          <a:noFill/>
          <a:ln/>
        </p:spPr>
        <p:txBody>
          <a:bodyPr wrap="square" lIns="0" tIns="0" rIns="0" bIns="0" rtlCol="0" anchor="t"/>
          <a:lstStyle/>
          <a:p>
            <a:pPr algn="l" indent="0" marL="0">
              <a:spcAft>
                <a:spcPts val="200"/>
              </a:spcAft>
              <a:buNone/>
            </a:pPr>
            <a:r>
              <a:rPr lang="en-US" sz="900" dirty="0">
                <a:solidFill>
                  <a:srgbClr val="FFFFFF"/>
                </a:solidFill>
                <a:latin typeface="Arial" pitchFamily="34" charset="0"/>
                <a:ea typeface="Arial" pitchFamily="34" charset="-122"/>
                <a:cs typeface="Arial" pitchFamily="34" charset="-120"/>
              </a:rPr>
              <a:t>Index: 0.97 (−3%)</a:t>
            </a:r>
            <a:endParaRPr lang="en-US" sz="900" dirty="0"/>
          </a:p>
        </p:txBody>
      </p:sp>
      <p:sp>
        <p:nvSpPr>
          <p:cNvPr id="9" name="Text 7"/>
          <p:cNvSpPr/>
          <p:nvPr/>
        </p:nvSpPr>
        <p:spPr>
          <a:xfrm>
            <a:off x="482501" y="2109936"/>
            <a:ext cx="2228189" cy="114300"/>
          </a:xfrm>
          <a:prstGeom prst="rect">
            <a:avLst/>
          </a:prstGeom>
          <a:noFill/>
          <a:ln/>
        </p:spPr>
        <p:txBody>
          <a:bodyPr wrap="square" lIns="0" tIns="0" rIns="0" bIns="0" rtlCol="0" anchor="t"/>
          <a:lstStyle/>
          <a:p>
            <a:pPr algn="l" indent="0" marL="0">
              <a:buNone/>
            </a:pPr>
            <a:r>
              <a:rPr lang="en-US" sz="800" dirty="0">
                <a:solidFill>
                  <a:srgbClr val="FFFFFF"/>
                </a:solidFill>
                <a:latin typeface="Arial" pitchFamily="34" charset="0"/>
                <a:ea typeface="Arial" pitchFamily="34" charset="-122"/>
                <a:cs typeface="Arial" pitchFamily="34" charset="-120"/>
              </a:rPr>
              <a:t>Karachi, Hyderabad, Sukkur</a:t>
            </a:r>
            <a:endParaRPr lang="en-US" sz="800" dirty="0"/>
          </a:p>
        </p:txBody>
      </p:sp>
      <p:sp>
        <p:nvSpPr>
          <p:cNvPr id="10" name="Text 8"/>
          <p:cNvSpPr/>
          <p:nvPr/>
        </p:nvSpPr>
        <p:spPr>
          <a:xfrm>
            <a:off x="304800" y="2478137"/>
            <a:ext cx="2539901" cy="704552"/>
          </a:xfrm>
          <a:prstGeom prst="roundRect">
            <a:avLst>
              <a:gd name="adj" fmla="val 10815"/>
            </a:avLst>
          </a:prstGeom>
          <a:solidFill>
            <a:srgbClr val="00703C"/>
          </a:solidFill>
          <a:ln/>
        </p:spPr>
        <p:txBody>
          <a:bodyPr wrap="square" rtlCol="0" anchor="ctr"/>
          <a:lstStyle/>
          <a:p>
            <a:pPr indent="0" marL="0">
              <a:buNone/>
            </a:pPr>
            <a:endParaRPr lang="en-US" dirty="0"/>
          </a:p>
        </p:txBody>
      </p:sp>
      <p:sp>
        <p:nvSpPr>
          <p:cNvPr id="11" name="Text 9"/>
          <p:cNvSpPr/>
          <p:nvPr/>
        </p:nvSpPr>
        <p:spPr>
          <a:xfrm>
            <a:off x="482501" y="2605088"/>
            <a:ext cx="2228189" cy="152400"/>
          </a:xfrm>
          <a:prstGeom prst="rect">
            <a:avLst/>
          </a:prstGeom>
          <a:noFill/>
          <a:ln/>
        </p:spPr>
        <p:txBody>
          <a:bodyPr wrap="square" lIns="0" tIns="0" rIns="0" bIns="0" rtlCol="0" anchor="t"/>
          <a:lstStyle/>
          <a:p>
            <a:pPr algn="l" indent="0" marL="0">
              <a:spcAft>
                <a:spcPts val="200"/>
              </a:spcAft>
              <a:buNone/>
            </a:pPr>
            <a:r>
              <a:rPr lang="en-US" sz="1100" b="1" dirty="0">
                <a:solidFill>
                  <a:srgbClr val="FFFFFF"/>
                </a:solidFill>
                <a:latin typeface="Arial" pitchFamily="34" charset="0"/>
                <a:ea typeface="Arial" pitchFamily="34" charset="-122"/>
                <a:cs typeface="Arial" pitchFamily="34" charset="-120"/>
              </a:rPr>
              <a:t>Central</a:t>
            </a:r>
            <a:endParaRPr lang="en-US" sz="1100" dirty="0"/>
          </a:p>
        </p:txBody>
      </p:sp>
      <p:sp>
        <p:nvSpPr>
          <p:cNvPr id="12" name="Text 10"/>
          <p:cNvSpPr/>
          <p:nvPr/>
        </p:nvSpPr>
        <p:spPr>
          <a:xfrm>
            <a:off x="482501" y="2782788"/>
            <a:ext cx="2228189" cy="133350"/>
          </a:xfrm>
          <a:prstGeom prst="rect">
            <a:avLst/>
          </a:prstGeom>
          <a:noFill/>
          <a:ln/>
        </p:spPr>
        <p:txBody>
          <a:bodyPr wrap="square" lIns="0" tIns="0" rIns="0" bIns="0" rtlCol="0" anchor="t"/>
          <a:lstStyle/>
          <a:p>
            <a:pPr algn="l" indent="0" marL="0">
              <a:spcAft>
                <a:spcPts val="200"/>
              </a:spcAft>
              <a:buNone/>
            </a:pPr>
            <a:r>
              <a:rPr lang="en-US" sz="900" dirty="0">
                <a:solidFill>
                  <a:srgbClr val="FFFFFF"/>
                </a:solidFill>
                <a:latin typeface="Arial" pitchFamily="34" charset="0"/>
                <a:ea typeface="Arial" pitchFamily="34" charset="-122"/>
                <a:cs typeface="Arial" pitchFamily="34" charset="-120"/>
              </a:rPr>
              <a:t>Index: 1.00 (Baseline)</a:t>
            </a:r>
            <a:endParaRPr lang="en-US" sz="900" dirty="0"/>
          </a:p>
        </p:txBody>
      </p:sp>
      <p:sp>
        <p:nvSpPr>
          <p:cNvPr id="13" name="Text 11"/>
          <p:cNvSpPr/>
          <p:nvPr/>
        </p:nvSpPr>
        <p:spPr>
          <a:xfrm>
            <a:off x="482501" y="2941439"/>
            <a:ext cx="2228189" cy="114300"/>
          </a:xfrm>
          <a:prstGeom prst="rect">
            <a:avLst/>
          </a:prstGeom>
          <a:noFill/>
          <a:ln/>
        </p:spPr>
        <p:txBody>
          <a:bodyPr wrap="square" lIns="0" tIns="0" rIns="0" bIns="0" rtlCol="0" anchor="t"/>
          <a:lstStyle/>
          <a:p>
            <a:pPr algn="l" indent="0" marL="0">
              <a:buNone/>
            </a:pPr>
            <a:r>
              <a:rPr lang="en-US" sz="800" dirty="0">
                <a:solidFill>
                  <a:srgbClr val="FFFFFF"/>
                </a:solidFill>
                <a:latin typeface="Arial" pitchFamily="34" charset="0"/>
                <a:ea typeface="Arial" pitchFamily="34" charset="-122"/>
                <a:cs typeface="Arial" pitchFamily="34" charset="-120"/>
              </a:rPr>
              <a:t>Lahore, Faisalabad, Multan</a:t>
            </a:r>
            <a:endParaRPr lang="en-US" sz="800" dirty="0"/>
          </a:p>
        </p:txBody>
      </p:sp>
      <p:sp>
        <p:nvSpPr>
          <p:cNvPr id="14" name="Text 12"/>
          <p:cNvSpPr/>
          <p:nvPr/>
        </p:nvSpPr>
        <p:spPr>
          <a:xfrm>
            <a:off x="304800" y="3309640"/>
            <a:ext cx="2539901" cy="723602"/>
          </a:xfrm>
          <a:prstGeom prst="roundRect">
            <a:avLst>
              <a:gd name="adj" fmla="val 10531"/>
            </a:avLst>
          </a:prstGeom>
          <a:solidFill>
            <a:srgbClr val="E8F5EE"/>
          </a:solidFill>
          <a:ln w="9525">
            <a:solidFill>
              <a:srgbClr val="00703C"/>
            </a:solidFill>
          </a:ln>
        </p:spPr>
        <p:txBody>
          <a:bodyPr wrap="square" rtlCol="0" anchor="ctr"/>
          <a:lstStyle/>
          <a:p>
            <a:pPr indent="0" marL="0">
              <a:buNone/>
            </a:pPr>
            <a:endParaRPr lang="en-US" dirty="0"/>
          </a:p>
        </p:txBody>
      </p:sp>
      <p:sp>
        <p:nvSpPr>
          <p:cNvPr id="15" name="Text 13"/>
          <p:cNvSpPr/>
          <p:nvPr/>
        </p:nvSpPr>
        <p:spPr>
          <a:xfrm>
            <a:off x="492026" y="3446115"/>
            <a:ext cx="2208758" cy="152400"/>
          </a:xfrm>
          <a:prstGeom prst="rect">
            <a:avLst/>
          </a:prstGeom>
          <a:noFill/>
          <a:ln/>
        </p:spPr>
        <p:txBody>
          <a:bodyPr wrap="square" lIns="0" tIns="0" rIns="0" bIns="0" rtlCol="0" anchor="t"/>
          <a:lstStyle/>
          <a:p>
            <a:pPr algn="l" indent="0" marL="0">
              <a:spcAft>
                <a:spcPts val="200"/>
              </a:spcAft>
              <a:buNone/>
            </a:pPr>
            <a:r>
              <a:rPr lang="en-US" sz="1100" b="1" dirty="0">
                <a:solidFill>
                  <a:srgbClr val="023520"/>
                </a:solidFill>
                <a:latin typeface="Arial" pitchFamily="34" charset="0"/>
                <a:ea typeface="Arial" pitchFamily="34" charset="-122"/>
                <a:cs typeface="Arial" pitchFamily="34" charset="-120"/>
              </a:rPr>
              <a:t>North</a:t>
            </a:r>
            <a:endParaRPr lang="en-US" sz="1100" dirty="0"/>
          </a:p>
        </p:txBody>
      </p:sp>
      <p:sp>
        <p:nvSpPr>
          <p:cNvPr id="16" name="Text 14"/>
          <p:cNvSpPr/>
          <p:nvPr/>
        </p:nvSpPr>
        <p:spPr>
          <a:xfrm>
            <a:off x="492026" y="3623816"/>
            <a:ext cx="2208758" cy="133350"/>
          </a:xfrm>
          <a:prstGeom prst="rect">
            <a:avLst/>
          </a:prstGeom>
          <a:noFill/>
          <a:ln/>
        </p:spPr>
        <p:txBody>
          <a:bodyPr wrap="square" lIns="0" tIns="0" rIns="0" bIns="0" rtlCol="0" anchor="t"/>
          <a:lstStyle/>
          <a:p>
            <a:pPr algn="l" indent="0" marL="0">
              <a:spcAft>
                <a:spcPts val="200"/>
              </a:spcAft>
              <a:buNone/>
            </a:pPr>
            <a:r>
              <a:rPr lang="en-US" sz="900" dirty="0">
                <a:solidFill>
                  <a:srgbClr val="023520"/>
                </a:solidFill>
                <a:latin typeface="Arial" pitchFamily="34" charset="0"/>
                <a:ea typeface="Arial" pitchFamily="34" charset="-122"/>
                <a:cs typeface="Arial" pitchFamily="34" charset="-120"/>
              </a:rPr>
              <a:t>Index: 0.95 (−5%)</a:t>
            </a:r>
            <a:endParaRPr lang="en-US" sz="900" dirty="0"/>
          </a:p>
        </p:txBody>
      </p:sp>
      <p:sp>
        <p:nvSpPr>
          <p:cNvPr id="17" name="Text 15"/>
          <p:cNvSpPr/>
          <p:nvPr/>
        </p:nvSpPr>
        <p:spPr>
          <a:xfrm>
            <a:off x="492026" y="3782467"/>
            <a:ext cx="2208758" cy="114300"/>
          </a:xfrm>
          <a:prstGeom prst="rect">
            <a:avLst/>
          </a:prstGeom>
          <a:noFill/>
          <a:ln/>
        </p:spPr>
        <p:txBody>
          <a:bodyPr wrap="square" lIns="0" tIns="0" rIns="0" bIns="0" rtlCol="0" anchor="t"/>
          <a:lstStyle/>
          <a:p>
            <a:pPr algn="l" indent="0" marL="0">
              <a:buNone/>
            </a:pPr>
            <a:r>
              <a:rPr lang="en-US" sz="800" dirty="0">
                <a:solidFill>
                  <a:srgbClr val="023520"/>
                </a:solidFill>
                <a:latin typeface="Arial" pitchFamily="34" charset="0"/>
                <a:ea typeface="Arial" pitchFamily="34" charset="-122"/>
                <a:cs typeface="Arial" pitchFamily="34" charset="-120"/>
              </a:rPr>
              <a:t>Islamabad, Peshawar, Rawalpindi</a:t>
            </a:r>
            <a:endParaRPr lang="en-US" sz="800" dirty="0"/>
          </a:p>
        </p:txBody>
      </p:sp>
      <p:sp>
        <p:nvSpPr>
          <p:cNvPr id="18" name="Text 16"/>
          <p:cNvSpPr/>
          <p:nvPr/>
        </p:nvSpPr>
        <p:spPr>
          <a:xfrm>
            <a:off x="3098602" y="714226"/>
            <a:ext cx="5855410" cy="114300"/>
          </a:xfrm>
          <a:prstGeom prst="rect">
            <a:avLst/>
          </a:prstGeom>
          <a:noFill/>
          <a:ln/>
        </p:spPr>
        <p:txBody>
          <a:bodyPr wrap="square" lIns="0" tIns="0" rIns="0" bIns="0" rtlCol="0" anchor="t"/>
          <a:lstStyle/>
          <a:p>
            <a:pPr algn="l" indent="0" marL="0">
              <a:spcAft>
                <a:spcPts val="800"/>
              </a:spcAft>
              <a:buNone/>
            </a:pPr>
            <a:r>
              <a:rPr lang="en-US" sz="800" b="1" dirty="0">
                <a:solidFill>
                  <a:srgbClr val="C8960C"/>
                </a:solidFill>
                <a:latin typeface="Arial" pitchFamily="34" charset="0"/>
                <a:ea typeface="Arial" pitchFamily="34" charset="-122"/>
                <a:cs typeface="Arial" pitchFamily="34" charset="-120"/>
              </a:rPr>
              <a:t>REGIONAL PRICE/L (PKR) — 5 REPRESENTATIVE SKUs ACROSS PCMO, HDEO &amp; MCO</a:t>
            </a:r>
            <a:endParaRPr lang="en-US" sz="800" dirty="0"/>
          </a:p>
        </p:txBody>
      </p:sp>
      <p:sp>
        <p:nvSpPr>
          <p:cNvPr id="19" name="Text 17"/>
          <p:cNvSpPr/>
          <p:nvPr/>
        </p:nvSpPr>
        <p:spPr>
          <a:xfrm>
            <a:off x="3098602" y="1050578"/>
            <a:ext cx="5855410" cy="114300"/>
          </a:xfrm>
          <a:prstGeom prst="rect">
            <a:avLst/>
          </a:prstGeom>
          <a:noFill/>
          <a:ln/>
        </p:spPr>
        <p:txBody>
          <a:bodyPr wrap="square" lIns="0" tIns="0" rIns="0" bIns="0" rtlCol="0" anchor="t"/>
          <a:lstStyle/>
          <a:p>
            <a:pPr algn="l" indent="0" marL="0">
              <a:spcBef>
                <a:spcPts val="800"/>
              </a:spcBef>
              <a:buNone/>
            </a:pPr>
            <a:r>
              <a:rPr lang="en-US" sz="800" dirty="0">
                <a:solidFill>
                  <a:srgbClr val="555555"/>
                </a:solidFill>
                <a:latin typeface="Arial" pitchFamily="34" charset="0"/>
                <a:ea typeface="Arial" pitchFamily="34" charset="-122"/>
                <a:cs typeface="Arial" pitchFamily="34" charset="-120"/>
              </a:rPr>
              <a:t>Regional indices reflect logistics cost differential and income-level elasticity. Central = base price reference.</a:t>
            </a:r>
            <a:endParaRPr lang="en-US" sz="800" dirty="0"/>
          </a:p>
        </p:txBody>
      </p:sp>
      <p:graphicFrame>
        <p:nvGraphicFramePr>
          <p:cNvPr id="20" name="Chart 0" descr=""/>
          <p:cNvGraphicFramePr/>
          <p:nvPr/>
        </p:nvGraphicFramePr>
        <p:xfrm>
          <a:off x="3098602" y="930027"/>
          <a:ext cx="5740598" cy="19050"/>
        </p:xfrm>
        <a:graphic xmlns:a="http://schemas.openxmlformats.org/drawingml/2006/main">
          <a:graphicData uri="http://schemas.openxmlformats.org/drawingml/2006/chart">
            <c:chart xmlns:c="http://schemas.openxmlformats.org/drawingml/2006/chart" r:id="rId1"/>
          </a:graphicData>
        </a:graphic>
      </p:graphicFrame>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0" y="0"/>
            <a:ext cx="9144000" cy="536525"/>
          </a:xfrm>
          <a:prstGeom prst="rect">
            <a:avLst/>
          </a:prstGeom>
          <a:solidFill>
            <a:srgbClr val="00703C"/>
          </a:solidFill>
          <a:ln/>
        </p:spPr>
        <p:txBody>
          <a:bodyPr wrap="square" rtlCol="0" anchor="ctr"/>
          <a:lstStyle/>
          <a:p>
            <a:pPr indent="0" marL="0">
              <a:buNone/>
            </a:pPr>
            <a:endParaRPr lang="en-US" dirty="0"/>
          </a:p>
        </p:txBody>
      </p:sp>
      <p:sp>
        <p:nvSpPr>
          <p:cNvPr id="3" name="Text 1"/>
          <p:cNvSpPr/>
          <p:nvPr/>
        </p:nvSpPr>
        <p:spPr>
          <a:xfrm>
            <a:off x="355550" y="152400"/>
            <a:ext cx="2715938" cy="257175"/>
          </a:xfrm>
          <a:prstGeom prst="rect">
            <a:avLst/>
          </a:prstGeom>
          <a:noFill/>
          <a:ln/>
        </p:spPr>
        <p:txBody>
          <a:bodyPr wrap="square" lIns="0" tIns="0" rIns="0" bIns="0" rtlCol="0" anchor="t"/>
          <a:lstStyle/>
          <a:p>
            <a:pPr algn="l" indent="0" marL="0">
              <a:buNone/>
            </a:pPr>
            <a:r>
              <a:rPr lang="en-US" sz="1700" b="1" dirty="0">
                <a:solidFill>
                  <a:srgbClr val="FFFFFF"/>
                </a:solidFill>
                <a:latin typeface="Arial" pitchFamily="34" charset="0"/>
                <a:ea typeface="Arial" pitchFamily="34" charset="-122"/>
                <a:cs typeface="Arial" pitchFamily="34" charset="-120"/>
              </a:rPr>
              <a:t>F7 — Base Oil Index (BOI)</a:t>
            </a:r>
            <a:endParaRPr lang="en-US" sz="1700" dirty="0"/>
          </a:p>
        </p:txBody>
      </p:sp>
      <p:sp>
        <p:nvSpPr>
          <p:cNvPr id="4" name="Text 2"/>
          <p:cNvSpPr/>
          <p:nvPr/>
        </p:nvSpPr>
        <p:spPr>
          <a:xfrm>
            <a:off x="7080498" y="176213"/>
            <a:ext cx="1707952" cy="209550"/>
          </a:xfrm>
          <a:prstGeom prst="roundRect">
            <a:avLst>
              <a:gd name="adj" fmla="val 18182"/>
            </a:avLst>
          </a:prstGeom>
          <a:solidFill>
            <a:srgbClr val="555555"/>
          </a:solidFill>
          <a:ln/>
        </p:spPr>
        <p:txBody>
          <a:bodyPr wrap="square" rtlCol="0" anchor="ctr"/>
          <a:lstStyle/>
          <a:p>
            <a:pPr indent="0" marL="0">
              <a:buNone/>
            </a:pPr>
            <a:endParaRPr lang="en-US" dirty="0"/>
          </a:p>
        </p:txBody>
      </p:sp>
      <p:sp>
        <p:nvSpPr>
          <p:cNvPr id="5" name="Text 3"/>
          <p:cNvSpPr/>
          <p:nvPr/>
        </p:nvSpPr>
        <p:spPr>
          <a:xfrm>
            <a:off x="7181999" y="214313"/>
            <a:ext cx="1535049" cy="133350"/>
          </a:xfrm>
          <a:prstGeom prst="rect">
            <a:avLst/>
          </a:prstGeom>
          <a:noFill/>
          <a:ln/>
        </p:spPr>
        <p:txBody>
          <a:bodyPr wrap="square" lIns="0" tIns="0" rIns="0" bIns="0" rtlCol="0" anchor="t"/>
          <a:lstStyle/>
          <a:p>
            <a:pPr algn="l" indent="0" marL="0">
              <a:buNone/>
            </a:pPr>
            <a:r>
              <a:rPr lang="en-US" sz="900" b="1" dirty="0">
                <a:solidFill>
                  <a:srgbClr val="FFFFFF"/>
                </a:solidFill>
                <a:latin typeface="Arial" pitchFamily="34" charset="0"/>
                <a:ea typeface="Arial" pitchFamily="34" charset="-122"/>
                <a:cs typeface="Arial" pitchFamily="34" charset="-120"/>
              </a:rPr>
              <a:t>REFERENCE FRAMEWORK</a:t>
            </a:r>
            <a:endParaRPr lang="en-US" sz="900" dirty="0"/>
          </a:p>
        </p:txBody>
      </p:sp>
      <p:sp>
        <p:nvSpPr>
          <p:cNvPr id="6" name="Text 4"/>
          <p:cNvSpPr/>
          <p:nvPr/>
        </p:nvSpPr>
        <p:spPr>
          <a:xfrm>
            <a:off x="355550" y="739676"/>
            <a:ext cx="5181701" cy="114300"/>
          </a:xfrm>
          <a:prstGeom prst="rect">
            <a:avLst/>
          </a:prstGeom>
          <a:noFill/>
          <a:ln/>
        </p:spPr>
        <p:txBody>
          <a:bodyPr wrap="square" lIns="0" tIns="0" rIns="0" bIns="0" rtlCol="0" anchor="t"/>
          <a:lstStyle/>
          <a:p>
            <a:pPr algn="l" indent="0" marL="0">
              <a:spcAft>
                <a:spcPts val="1000"/>
              </a:spcAft>
              <a:buNone/>
            </a:pPr>
            <a:r>
              <a:rPr lang="en-US" sz="800" b="1" dirty="0">
                <a:solidFill>
                  <a:srgbClr val="C8960C"/>
                </a:solidFill>
                <a:latin typeface="Arial" pitchFamily="34" charset="0"/>
                <a:ea typeface="Arial" pitchFamily="34" charset="-122"/>
                <a:cs typeface="Arial" pitchFamily="34" charset="-120"/>
              </a:rPr>
              <a:t>BASE OIL COST FLOOR BY GROUP</a:t>
            </a:r>
            <a:endParaRPr lang="en-US" sz="800" dirty="0"/>
          </a:p>
        </p:txBody>
      </p:sp>
      <p:sp>
        <p:nvSpPr>
          <p:cNvPr id="7" name="Text 5"/>
          <p:cNvSpPr/>
          <p:nvPr/>
        </p:nvSpPr>
        <p:spPr>
          <a:xfrm>
            <a:off x="355550" y="980926"/>
            <a:ext cx="5080099" cy="355402"/>
          </a:xfrm>
          <a:prstGeom prst="roundRect">
            <a:avLst>
              <a:gd name="adj" fmla="val 14294"/>
            </a:avLst>
          </a:prstGeom>
          <a:solidFill>
            <a:srgbClr val="023520"/>
          </a:solidFill>
          <a:ln/>
        </p:spPr>
        <p:txBody>
          <a:bodyPr wrap="square" rtlCol="0" anchor="ctr"/>
          <a:lstStyle/>
          <a:p>
            <a:pPr indent="0" marL="0">
              <a:buNone/>
            </a:pPr>
            <a:endParaRPr lang="en-US" dirty="0"/>
          </a:p>
        </p:txBody>
      </p:sp>
      <p:sp>
        <p:nvSpPr>
          <p:cNvPr id="8" name="Text 6"/>
          <p:cNvSpPr/>
          <p:nvPr/>
        </p:nvSpPr>
        <p:spPr>
          <a:xfrm>
            <a:off x="507950" y="1091952"/>
            <a:ext cx="4201650" cy="133350"/>
          </a:xfrm>
          <a:prstGeom prst="rect">
            <a:avLst/>
          </a:prstGeom>
          <a:noFill/>
          <a:ln/>
        </p:spPr>
        <p:txBody>
          <a:bodyPr wrap="square" lIns="0" tIns="0" rIns="0" bIns="0" rtlCol="0" anchor="t"/>
          <a:lstStyle/>
          <a:p>
            <a:pPr algn="l" indent="0" marL="0">
              <a:buNone/>
            </a:pPr>
            <a:r>
              <a:rPr lang="en-US" sz="900" b="1" dirty="0">
                <a:solidFill>
                  <a:srgbClr val="FFFFFF"/>
                </a:solidFill>
                <a:latin typeface="Arial" pitchFamily="34" charset="0"/>
                <a:ea typeface="Arial" pitchFamily="34" charset="-122"/>
                <a:cs typeface="Arial" pitchFamily="34" charset="-120"/>
              </a:rPr>
              <a:t>Group III (Full Synthetic)</a:t>
            </a:r>
            <a:endParaRPr lang="en-US" sz="900" dirty="0"/>
          </a:p>
        </p:txBody>
      </p:sp>
      <p:sp>
        <p:nvSpPr>
          <p:cNvPr id="9" name="Text 7"/>
          <p:cNvSpPr/>
          <p:nvPr/>
        </p:nvSpPr>
        <p:spPr>
          <a:xfrm>
            <a:off x="4627215" y="1082427"/>
            <a:ext cx="669155" cy="152400"/>
          </a:xfrm>
          <a:prstGeom prst="rect">
            <a:avLst/>
          </a:prstGeom>
          <a:noFill/>
          <a:ln/>
        </p:spPr>
        <p:txBody>
          <a:bodyPr wrap="square" lIns="0" tIns="0" rIns="0" bIns="0" rtlCol="0" anchor="t"/>
          <a:lstStyle/>
          <a:p>
            <a:pPr algn="l" indent="0" marL="0">
              <a:buNone/>
            </a:pPr>
            <a:r>
              <a:rPr lang="en-US" sz="1100" b="1" dirty="0">
                <a:solidFill>
                  <a:srgbClr val="FFFFFF"/>
                </a:solidFill>
                <a:latin typeface="Arial" pitchFamily="34" charset="0"/>
                <a:ea typeface="Arial" pitchFamily="34" charset="-122"/>
                <a:cs typeface="Arial" pitchFamily="34" charset="-120"/>
              </a:rPr>
              <a:t>~Rs 650/L</a:t>
            </a:r>
            <a:endParaRPr lang="en-US" sz="1100" dirty="0"/>
          </a:p>
        </p:txBody>
      </p:sp>
      <p:sp>
        <p:nvSpPr>
          <p:cNvPr id="10" name="Text 8"/>
          <p:cNvSpPr/>
          <p:nvPr/>
        </p:nvSpPr>
        <p:spPr>
          <a:xfrm>
            <a:off x="355550" y="1437829"/>
            <a:ext cx="5080099" cy="355402"/>
          </a:xfrm>
          <a:prstGeom prst="roundRect">
            <a:avLst>
              <a:gd name="adj" fmla="val 14294"/>
            </a:avLst>
          </a:prstGeom>
          <a:solidFill>
            <a:srgbClr val="00703C"/>
          </a:solidFill>
          <a:ln/>
        </p:spPr>
        <p:txBody>
          <a:bodyPr wrap="square" rtlCol="0" anchor="ctr"/>
          <a:lstStyle/>
          <a:p>
            <a:pPr indent="0" marL="0">
              <a:buNone/>
            </a:pPr>
            <a:endParaRPr lang="en-US" dirty="0"/>
          </a:p>
        </p:txBody>
      </p:sp>
      <p:sp>
        <p:nvSpPr>
          <p:cNvPr id="11" name="Text 9"/>
          <p:cNvSpPr/>
          <p:nvPr/>
        </p:nvSpPr>
        <p:spPr>
          <a:xfrm>
            <a:off x="507950" y="1548854"/>
            <a:ext cx="4201650" cy="133350"/>
          </a:xfrm>
          <a:prstGeom prst="rect">
            <a:avLst/>
          </a:prstGeom>
          <a:noFill/>
          <a:ln/>
        </p:spPr>
        <p:txBody>
          <a:bodyPr wrap="square" lIns="0" tIns="0" rIns="0" bIns="0" rtlCol="0" anchor="t"/>
          <a:lstStyle/>
          <a:p>
            <a:pPr algn="l" indent="0" marL="0">
              <a:buNone/>
            </a:pPr>
            <a:r>
              <a:rPr lang="en-US" sz="900" b="1" dirty="0">
                <a:solidFill>
                  <a:srgbClr val="FFFFFF"/>
                </a:solidFill>
                <a:latin typeface="Arial" pitchFamily="34" charset="0"/>
                <a:ea typeface="Arial" pitchFamily="34" charset="-122"/>
                <a:cs typeface="Arial" pitchFamily="34" charset="-120"/>
              </a:rPr>
              <a:t>Group II (Semi-Synthetic)</a:t>
            </a:r>
            <a:endParaRPr lang="en-US" sz="900" dirty="0"/>
          </a:p>
        </p:txBody>
      </p:sp>
      <p:sp>
        <p:nvSpPr>
          <p:cNvPr id="12" name="Text 10"/>
          <p:cNvSpPr/>
          <p:nvPr/>
        </p:nvSpPr>
        <p:spPr>
          <a:xfrm>
            <a:off x="4627215" y="1539329"/>
            <a:ext cx="669155" cy="152400"/>
          </a:xfrm>
          <a:prstGeom prst="rect">
            <a:avLst/>
          </a:prstGeom>
          <a:noFill/>
          <a:ln/>
        </p:spPr>
        <p:txBody>
          <a:bodyPr wrap="square" lIns="0" tIns="0" rIns="0" bIns="0" rtlCol="0" anchor="t"/>
          <a:lstStyle/>
          <a:p>
            <a:pPr algn="l" indent="0" marL="0">
              <a:buNone/>
            </a:pPr>
            <a:r>
              <a:rPr lang="en-US" sz="1100" b="1" dirty="0">
                <a:solidFill>
                  <a:srgbClr val="FFFFFF"/>
                </a:solidFill>
                <a:latin typeface="Arial" pitchFamily="34" charset="0"/>
                <a:ea typeface="Arial" pitchFamily="34" charset="-122"/>
                <a:cs typeface="Arial" pitchFamily="34" charset="-120"/>
              </a:rPr>
              <a:t>~Rs 480/L</a:t>
            </a:r>
            <a:endParaRPr lang="en-US" sz="1100" dirty="0"/>
          </a:p>
        </p:txBody>
      </p:sp>
      <p:sp>
        <p:nvSpPr>
          <p:cNvPr id="13" name="Text 11"/>
          <p:cNvSpPr/>
          <p:nvPr/>
        </p:nvSpPr>
        <p:spPr>
          <a:xfrm>
            <a:off x="355550" y="1894731"/>
            <a:ext cx="5080099" cy="374452"/>
          </a:xfrm>
          <a:prstGeom prst="roundRect">
            <a:avLst>
              <a:gd name="adj" fmla="val 13566"/>
            </a:avLst>
          </a:prstGeom>
          <a:solidFill>
            <a:srgbClr val="E8F5EE"/>
          </a:solidFill>
          <a:ln w="9525">
            <a:solidFill>
              <a:srgbClr val="00703C"/>
            </a:solidFill>
          </a:ln>
        </p:spPr>
        <p:txBody>
          <a:bodyPr wrap="square" rtlCol="0" anchor="ctr"/>
          <a:lstStyle/>
          <a:p>
            <a:pPr indent="0" marL="0">
              <a:buNone/>
            </a:pPr>
            <a:endParaRPr lang="en-US" dirty="0"/>
          </a:p>
        </p:txBody>
      </p:sp>
      <p:sp>
        <p:nvSpPr>
          <p:cNvPr id="14" name="Text 12"/>
          <p:cNvSpPr/>
          <p:nvPr/>
        </p:nvSpPr>
        <p:spPr>
          <a:xfrm>
            <a:off x="517475" y="2015282"/>
            <a:ext cx="4182219" cy="133350"/>
          </a:xfrm>
          <a:prstGeom prst="rect">
            <a:avLst/>
          </a:prstGeom>
          <a:noFill/>
          <a:ln/>
        </p:spPr>
        <p:txBody>
          <a:bodyPr wrap="square" lIns="0" tIns="0" rIns="0" bIns="0" rtlCol="0" anchor="t"/>
          <a:lstStyle/>
          <a:p>
            <a:pPr algn="l" indent="0" marL="0">
              <a:buNone/>
            </a:pPr>
            <a:r>
              <a:rPr lang="en-US" sz="900" b="1" dirty="0">
                <a:solidFill>
                  <a:srgbClr val="023520"/>
                </a:solidFill>
                <a:latin typeface="Arial" pitchFamily="34" charset="0"/>
                <a:ea typeface="Arial" pitchFamily="34" charset="-122"/>
                <a:cs typeface="Arial" pitchFamily="34" charset="-120"/>
              </a:rPr>
              <a:t>Group I (Mineral)</a:t>
            </a:r>
            <a:endParaRPr lang="en-US" sz="900" dirty="0"/>
          </a:p>
        </p:txBody>
      </p:sp>
      <p:sp>
        <p:nvSpPr>
          <p:cNvPr id="15" name="Text 13"/>
          <p:cNvSpPr/>
          <p:nvPr/>
        </p:nvSpPr>
        <p:spPr>
          <a:xfrm>
            <a:off x="4617690" y="2005757"/>
            <a:ext cx="669155" cy="152400"/>
          </a:xfrm>
          <a:prstGeom prst="rect">
            <a:avLst/>
          </a:prstGeom>
          <a:noFill/>
          <a:ln/>
        </p:spPr>
        <p:txBody>
          <a:bodyPr wrap="square" lIns="0" tIns="0" rIns="0" bIns="0" rtlCol="0" anchor="t"/>
          <a:lstStyle/>
          <a:p>
            <a:pPr algn="l" indent="0" marL="0">
              <a:buNone/>
            </a:pPr>
            <a:r>
              <a:rPr lang="en-US" sz="1100" b="1" dirty="0">
                <a:solidFill>
                  <a:srgbClr val="023520"/>
                </a:solidFill>
                <a:latin typeface="Arial" pitchFamily="34" charset="0"/>
                <a:ea typeface="Arial" pitchFamily="34" charset="-122"/>
                <a:cs typeface="Arial" pitchFamily="34" charset="-120"/>
              </a:rPr>
              <a:t>~Rs 320/L</a:t>
            </a:r>
            <a:endParaRPr lang="en-US" sz="1100" dirty="0"/>
          </a:p>
        </p:txBody>
      </p:sp>
      <p:sp>
        <p:nvSpPr>
          <p:cNvPr id="16" name="Text 14"/>
          <p:cNvSpPr/>
          <p:nvPr/>
        </p:nvSpPr>
        <p:spPr>
          <a:xfrm>
            <a:off x="355550" y="2396133"/>
            <a:ext cx="5181701" cy="228600"/>
          </a:xfrm>
          <a:prstGeom prst="rect">
            <a:avLst/>
          </a:prstGeom>
          <a:noFill/>
          <a:ln/>
        </p:spPr>
        <p:txBody>
          <a:bodyPr wrap="square" lIns="0" tIns="0" rIns="0" bIns="0" rtlCol="0" anchor="t"/>
          <a:lstStyle/>
          <a:p>
            <a:pPr algn="l" indent="0" marL="0">
              <a:spcBef>
                <a:spcPts val="1000"/>
              </a:spcBef>
              <a:buNone/>
            </a:pPr>
            <a:r>
              <a:rPr lang="en-US" sz="800" dirty="0">
                <a:solidFill>
                  <a:srgbClr val="555555"/>
                </a:solidFill>
                <a:latin typeface="Arial" pitchFamily="34" charset="0"/>
                <a:ea typeface="Arial" pitchFamily="34" charset="-122"/>
                <a:cs typeface="Arial" pitchFamily="34" charset="-120"/>
              </a:rPr>
              <a:t>BOI floor = base oil cost + additives (25–35%) + blending. Acts as absolute price ceiling from below. When crude/$/PKR moves ±10%, recommended prices are re-indexed proportionally.</a:t>
            </a:r>
            <a:endParaRPr lang="en-US" sz="800" dirty="0"/>
          </a:p>
        </p:txBody>
      </p:sp>
      <p:sp>
        <p:nvSpPr>
          <p:cNvPr id="17" name="Text 15"/>
          <p:cNvSpPr/>
          <p:nvPr/>
        </p:nvSpPr>
        <p:spPr>
          <a:xfrm>
            <a:off x="5740450" y="1627138"/>
            <a:ext cx="3048000" cy="723900"/>
          </a:xfrm>
          <a:prstGeom prst="roundRect">
            <a:avLst>
              <a:gd name="adj" fmla="val 8772"/>
            </a:avLst>
          </a:prstGeom>
          <a:solidFill>
            <a:srgbClr val="F8F8F8"/>
          </a:solidFill>
          <a:ln/>
        </p:spPr>
        <p:txBody>
          <a:bodyPr wrap="square" rtlCol="0" anchor="ctr"/>
          <a:lstStyle/>
          <a:p>
            <a:pPr indent="0" marL="0">
              <a:buNone/>
            </a:pPr>
            <a:endParaRPr lang="en-US" dirty="0"/>
          </a:p>
        </p:txBody>
      </p:sp>
      <p:sp>
        <p:nvSpPr>
          <p:cNvPr id="18" name="Shape 16"/>
          <p:cNvSpPr/>
          <p:nvPr/>
        </p:nvSpPr>
        <p:spPr>
          <a:xfrm>
            <a:off x="5764262" y="1627138"/>
            <a:ext cx="0" cy="723900"/>
          </a:xfrm>
          <a:prstGeom prst="line">
            <a:avLst/>
          </a:prstGeom>
          <a:noFill/>
          <a:ln w="47625">
            <a:solidFill>
              <a:srgbClr val="C8960C"/>
            </a:solidFill>
            <a:prstDash val="solid"/>
          </a:ln>
        </p:spPr>
      </p:sp>
      <p:sp>
        <p:nvSpPr>
          <p:cNvPr id="19" name="Text 17"/>
          <p:cNvSpPr/>
          <p:nvPr/>
        </p:nvSpPr>
        <p:spPr>
          <a:xfrm>
            <a:off x="5940475" y="1779538"/>
            <a:ext cx="2749487" cy="266700"/>
          </a:xfrm>
          <a:prstGeom prst="rect">
            <a:avLst/>
          </a:prstGeom>
          <a:noFill/>
          <a:ln/>
        </p:spPr>
        <p:txBody>
          <a:bodyPr wrap="square" lIns="0" tIns="0" rIns="0" bIns="0" rtlCol="0" anchor="t"/>
          <a:lstStyle/>
          <a:p>
            <a:pPr algn="l" indent="0" marL="0">
              <a:spcAft>
                <a:spcPts val="300"/>
              </a:spcAft>
              <a:buNone/>
            </a:pPr>
            <a:r>
              <a:rPr lang="en-US" sz="1800" b="1" dirty="0">
                <a:solidFill>
                  <a:srgbClr val="023520"/>
                </a:solidFill>
                <a:latin typeface="Arial" pitchFamily="34" charset="0"/>
                <a:ea typeface="Arial" pitchFamily="34" charset="-122"/>
                <a:cs typeface="Arial" pitchFamily="34" charset="-120"/>
              </a:rPr>
              <a:t>+12%</a:t>
            </a:r>
            <a:endParaRPr lang="en-US" sz="1800" dirty="0"/>
          </a:p>
        </p:txBody>
      </p:sp>
      <p:sp>
        <p:nvSpPr>
          <p:cNvPr id="20" name="Text 18"/>
          <p:cNvSpPr/>
          <p:nvPr/>
        </p:nvSpPr>
        <p:spPr>
          <a:xfrm>
            <a:off x="5940475" y="2084338"/>
            <a:ext cx="2749487" cy="114300"/>
          </a:xfrm>
          <a:prstGeom prst="rect">
            <a:avLst/>
          </a:prstGeom>
          <a:noFill/>
          <a:ln/>
        </p:spPr>
        <p:txBody>
          <a:bodyPr wrap="square" lIns="0" tIns="0" rIns="0" bIns="0" rtlCol="0" anchor="t"/>
          <a:lstStyle/>
          <a:p>
            <a:pPr algn="l" indent="0" marL="0">
              <a:buNone/>
            </a:pPr>
            <a:r>
              <a:rPr lang="en-US" sz="800" dirty="0">
                <a:solidFill>
                  <a:srgbClr val="555555"/>
                </a:solidFill>
                <a:latin typeface="Arial" pitchFamily="34" charset="0"/>
                <a:ea typeface="Arial" pitchFamily="34" charset="-122"/>
                <a:cs typeface="Arial" pitchFamily="34" charset="-120"/>
              </a:rPr>
              <a:t>Base oil cost increase YoY (Group III, 2025)</a:t>
            </a:r>
            <a:endParaRPr lang="en-US" sz="800" dirty="0"/>
          </a:p>
        </p:txBody>
      </p:sp>
      <p:sp>
        <p:nvSpPr>
          <p:cNvPr id="21" name="Text 19"/>
          <p:cNvSpPr/>
          <p:nvPr/>
        </p:nvSpPr>
        <p:spPr>
          <a:xfrm>
            <a:off x="5740450" y="2477988"/>
            <a:ext cx="3048000" cy="723900"/>
          </a:xfrm>
          <a:prstGeom prst="roundRect">
            <a:avLst>
              <a:gd name="adj" fmla="val 8772"/>
            </a:avLst>
          </a:prstGeom>
          <a:solidFill>
            <a:srgbClr val="F8F8F8"/>
          </a:solidFill>
          <a:ln/>
        </p:spPr>
        <p:txBody>
          <a:bodyPr wrap="square" rtlCol="0" anchor="ctr"/>
          <a:lstStyle/>
          <a:p>
            <a:pPr indent="0" marL="0">
              <a:buNone/>
            </a:pPr>
            <a:endParaRPr lang="en-US" dirty="0"/>
          </a:p>
        </p:txBody>
      </p:sp>
      <p:sp>
        <p:nvSpPr>
          <p:cNvPr id="22" name="Shape 20"/>
          <p:cNvSpPr/>
          <p:nvPr/>
        </p:nvSpPr>
        <p:spPr>
          <a:xfrm>
            <a:off x="5764262" y="2477988"/>
            <a:ext cx="0" cy="723900"/>
          </a:xfrm>
          <a:prstGeom prst="line">
            <a:avLst/>
          </a:prstGeom>
          <a:noFill/>
          <a:ln w="47625">
            <a:solidFill>
              <a:srgbClr val="C8960C"/>
            </a:solidFill>
            <a:prstDash val="solid"/>
          </a:ln>
        </p:spPr>
      </p:sp>
      <p:sp>
        <p:nvSpPr>
          <p:cNvPr id="23" name="Text 21"/>
          <p:cNvSpPr/>
          <p:nvPr/>
        </p:nvSpPr>
        <p:spPr>
          <a:xfrm>
            <a:off x="5940475" y="2630388"/>
            <a:ext cx="2749487" cy="266700"/>
          </a:xfrm>
          <a:prstGeom prst="rect">
            <a:avLst/>
          </a:prstGeom>
          <a:noFill/>
          <a:ln/>
        </p:spPr>
        <p:txBody>
          <a:bodyPr wrap="square" lIns="0" tIns="0" rIns="0" bIns="0" rtlCol="0" anchor="t"/>
          <a:lstStyle/>
          <a:p>
            <a:pPr algn="l" indent="0" marL="0">
              <a:spcAft>
                <a:spcPts val="300"/>
              </a:spcAft>
              <a:buNone/>
            </a:pPr>
            <a:r>
              <a:rPr lang="en-US" sz="1800" b="1" dirty="0">
                <a:solidFill>
                  <a:srgbClr val="023520"/>
                </a:solidFill>
                <a:latin typeface="Arial" pitchFamily="34" charset="0"/>
                <a:ea typeface="Arial" pitchFamily="34" charset="-122"/>
                <a:cs typeface="Arial" pitchFamily="34" charset="-120"/>
              </a:rPr>
              <a:t>55–60%</a:t>
            </a:r>
            <a:endParaRPr lang="en-US" sz="1800" dirty="0"/>
          </a:p>
        </p:txBody>
      </p:sp>
      <p:sp>
        <p:nvSpPr>
          <p:cNvPr id="24" name="Text 22"/>
          <p:cNvSpPr/>
          <p:nvPr/>
        </p:nvSpPr>
        <p:spPr>
          <a:xfrm>
            <a:off x="5940475" y="2935188"/>
            <a:ext cx="2749487" cy="114300"/>
          </a:xfrm>
          <a:prstGeom prst="rect">
            <a:avLst/>
          </a:prstGeom>
          <a:noFill/>
          <a:ln/>
        </p:spPr>
        <p:txBody>
          <a:bodyPr wrap="square" lIns="0" tIns="0" rIns="0" bIns="0" rtlCol="0" anchor="t"/>
          <a:lstStyle/>
          <a:p>
            <a:pPr algn="l" indent="0" marL="0">
              <a:buNone/>
            </a:pPr>
            <a:r>
              <a:rPr lang="en-US" sz="800" dirty="0">
                <a:solidFill>
                  <a:srgbClr val="555555"/>
                </a:solidFill>
                <a:latin typeface="Arial" pitchFamily="34" charset="0"/>
                <a:ea typeface="Arial" pitchFamily="34" charset="-122"/>
                <a:cs typeface="Arial" pitchFamily="34" charset="-120"/>
              </a:rPr>
              <a:t>Base oil as share of finished lubricant cost</a:t>
            </a:r>
            <a:endParaRPr lang="en-US" sz="800" dirty="0"/>
          </a:p>
        </p:txBody>
      </p:sp>
      <p:sp>
        <p:nvSpPr>
          <p:cNvPr id="25" name="Text 23"/>
          <p:cNvSpPr/>
          <p:nvPr/>
        </p:nvSpPr>
        <p:spPr>
          <a:xfrm>
            <a:off x="5740450" y="3328839"/>
            <a:ext cx="3048000" cy="723900"/>
          </a:xfrm>
          <a:prstGeom prst="roundRect">
            <a:avLst>
              <a:gd name="adj" fmla="val 8772"/>
            </a:avLst>
          </a:prstGeom>
          <a:solidFill>
            <a:srgbClr val="F8F8F8"/>
          </a:solidFill>
          <a:ln/>
        </p:spPr>
        <p:txBody>
          <a:bodyPr wrap="square" rtlCol="0" anchor="ctr"/>
          <a:lstStyle/>
          <a:p>
            <a:pPr indent="0" marL="0">
              <a:buNone/>
            </a:pPr>
            <a:endParaRPr lang="en-US" dirty="0"/>
          </a:p>
        </p:txBody>
      </p:sp>
      <p:sp>
        <p:nvSpPr>
          <p:cNvPr id="26" name="Shape 24"/>
          <p:cNvSpPr/>
          <p:nvPr/>
        </p:nvSpPr>
        <p:spPr>
          <a:xfrm>
            <a:off x="5764262" y="3328839"/>
            <a:ext cx="0" cy="723900"/>
          </a:xfrm>
          <a:prstGeom prst="line">
            <a:avLst/>
          </a:prstGeom>
          <a:noFill/>
          <a:ln w="47625">
            <a:solidFill>
              <a:srgbClr val="C8960C"/>
            </a:solidFill>
            <a:prstDash val="solid"/>
          </a:ln>
        </p:spPr>
      </p:sp>
      <p:sp>
        <p:nvSpPr>
          <p:cNvPr id="27" name="Text 25"/>
          <p:cNvSpPr/>
          <p:nvPr/>
        </p:nvSpPr>
        <p:spPr>
          <a:xfrm>
            <a:off x="5940475" y="3481239"/>
            <a:ext cx="2749487" cy="266700"/>
          </a:xfrm>
          <a:prstGeom prst="rect">
            <a:avLst/>
          </a:prstGeom>
          <a:noFill/>
          <a:ln/>
        </p:spPr>
        <p:txBody>
          <a:bodyPr wrap="square" lIns="0" tIns="0" rIns="0" bIns="0" rtlCol="0" anchor="t"/>
          <a:lstStyle/>
          <a:p>
            <a:pPr algn="l" indent="0" marL="0">
              <a:spcAft>
                <a:spcPts val="300"/>
              </a:spcAft>
              <a:buNone/>
            </a:pPr>
            <a:r>
              <a:rPr lang="en-US" sz="1800" b="1" dirty="0">
                <a:solidFill>
                  <a:srgbClr val="023520"/>
                </a:solidFill>
                <a:latin typeface="Arial" pitchFamily="34" charset="0"/>
                <a:ea typeface="Arial" pitchFamily="34" charset="-122"/>
                <a:cs typeface="Arial" pitchFamily="34" charset="-120"/>
              </a:rPr>
              <a:t>Rs/USD</a:t>
            </a:r>
            <a:endParaRPr lang="en-US" sz="1800" dirty="0"/>
          </a:p>
        </p:txBody>
      </p:sp>
      <p:sp>
        <p:nvSpPr>
          <p:cNvPr id="28" name="Text 26"/>
          <p:cNvSpPr/>
          <p:nvPr/>
        </p:nvSpPr>
        <p:spPr>
          <a:xfrm>
            <a:off x="5940475" y="3786039"/>
            <a:ext cx="2749487" cy="114300"/>
          </a:xfrm>
          <a:prstGeom prst="rect">
            <a:avLst/>
          </a:prstGeom>
          <a:noFill/>
          <a:ln/>
        </p:spPr>
        <p:txBody>
          <a:bodyPr wrap="square" lIns="0" tIns="0" rIns="0" bIns="0" rtlCol="0" anchor="t"/>
          <a:lstStyle/>
          <a:p>
            <a:pPr algn="l" indent="0" marL="0">
              <a:buNone/>
            </a:pPr>
            <a:r>
              <a:rPr lang="en-US" sz="800" dirty="0">
                <a:solidFill>
                  <a:srgbClr val="555555"/>
                </a:solidFill>
                <a:latin typeface="Arial" pitchFamily="34" charset="0"/>
                <a:ea typeface="Arial" pitchFamily="34" charset="-122"/>
                <a:cs typeface="Arial" pitchFamily="34" charset="-120"/>
              </a:rPr>
              <a:t>Exchange rate risk embedded in BOI indexation</a:t>
            </a:r>
            <a:endParaRPr lang="en-US" sz="8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0" y="0"/>
            <a:ext cx="9144000" cy="536525"/>
          </a:xfrm>
          <a:prstGeom prst="rect">
            <a:avLst/>
          </a:prstGeom>
          <a:solidFill>
            <a:srgbClr val="00703C"/>
          </a:solidFill>
          <a:ln/>
        </p:spPr>
        <p:txBody>
          <a:bodyPr wrap="square" rtlCol="0" anchor="ctr"/>
          <a:lstStyle/>
          <a:p>
            <a:pPr indent="0" marL="0">
              <a:buNone/>
            </a:pPr>
            <a:endParaRPr lang="en-US" dirty="0"/>
          </a:p>
        </p:txBody>
      </p:sp>
      <p:sp>
        <p:nvSpPr>
          <p:cNvPr id="3" name="Text 1"/>
          <p:cNvSpPr/>
          <p:nvPr/>
        </p:nvSpPr>
        <p:spPr>
          <a:xfrm>
            <a:off x="355550" y="152400"/>
            <a:ext cx="3625248" cy="257175"/>
          </a:xfrm>
          <a:prstGeom prst="rect">
            <a:avLst/>
          </a:prstGeom>
          <a:noFill/>
          <a:ln/>
        </p:spPr>
        <p:txBody>
          <a:bodyPr wrap="square" lIns="0" tIns="0" rIns="0" bIns="0" rtlCol="0" anchor="t"/>
          <a:lstStyle/>
          <a:p>
            <a:pPr algn="l" indent="0" marL="0">
              <a:buNone/>
            </a:pPr>
            <a:r>
              <a:rPr lang="en-US" sz="1700" b="1" dirty="0">
                <a:solidFill>
                  <a:srgbClr val="FFFFFF"/>
                </a:solidFill>
                <a:latin typeface="Arial" pitchFamily="34" charset="0"/>
                <a:ea typeface="Arial" pitchFamily="34" charset="-122"/>
                <a:cs typeface="Arial" pitchFamily="34" charset="-120"/>
              </a:rPr>
              <a:t>F8 — Channel Pricing Architecture</a:t>
            </a:r>
            <a:endParaRPr lang="en-US" sz="1700" dirty="0"/>
          </a:p>
        </p:txBody>
      </p:sp>
      <p:sp>
        <p:nvSpPr>
          <p:cNvPr id="4" name="Text 2"/>
          <p:cNvSpPr/>
          <p:nvPr/>
        </p:nvSpPr>
        <p:spPr>
          <a:xfrm>
            <a:off x="7080498" y="176213"/>
            <a:ext cx="1707952" cy="209550"/>
          </a:xfrm>
          <a:prstGeom prst="roundRect">
            <a:avLst>
              <a:gd name="adj" fmla="val 18182"/>
            </a:avLst>
          </a:prstGeom>
          <a:solidFill>
            <a:srgbClr val="555555"/>
          </a:solidFill>
          <a:ln/>
        </p:spPr>
        <p:txBody>
          <a:bodyPr wrap="square" rtlCol="0" anchor="ctr"/>
          <a:lstStyle/>
          <a:p>
            <a:pPr indent="0" marL="0">
              <a:buNone/>
            </a:pPr>
            <a:endParaRPr lang="en-US" dirty="0"/>
          </a:p>
        </p:txBody>
      </p:sp>
      <p:sp>
        <p:nvSpPr>
          <p:cNvPr id="5" name="Text 3"/>
          <p:cNvSpPr/>
          <p:nvPr/>
        </p:nvSpPr>
        <p:spPr>
          <a:xfrm>
            <a:off x="7181999" y="214313"/>
            <a:ext cx="1535049" cy="133350"/>
          </a:xfrm>
          <a:prstGeom prst="rect">
            <a:avLst/>
          </a:prstGeom>
          <a:noFill/>
          <a:ln/>
        </p:spPr>
        <p:txBody>
          <a:bodyPr wrap="square" lIns="0" tIns="0" rIns="0" bIns="0" rtlCol="0" anchor="t"/>
          <a:lstStyle/>
          <a:p>
            <a:pPr algn="l" indent="0" marL="0">
              <a:buNone/>
            </a:pPr>
            <a:r>
              <a:rPr lang="en-US" sz="900" b="1" dirty="0">
                <a:solidFill>
                  <a:srgbClr val="FFFFFF"/>
                </a:solidFill>
                <a:latin typeface="Arial" pitchFamily="34" charset="0"/>
                <a:ea typeface="Arial" pitchFamily="34" charset="-122"/>
                <a:cs typeface="Arial" pitchFamily="34" charset="-120"/>
              </a:rPr>
              <a:t>REFERENCE FRAMEWORK</a:t>
            </a:r>
            <a:endParaRPr lang="en-US" sz="900" dirty="0"/>
          </a:p>
        </p:txBody>
      </p:sp>
      <p:sp>
        <p:nvSpPr>
          <p:cNvPr id="6" name="Text 4"/>
          <p:cNvSpPr/>
          <p:nvPr/>
        </p:nvSpPr>
        <p:spPr>
          <a:xfrm>
            <a:off x="304800" y="714226"/>
            <a:ext cx="8705088" cy="114300"/>
          </a:xfrm>
          <a:prstGeom prst="rect">
            <a:avLst/>
          </a:prstGeom>
          <a:noFill/>
          <a:ln/>
        </p:spPr>
        <p:txBody>
          <a:bodyPr wrap="square" lIns="0" tIns="0" rIns="0" bIns="0" rtlCol="0" anchor="t"/>
          <a:lstStyle/>
          <a:p>
            <a:pPr algn="l" indent="0" marL="0">
              <a:spcAft>
                <a:spcPts val="800"/>
              </a:spcAft>
              <a:buNone/>
            </a:pPr>
            <a:r>
              <a:rPr lang="en-US" sz="800" b="1" dirty="0">
                <a:solidFill>
                  <a:srgbClr val="C8960C"/>
                </a:solidFill>
                <a:latin typeface="Arial" pitchFamily="34" charset="0"/>
                <a:ea typeface="Arial" pitchFamily="34" charset="-122"/>
                <a:cs typeface="Arial" pitchFamily="34" charset="-120"/>
              </a:rPr>
              <a:t>PRICE WATERFALL BY CHANNEL — CARIENT ULTRA, 1L PACKS (PKR/L)</a:t>
            </a:r>
            <a:endParaRPr lang="en-US" sz="800" dirty="0"/>
          </a:p>
        </p:txBody>
      </p:sp>
      <p:sp>
        <p:nvSpPr>
          <p:cNvPr id="7" name="Text 5"/>
          <p:cNvSpPr/>
          <p:nvPr/>
        </p:nvSpPr>
        <p:spPr>
          <a:xfrm>
            <a:off x="304800" y="4851499"/>
            <a:ext cx="8705088" cy="114300"/>
          </a:xfrm>
          <a:prstGeom prst="rect">
            <a:avLst/>
          </a:prstGeom>
          <a:noFill/>
          <a:ln/>
        </p:spPr>
        <p:txBody>
          <a:bodyPr wrap="square" lIns="0" tIns="0" rIns="0" bIns="0" rtlCol="0" anchor="t"/>
          <a:lstStyle/>
          <a:p>
            <a:pPr algn="l" indent="0" marL="0">
              <a:spcBef>
                <a:spcPts val="800"/>
              </a:spcBef>
              <a:buNone/>
            </a:pPr>
            <a:r>
              <a:rPr lang="en-US" sz="800" dirty="0">
                <a:solidFill>
                  <a:srgbClr val="555555"/>
                </a:solidFill>
                <a:latin typeface="Arial" pitchFamily="34" charset="0"/>
                <a:ea typeface="Arial" pitchFamily="34" charset="-122"/>
                <a:cs typeface="Arial" pitchFamily="34" charset="-120"/>
              </a:rPr>
              <a:t>Channel discounts applied to recommended retail price: Workshop −12% | Distributor −15% | Fleet Contract −20%. Reflects standard trade term structure for Pakistan lubricants market.</a:t>
            </a:r>
            <a:endParaRPr lang="en-US" sz="800" dirty="0"/>
          </a:p>
        </p:txBody>
      </p:sp>
      <p:graphicFrame>
        <p:nvGraphicFramePr>
          <p:cNvPr id="14" name="Table 0"/>
          <p:cNvGraphicFramePr>
            <a:graphicFrameLocks noGrp="1"/>
          </p:cNvGraphicFramePr>
          <p:nvPr>
            <p:extLst>
              <p:ext uri="{D42A27DB-BD31-4B8C-83A1-F6EECF244321}">
                <p14:modId xmlns:p14="http://schemas.microsoft.com/office/powerpoint/2010/main" val="1579011935"/>
              </p:ext>
            </p:extLst>
          </p:nvPr>
        </p:nvGraphicFramePr>
        <p:xfrm>
          <a:off x="304800" y="930027"/>
          <a:ext cx="8534400" cy="3819971"/>
        </p:xfrm>
        <a:graphic>
          <a:graphicData uri="http://schemas.openxmlformats.org/drawingml/2006/table">
            <a:tbl>
              <a:tblPr/>
              <a:tblGrid>
                <a:gridCol w="1645920"/>
                <a:gridCol w="914400"/>
                <a:gridCol w="1554480"/>
                <a:gridCol w="1554480"/>
                <a:gridCol w="1554480"/>
                <a:gridCol w="1554480"/>
              </a:tblGrid>
              <a:tr h="272855">
                <a:tc>
                  <a:txBody>
                    <a:bodyPr/>
                    <a:lstStyle/>
                    <a:p>
                      <a:pPr algn="ctr" indent="0" marL="0">
                        <a:buNone/>
                      </a:pPr>
                      <a:r>
                        <a:rPr lang="en-US" sz="800" b="1" dirty="0">
                          <a:solidFill>
                            <a:srgbClr val="FFFFFF"/>
                          </a:solidFill>
                        </a:rPr>
                        <a:t>Brand</a:t>
                      </a:r>
                      <a:endParaRPr lang="en-US" sz="800" dirty="0"/>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023520"/>
                    </a:solidFill>
                  </a:tcPr>
                </a:tc>
                <a:tc>
                  <a:txBody>
                    <a:bodyPr/>
                    <a:lstStyle/>
                    <a:p>
                      <a:pPr algn="ctr" indent="0" marL="0">
                        <a:buNone/>
                      </a:pPr>
                      <a:r>
                        <a:rPr lang="en-US" sz="800" b="1" dirty="0">
                          <a:solidFill>
                            <a:srgbClr val="FFFFFF"/>
                          </a:solidFill>
                        </a:rPr>
                        <a:t>Grade</a:t>
                      </a:r>
                      <a:endParaRPr lang="en-US" sz="800" dirty="0"/>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023520"/>
                    </a:solidFill>
                  </a:tcPr>
                </a:tc>
                <a:tc>
                  <a:txBody>
                    <a:bodyPr/>
                    <a:lstStyle/>
                    <a:p>
                      <a:pPr algn="ctr" indent="0" marL="0">
                        <a:buNone/>
                      </a:pPr>
                      <a:r>
                        <a:rPr lang="en-US" sz="800" b="1" dirty="0">
                          <a:solidFill>
                            <a:srgbClr val="FFFFFF"/>
                          </a:solidFill>
                        </a:rPr>
                        <a:t>Retail Pump</a:t>
                      </a:r>
                      <a:endParaRPr lang="en-US" sz="800" dirty="0"/>
                    </a:p>
                    <a:p>
                      <a:pPr algn="ctr" indent="0" marL="0">
                        <a:buNone/>
                      </a:pPr>
                      <a:r>
                        <a:rPr lang="en-US" sz="800" b="1" dirty="0">
                          <a:solidFill>
                            <a:srgbClr val="FFFFFF"/>
                          </a:solidFill>
                        </a:rPr>
                        <a:t>(PKR/L)</a:t>
                      </a:r>
                      <a:endParaRPr lang="en-US" sz="800" dirty="0"/>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023520"/>
                    </a:solidFill>
                  </a:tcPr>
                </a:tc>
                <a:tc>
                  <a:txBody>
                    <a:bodyPr/>
                    <a:lstStyle/>
                    <a:p>
                      <a:pPr algn="ctr" indent="0" marL="0">
                        <a:buNone/>
                      </a:pPr>
                      <a:r>
                        <a:rPr lang="en-US" sz="800" b="1" dirty="0">
                          <a:solidFill>
                            <a:srgbClr val="FFFFFF"/>
                          </a:solidFill>
                        </a:rPr>
                        <a:t>Workshop</a:t>
                      </a:r>
                      <a:endParaRPr lang="en-US" sz="800" dirty="0"/>
                    </a:p>
                    <a:p>
                      <a:pPr algn="ctr" indent="0" marL="0">
                        <a:buNone/>
                      </a:pPr>
                      <a:r>
                        <a:rPr lang="en-US" sz="800" b="1" dirty="0">
                          <a:solidFill>
                            <a:srgbClr val="FFFFFF"/>
                          </a:solidFill>
                        </a:rPr>
                        <a:t>(−12%)</a:t>
                      </a:r>
                      <a:endParaRPr lang="en-US" sz="800" dirty="0"/>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023520"/>
                    </a:solidFill>
                  </a:tcPr>
                </a:tc>
                <a:tc>
                  <a:txBody>
                    <a:bodyPr/>
                    <a:lstStyle/>
                    <a:p>
                      <a:pPr algn="ctr" indent="0" marL="0">
                        <a:buNone/>
                      </a:pPr>
                      <a:r>
                        <a:rPr lang="en-US" sz="800" b="1" dirty="0">
                          <a:solidFill>
                            <a:srgbClr val="FFFFFF"/>
                          </a:solidFill>
                        </a:rPr>
                        <a:t>Distributor</a:t>
                      </a:r>
                      <a:endParaRPr lang="en-US" sz="800" dirty="0"/>
                    </a:p>
                    <a:p>
                      <a:pPr algn="ctr" indent="0" marL="0">
                        <a:buNone/>
                      </a:pPr>
                      <a:r>
                        <a:rPr lang="en-US" sz="800" b="1" dirty="0">
                          <a:solidFill>
                            <a:srgbClr val="FFFFFF"/>
                          </a:solidFill>
                        </a:rPr>
                        <a:t>(−15%)</a:t>
                      </a:r>
                      <a:endParaRPr lang="en-US" sz="800" dirty="0"/>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023520"/>
                    </a:solidFill>
                  </a:tcPr>
                </a:tc>
                <a:tc>
                  <a:txBody>
                    <a:bodyPr/>
                    <a:lstStyle/>
                    <a:p>
                      <a:pPr algn="ctr" indent="0" marL="0">
                        <a:buNone/>
                      </a:pPr>
                      <a:r>
                        <a:rPr lang="en-US" sz="800" b="1" dirty="0">
                          <a:solidFill>
                            <a:srgbClr val="FFFFFF"/>
                          </a:solidFill>
                        </a:rPr>
                        <a:t>Fleet Contract</a:t>
                      </a:r>
                      <a:endParaRPr lang="en-US" sz="800" dirty="0"/>
                    </a:p>
                    <a:p>
                      <a:pPr algn="ctr" indent="0" marL="0">
                        <a:buNone/>
                      </a:pPr>
                      <a:r>
                        <a:rPr lang="en-US" sz="800" b="1" dirty="0">
                          <a:solidFill>
                            <a:srgbClr val="FFFFFF"/>
                          </a:solidFill>
                        </a:rPr>
                        <a:t>(−20%)</a:t>
                      </a:r>
                      <a:endParaRPr lang="en-US" sz="800" dirty="0"/>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023520"/>
                    </a:solidFill>
                  </a:tcPr>
                </a:tc>
              </a:tr>
              <a:tr h="272855">
                <a:tc gridSpan="6">
                  <a:txBody>
                    <a:bodyPr/>
                    <a:lstStyle/>
                    <a:p>
                      <a:pPr algn="ctr" indent="0" marL="0">
                        <a:buNone/>
                      </a:pPr>
                      <a:r>
                        <a:rPr lang="en-US" sz="800" b="1" dirty="0">
                          <a:solidFill>
                            <a:srgbClr val="023520"/>
                          </a:solidFill>
                        </a:rPr>
                        <a:t>PCMO — Petrol Engine Oil</a:t>
                      </a:r>
                      <a:endParaRPr lang="en-US" sz="800" dirty="0"/>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E8F5EE"/>
                    </a:solidFill>
                  </a:tcPr>
                </a:tc>
                <a:tc hMerge="1">
                  <a:tcPr/>
                </a:tc>
                <a:tc hMerge="1">
                  <a:tcPr/>
                </a:tc>
                <a:tc hMerge="1">
                  <a:tcPr/>
                </a:tc>
                <a:tc hMerge="1">
                  <a:tcPr/>
                </a:tc>
                <a:tc hMerge="1">
                  <a:tcPr/>
                </a:tc>
                <a:tc>
                  <a:txBody>
                    <a:bodyPr/>
                    <a:lstStyle/>
                    <a:p>
                      <a:pPr algn="ctr" indent="0" marL="0">
                        <a:buNone/>
                      </a:pPr>
                      <a:endParaRPr lang="en-US" sz="800" dirty="0"/>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algn="ctr" indent="0" marL="0">
                        <a:buNone/>
                      </a:pPr>
                      <a:endParaRPr lang="en-US" sz="800" dirty="0"/>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algn="ctr" indent="0" marL="0">
                        <a:buNone/>
                      </a:pPr>
                      <a:endParaRPr lang="en-US" sz="800" dirty="0"/>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algn="ctr" indent="0" marL="0">
                        <a:buNone/>
                      </a:pPr>
                      <a:endParaRPr lang="en-US" sz="800" dirty="0"/>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algn="ctr" indent="0" marL="0">
                        <a:buNone/>
                      </a:pPr>
                      <a:endParaRPr lang="en-US" sz="800" dirty="0"/>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r>
              <a:tr h="272855">
                <a:tc>
                  <a:txBody>
                    <a:bodyPr/>
                    <a:lstStyle/>
                    <a:p>
                      <a:pPr algn="ctr" indent="0" marL="0">
                        <a:buNone/>
                      </a:pPr>
                      <a:r>
                        <a:rPr lang="en-US" sz="800" dirty="0">
                          <a:solidFill>
                            <a:srgbClr val="000000"/>
                          </a:solidFill>
                        </a:rPr>
                        <a:t>Carient Ultra</a:t>
                      </a:r>
                      <a:endParaRPr lang="en-US" sz="800" dirty="0"/>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algn="ctr" indent="0" marL="0">
                        <a:buNone/>
                      </a:pPr>
                      <a:r>
                        <a:rPr lang="en-US" sz="800" dirty="0">
                          <a:solidFill>
                            <a:srgbClr val="000000"/>
                          </a:solidFill>
                        </a:rPr>
                        <a:t>0W-20</a:t>
                      </a:r>
                      <a:endParaRPr lang="en-US" sz="800" dirty="0"/>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algn="ctr" indent="0" marL="0">
                        <a:buNone/>
                      </a:pPr>
                      <a:r>
                        <a:rPr lang="en-US" sz="800" dirty="0">
                          <a:solidFill>
                            <a:srgbClr val="000000"/>
                          </a:solidFill>
                        </a:rPr>
                        <a:t>Rs 3,745</a:t>
                      </a:r>
                      <a:endParaRPr lang="en-US" sz="800" dirty="0"/>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algn="ctr" indent="0" marL="0">
                        <a:buNone/>
                      </a:pPr>
                      <a:r>
                        <a:rPr lang="en-US" sz="800" dirty="0">
                          <a:solidFill>
                            <a:srgbClr val="000000"/>
                          </a:solidFill>
                        </a:rPr>
                        <a:t>Rs 3,296</a:t>
                      </a:r>
                      <a:endParaRPr lang="en-US" sz="800" dirty="0"/>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algn="ctr" indent="0" marL="0">
                        <a:buNone/>
                      </a:pPr>
                      <a:r>
                        <a:rPr lang="en-US" sz="800" dirty="0">
                          <a:solidFill>
                            <a:srgbClr val="000000"/>
                          </a:solidFill>
                        </a:rPr>
                        <a:t>Rs 3,183</a:t>
                      </a:r>
                      <a:endParaRPr lang="en-US" sz="800" dirty="0"/>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algn="ctr" indent="0" marL="0">
                        <a:buNone/>
                      </a:pPr>
                      <a:r>
                        <a:rPr lang="en-US" sz="800" dirty="0">
                          <a:solidFill>
                            <a:srgbClr val="000000"/>
                          </a:solidFill>
                        </a:rPr>
                        <a:t>Rs 2,996</a:t>
                      </a:r>
                      <a:endParaRPr lang="en-US" sz="800" dirty="0"/>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r>
              <a:tr h="272855">
                <a:tc>
                  <a:txBody>
                    <a:bodyPr/>
                    <a:lstStyle/>
                    <a:p>
                      <a:pPr algn="ctr" indent="0" marL="0">
                        <a:buNone/>
                      </a:pPr>
                      <a:r>
                        <a:rPr lang="en-US" sz="800" dirty="0">
                          <a:solidFill>
                            <a:srgbClr val="000000"/>
                          </a:solidFill>
                        </a:rPr>
                        <a:t>Carient FS</a:t>
                      </a:r>
                      <a:endParaRPr lang="en-US" sz="800" dirty="0"/>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algn="ctr" indent="0" marL="0">
                        <a:buNone/>
                      </a:pPr>
                      <a:r>
                        <a:rPr lang="en-US" sz="800" dirty="0">
                          <a:solidFill>
                            <a:srgbClr val="000000"/>
                          </a:solidFill>
                        </a:rPr>
                        <a:t>5W-40</a:t>
                      </a:r>
                      <a:endParaRPr lang="en-US" sz="800" dirty="0"/>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algn="ctr" indent="0" marL="0">
                        <a:buNone/>
                      </a:pPr>
                      <a:r>
                        <a:rPr lang="en-US" sz="800" dirty="0">
                          <a:solidFill>
                            <a:srgbClr val="000000"/>
                          </a:solidFill>
                        </a:rPr>
                        <a:t>Rs 3,138</a:t>
                      </a:r>
                      <a:endParaRPr lang="en-US" sz="800" dirty="0"/>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algn="ctr" indent="0" marL="0">
                        <a:buNone/>
                      </a:pPr>
                      <a:r>
                        <a:rPr lang="en-US" sz="800" dirty="0">
                          <a:solidFill>
                            <a:srgbClr val="000000"/>
                          </a:solidFill>
                        </a:rPr>
                        <a:t>Rs 2,761</a:t>
                      </a:r>
                      <a:endParaRPr lang="en-US" sz="800" dirty="0"/>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algn="ctr" indent="0" marL="0">
                        <a:buNone/>
                      </a:pPr>
                      <a:r>
                        <a:rPr lang="en-US" sz="800" dirty="0">
                          <a:solidFill>
                            <a:srgbClr val="000000"/>
                          </a:solidFill>
                        </a:rPr>
                        <a:t>Rs 2,667</a:t>
                      </a:r>
                      <a:endParaRPr lang="en-US" sz="800" dirty="0"/>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algn="ctr" indent="0" marL="0">
                        <a:buNone/>
                      </a:pPr>
                      <a:r>
                        <a:rPr lang="en-US" sz="800" dirty="0">
                          <a:solidFill>
                            <a:srgbClr val="000000"/>
                          </a:solidFill>
                        </a:rPr>
                        <a:t>Rs 2,510</a:t>
                      </a:r>
                      <a:endParaRPr lang="en-US" sz="800" dirty="0"/>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r>
              <a:tr h="272855">
                <a:tc>
                  <a:txBody>
                    <a:bodyPr/>
                    <a:lstStyle/>
                    <a:p>
                      <a:pPr algn="ctr" indent="0" marL="0">
                        <a:buNone/>
                      </a:pPr>
                      <a:r>
                        <a:rPr lang="en-US" sz="800" dirty="0">
                          <a:solidFill>
                            <a:srgbClr val="000000"/>
                          </a:solidFill>
                        </a:rPr>
                        <a:t>Carient Plus</a:t>
                      </a:r>
                      <a:endParaRPr lang="en-US" sz="800" dirty="0"/>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algn="ctr" indent="0" marL="0">
                        <a:buNone/>
                      </a:pPr>
                      <a:r>
                        <a:rPr lang="en-US" sz="800" dirty="0">
                          <a:solidFill>
                            <a:srgbClr val="000000"/>
                          </a:solidFill>
                        </a:rPr>
                        <a:t>15W-40</a:t>
                      </a:r>
                      <a:endParaRPr lang="en-US" sz="800" dirty="0"/>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algn="ctr" indent="0" marL="0">
                        <a:buNone/>
                      </a:pPr>
                      <a:r>
                        <a:rPr lang="en-US" sz="800" dirty="0">
                          <a:solidFill>
                            <a:srgbClr val="000000"/>
                          </a:solidFill>
                        </a:rPr>
                        <a:t>Rs 1,749</a:t>
                      </a:r>
                      <a:endParaRPr lang="en-US" sz="800" dirty="0"/>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algn="ctr" indent="0" marL="0">
                        <a:buNone/>
                      </a:pPr>
                      <a:r>
                        <a:rPr lang="en-US" sz="800" dirty="0">
                          <a:solidFill>
                            <a:srgbClr val="000000"/>
                          </a:solidFill>
                        </a:rPr>
                        <a:t>Rs 1,539</a:t>
                      </a:r>
                      <a:endParaRPr lang="en-US" sz="800" dirty="0"/>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algn="ctr" indent="0" marL="0">
                        <a:buNone/>
                      </a:pPr>
                      <a:r>
                        <a:rPr lang="en-US" sz="800" dirty="0">
                          <a:solidFill>
                            <a:srgbClr val="000000"/>
                          </a:solidFill>
                        </a:rPr>
                        <a:t>Rs 1,487</a:t>
                      </a:r>
                      <a:endParaRPr lang="en-US" sz="800" dirty="0"/>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algn="ctr" indent="0" marL="0">
                        <a:buNone/>
                      </a:pPr>
                      <a:r>
                        <a:rPr lang="en-US" sz="800" dirty="0">
                          <a:solidFill>
                            <a:srgbClr val="000000"/>
                          </a:solidFill>
                        </a:rPr>
                        <a:t>Rs 1,399</a:t>
                      </a:r>
                      <a:endParaRPr lang="en-US" sz="800" dirty="0"/>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r>
              <a:tr h="272855">
                <a:tc>
                  <a:txBody>
                    <a:bodyPr/>
                    <a:lstStyle/>
                    <a:p>
                      <a:pPr algn="ctr" indent="0" marL="0">
                        <a:buNone/>
                      </a:pPr>
                      <a:r>
                        <a:rPr lang="en-US" sz="800" dirty="0">
                          <a:solidFill>
                            <a:srgbClr val="000000"/>
                          </a:solidFill>
                        </a:rPr>
                        <a:t>Carient SPRO</a:t>
                      </a:r>
                      <a:endParaRPr lang="en-US" sz="800" dirty="0"/>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algn="ctr" indent="0" marL="0">
                        <a:buNone/>
                      </a:pPr>
                      <a:r>
                        <a:rPr lang="en-US" sz="800" dirty="0">
                          <a:solidFill>
                            <a:srgbClr val="000000"/>
                          </a:solidFill>
                        </a:rPr>
                        <a:t>15W-40</a:t>
                      </a:r>
                      <a:endParaRPr lang="en-US" sz="800" dirty="0"/>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algn="ctr" indent="0" marL="0">
                        <a:buNone/>
                      </a:pPr>
                      <a:r>
                        <a:rPr lang="en-US" sz="800" dirty="0">
                          <a:solidFill>
                            <a:srgbClr val="000000"/>
                          </a:solidFill>
                        </a:rPr>
                        <a:t>Rs 1,575</a:t>
                      </a:r>
                      <a:endParaRPr lang="en-US" sz="800" dirty="0"/>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algn="ctr" indent="0" marL="0">
                        <a:buNone/>
                      </a:pPr>
                      <a:r>
                        <a:rPr lang="en-US" sz="800" dirty="0">
                          <a:solidFill>
                            <a:srgbClr val="000000"/>
                          </a:solidFill>
                        </a:rPr>
                        <a:t>Rs 1,386</a:t>
                      </a:r>
                      <a:endParaRPr lang="en-US" sz="800" dirty="0"/>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algn="ctr" indent="0" marL="0">
                        <a:buNone/>
                      </a:pPr>
                      <a:r>
                        <a:rPr lang="en-US" sz="800" dirty="0">
                          <a:solidFill>
                            <a:srgbClr val="000000"/>
                          </a:solidFill>
                        </a:rPr>
                        <a:t>Rs 1,339</a:t>
                      </a:r>
                      <a:endParaRPr lang="en-US" sz="800" dirty="0"/>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algn="ctr" indent="0" marL="0">
                        <a:buNone/>
                      </a:pPr>
                      <a:r>
                        <a:rPr lang="en-US" sz="800" dirty="0">
                          <a:solidFill>
                            <a:srgbClr val="000000"/>
                          </a:solidFill>
                        </a:rPr>
                        <a:t>Rs 1,260</a:t>
                      </a:r>
                      <a:endParaRPr lang="en-US" sz="800" dirty="0"/>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r>
              <a:tr h="272855">
                <a:tc gridSpan="6">
                  <a:txBody>
                    <a:bodyPr/>
                    <a:lstStyle/>
                    <a:p>
                      <a:pPr algn="ctr" indent="0" marL="0">
                        <a:buNone/>
                      </a:pPr>
                      <a:r>
                        <a:rPr lang="en-US" sz="800" b="1" dirty="0">
                          <a:solidFill>
                            <a:srgbClr val="023520"/>
                          </a:solidFill>
                        </a:rPr>
                        <a:t>HDEO — Diesel Engine Oil</a:t>
                      </a:r>
                      <a:endParaRPr lang="en-US" sz="800" dirty="0"/>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E8F5EE"/>
                    </a:solidFill>
                  </a:tcPr>
                </a:tc>
                <a:tc hMerge="1">
                  <a:tcPr/>
                </a:tc>
                <a:tc hMerge="1">
                  <a:tcPr/>
                </a:tc>
                <a:tc hMerge="1">
                  <a:tcPr/>
                </a:tc>
                <a:tc hMerge="1">
                  <a:tcPr/>
                </a:tc>
                <a:tc hMerge="1">
                  <a:tcPr/>
                </a:tc>
                <a:tc>
                  <a:txBody>
                    <a:bodyPr/>
                    <a:lstStyle/>
                    <a:p>
                      <a:pPr algn="ctr" indent="0" marL="0">
                        <a:buNone/>
                      </a:pPr>
                      <a:endParaRPr lang="en-US" sz="800" dirty="0"/>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algn="ctr" indent="0" marL="0">
                        <a:buNone/>
                      </a:pPr>
                      <a:endParaRPr lang="en-US" sz="800" dirty="0"/>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algn="ctr" indent="0" marL="0">
                        <a:buNone/>
                      </a:pPr>
                      <a:endParaRPr lang="en-US" sz="800" dirty="0"/>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algn="ctr" indent="0" marL="0">
                        <a:buNone/>
                      </a:pPr>
                      <a:endParaRPr lang="en-US" sz="800" dirty="0"/>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algn="ctr" indent="0" marL="0">
                        <a:buNone/>
                      </a:pPr>
                      <a:endParaRPr lang="en-US" sz="800" dirty="0"/>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r>
              <a:tr h="272855">
                <a:tc>
                  <a:txBody>
                    <a:bodyPr/>
                    <a:lstStyle/>
                    <a:p>
                      <a:pPr algn="ctr" indent="0" marL="0">
                        <a:buNone/>
                      </a:pPr>
                      <a:r>
                        <a:rPr lang="en-US" sz="800" dirty="0">
                          <a:solidFill>
                            <a:srgbClr val="000000"/>
                          </a:solidFill>
                        </a:rPr>
                        <a:t>DEO Max</a:t>
                      </a:r>
                      <a:endParaRPr lang="en-US" sz="800" dirty="0"/>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algn="ctr" indent="0" marL="0">
                        <a:buNone/>
                      </a:pPr>
                      <a:r>
                        <a:rPr lang="en-US" sz="800" dirty="0">
                          <a:solidFill>
                            <a:srgbClr val="000000"/>
                          </a:solidFill>
                        </a:rPr>
                        <a:t>15W-40</a:t>
                      </a:r>
                      <a:endParaRPr lang="en-US" sz="800" dirty="0"/>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algn="ctr" indent="0" marL="0">
                        <a:buNone/>
                      </a:pPr>
                      <a:r>
                        <a:rPr lang="en-US" sz="800" dirty="0">
                          <a:solidFill>
                            <a:srgbClr val="000000"/>
                          </a:solidFill>
                        </a:rPr>
                        <a:t>Rs 1,613</a:t>
                      </a:r>
                      <a:endParaRPr lang="en-US" sz="800" dirty="0"/>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algn="ctr" indent="0" marL="0">
                        <a:buNone/>
                      </a:pPr>
                      <a:r>
                        <a:rPr lang="en-US" sz="800" dirty="0">
                          <a:solidFill>
                            <a:srgbClr val="000000"/>
                          </a:solidFill>
                        </a:rPr>
                        <a:t>Rs 1,419</a:t>
                      </a:r>
                      <a:endParaRPr lang="en-US" sz="800" dirty="0"/>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algn="ctr" indent="0" marL="0">
                        <a:buNone/>
                      </a:pPr>
                      <a:r>
                        <a:rPr lang="en-US" sz="800" dirty="0">
                          <a:solidFill>
                            <a:srgbClr val="000000"/>
                          </a:solidFill>
                        </a:rPr>
                        <a:t>Rs 1,371</a:t>
                      </a:r>
                      <a:endParaRPr lang="en-US" sz="800" dirty="0"/>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algn="ctr" indent="0" marL="0">
                        <a:buNone/>
                      </a:pPr>
                      <a:r>
                        <a:rPr lang="en-US" sz="800" dirty="0">
                          <a:solidFill>
                            <a:srgbClr val="000000"/>
                          </a:solidFill>
                        </a:rPr>
                        <a:t>Rs 1,290</a:t>
                      </a:r>
                      <a:endParaRPr lang="en-US" sz="800" dirty="0"/>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r>
              <a:tr h="272855">
                <a:tc>
                  <a:txBody>
                    <a:bodyPr/>
                    <a:lstStyle/>
                    <a:p>
                      <a:pPr algn="ctr" indent="0" marL="0">
                        <a:buNone/>
                      </a:pPr>
                      <a:r>
                        <a:rPr lang="en-US" sz="800" dirty="0">
                          <a:solidFill>
                            <a:srgbClr val="000000"/>
                          </a:solidFill>
                        </a:rPr>
                        <a:t>DEO 8000</a:t>
                      </a:r>
                      <a:endParaRPr lang="en-US" sz="800" dirty="0"/>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algn="ctr" indent="0" marL="0">
                        <a:buNone/>
                      </a:pPr>
                      <a:r>
                        <a:rPr lang="en-US" sz="800" dirty="0">
                          <a:solidFill>
                            <a:srgbClr val="000000"/>
                          </a:solidFill>
                        </a:rPr>
                        <a:t>10W-40</a:t>
                      </a:r>
                      <a:endParaRPr lang="en-US" sz="800" dirty="0"/>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algn="ctr" indent="0" marL="0">
                        <a:buNone/>
                      </a:pPr>
                      <a:r>
                        <a:rPr lang="en-US" sz="800" dirty="0">
                          <a:solidFill>
                            <a:srgbClr val="000000"/>
                          </a:solidFill>
                        </a:rPr>
                        <a:t>Rs 1,734</a:t>
                      </a:r>
                      <a:endParaRPr lang="en-US" sz="800" dirty="0"/>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algn="ctr" indent="0" marL="0">
                        <a:buNone/>
                      </a:pPr>
                      <a:r>
                        <a:rPr lang="en-US" sz="800" dirty="0">
                          <a:solidFill>
                            <a:srgbClr val="000000"/>
                          </a:solidFill>
                        </a:rPr>
                        <a:t>Rs 1,526</a:t>
                      </a:r>
                      <a:endParaRPr lang="en-US" sz="800" dirty="0"/>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algn="ctr" indent="0" marL="0">
                        <a:buNone/>
                      </a:pPr>
                      <a:r>
                        <a:rPr lang="en-US" sz="800" dirty="0">
                          <a:solidFill>
                            <a:srgbClr val="000000"/>
                          </a:solidFill>
                        </a:rPr>
                        <a:t>Rs 1,474</a:t>
                      </a:r>
                      <a:endParaRPr lang="en-US" sz="800" dirty="0"/>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algn="ctr" indent="0" marL="0">
                        <a:buNone/>
                      </a:pPr>
                      <a:r>
                        <a:rPr lang="en-US" sz="800" dirty="0">
                          <a:solidFill>
                            <a:srgbClr val="000000"/>
                          </a:solidFill>
                        </a:rPr>
                        <a:t>Rs 1,387</a:t>
                      </a:r>
                      <a:endParaRPr lang="en-US" sz="800" dirty="0"/>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r>
              <a:tr h="272855">
                <a:tc>
                  <a:txBody>
                    <a:bodyPr/>
                    <a:lstStyle/>
                    <a:p>
                      <a:pPr algn="ctr" indent="0" marL="0">
                        <a:buNone/>
                      </a:pPr>
                      <a:r>
                        <a:rPr lang="en-US" sz="800" dirty="0">
                          <a:solidFill>
                            <a:srgbClr val="000000"/>
                          </a:solidFill>
                        </a:rPr>
                        <a:t>DEO 6000</a:t>
                      </a:r>
                      <a:endParaRPr lang="en-US" sz="800" dirty="0"/>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algn="ctr" indent="0" marL="0">
                        <a:buNone/>
                      </a:pPr>
                      <a:r>
                        <a:rPr lang="en-US" sz="800" dirty="0">
                          <a:solidFill>
                            <a:srgbClr val="000000"/>
                          </a:solidFill>
                        </a:rPr>
                        <a:t>15W-40</a:t>
                      </a:r>
                      <a:endParaRPr lang="en-US" sz="800" dirty="0"/>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algn="ctr" indent="0" marL="0">
                        <a:buNone/>
                      </a:pPr>
                      <a:r>
                        <a:rPr lang="en-US" sz="800" dirty="0">
                          <a:solidFill>
                            <a:srgbClr val="000000"/>
                          </a:solidFill>
                        </a:rPr>
                        <a:t>Rs 1,784</a:t>
                      </a:r>
                      <a:endParaRPr lang="en-US" sz="800" dirty="0"/>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algn="ctr" indent="0" marL="0">
                        <a:buNone/>
                      </a:pPr>
                      <a:r>
                        <a:rPr lang="en-US" sz="800" dirty="0">
                          <a:solidFill>
                            <a:srgbClr val="000000"/>
                          </a:solidFill>
                        </a:rPr>
                        <a:t>Rs 1,570</a:t>
                      </a:r>
                      <a:endParaRPr lang="en-US" sz="800" dirty="0"/>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algn="ctr" indent="0" marL="0">
                        <a:buNone/>
                      </a:pPr>
                      <a:r>
                        <a:rPr lang="en-US" sz="800" dirty="0">
                          <a:solidFill>
                            <a:srgbClr val="000000"/>
                          </a:solidFill>
                        </a:rPr>
                        <a:t>Rs 1,516</a:t>
                      </a:r>
                      <a:endParaRPr lang="en-US" sz="800" dirty="0"/>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algn="ctr" indent="0" marL="0">
                        <a:buNone/>
                      </a:pPr>
                      <a:r>
                        <a:rPr lang="en-US" sz="800" dirty="0">
                          <a:solidFill>
                            <a:srgbClr val="000000"/>
                          </a:solidFill>
                        </a:rPr>
                        <a:t>Rs 1,427</a:t>
                      </a:r>
                      <a:endParaRPr lang="en-US" sz="800" dirty="0"/>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r>
              <a:tr h="272855">
                <a:tc>
                  <a:txBody>
                    <a:bodyPr/>
                    <a:lstStyle/>
                    <a:p>
                      <a:pPr algn="ctr" indent="0" marL="0">
                        <a:buNone/>
                      </a:pPr>
                      <a:r>
                        <a:rPr lang="en-US" sz="800" dirty="0">
                          <a:solidFill>
                            <a:srgbClr val="000000"/>
                          </a:solidFill>
                        </a:rPr>
                        <a:t>Dieselube</a:t>
                      </a:r>
                      <a:endParaRPr lang="en-US" sz="800" dirty="0"/>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algn="ctr" indent="0" marL="0">
                        <a:buNone/>
                      </a:pPr>
                      <a:r>
                        <a:rPr lang="en-US" sz="800" dirty="0">
                          <a:solidFill>
                            <a:srgbClr val="000000"/>
                          </a:solidFill>
                        </a:rPr>
                        <a:t>15W-40</a:t>
                      </a:r>
                      <a:endParaRPr lang="en-US" sz="800" dirty="0"/>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algn="ctr" indent="0" marL="0">
                        <a:buNone/>
                      </a:pPr>
                      <a:r>
                        <a:rPr lang="en-US" sz="800" dirty="0">
                          <a:solidFill>
                            <a:srgbClr val="000000"/>
                          </a:solidFill>
                        </a:rPr>
                        <a:t>Rs 1,515</a:t>
                      </a:r>
                      <a:endParaRPr lang="en-US" sz="800" dirty="0"/>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algn="ctr" indent="0" marL="0">
                        <a:buNone/>
                      </a:pPr>
                      <a:r>
                        <a:rPr lang="en-US" sz="800" dirty="0">
                          <a:solidFill>
                            <a:srgbClr val="000000"/>
                          </a:solidFill>
                        </a:rPr>
                        <a:t>Rs 1,333</a:t>
                      </a:r>
                      <a:endParaRPr lang="en-US" sz="800" dirty="0"/>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algn="ctr" indent="0" marL="0">
                        <a:buNone/>
                      </a:pPr>
                      <a:r>
                        <a:rPr lang="en-US" sz="800" dirty="0">
                          <a:solidFill>
                            <a:srgbClr val="000000"/>
                          </a:solidFill>
                        </a:rPr>
                        <a:t>Rs 1,288</a:t>
                      </a:r>
                      <a:endParaRPr lang="en-US" sz="800" dirty="0"/>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algn="ctr" indent="0" marL="0">
                        <a:buNone/>
                      </a:pPr>
                      <a:r>
                        <a:rPr lang="en-US" sz="800" dirty="0">
                          <a:solidFill>
                            <a:srgbClr val="000000"/>
                          </a:solidFill>
                        </a:rPr>
                        <a:t>Rs 1,212</a:t>
                      </a:r>
                      <a:endParaRPr lang="en-US" sz="800" dirty="0"/>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r>
              <a:tr h="272855">
                <a:tc gridSpan="6">
                  <a:txBody>
                    <a:bodyPr/>
                    <a:lstStyle/>
                    <a:p>
                      <a:pPr algn="ctr" indent="0" marL="0">
                        <a:buNone/>
                      </a:pPr>
                      <a:r>
                        <a:rPr lang="en-US" sz="800" b="1" dirty="0">
                          <a:solidFill>
                            <a:srgbClr val="023520"/>
                          </a:solidFill>
                        </a:rPr>
                        <a:t>MCO — Motorcycle Oil</a:t>
                      </a:r>
                      <a:endParaRPr lang="en-US" sz="800" dirty="0"/>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E8F5EE"/>
                    </a:solidFill>
                  </a:tcPr>
                </a:tc>
                <a:tc hMerge="1">
                  <a:tcPr/>
                </a:tc>
                <a:tc hMerge="1">
                  <a:tcPr/>
                </a:tc>
                <a:tc hMerge="1">
                  <a:tcPr/>
                </a:tc>
                <a:tc hMerge="1">
                  <a:tcPr/>
                </a:tc>
                <a:tc hMerge="1">
                  <a:tcPr/>
                </a:tc>
                <a:tc>
                  <a:txBody>
                    <a:bodyPr/>
                    <a:lstStyle/>
                    <a:p>
                      <a:pPr algn="ctr" indent="0" marL="0">
                        <a:buNone/>
                      </a:pPr>
                      <a:endParaRPr lang="en-US" sz="800" dirty="0"/>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algn="ctr" indent="0" marL="0">
                        <a:buNone/>
                      </a:pPr>
                      <a:endParaRPr lang="en-US" sz="800" dirty="0"/>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algn="ctr" indent="0" marL="0">
                        <a:buNone/>
                      </a:pPr>
                      <a:endParaRPr lang="en-US" sz="800" dirty="0"/>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algn="ctr" indent="0" marL="0">
                        <a:buNone/>
                      </a:pPr>
                      <a:endParaRPr lang="en-US" sz="800" dirty="0"/>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algn="ctr" indent="0" marL="0">
                        <a:buNone/>
                      </a:pPr>
                      <a:endParaRPr lang="en-US" sz="800" dirty="0"/>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r>
              <a:tr h="272855">
                <a:tc>
                  <a:txBody>
                    <a:bodyPr/>
                    <a:lstStyle/>
                    <a:p>
                      <a:pPr algn="ctr" indent="0" marL="0">
                        <a:buNone/>
                      </a:pPr>
                      <a:r>
                        <a:rPr lang="en-US" sz="800" dirty="0">
                          <a:solidFill>
                            <a:srgbClr val="000000"/>
                          </a:solidFill>
                        </a:rPr>
                        <a:t>Blaze Xtreme</a:t>
                      </a:r>
                      <a:endParaRPr lang="en-US" sz="800" dirty="0"/>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algn="ctr" indent="0" marL="0">
                        <a:buNone/>
                      </a:pPr>
                      <a:r>
                        <a:rPr lang="en-US" sz="800" dirty="0">
                          <a:solidFill>
                            <a:srgbClr val="000000"/>
                          </a:solidFill>
                        </a:rPr>
                        <a:t>10W-40</a:t>
                      </a:r>
                      <a:endParaRPr lang="en-US" sz="800" dirty="0"/>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algn="ctr" indent="0" marL="0">
                        <a:buNone/>
                      </a:pPr>
                      <a:r>
                        <a:rPr lang="en-US" sz="800" dirty="0">
                          <a:solidFill>
                            <a:srgbClr val="000000"/>
                          </a:solidFill>
                        </a:rPr>
                        <a:t>Rs 1,698</a:t>
                      </a:r>
                      <a:endParaRPr lang="en-US" sz="800" dirty="0"/>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algn="ctr" indent="0" marL="0">
                        <a:buNone/>
                      </a:pPr>
                      <a:r>
                        <a:rPr lang="en-US" sz="800" dirty="0">
                          <a:solidFill>
                            <a:srgbClr val="000000"/>
                          </a:solidFill>
                        </a:rPr>
                        <a:t>Rs 1,494</a:t>
                      </a:r>
                      <a:endParaRPr lang="en-US" sz="800" dirty="0"/>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algn="ctr" indent="0" marL="0">
                        <a:buNone/>
                      </a:pPr>
                      <a:r>
                        <a:rPr lang="en-US" sz="800" dirty="0">
                          <a:solidFill>
                            <a:srgbClr val="000000"/>
                          </a:solidFill>
                        </a:rPr>
                        <a:t>Rs 1,443</a:t>
                      </a:r>
                      <a:endParaRPr lang="en-US" sz="800" dirty="0"/>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algn="ctr" indent="0" marL="0">
                        <a:buNone/>
                      </a:pPr>
                      <a:r>
                        <a:rPr lang="en-US" sz="800" dirty="0">
                          <a:solidFill>
                            <a:srgbClr val="000000"/>
                          </a:solidFill>
                        </a:rPr>
                        <a:t>Rs 1,358</a:t>
                      </a:r>
                      <a:endParaRPr lang="en-US" sz="800" dirty="0"/>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r>
              <a:tr h="272855">
                <a:tc>
                  <a:txBody>
                    <a:bodyPr/>
                    <a:lstStyle/>
                    <a:p>
                      <a:pPr algn="ctr" indent="0" marL="0">
                        <a:buNone/>
                      </a:pPr>
                      <a:r>
                        <a:rPr lang="en-US" sz="800" dirty="0">
                          <a:solidFill>
                            <a:srgbClr val="000000"/>
                          </a:solidFill>
                        </a:rPr>
                        <a:t>Blaze 4T</a:t>
                      </a:r>
                      <a:endParaRPr lang="en-US" sz="800" dirty="0"/>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algn="ctr" indent="0" marL="0">
                        <a:buNone/>
                      </a:pPr>
                      <a:r>
                        <a:rPr lang="en-US" sz="800" dirty="0">
                          <a:solidFill>
                            <a:srgbClr val="000000"/>
                          </a:solidFill>
                        </a:rPr>
                        <a:t>10W-40</a:t>
                      </a:r>
                      <a:endParaRPr lang="en-US" sz="800" dirty="0"/>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algn="ctr" indent="0" marL="0">
                        <a:buNone/>
                      </a:pPr>
                      <a:r>
                        <a:rPr lang="en-US" sz="800" dirty="0">
                          <a:solidFill>
                            <a:srgbClr val="000000"/>
                          </a:solidFill>
                        </a:rPr>
                        <a:t>Rs 1,665</a:t>
                      </a:r>
                      <a:endParaRPr lang="en-US" sz="800" dirty="0"/>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algn="ctr" indent="0" marL="0">
                        <a:buNone/>
                      </a:pPr>
                      <a:r>
                        <a:rPr lang="en-US" sz="800" dirty="0">
                          <a:solidFill>
                            <a:srgbClr val="000000"/>
                          </a:solidFill>
                        </a:rPr>
                        <a:t>Rs 1,465</a:t>
                      </a:r>
                      <a:endParaRPr lang="en-US" sz="800" dirty="0"/>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algn="ctr" indent="0" marL="0">
                        <a:buNone/>
                      </a:pPr>
                      <a:r>
                        <a:rPr lang="en-US" sz="800" dirty="0">
                          <a:solidFill>
                            <a:srgbClr val="000000"/>
                          </a:solidFill>
                        </a:rPr>
                        <a:t>Rs 1,415</a:t>
                      </a:r>
                      <a:endParaRPr lang="en-US" sz="800" dirty="0"/>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algn="ctr" indent="0" marL="0">
                        <a:buNone/>
                      </a:pPr>
                      <a:r>
                        <a:rPr lang="en-US" sz="800" dirty="0">
                          <a:solidFill>
                            <a:srgbClr val="000000"/>
                          </a:solidFill>
                        </a:rPr>
                        <a:t>Rs 1,332</a:t>
                      </a:r>
                      <a:endParaRPr lang="en-US" sz="800" dirty="0"/>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r>
            </a:tbl>
          </a:graphicData>
        </a:graphic>
      </p:graphicFrame>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0" y="0"/>
            <a:ext cx="9144000" cy="730151"/>
          </a:xfrm>
          <a:prstGeom prst="rect">
            <a:avLst/>
          </a:prstGeom>
          <a:solidFill>
            <a:srgbClr val="00703C"/>
          </a:solidFill>
          <a:ln/>
        </p:spPr>
        <p:txBody>
          <a:bodyPr wrap="square" rtlCol="0" anchor="ctr"/>
          <a:lstStyle/>
          <a:p>
            <a:pPr indent="0" marL="0">
              <a:buNone/>
            </a:pPr>
            <a:endParaRPr lang="en-US" dirty="0"/>
          </a:p>
        </p:txBody>
      </p:sp>
      <p:sp>
        <p:nvSpPr>
          <p:cNvPr id="3" name="Text 1"/>
          <p:cNvSpPr/>
          <p:nvPr/>
        </p:nvSpPr>
        <p:spPr>
          <a:xfrm>
            <a:off x="355550" y="152400"/>
            <a:ext cx="8601557" cy="266700"/>
          </a:xfrm>
          <a:prstGeom prst="rect">
            <a:avLst/>
          </a:prstGeom>
          <a:noFill/>
          <a:ln/>
        </p:spPr>
        <p:txBody>
          <a:bodyPr wrap="square" lIns="0" tIns="0" rIns="0" bIns="0" rtlCol="0" anchor="t"/>
          <a:lstStyle/>
          <a:p>
            <a:pPr algn="l" indent="0" marL="0">
              <a:buNone/>
            </a:pPr>
            <a:r>
              <a:rPr lang="en-US" sz="1800" b="1" dirty="0">
                <a:solidFill>
                  <a:srgbClr val="FFFFFF"/>
                </a:solidFill>
                <a:latin typeface="Arial" pitchFamily="34" charset="0"/>
                <a:ea typeface="Arial" pitchFamily="34" charset="-122"/>
                <a:cs typeface="Arial" pitchFamily="34" charset="-120"/>
              </a:rPr>
              <a:t>Recommended Prices — PCMO (Petrol Engine)</a:t>
            </a:r>
            <a:endParaRPr lang="en-US" sz="1800" dirty="0"/>
          </a:p>
        </p:txBody>
      </p:sp>
      <p:sp>
        <p:nvSpPr>
          <p:cNvPr id="4" name="Text 2"/>
          <p:cNvSpPr/>
          <p:nvPr/>
        </p:nvSpPr>
        <p:spPr>
          <a:xfrm>
            <a:off x="355550" y="469850"/>
            <a:ext cx="8601557" cy="133350"/>
          </a:xfrm>
          <a:prstGeom prst="rect">
            <a:avLst/>
          </a:prstGeom>
          <a:noFill/>
          <a:ln/>
        </p:spPr>
        <p:txBody>
          <a:bodyPr wrap="square" lIns="0" tIns="0" rIns="0" bIns="0" rtlCol="0" anchor="t"/>
          <a:lstStyle/>
          <a:p>
            <a:pPr algn="l" indent="0" marL="0">
              <a:spcBef>
                <a:spcPts val="400"/>
              </a:spcBef>
              <a:buNone/>
            </a:pPr>
            <a:r>
              <a:rPr lang="en-US" sz="900" b="1" dirty="0">
                <a:solidFill>
                  <a:srgbClr val="A8D5BE"/>
                </a:solidFill>
                <a:latin typeface="Arial" pitchFamily="34" charset="0"/>
                <a:ea typeface="Arial" pitchFamily="34" charset="-122"/>
                <a:cs typeface="Arial" pitchFamily="34" charset="-120"/>
              </a:rPr>
              <a:t>28 SKUs | Carient Ultra, FS, Plus &amp; SPRO | Weighted synthesis across F1–F5 frameworks</a:t>
            </a:r>
            <a:endParaRPr lang="en-US" sz="900" dirty="0"/>
          </a:p>
        </p:txBody>
      </p:sp>
      <p:sp>
        <p:nvSpPr>
          <p:cNvPr id="5" name="Text 3"/>
          <p:cNvSpPr/>
          <p:nvPr/>
        </p:nvSpPr>
        <p:spPr>
          <a:xfrm>
            <a:off x="304800" y="907852"/>
            <a:ext cx="8705088" cy="114300"/>
          </a:xfrm>
          <a:prstGeom prst="rect">
            <a:avLst/>
          </a:prstGeom>
          <a:noFill/>
          <a:ln/>
        </p:spPr>
        <p:txBody>
          <a:bodyPr wrap="square" lIns="0" tIns="0" rIns="0" bIns="0" rtlCol="0" anchor="t"/>
          <a:lstStyle/>
          <a:p>
            <a:pPr algn="l" indent="0" marL="0">
              <a:spcAft>
                <a:spcPts val="800"/>
              </a:spcAft>
              <a:buNone/>
            </a:pPr>
            <a:r>
              <a:rPr lang="en-US" sz="800" dirty="0">
                <a:solidFill>
                  <a:srgbClr val="555555"/>
                </a:solidFill>
                <a:latin typeface="Arial" pitchFamily="34" charset="0"/>
                <a:ea typeface="Arial" pitchFamily="34" charset="-122"/>
                <a:cs typeface="Arial" pitchFamily="34" charset="-120"/>
              </a:rPr>
              <a:t>All prices in PKR/Litre. Signal: PREMIUM (+&gt;10% vs market) | AT MARKET (±10%) | VALUE POSITION (−&gt;10% below market)</a:t>
            </a:r>
            <a:endParaRPr lang="en-US" sz="800" dirty="0"/>
          </a:p>
        </p:txBody>
      </p:sp>
      <p:graphicFrame>
        <p:nvGraphicFramePr>
          <p:cNvPr id="15" name="Table 0"/>
          <p:cNvGraphicFramePr>
            <a:graphicFrameLocks noGrp="1"/>
          </p:cNvGraphicFramePr>
          <p:nvPr>
            <p:extLst>
              <p:ext uri="{D42A27DB-BD31-4B8C-83A1-F6EECF244321}">
                <p14:modId xmlns:p14="http://schemas.microsoft.com/office/powerpoint/2010/main" val="1579011935"/>
              </p:ext>
            </p:extLst>
          </p:nvPr>
        </p:nvGraphicFramePr>
        <p:xfrm>
          <a:off x="304800" y="1123652"/>
          <a:ext cx="8534400" cy="3842147"/>
        </p:xfrm>
        <a:graphic>
          <a:graphicData uri="http://schemas.openxmlformats.org/drawingml/2006/table">
            <a:tbl>
              <a:tblPr/>
              <a:tblGrid>
                <a:gridCol w="1417320"/>
                <a:gridCol w="777240"/>
                <a:gridCol w="640080"/>
                <a:gridCol w="914400"/>
                <a:gridCol w="1005840"/>
                <a:gridCol w="777240"/>
                <a:gridCol w="1280160"/>
                <a:gridCol w="640080"/>
              </a:tblGrid>
              <a:tr h="182959">
                <a:tc>
                  <a:txBody>
                    <a:bodyPr/>
                    <a:lstStyle/>
                    <a:p>
                      <a:pPr algn="ctr" indent="0" marL="0">
                        <a:buNone/>
                      </a:pPr>
                      <a:r>
                        <a:rPr lang="en-US" sz="900" b="1" dirty="0">
                          <a:solidFill>
                            <a:srgbClr val="FFFFFF"/>
                          </a:solidFill>
                        </a:rPr>
                        <a:t>Brand</a:t>
                      </a:r>
                      <a:endParaRPr lang="en-US" sz="900" dirty="0"/>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023520"/>
                    </a:solidFill>
                  </a:tcPr>
                </a:tc>
                <a:tc>
                  <a:txBody>
                    <a:bodyPr/>
                    <a:lstStyle/>
                    <a:p>
                      <a:pPr algn="ctr" indent="0" marL="0">
                        <a:buNone/>
                      </a:pPr>
                      <a:r>
                        <a:rPr lang="en-US" sz="900" b="1" dirty="0">
                          <a:solidFill>
                            <a:srgbClr val="FFFFFF"/>
                          </a:solidFill>
                        </a:rPr>
                        <a:t>Grade</a:t>
                      </a:r>
                      <a:endParaRPr lang="en-US" sz="900" dirty="0"/>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023520"/>
                    </a:solidFill>
                  </a:tcPr>
                </a:tc>
                <a:tc>
                  <a:txBody>
                    <a:bodyPr/>
                    <a:lstStyle/>
                    <a:p>
                      <a:pPr algn="ctr" indent="0" marL="0">
                        <a:buNone/>
                      </a:pPr>
                      <a:r>
                        <a:rPr lang="en-US" sz="900" b="1" dirty="0">
                          <a:solidFill>
                            <a:srgbClr val="FFFFFF"/>
                          </a:solidFill>
                        </a:rPr>
                        <a:t>Pack (L)</a:t>
                      </a:r>
                      <a:endParaRPr lang="en-US" sz="900" dirty="0"/>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023520"/>
                    </a:solidFill>
                  </a:tcPr>
                </a:tc>
                <a:tc>
                  <a:txBody>
                    <a:bodyPr/>
                    <a:lstStyle/>
                    <a:p>
                      <a:pPr algn="ctr" indent="0" marL="0">
                        <a:buNone/>
                      </a:pPr>
                      <a:r>
                        <a:rPr lang="en-US" sz="900" b="1" dirty="0">
                          <a:solidFill>
                            <a:srgbClr val="FFFFFF"/>
                          </a:solidFill>
                        </a:rPr>
                        <a:t>Rec Price/L</a:t>
                      </a:r>
                      <a:endParaRPr lang="en-US" sz="900" dirty="0"/>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023520"/>
                    </a:solidFill>
                  </a:tcPr>
                </a:tc>
                <a:tc>
                  <a:txBody>
                    <a:bodyPr/>
                    <a:lstStyle/>
                    <a:p>
                      <a:pPr algn="ctr" indent="0" marL="0">
                        <a:buNone/>
                      </a:pPr>
                      <a:r>
                        <a:rPr lang="en-US" sz="900" b="1" dirty="0">
                          <a:solidFill>
                            <a:srgbClr val="FFFFFF"/>
                          </a:solidFill>
                        </a:rPr>
                        <a:t>Rec PKR</a:t>
                      </a:r>
                      <a:endParaRPr lang="en-US" sz="900" dirty="0"/>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023520"/>
                    </a:solidFill>
                  </a:tcPr>
                </a:tc>
                <a:tc>
                  <a:txBody>
                    <a:bodyPr/>
                    <a:lstStyle/>
                    <a:p>
                      <a:pPr algn="ctr" indent="0" marL="0">
                        <a:buNone/>
                      </a:pPr>
                      <a:r>
                        <a:rPr lang="en-US" sz="900" b="1" dirty="0">
                          <a:solidFill>
                            <a:srgbClr val="FFFFFF"/>
                          </a:solidFill>
                        </a:rPr>
                        <a:t>vs Market</a:t>
                      </a:r>
                      <a:endParaRPr lang="en-US" sz="900" dirty="0"/>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023520"/>
                    </a:solidFill>
                  </a:tcPr>
                </a:tc>
                <a:tc>
                  <a:txBody>
                    <a:bodyPr/>
                    <a:lstStyle/>
                    <a:p>
                      <a:pPr algn="ctr" indent="0" marL="0">
                        <a:buNone/>
                      </a:pPr>
                      <a:r>
                        <a:rPr lang="en-US" sz="900" b="1" dirty="0">
                          <a:solidFill>
                            <a:srgbClr val="FFFFFF"/>
                          </a:solidFill>
                        </a:rPr>
                        <a:t>Signal</a:t>
                      </a:r>
                      <a:endParaRPr lang="en-US" sz="900" dirty="0"/>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023520"/>
                    </a:solidFill>
                  </a:tcPr>
                </a:tc>
                <a:tc>
                  <a:txBody>
                    <a:bodyPr/>
                    <a:lstStyle/>
                    <a:p>
                      <a:pPr algn="ctr" indent="0" marL="0">
                        <a:buNone/>
                      </a:pPr>
                      <a:r>
                        <a:rPr lang="en-US" sz="900" b="1" dirty="0">
                          <a:solidFill>
                            <a:srgbClr val="FFFFFF"/>
                          </a:solidFill>
                        </a:rPr>
                        <a:t>Conf.</a:t>
                      </a:r>
                      <a:endParaRPr lang="en-US" sz="900" dirty="0"/>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023520"/>
                    </a:solidFill>
                  </a:tcPr>
                </a:tc>
              </a:tr>
              <a:tr h="182959">
                <a:tc>
                  <a:txBody>
                    <a:bodyPr/>
                    <a:lstStyle/>
                    <a:p>
                      <a:pPr algn="ctr" indent="0" marL="0">
                        <a:buNone/>
                      </a:pPr>
                      <a:r>
                        <a:rPr lang="en-US" sz="800" dirty="0">
                          <a:solidFill>
                            <a:srgbClr val="000000"/>
                          </a:solidFill>
                        </a:rPr>
                        <a:t>Carient Ultra</a:t>
                      </a:r>
                      <a:endParaRPr lang="en-US" sz="800" dirty="0"/>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algn="ctr" indent="0" marL="0">
                        <a:buNone/>
                      </a:pPr>
                      <a:r>
                        <a:rPr lang="en-US" sz="800" dirty="0">
                          <a:solidFill>
                            <a:srgbClr val="000000"/>
                          </a:solidFill>
                        </a:rPr>
                        <a:t>0W-20</a:t>
                      </a:r>
                      <a:endParaRPr lang="en-US" sz="800" dirty="0"/>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algn="ctr" indent="0" marL="0">
                        <a:buNone/>
                      </a:pPr>
                      <a:r>
                        <a:rPr lang="en-US" sz="800" dirty="0">
                          <a:solidFill>
                            <a:srgbClr val="000000"/>
                          </a:solidFill>
                        </a:rPr>
                        <a:t>1L</a:t>
                      </a:r>
                      <a:endParaRPr lang="en-US" sz="800" dirty="0"/>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algn="ctr" indent="0" marL="0">
                        <a:buNone/>
                      </a:pPr>
                      <a:r>
                        <a:rPr lang="en-US" sz="800" dirty="0">
                          <a:solidFill>
                            <a:srgbClr val="000000"/>
                          </a:solidFill>
                        </a:rPr>
                        <a:t>Rs 3,745</a:t>
                      </a:r>
                      <a:endParaRPr lang="en-US" sz="800" dirty="0"/>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algn="ctr" indent="0" marL="0">
                        <a:buNone/>
                      </a:pPr>
                      <a:r>
                        <a:rPr lang="en-US" sz="800" dirty="0">
                          <a:solidFill>
                            <a:srgbClr val="000000"/>
                          </a:solidFill>
                        </a:rPr>
                        <a:t>Rs 3,745</a:t>
                      </a:r>
                      <a:endParaRPr lang="en-US" sz="800" dirty="0"/>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algn="ctr" indent="0" marL="0">
                        <a:buNone/>
                      </a:pPr>
                      <a:r>
                        <a:rPr lang="en-US" sz="800" dirty="0">
                          <a:solidFill>
                            <a:srgbClr val="000000"/>
                          </a:solidFill>
                        </a:rPr>
                        <a:t>+9.8%</a:t>
                      </a:r>
                      <a:endParaRPr lang="en-US" sz="800" dirty="0"/>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algn="ctr" indent="0" marL="0">
                        <a:buNone/>
                      </a:pPr>
                      <a:r>
                        <a:rPr lang="en-US" sz="800" b="1" dirty="0">
                          <a:solidFill>
                            <a:srgbClr val="444444"/>
                          </a:solidFill>
                        </a:rPr>
                        <a:t>AT MARKET</a:t>
                      </a:r>
                      <a:endParaRPr lang="en-US" sz="800" dirty="0"/>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algn="ctr" indent="0" marL="0">
                        <a:buNone/>
                      </a:pPr>
                      <a:r>
                        <a:rPr lang="en-US" sz="800" dirty="0">
                          <a:solidFill>
                            <a:srgbClr val="000000"/>
                          </a:solidFill>
                        </a:rPr>
                        <a:t>HIGH</a:t>
                      </a:r>
                      <a:endParaRPr lang="en-US" sz="800" dirty="0"/>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r>
              <a:tr h="182959">
                <a:tc>
                  <a:txBody>
                    <a:bodyPr/>
                    <a:lstStyle/>
                    <a:p>
                      <a:pPr algn="ctr" indent="0" marL="0">
                        <a:buNone/>
                      </a:pPr>
                      <a:r>
                        <a:rPr lang="en-US" sz="800" dirty="0">
                          <a:solidFill>
                            <a:srgbClr val="000000"/>
                          </a:solidFill>
                        </a:rPr>
                        <a:t>Carient Ultra</a:t>
                      </a:r>
                      <a:endParaRPr lang="en-US" sz="800" dirty="0"/>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E8F0E4"/>
                    </a:solidFill>
                  </a:tcPr>
                </a:tc>
                <a:tc>
                  <a:txBody>
                    <a:bodyPr/>
                    <a:lstStyle/>
                    <a:p>
                      <a:pPr algn="ctr" indent="0" marL="0">
                        <a:buNone/>
                      </a:pPr>
                      <a:r>
                        <a:rPr lang="en-US" sz="800" dirty="0">
                          <a:solidFill>
                            <a:srgbClr val="000000"/>
                          </a:solidFill>
                        </a:rPr>
                        <a:t>5W-20</a:t>
                      </a:r>
                      <a:endParaRPr lang="en-US" sz="800" dirty="0"/>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E8F0E4"/>
                    </a:solidFill>
                  </a:tcPr>
                </a:tc>
                <a:tc>
                  <a:txBody>
                    <a:bodyPr/>
                    <a:lstStyle/>
                    <a:p>
                      <a:pPr algn="ctr" indent="0" marL="0">
                        <a:buNone/>
                      </a:pPr>
                      <a:r>
                        <a:rPr lang="en-US" sz="800" dirty="0">
                          <a:solidFill>
                            <a:srgbClr val="000000"/>
                          </a:solidFill>
                        </a:rPr>
                        <a:t>1L</a:t>
                      </a:r>
                      <a:endParaRPr lang="en-US" sz="800" dirty="0"/>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E8F0E4"/>
                    </a:solidFill>
                  </a:tcPr>
                </a:tc>
                <a:tc>
                  <a:txBody>
                    <a:bodyPr/>
                    <a:lstStyle/>
                    <a:p>
                      <a:pPr algn="ctr" indent="0" marL="0">
                        <a:buNone/>
                      </a:pPr>
                      <a:r>
                        <a:rPr lang="en-US" sz="800" dirty="0">
                          <a:solidFill>
                            <a:srgbClr val="000000"/>
                          </a:solidFill>
                        </a:rPr>
                        <a:t>Rs 2,364</a:t>
                      </a:r>
                      <a:endParaRPr lang="en-US" sz="800" dirty="0"/>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E8F0E4"/>
                    </a:solidFill>
                  </a:tcPr>
                </a:tc>
                <a:tc>
                  <a:txBody>
                    <a:bodyPr/>
                    <a:lstStyle/>
                    <a:p>
                      <a:pPr algn="ctr" indent="0" marL="0">
                        <a:buNone/>
                      </a:pPr>
                      <a:r>
                        <a:rPr lang="en-US" sz="800" dirty="0">
                          <a:solidFill>
                            <a:srgbClr val="000000"/>
                          </a:solidFill>
                        </a:rPr>
                        <a:t>Rs 2,364</a:t>
                      </a:r>
                      <a:endParaRPr lang="en-US" sz="800" dirty="0"/>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E8F0E4"/>
                    </a:solidFill>
                  </a:tcPr>
                </a:tc>
                <a:tc>
                  <a:txBody>
                    <a:bodyPr/>
                    <a:lstStyle/>
                    <a:p>
                      <a:pPr algn="ctr" indent="0" marL="0">
                        <a:buNone/>
                      </a:pPr>
                      <a:r>
                        <a:rPr lang="en-US" sz="800" dirty="0">
                          <a:solidFill>
                            <a:srgbClr val="000000"/>
                          </a:solidFill>
                        </a:rPr>
                        <a:t>+24.4%</a:t>
                      </a:r>
                      <a:endParaRPr lang="en-US" sz="800" dirty="0"/>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E8F0E4"/>
                    </a:solidFill>
                  </a:tcPr>
                </a:tc>
                <a:tc>
                  <a:txBody>
                    <a:bodyPr/>
                    <a:lstStyle/>
                    <a:p>
                      <a:pPr algn="ctr" indent="0" marL="0">
                        <a:buNone/>
                      </a:pPr>
                      <a:r>
                        <a:rPr lang="en-US" sz="800" b="1" dirty="0">
                          <a:solidFill>
                            <a:srgbClr val="023520"/>
                          </a:solidFill>
                        </a:rPr>
                        <a:t>PREMIUM</a:t>
                      </a:r>
                      <a:endParaRPr lang="en-US" sz="800" dirty="0"/>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E8F0E4"/>
                    </a:solidFill>
                  </a:tcPr>
                </a:tc>
                <a:tc>
                  <a:txBody>
                    <a:bodyPr/>
                    <a:lstStyle/>
                    <a:p>
                      <a:pPr algn="ctr" indent="0" marL="0">
                        <a:buNone/>
                      </a:pPr>
                      <a:r>
                        <a:rPr lang="en-US" sz="800" dirty="0">
                          <a:solidFill>
                            <a:srgbClr val="000000"/>
                          </a:solidFill>
                        </a:rPr>
                        <a:t>HIGH</a:t>
                      </a:r>
                      <a:endParaRPr lang="en-US" sz="800" dirty="0"/>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E8F0E4"/>
                    </a:solidFill>
                  </a:tcPr>
                </a:tc>
              </a:tr>
              <a:tr h="182959">
                <a:tc>
                  <a:txBody>
                    <a:bodyPr/>
                    <a:lstStyle/>
                    <a:p>
                      <a:pPr algn="ctr" indent="0" marL="0">
                        <a:buNone/>
                      </a:pPr>
                      <a:r>
                        <a:rPr lang="en-US" sz="800" dirty="0">
                          <a:solidFill>
                            <a:srgbClr val="000000"/>
                          </a:solidFill>
                        </a:rPr>
                        <a:t>Carient Ultra</a:t>
                      </a:r>
                      <a:endParaRPr lang="en-US" sz="800" dirty="0"/>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E8F0E4"/>
                    </a:solidFill>
                  </a:tcPr>
                </a:tc>
                <a:tc>
                  <a:txBody>
                    <a:bodyPr/>
                    <a:lstStyle/>
                    <a:p>
                      <a:pPr algn="ctr" indent="0" marL="0">
                        <a:buNone/>
                      </a:pPr>
                      <a:r>
                        <a:rPr lang="en-US" sz="800" dirty="0">
                          <a:solidFill>
                            <a:srgbClr val="000000"/>
                          </a:solidFill>
                        </a:rPr>
                        <a:t>5W-30</a:t>
                      </a:r>
                      <a:endParaRPr lang="en-US" sz="800" dirty="0"/>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E8F0E4"/>
                    </a:solidFill>
                  </a:tcPr>
                </a:tc>
                <a:tc>
                  <a:txBody>
                    <a:bodyPr/>
                    <a:lstStyle/>
                    <a:p>
                      <a:pPr algn="ctr" indent="0" marL="0">
                        <a:buNone/>
                      </a:pPr>
                      <a:r>
                        <a:rPr lang="en-US" sz="800" dirty="0">
                          <a:solidFill>
                            <a:srgbClr val="000000"/>
                          </a:solidFill>
                        </a:rPr>
                        <a:t>1L</a:t>
                      </a:r>
                      <a:endParaRPr lang="en-US" sz="800" dirty="0"/>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E8F0E4"/>
                    </a:solidFill>
                  </a:tcPr>
                </a:tc>
                <a:tc>
                  <a:txBody>
                    <a:bodyPr/>
                    <a:lstStyle/>
                    <a:p>
                      <a:pPr algn="ctr" indent="0" marL="0">
                        <a:buNone/>
                      </a:pPr>
                      <a:r>
                        <a:rPr lang="en-US" sz="800" dirty="0">
                          <a:solidFill>
                            <a:srgbClr val="000000"/>
                          </a:solidFill>
                        </a:rPr>
                        <a:t>Rs 2,319</a:t>
                      </a:r>
                      <a:endParaRPr lang="en-US" sz="800" dirty="0"/>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E8F0E4"/>
                    </a:solidFill>
                  </a:tcPr>
                </a:tc>
                <a:tc>
                  <a:txBody>
                    <a:bodyPr/>
                    <a:lstStyle/>
                    <a:p>
                      <a:pPr algn="ctr" indent="0" marL="0">
                        <a:buNone/>
                      </a:pPr>
                      <a:r>
                        <a:rPr lang="en-US" sz="800" dirty="0">
                          <a:solidFill>
                            <a:srgbClr val="000000"/>
                          </a:solidFill>
                        </a:rPr>
                        <a:t>Rs 2,319</a:t>
                      </a:r>
                      <a:endParaRPr lang="en-US" sz="800" dirty="0"/>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E8F0E4"/>
                    </a:solidFill>
                  </a:tcPr>
                </a:tc>
                <a:tc>
                  <a:txBody>
                    <a:bodyPr/>
                    <a:lstStyle/>
                    <a:p>
                      <a:pPr algn="ctr" indent="0" marL="0">
                        <a:buNone/>
                      </a:pPr>
                      <a:r>
                        <a:rPr lang="en-US" sz="800" dirty="0">
                          <a:solidFill>
                            <a:srgbClr val="000000"/>
                          </a:solidFill>
                        </a:rPr>
                        <a:t>+127.6%</a:t>
                      </a:r>
                      <a:endParaRPr lang="en-US" sz="800" dirty="0"/>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E8F0E4"/>
                    </a:solidFill>
                  </a:tcPr>
                </a:tc>
                <a:tc>
                  <a:txBody>
                    <a:bodyPr/>
                    <a:lstStyle/>
                    <a:p>
                      <a:pPr algn="ctr" indent="0" marL="0">
                        <a:buNone/>
                      </a:pPr>
                      <a:r>
                        <a:rPr lang="en-US" sz="800" b="1" dirty="0">
                          <a:solidFill>
                            <a:srgbClr val="023520"/>
                          </a:solidFill>
                        </a:rPr>
                        <a:t>PREMIUM</a:t>
                      </a:r>
                      <a:endParaRPr lang="en-US" sz="800" dirty="0"/>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E8F0E4"/>
                    </a:solidFill>
                  </a:tcPr>
                </a:tc>
                <a:tc>
                  <a:txBody>
                    <a:bodyPr/>
                    <a:lstStyle/>
                    <a:p>
                      <a:pPr algn="ctr" indent="0" marL="0">
                        <a:buNone/>
                      </a:pPr>
                      <a:r>
                        <a:rPr lang="en-US" sz="800" dirty="0">
                          <a:solidFill>
                            <a:srgbClr val="000000"/>
                          </a:solidFill>
                        </a:rPr>
                        <a:t>HIGH</a:t>
                      </a:r>
                      <a:endParaRPr lang="en-US" sz="800" dirty="0"/>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E8F0E4"/>
                    </a:solidFill>
                  </a:tcPr>
                </a:tc>
              </a:tr>
              <a:tr h="182959">
                <a:tc>
                  <a:txBody>
                    <a:bodyPr/>
                    <a:lstStyle/>
                    <a:p>
                      <a:pPr algn="ctr" indent="0" marL="0">
                        <a:buNone/>
                      </a:pPr>
                      <a:r>
                        <a:rPr lang="en-US" sz="800" dirty="0">
                          <a:solidFill>
                            <a:srgbClr val="000000"/>
                          </a:solidFill>
                        </a:rPr>
                        <a:t>Carient Ultra</a:t>
                      </a:r>
                      <a:endParaRPr lang="en-US" sz="800" dirty="0"/>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algn="ctr" indent="0" marL="0">
                        <a:buNone/>
                      </a:pPr>
                      <a:r>
                        <a:rPr lang="en-US" sz="800" dirty="0">
                          <a:solidFill>
                            <a:srgbClr val="000000"/>
                          </a:solidFill>
                        </a:rPr>
                        <a:t>5W-40</a:t>
                      </a:r>
                      <a:endParaRPr lang="en-US" sz="800" dirty="0"/>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algn="ctr" indent="0" marL="0">
                        <a:buNone/>
                      </a:pPr>
                      <a:r>
                        <a:rPr lang="en-US" sz="800" dirty="0">
                          <a:solidFill>
                            <a:srgbClr val="000000"/>
                          </a:solidFill>
                        </a:rPr>
                        <a:t>1L</a:t>
                      </a:r>
                      <a:endParaRPr lang="en-US" sz="800" dirty="0"/>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algn="ctr" indent="0" marL="0">
                        <a:buNone/>
                      </a:pPr>
                      <a:r>
                        <a:rPr lang="en-US" sz="800" dirty="0">
                          <a:solidFill>
                            <a:srgbClr val="000000"/>
                          </a:solidFill>
                        </a:rPr>
                        <a:t>Rs 3,287</a:t>
                      </a:r>
                      <a:endParaRPr lang="en-US" sz="800" dirty="0"/>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algn="ctr" indent="0" marL="0">
                        <a:buNone/>
                      </a:pPr>
                      <a:r>
                        <a:rPr lang="en-US" sz="800" dirty="0">
                          <a:solidFill>
                            <a:srgbClr val="000000"/>
                          </a:solidFill>
                        </a:rPr>
                        <a:t>Rs 3,287</a:t>
                      </a:r>
                      <a:endParaRPr lang="en-US" sz="800" dirty="0"/>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algn="ctr" indent="0" marL="0">
                        <a:buNone/>
                      </a:pPr>
                      <a:r>
                        <a:rPr lang="en-US" sz="800" dirty="0">
                          <a:solidFill>
                            <a:srgbClr val="000000"/>
                          </a:solidFill>
                        </a:rPr>
                        <a:t>-3.7%</a:t>
                      </a:r>
                      <a:endParaRPr lang="en-US" sz="800" dirty="0"/>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algn="ctr" indent="0" marL="0">
                        <a:buNone/>
                      </a:pPr>
                      <a:r>
                        <a:rPr lang="en-US" sz="800" b="1" dirty="0">
                          <a:solidFill>
                            <a:srgbClr val="444444"/>
                          </a:solidFill>
                        </a:rPr>
                        <a:t>AT MARKET</a:t>
                      </a:r>
                      <a:endParaRPr lang="en-US" sz="800" dirty="0"/>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algn="ctr" indent="0" marL="0">
                        <a:buNone/>
                      </a:pPr>
                      <a:r>
                        <a:rPr lang="en-US" sz="800" dirty="0">
                          <a:solidFill>
                            <a:srgbClr val="000000"/>
                          </a:solidFill>
                        </a:rPr>
                        <a:t>HIGH</a:t>
                      </a:r>
                      <a:endParaRPr lang="en-US" sz="800" dirty="0"/>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r>
              <a:tr h="182959">
                <a:tc>
                  <a:txBody>
                    <a:bodyPr/>
                    <a:lstStyle/>
                    <a:p>
                      <a:pPr algn="ctr" indent="0" marL="0">
                        <a:buNone/>
                      </a:pPr>
                      <a:r>
                        <a:rPr lang="en-US" sz="800" dirty="0">
                          <a:solidFill>
                            <a:srgbClr val="000000"/>
                          </a:solidFill>
                        </a:rPr>
                        <a:t>Carient Ultra</a:t>
                      </a:r>
                      <a:endParaRPr lang="en-US" sz="800" dirty="0"/>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algn="ctr" indent="0" marL="0">
                        <a:buNone/>
                      </a:pPr>
                      <a:r>
                        <a:rPr lang="en-US" sz="800" dirty="0">
                          <a:solidFill>
                            <a:srgbClr val="000000"/>
                          </a:solidFill>
                        </a:rPr>
                        <a:t>0W-20</a:t>
                      </a:r>
                      <a:endParaRPr lang="en-US" sz="800" dirty="0"/>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algn="ctr" indent="0" marL="0">
                        <a:buNone/>
                      </a:pPr>
                      <a:r>
                        <a:rPr lang="en-US" sz="800" dirty="0">
                          <a:solidFill>
                            <a:srgbClr val="000000"/>
                          </a:solidFill>
                        </a:rPr>
                        <a:t>3L</a:t>
                      </a:r>
                      <a:endParaRPr lang="en-US" sz="800" dirty="0"/>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algn="ctr" indent="0" marL="0">
                        <a:buNone/>
                      </a:pPr>
                      <a:r>
                        <a:rPr lang="en-US" sz="800" dirty="0">
                          <a:solidFill>
                            <a:srgbClr val="000000"/>
                          </a:solidFill>
                        </a:rPr>
                        <a:t>Rs 3,463</a:t>
                      </a:r>
                      <a:endParaRPr lang="en-US" sz="800" dirty="0"/>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algn="ctr" indent="0" marL="0">
                        <a:buNone/>
                      </a:pPr>
                      <a:r>
                        <a:rPr lang="en-US" sz="800" dirty="0">
                          <a:solidFill>
                            <a:srgbClr val="000000"/>
                          </a:solidFill>
                        </a:rPr>
                        <a:t>Rs 10,389</a:t>
                      </a:r>
                      <a:endParaRPr lang="en-US" sz="800" dirty="0"/>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algn="ctr" indent="0" marL="0">
                        <a:buNone/>
                      </a:pPr>
                      <a:r>
                        <a:rPr lang="en-US" sz="800" dirty="0">
                          <a:solidFill>
                            <a:srgbClr val="000000"/>
                          </a:solidFill>
                        </a:rPr>
                        <a:t>+1.5%</a:t>
                      </a:r>
                      <a:endParaRPr lang="en-US" sz="800" dirty="0"/>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algn="ctr" indent="0" marL="0">
                        <a:buNone/>
                      </a:pPr>
                      <a:r>
                        <a:rPr lang="en-US" sz="800" b="1" dirty="0">
                          <a:solidFill>
                            <a:srgbClr val="444444"/>
                          </a:solidFill>
                        </a:rPr>
                        <a:t>AT MARKET</a:t>
                      </a:r>
                      <a:endParaRPr lang="en-US" sz="800" dirty="0"/>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algn="ctr" indent="0" marL="0">
                        <a:buNone/>
                      </a:pPr>
                      <a:r>
                        <a:rPr lang="en-US" sz="800" dirty="0">
                          <a:solidFill>
                            <a:srgbClr val="000000"/>
                          </a:solidFill>
                        </a:rPr>
                        <a:t>HIGH</a:t>
                      </a:r>
                      <a:endParaRPr lang="en-US" sz="800" dirty="0"/>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r>
              <a:tr h="182959">
                <a:tc>
                  <a:txBody>
                    <a:bodyPr/>
                    <a:lstStyle/>
                    <a:p>
                      <a:pPr algn="ctr" indent="0" marL="0">
                        <a:buNone/>
                      </a:pPr>
                      <a:r>
                        <a:rPr lang="en-US" sz="800" dirty="0">
                          <a:solidFill>
                            <a:srgbClr val="000000"/>
                          </a:solidFill>
                        </a:rPr>
                        <a:t>Carient Ultra</a:t>
                      </a:r>
                      <a:endParaRPr lang="en-US" sz="800" dirty="0"/>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algn="ctr" indent="0" marL="0">
                        <a:buNone/>
                      </a:pPr>
                      <a:r>
                        <a:rPr lang="en-US" sz="800" dirty="0">
                          <a:solidFill>
                            <a:srgbClr val="000000"/>
                          </a:solidFill>
                        </a:rPr>
                        <a:t>5W-40</a:t>
                      </a:r>
                      <a:endParaRPr lang="en-US" sz="800" dirty="0"/>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algn="ctr" indent="0" marL="0">
                        <a:buNone/>
                      </a:pPr>
                      <a:r>
                        <a:rPr lang="en-US" sz="800" dirty="0">
                          <a:solidFill>
                            <a:srgbClr val="000000"/>
                          </a:solidFill>
                        </a:rPr>
                        <a:t>3L</a:t>
                      </a:r>
                      <a:endParaRPr lang="en-US" sz="800" dirty="0"/>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algn="ctr" indent="0" marL="0">
                        <a:buNone/>
                      </a:pPr>
                      <a:r>
                        <a:rPr lang="en-US" sz="800" dirty="0">
                          <a:solidFill>
                            <a:srgbClr val="000000"/>
                          </a:solidFill>
                        </a:rPr>
                        <a:t>Rs 3,090</a:t>
                      </a:r>
                      <a:endParaRPr lang="en-US" sz="800" dirty="0"/>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algn="ctr" indent="0" marL="0">
                        <a:buNone/>
                      </a:pPr>
                      <a:r>
                        <a:rPr lang="en-US" sz="800" dirty="0">
                          <a:solidFill>
                            <a:srgbClr val="000000"/>
                          </a:solidFill>
                        </a:rPr>
                        <a:t>Rs 9,270</a:t>
                      </a:r>
                      <a:endParaRPr lang="en-US" sz="800" dirty="0"/>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algn="ctr" indent="0" marL="0">
                        <a:buNone/>
                      </a:pPr>
                      <a:r>
                        <a:rPr lang="en-US" sz="800" dirty="0">
                          <a:solidFill>
                            <a:srgbClr val="000000"/>
                          </a:solidFill>
                        </a:rPr>
                        <a:t>-9.4%</a:t>
                      </a:r>
                      <a:endParaRPr lang="en-US" sz="800" dirty="0"/>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algn="ctr" indent="0" marL="0">
                        <a:buNone/>
                      </a:pPr>
                      <a:r>
                        <a:rPr lang="en-US" sz="800" b="1" dirty="0">
                          <a:solidFill>
                            <a:srgbClr val="444444"/>
                          </a:solidFill>
                        </a:rPr>
                        <a:t>AT MARKET</a:t>
                      </a:r>
                      <a:endParaRPr lang="en-US" sz="800" dirty="0"/>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algn="ctr" indent="0" marL="0">
                        <a:buNone/>
                      </a:pPr>
                      <a:r>
                        <a:rPr lang="en-US" sz="800" dirty="0">
                          <a:solidFill>
                            <a:srgbClr val="000000"/>
                          </a:solidFill>
                        </a:rPr>
                        <a:t>HIGH</a:t>
                      </a:r>
                      <a:endParaRPr lang="en-US" sz="800" dirty="0"/>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r>
              <a:tr h="182959">
                <a:tc>
                  <a:txBody>
                    <a:bodyPr/>
                    <a:lstStyle/>
                    <a:p>
                      <a:pPr algn="ctr" indent="0" marL="0">
                        <a:buNone/>
                      </a:pPr>
                      <a:r>
                        <a:rPr lang="en-US" sz="800" dirty="0">
                          <a:solidFill>
                            <a:srgbClr val="000000"/>
                          </a:solidFill>
                        </a:rPr>
                        <a:t>Carient Ultra</a:t>
                      </a:r>
                      <a:endParaRPr lang="en-US" sz="800" dirty="0"/>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algn="ctr" indent="0" marL="0">
                        <a:buNone/>
                      </a:pPr>
                      <a:r>
                        <a:rPr lang="en-US" sz="800" dirty="0">
                          <a:solidFill>
                            <a:srgbClr val="000000"/>
                          </a:solidFill>
                        </a:rPr>
                        <a:t>0W-20</a:t>
                      </a:r>
                      <a:endParaRPr lang="en-US" sz="800" dirty="0"/>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algn="ctr" indent="0" marL="0">
                        <a:buNone/>
                      </a:pPr>
                      <a:r>
                        <a:rPr lang="en-US" sz="800" dirty="0">
                          <a:solidFill>
                            <a:srgbClr val="000000"/>
                          </a:solidFill>
                        </a:rPr>
                        <a:t>4L</a:t>
                      </a:r>
                      <a:endParaRPr lang="en-US" sz="800" dirty="0"/>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algn="ctr" indent="0" marL="0">
                        <a:buNone/>
                      </a:pPr>
                      <a:r>
                        <a:rPr lang="en-US" sz="800" dirty="0">
                          <a:solidFill>
                            <a:srgbClr val="000000"/>
                          </a:solidFill>
                        </a:rPr>
                        <a:t>Rs 3,347</a:t>
                      </a:r>
                      <a:endParaRPr lang="en-US" sz="800" dirty="0"/>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algn="ctr" indent="0" marL="0">
                        <a:buNone/>
                      </a:pPr>
                      <a:r>
                        <a:rPr lang="en-US" sz="800" dirty="0">
                          <a:solidFill>
                            <a:srgbClr val="000000"/>
                          </a:solidFill>
                        </a:rPr>
                        <a:t>Rs 13,388</a:t>
                      </a:r>
                      <a:endParaRPr lang="en-US" sz="800" dirty="0"/>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algn="ctr" indent="0" marL="0">
                        <a:buNone/>
                      </a:pPr>
                      <a:r>
                        <a:rPr lang="en-US" sz="800" dirty="0">
                          <a:solidFill>
                            <a:srgbClr val="000000"/>
                          </a:solidFill>
                        </a:rPr>
                        <a:t>-1.9%</a:t>
                      </a:r>
                      <a:endParaRPr lang="en-US" sz="800" dirty="0"/>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algn="ctr" indent="0" marL="0">
                        <a:buNone/>
                      </a:pPr>
                      <a:r>
                        <a:rPr lang="en-US" sz="800" b="1" dirty="0">
                          <a:solidFill>
                            <a:srgbClr val="444444"/>
                          </a:solidFill>
                        </a:rPr>
                        <a:t>AT MARKET</a:t>
                      </a:r>
                      <a:endParaRPr lang="en-US" sz="800" dirty="0"/>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algn="ctr" indent="0" marL="0">
                        <a:buNone/>
                      </a:pPr>
                      <a:r>
                        <a:rPr lang="en-US" sz="800" dirty="0">
                          <a:solidFill>
                            <a:srgbClr val="000000"/>
                          </a:solidFill>
                        </a:rPr>
                        <a:t>HIGH</a:t>
                      </a:r>
                      <a:endParaRPr lang="en-US" sz="800" dirty="0"/>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r>
              <a:tr h="182959">
                <a:tc>
                  <a:txBody>
                    <a:bodyPr/>
                    <a:lstStyle/>
                    <a:p>
                      <a:pPr algn="ctr" indent="0" marL="0">
                        <a:buNone/>
                      </a:pPr>
                      <a:r>
                        <a:rPr lang="en-US" sz="800" dirty="0">
                          <a:solidFill>
                            <a:srgbClr val="000000"/>
                          </a:solidFill>
                        </a:rPr>
                        <a:t>Carient Ultra</a:t>
                      </a:r>
                      <a:endParaRPr lang="en-US" sz="800" dirty="0"/>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8E6"/>
                    </a:solidFill>
                  </a:tcPr>
                </a:tc>
                <a:tc>
                  <a:txBody>
                    <a:bodyPr/>
                    <a:lstStyle/>
                    <a:p>
                      <a:pPr algn="ctr" indent="0" marL="0">
                        <a:buNone/>
                      </a:pPr>
                      <a:r>
                        <a:rPr lang="en-US" sz="800" dirty="0">
                          <a:solidFill>
                            <a:srgbClr val="000000"/>
                          </a:solidFill>
                        </a:rPr>
                        <a:t>5W-40</a:t>
                      </a:r>
                      <a:endParaRPr lang="en-US" sz="800" dirty="0"/>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8E6"/>
                    </a:solidFill>
                  </a:tcPr>
                </a:tc>
                <a:tc>
                  <a:txBody>
                    <a:bodyPr/>
                    <a:lstStyle/>
                    <a:p>
                      <a:pPr algn="ctr" indent="0" marL="0">
                        <a:buNone/>
                      </a:pPr>
                      <a:r>
                        <a:rPr lang="en-US" sz="800" dirty="0">
                          <a:solidFill>
                            <a:srgbClr val="000000"/>
                          </a:solidFill>
                        </a:rPr>
                        <a:t>4L</a:t>
                      </a:r>
                      <a:endParaRPr lang="en-US" sz="800" dirty="0"/>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8E6"/>
                    </a:solidFill>
                  </a:tcPr>
                </a:tc>
                <a:tc>
                  <a:txBody>
                    <a:bodyPr/>
                    <a:lstStyle/>
                    <a:p>
                      <a:pPr algn="ctr" indent="0" marL="0">
                        <a:buNone/>
                      </a:pPr>
                      <a:r>
                        <a:rPr lang="en-US" sz="800" dirty="0">
                          <a:solidFill>
                            <a:srgbClr val="000000"/>
                          </a:solidFill>
                        </a:rPr>
                        <a:t>Rs 3,008</a:t>
                      </a:r>
                      <a:endParaRPr lang="en-US" sz="800" dirty="0"/>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8E6"/>
                    </a:solidFill>
                  </a:tcPr>
                </a:tc>
                <a:tc>
                  <a:txBody>
                    <a:bodyPr/>
                    <a:lstStyle/>
                    <a:p>
                      <a:pPr algn="ctr" indent="0" marL="0">
                        <a:buNone/>
                      </a:pPr>
                      <a:r>
                        <a:rPr lang="en-US" sz="800" dirty="0">
                          <a:solidFill>
                            <a:srgbClr val="000000"/>
                          </a:solidFill>
                        </a:rPr>
                        <a:t>Rs 12,032</a:t>
                      </a:r>
                      <a:endParaRPr lang="en-US" sz="800" dirty="0"/>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8E6"/>
                    </a:solidFill>
                  </a:tcPr>
                </a:tc>
                <a:tc>
                  <a:txBody>
                    <a:bodyPr/>
                    <a:lstStyle/>
                    <a:p>
                      <a:pPr algn="ctr" indent="0" marL="0">
                        <a:buNone/>
                      </a:pPr>
                      <a:r>
                        <a:rPr lang="en-US" sz="800" dirty="0">
                          <a:solidFill>
                            <a:srgbClr val="000000"/>
                          </a:solidFill>
                        </a:rPr>
                        <a:t>-11.8%</a:t>
                      </a:r>
                      <a:endParaRPr lang="en-US" sz="800" dirty="0"/>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8E6"/>
                    </a:solidFill>
                  </a:tcPr>
                </a:tc>
                <a:tc>
                  <a:txBody>
                    <a:bodyPr/>
                    <a:lstStyle/>
                    <a:p>
                      <a:pPr algn="ctr" indent="0" marL="0">
                        <a:buNone/>
                      </a:pPr>
                      <a:r>
                        <a:rPr lang="en-US" sz="800" b="1" dirty="0">
                          <a:solidFill>
                            <a:srgbClr val="7A5C00"/>
                          </a:solidFill>
                        </a:rPr>
                        <a:t>VALUE POSITION</a:t>
                      </a:r>
                      <a:endParaRPr lang="en-US" sz="800" dirty="0"/>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8E6"/>
                    </a:solidFill>
                  </a:tcPr>
                </a:tc>
                <a:tc>
                  <a:txBody>
                    <a:bodyPr/>
                    <a:lstStyle/>
                    <a:p>
                      <a:pPr algn="ctr" indent="0" marL="0">
                        <a:buNone/>
                      </a:pPr>
                      <a:r>
                        <a:rPr lang="en-US" sz="800" dirty="0">
                          <a:solidFill>
                            <a:srgbClr val="000000"/>
                          </a:solidFill>
                        </a:rPr>
                        <a:t>HIGH</a:t>
                      </a:r>
                      <a:endParaRPr lang="en-US" sz="800" dirty="0"/>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8E6"/>
                    </a:solidFill>
                  </a:tcPr>
                </a:tc>
              </a:tr>
              <a:tr h="182959">
                <a:tc>
                  <a:txBody>
                    <a:bodyPr/>
                    <a:lstStyle/>
                    <a:p>
                      <a:pPr algn="ctr" indent="0" marL="0">
                        <a:buNone/>
                      </a:pPr>
                      <a:r>
                        <a:rPr lang="en-US" sz="800" dirty="0">
                          <a:solidFill>
                            <a:srgbClr val="000000"/>
                          </a:solidFill>
                        </a:rPr>
                        <a:t>Carient FS</a:t>
                      </a:r>
                      <a:endParaRPr lang="en-US" sz="800" dirty="0"/>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E8F0E4"/>
                    </a:solidFill>
                  </a:tcPr>
                </a:tc>
                <a:tc>
                  <a:txBody>
                    <a:bodyPr/>
                    <a:lstStyle/>
                    <a:p>
                      <a:pPr algn="ctr" indent="0" marL="0">
                        <a:buNone/>
                      </a:pPr>
                      <a:r>
                        <a:rPr lang="en-US" sz="800" dirty="0">
                          <a:solidFill>
                            <a:srgbClr val="000000"/>
                          </a:solidFill>
                        </a:rPr>
                        <a:t>5W-30</a:t>
                      </a:r>
                      <a:endParaRPr lang="en-US" sz="800" dirty="0"/>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E8F0E4"/>
                    </a:solidFill>
                  </a:tcPr>
                </a:tc>
                <a:tc>
                  <a:txBody>
                    <a:bodyPr/>
                    <a:lstStyle/>
                    <a:p>
                      <a:pPr algn="ctr" indent="0" marL="0">
                        <a:buNone/>
                      </a:pPr>
                      <a:r>
                        <a:rPr lang="en-US" sz="800" dirty="0">
                          <a:solidFill>
                            <a:srgbClr val="000000"/>
                          </a:solidFill>
                        </a:rPr>
                        <a:t>4L</a:t>
                      </a:r>
                      <a:endParaRPr lang="en-US" sz="800" dirty="0"/>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E8F0E4"/>
                    </a:solidFill>
                  </a:tcPr>
                </a:tc>
                <a:tc>
                  <a:txBody>
                    <a:bodyPr/>
                    <a:lstStyle/>
                    <a:p>
                      <a:pPr algn="ctr" indent="0" marL="0">
                        <a:buNone/>
                      </a:pPr>
                      <a:r>
                        <a:rPr lang="en-US" sz="800" dirty="0">
                          <a:solidFill>
                            <a:srgbClr val="000000"/>
                          </a:solidFill>
                        </a:rPr>
                        <a:t>Rs 2,006</a:t>
                      </a:r>
                      <a:endParaRPr lang="en-US" sz="800" dirty="0"/>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E8F0E4"/>
                    </a:solidFill>
                  </a:tcPr>
                </a:tc>
                <a:tc>
                  <a:txBody>
                    <a:bodyPr/>
                    <a:lstStyle/>
                    <a:p>
                      <a:pPr algn="ctr" indent="0" marL="0">
                        <a:buNone/>
                      </a:pPr>
                      <a:r>
                        <a:rPr lang="en-US" sz="800" dirty="0">
                          <a:solidFill>
                            <a:srgbClr val="000000"/>
                          </a:solidFill>
                        </a:rPr>
                        <a:t>Rs 8,024</a:t>
                      </a:r>
                      <a:endParaRPr lang="en-US" sz="800" dirty="0"/>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E8F0E4"/>
                    </a:solidFill>
                  </a:tcPr>
                </a:tc>
                <a:tc>
                  <a:txBody>
                    <a:bodyPr/>
                    <a:lstStyle/>
                    <a:p>
                      <a:pPr algn="ctr" indent="0" marL="0">
                        <a:buNone/>
                      </a:pPr>
                      <a:r>
                        <a:rPr lang="en-US" sz="800" dirty="0">
                          <a:solidFill>
                            <a:srgbClr val="000000"/>
                          </a:solidFill>
                        </a:rPr>
                        <a:t>+96.9%</a:t>
                      </a:r>
                      <a:endParaRPr lang="en-US" sz="800" dirty="0"/>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E8F0E4"/>
                    </a:solidFill>
                  </a:tcPr>
                </a:tc>
                <a:tc>
                  <a:txBody>
                    <a:bodyPr/>
                    <a:lstStyle/>
                    <a:p>
                      <a:pPr algn="ctr" indent="0" marL="0">
                        <a:buNone/>
                      </a:pPr>
                      <a:r>
                        <a:rPr lang="en-US" sz="800" b="1" dirty="0">
                          <a:solidFill>
                            <a:srgbClr val="023520"/>
                          </a:solidFill>
                        </a:rPr>
                        <a:t>PREMIUM</a:t>
                      </a:r>
                      <a:endParaRPr lang="en-US" sz="800" dirty="0"/>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E8F0E4"/>
                    </a:solidFill>
                  </a:tcPr>
                </a:tc>
                <a:tc>
                  <a:txBody>
                    <a:bodyPr/>
                    <a:lstStyle/>
                    <a:p>
                      <a:pPr algn="ctr" indent="0" marL="0">
                        <a:buNone/>
                      </a:pPr>
                      <a:r>
                        <a:rPr lang="en-US" sz="800" dirty="0">
                          <a:solidFill>
                            <a:srgbClr val="000000"/>
                          </a:solidFill>
                        </a:rPr>
                        <a:t>HIGH</a:t>
                      </a:r>
                      <a:endParaRPr lang="en-US" sz="800" dirty="0"/>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E8F0E4"/>
                    </a:solidFill>
                  </a:tcPr>
                </a:tc>
              </a:tr>
              <a:tr h="182959">
                <a:tc>
                  <a:txBody>
                    <a:bodyPr/>
                    <a:lstStyle/>
                    <a:p>
                      <a:pPr algn="ctr" indent="0" marL="0">
                        <a:buNone/>
                      </a:pPr>
                      <a:r>
                        <a:rPr lang="en-US" sz="800" dirty="0">
                          <a:solidFill>
                            <a:srgbClr val="000000"/>
                          </a:solidFill>
                        </a:rPr>
                        <a:t>Carient FS</a:t>
                      </a:r>
                      <a:endParaRPr lang="en-US" sz="800" dirty="0"/>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algn="ctr" indent="0" marL="0">
                        <a:buNone/>
                      </a:pPr>
                      <a:r>
                        <a:rPr lang="en-US" sz="800" dirty="0">
                          <a:solidFill>
                            <a:srgbClr val="000000"/>
                          </a:solidFill>
                        </a:rPr>
                        <a:t>5W-40</a:t>
                      </a:r>
                      <a:endParaRPr lang="en-US" sz="800" dirty="0"/>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algn="ctr" indent="0" marL="0">
                        <a:buNone/>
                      </a:pPr>
                      <a:r>
                        <a:rPr lang="en-US" sz="800" dirty="0">
                          <a:solidFill>
                            <a:srgbClr val="000000"/>
                          </a:solidFill>
                        </a:rPr>
                        <a:t>4L</a:t>
                      </a:r>
                      <a:endParaRPr lang="en-US" sz="800" dirty="0"/>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algn="ctr" indent="0" marL="0">
                        <a:buNone/>
                      </a:pPr>
                      <a:r>
                        <a:rPr lang="en-US" sz="800" dirty="0">
                          <a:solidFill>
                            <a:srgbClr val="000000"/>
                          </a:solidFill>
                        </a:rPr>
                        <a:t>Rs 3,138</a:t>
                      </a:r>
                      <a:endParaRPr lang="en-US" sz="800" dirty="0"/>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algn="ctr" indent="0" marL="0">
                        <a:buNone/>
                      </a:pPr>
                      <a:r>
                        <a:rPr lang="en-US" sz="800" dirty="0">
                          <a:solidFill>
                            <a:srgbClr val="000000"/>
                          </a:solidFill>
                        </a:rPr>
                        <a:t>Rs 12,552</a:t>
                      </a:r>
                      <a:endParaRPr lang="en-US" sz="800" dirty="0"/>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algn="ctr" indent="0" marL="0">
                        <a:buNone/>
                      </a:pPr>
                      <a:r>
                        <a:rPr lang="en-US" sz="800" dirty="0">
                          <a:solidFill>
                            <a:srgbClr val="000000"/>
                          </a:solidFill>
                        </a:rPr>
                        <a:t>-8.0%</a:t>
                      </a:r>
                      <a:endParaRPr lang="en-US" sz="800" dirty="0"/>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algn="ctr" indent="0" marL="0">
                        <a:buNone/>
                      </a:pPr>
                      <a:r>
                        <a:rPr lang="en-US" sz="800" b="1" dirty="0">
                          <a:solidFill>
                            <a:srgbClr val="444444"/>
                          </a:solidFill>
                        </a:rPr>
                        <a:t>AT MARKET</a:t>
                      </a:r>
                      <a:endParaRPr lang="en-US" sz="800" dirty="0"/>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algn="ctr" indent="0" marL="0">
                        <a:buNone/>
                      </a:pPr>
                      <a:r>
                        <a:rPr lang="en-US" sz="800" dirty="0">
                          <a:solidFill>
                            <a:srgbClr val="000000"/>
                          </a:solidFill>
                        </a:rPr>
                        <a:t>HIGH</a:t>
                      </a:r>
                      <a:endParaRPr lang="en-US" sz="800" dirty="0"/>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r>
              <a:tr h="182959">
                <a:tc>
                  <a:txBody>
                    <a:bodyPr/>
                    <a:lstStyle/>
                    <a:p>
                      <a:pPr algn="ctr" indent="0" marL="0">
                        <a:buNone/>
                      </a:pPr>
                      <a:r>
                        <a:rPr lang="en-US" sz="800" dirty="0">
                          <a:solidFill>
                            <a:srgbClr val="000000"/>
                          </a:solidFill>
                        </a:rPr>
                        <a:t>Carient FS</a:t>
                      </a:r>
                      <a:endParaRPr lang="en-US" sz="800" dirty="0"/>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E8F0E4"/>
                    </a:solidFill>
                  </a:tcPr>
                </a:tc>
                <a:tc>
                  <a:txBody>
                    <a:bodyPr/>
                    <a:lstStyle/>
                    <a:p>
                      <a:pPr algn="ctr" indent="0" marL="0">
                        <a:buNone/>
                      </a:pPr>
                      <a:r>
                        <a:rPr lang="en-US" sz="800" dirty="0">
                          <a:solidFill>
                            <a:srgbClr val="000000"/>
                          </a:solidFill>
                        </a:rPr>
                        <a:t>10W-40</a:t>
                      </a:r>
                      <a:endParaRPr lang="en-US" sz="800" dirty="0"/>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E8F0E4"/>
                    </a:solidFill>
                  </a:tcPr>
                </a:tc>
                <a:tc>
                  <a:txBody>
                    <a:bodyPr/>
                    <a:lstStyle/>
                    <a:p>
                      <a:pPr algn="ctr" indent="0" marL="0">
                        <a:buNone/>
                      </a:pPr>
                      <a:r>
                        <a:rPr lang="en-US" sz="800" dirty="0">
                          <a:solidFill>
                            <a:srgbClr val="000000"/>
                          </a:solidFill>
                        </a:rPr>
                        <a:t>4L</a:t>
                      </a:r>
                      <a:endParaRPr lang="en-US" sz="800" dirty="0"/>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E8F0E4"/>
                    </a:solidFill>
                  </a:tcPr>
                </a:tc>
                <a:tc>
                  <a:txBody>
                    <a:bodyPr/>
                    <a:lstStyle/>
                    <a:p>
                      <a:pPr algn="ctr" indent="0" marL="0">
                        <a:buNone/>
                      </a:pPr>
                      <a:r>
                        <a:rPr lang="en-US" sz="800" dirty="0">
                          <a:solidFill>
                            <a:srgbClr val="000000"/>
                          </a:solidFill>
                        </a:rPr>
                        <a:t>Rs 1,200</a:t>
                      </a:r>
                      <a:endParaRPr lang="en-US" sz="800" dirty="0"/>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E8F0E4"/>
                    </a:solidFill>
                  </a:tcPr>
                </a:tc>
                <a:tc>
                  <a:txBody>
                    <a:bodyPr/>
                    <a:lstStyle/>
                    <a:p>
                      <a:pPr algn="ctr" indent="0" marL="0">
                        <a:buNone/>
                      </a:pPr>
                      <a:r>
                        <a:rPr lang="en-US" sz="800" dirty="0">
                          <a:solidFill>
                            <a:srgbClr val="000000"/>
                          </a:solidFill>
                        </a:rPr>
                        <a:t>Rs 4,800</a:t>
                      </a:r>
                      <a:endParaRPr lang="en-US" sz="800" dirty="0"/>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E8F0E4"/>
                    </a:solidFill>
                  </a:tcPr>
                </a:tc>
                <a:tc>
                  <a:txBody>
                    <a:bodyPr/>
                    <a:lstStyle/>
                    <a:p>
                      <a:pPr algn="ctr" indent="0" marL="0">
                        <a:buNone/>
                      </a:pPr>
                      <a:r>
                        <a:rPr lang="en-US" sz="800" dirty="0">
                          <a:solidFill>
                            <a:srgbClr val="000000"/>
                          </a:solidFill>
                        </a:rPr>
                        <a:t>+17.1%</a:t>
                      </a:r>
                      <a:endParaRPr lang="en-US" sz="800" dirty="0"/>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E8F0E4"/>
                    </a:solidFill>
                  </a:tcPr>
                </a:tc>
                <a:tc>
                  <a:txBody>
                    <a:bodyPr/>
                    <a:lstStyle/>
                    <a:p>
                      <a:pPr algn="ctr" indent="0" marL="0">
                        <a:buNone/>
                      </a:pPr>
                      <a:r>
                        <a:rPr lang="en-US" sz="800" b="1" dirty="0">
                          <a:solidFill>
                            <a:srgbClr val="023520"/>
                          </a:solidFill>
                        </a:rPr>
                        <a:t>PREMIUM</a:t>
                      </a:r>
                      <a:endParaRPr lang="en-US" sz="800" dirty="0"/>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E8F0E4"/>
                    </a:solidFill>
                  </a:tcPr>
                </a:tc>
                <a:tc>
                  <a:txBody>
                    <a:bodyPr/>
                    <a:lstStyle/>
                    <a:p>
                      <a:pPr algn="ctr" indent="0" marL="0">
                        <a:buNone/>
                      </a:pPr>
                      <a:r>
                        <a:rPr lang="en-US" sz="800" dirty="0">
                          <a:solidFill>
                            <a:srgbClr val="000000"/>
                          </a:solidFill>
                        </a:rPr>
                        <a:t>HIGH</a:t>
                      </a:r>
                      <a:endParaRPr lang="en-US" sz="800" dirty="0"/>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E8F0E4"/>
                    </a:solidFill>
                  </a:tcPr>
                </a:tc>
              </a:tr>
              <a:tr h="182959">
                <a:tc>
                  <a:txBody>
                    <a:bodyPr/>
                    <a:lstStyle/>
                    <a:p>
                      <a:pPr algn="ctr" indent="0" marL="0">
                        <a:buNone/>
                      </a:pPr>
                      <a:r>
                        <a:rPr lang="en-US" sz="800" dirty="0">
                          <a:solidFill>
                            <a:srgbClr val="000000"/>
                          </a:solidFill>
                        </a:rPr>
                        <a:t>Carient Plus</a:t>
                      </a:r>
                      <a:endParaRPr lang="en-US" sz="800" dirty="0"/>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8E6"/>
                    </a:solidFill>
                  </a:tcPr>
                </a:tc>
                <a:tc>
                  <a:txBody>
                    <a:bodyPr/>
                    <a:lstStyle/>
                    <a:p>
                      <a:pPr algn="ctr" indent="0" marL="0">
                        <a:buNone/>
                      </a:pPr>
                      <a:r>
                        <a:rPr lang="en-US" sz="800" dirty="0">
                          <a:solidFill>
                            <a:srgbClr val="000000"/>
                          </a:solidFill>
                        </a:rPr>
                        <a:t>10W-40</a:t>
                      </a:r>
                      <a:endParaRPr lang="en-US" sz="800" dirty="0"/>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8E6"/>
                    </a:solidFill>
                  </a:tcPr>
                </a:tc>
                <a:tc>
                  <a:txBody>
                    <a:bodyPr/>
                    <a:lstStyle/>
                    <a:p>
                      <a:pPr algn="ctr" indent="0" marL="0">
                        <a:buNone/>
                      </a:pPr>
                      <a:r>
                        <a:rPr lang="en-US" sz="800" dirty="0">
                          <a:solidFill>
                            <a:srgbClr val="000000"/>
                          </a:solidFill>
                        </a:rPr>
                        <a:t>1L</a:t>
                      </a:r>
                      <a:endParaRPr lang="en-US" sz="800" dirty="0"/>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8E6"/>
                    </a:solidFill>
                  </a:tcPr>
                </a:tc>
                <a:tc>
                  <a:txBody>
                    <a:bodyPr/>
                    <a:lstStyle/>
                    <a:p>
                      <a:pPr algn="ctr" indent="0" marL="0">
                        <a:buNone/>
                      </a:pPr>
                      <a:r>
                        <a:rPr lang="en-US" sz="800" dirty="0">
                          <a:solidFill>
                            <a:srgbClr val="000000"/>
                          </a:solidFill>
                        </a:rPr>
                        <a:t>Rs 1,665</a:t>
                      </a:r>
                      <a:endParaRPr lang="en-US" sz="800" dirty="0"/>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8E6"/>
                    </a:solidFill>
                  </a:tcPr>
                </a:tc>
                <a:tc>
                  <a:txBody>
                    <a:bodyPr/>
                    <a:lstStyle/>
                    <a:p>
                      <a:pPr algn="ctr" indent="0" marL="0">
                        <a:buNone/>
                      </a:pPr>
                      <a:r>
                        <a:rPr lang="en-US" sz="800" dirty="0">
                          <a:solidFill>
                            <a:srgbClr val="000000"/>
                          </a:solidFill>
                        </a:rPr>
                        <a:t>Rs 1,665</a:t>
                      </a:r>
                      <a:endParaRPr lang="en-US" sz="800" dirty="0"/>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8E6"/>
                    </a:solidFill>
                  </a:tcPr>
                </a:tc>
                <a:tc>
                  <a:txBody>
                    <a:bodyPr/>
                    <a:lstStyle/>
                    <a:p>
                      <a:pPr algn="ctr" indent="0" marL="0">
                        <a:buNone/>
                      </a:pPr>
                      <a:r>
                        <a:rPr lang="en-US" sz="800" dirty="0">
                          <a:solidFill>
                            <a:srgbClr val="000000"/>
                          </a:solidFill>
                        </a:rPr>
                        <a:t>-27.6%</a:t>
                      </a:r>
                      <a:endParaRPr lang="en-US" sz="800" dirty="0"/>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8E6"/>
                    </a:solidFill>
                  </a:tcPr>
                </a:tc>
                <a:tc>
                  <a:txBody>
                    <a:bodyPr/>
                    <a:lstStyle/>
                    <a:p>
                      <a:pPr algn="ctr" indent="0" marL="0">
                        <a:buNone/>
                      </a:pPr>
                      <a:r>
                        <a:rPr lang="en-US" sz="800" b="1" dirty="0">
                          <a:solidFill>
                            <a:srgbClr val="7A5C00"/>
                          </a:solidFill>
                        </a:rPr>
                        <a:t>VALUE POSITION</a:t>
                      </a:r>
                      <a:endParaRPr lang="en-US" sz="800" dirty="0"/>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8E6"/>
                    </a:solidFill>
                  </a:tcPr>
                </a:tc>
                <a:tc>
                  <a:txBody>
                    <a:bodyPr/>
                    <a:lstStyle/>
                    <a:p>
                      <a:pPr algn="ctr" indent="0" marL="0">
                        <a:buNone/>
                      </a:pPr>
                      <a:r>
                        <a:rPr lang="en-US" sz="800" dirty="0">
                          <a:solidFill>
                            <a:srgbClr val="000000"/>
                          </a:solidFill>
                        </a:rPr>
                        <a:t>HIGH</a:t>
                      </a:r>
                      <a:endParaRPr lang="en-US" sz="800" dirty="0"/>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8E6"/>
                    </a:solidFill>
                  </a:tcPr>
                </a:tc>
              </a:tr>
              <a:tr h="182959">
                <a:tc>
                  <a:txBody>
                    <a:bodyPr/>
                    <a:lstStyle/>
                    <a:p>
                      <a:pPr algn="ctr" indent="0" marL="0">
                        <a:buNone/>
                      </a:pPr>
                      <a:r>
                        <a:rPr lang="en-US" sz="800" dirty="0">
                          <a:solidFill>
                            <a:srgbClr val="000000"/>
                          </a:solidFill>
                        </a:rPr>
                        <a:t>Carient Plus</a:t>
                      </a:r>
                      <a:endParaRPr lang="en-US" sz="800" dirty="0"/>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algn="ctr" indent="0" marL="0">
                        <a:buNone/>
                      </a:pPr>
                      <a:r>
                        <a:rPr lang="en-US" sz="800" dirty="0">
                          <a:solidFill>
                            <a:srgbClr val="000000"/>
                          </a:solidFill>
                        </a:rPr>
                        <a:t>15W-40</a:t>
                      </a:r>
                      <a:endParaRPr lang="en-US" sz="800" dirty="0"/>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algn="ctr" indent="0" marL="0">
                        <a:buNone/>
                      </a:pPr>
                      <a:r>
                        <a:rPr lang="en-US" sz="800" dirty="0">
                          <a:solidFill>
                            <a:srgbClr val="000000"/>
                          </a:solidFill>
                        </a:rPr>
                        <a:t>1L</a:t>
                      </a:r>
                      <a:endParaRPr lang="en-US" sz="800" dirty="0"/>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algn="ctr" indent="0" marL="0">
                        <a:buNone/>
                      </a:pPr>
                      <a:r>
                        <a:rPr lang="en-US" sz="800" dirty="0">
                          <a:solidFill>
                            <a:srgbClr val="000000"/>
                          </a:solidFill>
                        </a:rPr>
                        <a:t>Rs 1,749</a:t>
                      </a:r>
                      <a:endParaRPr lang="en-US" sz="800" dirty="0"/>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algn="ctr" indent="0" marL="0">
                        <a:buNone/>
                      </a:pPr>
                      <a:r>
                        <a:rPr lang="en-US" sz="800" dirty="0">
                          <a:solidFill>
                            <a:srgbClr val="000000"/>
                          </a:solidFill>
                        </a:rPr>
                        <a:t>Rs 1,749</a:t>
                      </a:r>
                      <a:endParaRPr lang="en-US" sz="800" dirty="0"/>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algn="ctr" indent="0" marL="0">
                        <a:buNone/>
                      </a:pPr>
                      <a:r>
                        <a:rPr lang="en-US" sz="800" dirty="0">
                          <a:solidFill>
                            <a:srgbClr val="000000"/>
                          </a:solidFill>
                        </a:rPr>
                        <a:t>-0.1%</a:t>
                      </a:r>
                      <a:endParaRPr lang="en-US" sz="800" dirty="0"/>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algn="ctr" indent="0" marL="0">
                        <a:buNone/>
                      </a:pPr>
                      <a:r>
                        <a:rPr lang="en-US" sz="800" b="1" dirty="0">
                          <a:solidFill>
                            <a:srgbClr val="444444"/>
                          </a:solidFill>
                        </a:rPr>
                        <a:t>AT MARKET</a:t>
                      </a:r>
                      <a:endParaRPr lang="en-US" sz="800" dirty="0"/>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algn="ctr" indent="0" marL="0">
                        <a:buNone/>
                      </a:pPr>
                      <a:r>
                        <a:rPr lang="en-US" sz="800" dirty="0">
                          <a:solidFill>
                            <a:srgbClr val="000000"/>
                          </a:solidFill>
                        </a:rPr>
                        <a:t>HIGH</a:t>
                      </a:r>
                      <a:endParaRPr lang="en-US" sz="800" dirty="0"/>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r>
              <a:tr h="182959">
                <a:tc>
                  <a:txBody>
                    <a:bodyPr/>
                    <a:lstStyle/>
                    <a:p>
                      <a:pPr algn="ctr" indent="0" marL="0">
                        <a:buNone/>
                      </a:pPr>
                      <a:r>
                        <a:rPr lang="en-US" sz="800" dirty="0">
                          <a:solidFill>
                            <a:srgbClr val="000000"/>
                          </a:solidFill>
                        </a:rPr>
                        <a:t>Carient Plus</a:t>
                      </a:r>
                      <a:endParaRPr lang="en-US" sz="800" dirty="0"/>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8E6"/>
                    </a:solidFill>
                  </a:tcPr>
                </a:tc>
                <a:tc>
                  <a:txBody>
                    <a:bodyPr/>
                    <a:lstStyle/>
                    <a:p>
                      <a:pPr algn="ctr" indent="0" marL="0">
                        <a:buNone/>
                      </a:pPr>
                      <a:r>
                        <a:rPr lang="en-US" sz="800" dirty="0">
                          <a:solidFill>
                            <a:srgbClr val="000000"/>
                          </a:solidFill>
                        </a:rPr>
                        <a:t>20W-50</a:t>
                      </a:r>
                      <a:endParaRPr lang="en-US" sz="800" dirty="0"/>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8E6"/>
                    </a:solidFill>
                  </a:tcPr>
                </a:tc>
                <a:tc>
                  <a:txBody>
                    <a:bodyPr/>
                    <a:lstStyle/>
                    <a:p>
                      <a:pPr algn="ctr" indent="0" marL="0">
                        <a:buNone/>
                      </a:pPr>
                      <a:r>
                        <a:rPr lang="en-US" sz="800" dirty="0">
                          <a:solidFill>
                            <a:srgbClr val="000000"/>
                          </a:solidFill>
                        </a:rPr>
                        <a:t>1L</a:t>
                      </a:r>
                      <a:endParaRPr lang="en-US" sz="800" dirty="0"/>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8E6"/>
                    </a:solidFill>
                  </a:tcPr>
                </a:tc>
                <a:tc>
                  <a:txBody>
                    <a:bodyPr/>
                    <a:lstStyle/>
                    <a:p>
                      <a:pPr algn="ctr" indent="0" marL="0">
                        <a:buNone/>
                      </a:pPr>
                      <a:r>
                        <a:rPr lang="en-US" sz="800" dirty="0">
                          <a:solidFill>
                            <a:srgbClr val="000000"/>
                          </a:solidFill>
                        </a:rPr>
                        <a:t>Rs 1,287</a:t>
                      </a:r>
                      <a:endParaRPr lang="en-US" sz="800" dirty="0"/>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8E6"/>
                    </a:solidFill>
                  </a:tcPr>
                </a:tc>
                <a:tc>
                  <a:txBody>
                    <a:bodyPr/>
                    <a:lstStyle/>
                    <a:p>
                      <a:pPr algn="ctr" indent="0" marL="0">
                        <a:buNone/>
                      </a:pPr>
                      <a:r>
                        <a:rPr lang="en-US" sz="800" dirty="0">
                          <a:solidFill>
                            <a:srgbClr val="000000"/>
                          </a:solidFill>
                        </a:rPr>
                        <a:t>Rs 1,287</a:t>
                      </a:r>
                      <a:endParaRPr lang="en-US" sz="800" dirty="0"/>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8E6"/>
                    </a:solidFill>
                  </a:tcPr>
                </a:tc>
                <a:tc>
                  <a:txBody>
                    <a:bodyPr/>
                    <a:lstStyle/>
                    <a:p>
                      <a:pPr algn="ctr" indent="0" marL="0">
                        <a:buNone/>
                      </a:pPr>
                      <a:r>
                        <a:rPr lang="en-US" sz="800" dirty="0">
                          <a:solidFill>
                            <a:srgbClr val="000000"/>
                          </a:solidFill>
                        </a:rPr>
                        <a:t>-17.0%</a:t>
                      </a:r>
                      <a:endParaRPr lang="en-US" sz="800" dirty="0"/>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8E6"/>
                    </a:solidFill>
                  </a:tcPr>
                </a:tc>
                <a:tc>
                  <a:txBody>
                    <a:bodyPr/>
                    <a:lstStyle/>
                    <a:p>
                      <a:pPr algn="ctr" indent="0" marL="0">
                        <a:buNone/>
                      </a:pPr>
                      <a:r>
                        <a:rPr lang="en-US" sz="800" b="1" dirty="0">
                          <a:solidFill>
                            <a:srgbClr val="7A5C00"/>
                          </a:solidFill>
                        </a:rPr>
                        <a:t>VALUE POSITION</a:t>
                      </a:r>
                      <a:endParaRPr lang="en-US" sz="800" dirty="0"/>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8E6"/>
                    </a:solidFill>
                  </a:tcPr>
                </a:tc>
                <a:tc>
                  <a:txBody>
                    <a:bodyPr/>
                    <a:lstStyle/>
                    <a:p>
                      <a:pPr algn="ctr" indent="0" marL="0">
                        <a:buNone/>
                      </a:pPr>
                      <a:r>
                        <a:rPr lang="en-US" sz="800" dirty="0">
                          <a:solidFill>
                            <a:srgbClr val="000000"/>
                          </a:solidFill>
                        </a:rPr>
                        <a:t>HIGH</a:t>
                      </a:r>
                      <a:endParaRPr lang="en-US" sz="800" dirty="0"/>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8E6"/>
                    </a:solidFill>
                  </a:tcPr>
                </a:tc>
              </a:tr>
              <a:tr h="182959">
                <a:tc>
                  <a:txBody>
                    <a:bodyPr/>
                    <a:lstStyle/>
                    <a:p>
                      <a:pPr algn="ctr" indent="0" marL="0">
                        <a:buNone/>
                      </a:pPr>
                      <a:r>
                        <a:rPr lang="en-US" sz="800" dirty="0">
                          <a:solidFill>
                            <a:srgbClr val="000000"/>
                          </a:solidFill>
                        </a:rPr>
                        <a:t>Carient Plus</a:t>
                      </a:r>
                      <a:endParaRPr lang="en-US" sz="800" dirty="0"/>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algn="ctr" indent="0" marL="0">
                        <a:buNone/>
                      </a:pPr>
                      <a:r>
                        <a:rPr lang="en-US" sz="800" dirty="0">
                          <a:solidFill>
                            <a:srgbClr val="000000"/>
                          </a:solidFill>
                        </a:rPr>
                        <a:t>15W-40</a:t>
                      </a:r>
                      <a:endParaRPr lang="en-US" sz="800" dirty="0"/>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algn="ctr" indent="0" marL="0">
                        <a:buNone/>
                      </a:pPr>
                      <a:r>
                        <a:rPr lang="en-US" sz="800" dirty="0">
                          <a:solidFill>
                            <a:srgbClr val="000000"/>
                          </a:solidFill>
                        </a:rPr>
                        <a:t>3L</a:t>
                      </a:r>
                      <a:endParaRPr lang="en-US" sz="800" dirty="0"/>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algn="ctr" indent="0" marL="0">
                        <a:buNone/>
                      </a:pPr>
                      <a:r>
                        <a:rPr lang="en-US" sz="800" dirty="0">
                          <a:solidFill>
                            <a:srgbClr val="000000"/>
                          </a:solidFill>
                        </a:rPr>
                        <a:t>Rs 1,602</a:t>
                      </a:r>
                      <a:endParaRPr lang="en-US" sz="800" dirty="0"/>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algn="ctr" indent="0" marL="0">
                        <a:buNone/>
                      </a:pPr>
                      <a:r>
                        <a:rPr lang="en-US" sz="800" dirty="0">
                          <a:solidFill>
                            <a:srgbClr val="000000"/>
                          </a:solidFill>
                        </a:rPr>
                        <a:t>Rs 4,806</a:t>
                      </a:r>
                      <a:endParaRPr lang="en-US" sz="800" dirty="0"/>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algn="ctr" indent="0" marL="0">
                        <a:buNone/>
                      </a:pPr>
                      <a:r>
                        <a:rPr lang="en-US" sz="800" dirty="0">
                          <a:solidFill>
                            <a:srgbClr val="000000"/>
                          </a:solidFill>
                        </a:rPr>
                        <a:t>-8.5%</a:t>
                      </a:r>
                      <a:endParaRPr lang="en-US" sz="800" dirty="0"/>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algn="ctr" indent="0" marL="0">
                        <a:buNone/>
                      </a:pPr>
                      <a:r>
                        <a:rPr lang="en-US" sz="800" b="1" dirty="0">
                          <a:solidFill>
                            <a:srgbClr val="444444"/>
                          </a:solidFill>
                        </a:rPr>
                        <a:t>AT MARKET</a:t>
                      </a:r>
                      <a:endParaRPr lang="en-US" sz="800" dirty="0"/>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algn="ctr" indent="0" marL="0">
                        <a:buNone/>
                      </a:pPr>
                      <a:r>
                        <a:rPr lang="en-US" sz="800" dirty="0">
                          <a:solidFill>
                            <a:srgbClr val="000000"/>
                          </a:solidFill>
                        </a:rPr>
                        <a:t>HIGH</a:t>
                      </a:r>
                      <a:endParaRPr lang="en-US" sz="800" dirty="0"/>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r>
              <a:tr h="182959">
                <a:tc>
                  <a:txBody>
                    <a:bodyPr/>
                    <a:lstStyle/>
                    <a:p>
                      <a:pPr algn="ctr" indent="0" marL="0">
                        <a:buNone/>
                      </a:pPr>
                      <a:r>
                        <a:rPr lang="en-US" sz="800" dirty="0">
                          <a:solidFill>
                            <a:srgbClr val="000000"/>
                          </a:solidFill>
                        </a:rPr>
                        <a:t>Carient Plus</a:t>
                      </a:r>
                      <a:endParaRPr lang="en-US" sz="800" dirty="0"/>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8E6"/>
                    </a:solidFill>
                  </a:tcPr>
                </a:tc>
                <a:tc>
                  <a:txBody>
                    <a:bodyPr/>
                    <a:lstStyle/>
                    <a:p>
                      <a:pPr algn="ctr" indent="0" marL="0">
                        <a:buNone/>
                      </a:pPr>
                      <a:r>
                        <a:rPr lang="en-US" sz="800" dirty="0">
                          <a:solidFill>
                            <a:srgbClr val="000000"/>
                          </a:solidFill>
                        </a:rPr>
                        <a:t>15W-40</a:t>
                      </a:r>
                      <a:endParaRPr lang="en-US" sz="800" dirty="0"/>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8E6"/>
                    </a:solidFill>
                  </a:tcPr>
                </a:tc>
                <a:tc>
                  <a:txBody>
                    <a:bodyPr/>
                    <a:lstStyle/>
                    <a:p>
                      <a:pPr algn="ctr" indent="0" marL="0">
                        <a:buNone/>
                      </a:pPr>
                      <a:r>
                        <a:rPr lang="en-US" sz="800" dirty="0">
                          <a:solidFill>
                            <a:srgbClr val="000000"/>
                          </a:solidFill>
                        </a:rPr>
                        <a:t>4L</a:t>
                      </a:r>
                      <a:endParaRPr lang="en-US" sz="800" dirty="0"/>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8E6"/>
                    </a:solidFill>
                  </a:tcPr>
                </a:tc>
                <a:tc>
                  <a:txBody>
                    <a:bodyPr/>
                    <a:lstStyle/>
                    <a:p>
                      <a:pPr algn="ctr" indent="0" marL="0">
                        <a:buNone/>
                      </a:pPr>
                      <a:r>
                        <a:rPr lang="en-US" sz="800" dirty="0">
                          <a:solidFill>
                            <a:srgbClr val="000000"/>
                          </a:solidFill>
                        </a:rPr>
                        <a:t>Rs 1,542</a:t>
                      </a:r>
                      <a:endParaRPr lang="en-US" sz="800" dirty="0"/>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8E6"/>
                    </a:solidFill>
                  </a:tcPr>
                </a:tc>
                <a:tc>
                  <a:txBody>
                    <a:bodyPr/>
                    <a:lstStyle/>
                    <a:p>
                      <a:pPr algn="ctr" indent="0" marL="0">
                        <a:buNone/>
                      </a:pPr>
                      <a:r>
                        <a:rPr lang="en-US" sz="800" dirty="0">
                          <a:solidFill>
                            <a:srgbClr val="000000"/>
                          </a:solidFill>
                        </a:rPr>
                        <a:t>Rs 6,168</a:t>
                      </a:r>
                      <a:endParaRPr lang="en-US" sz="800" dirty="0"/>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8E6"/>
                    </a:solidFill>
                  </a:tcPr>
                </a:tc>
                <a:tc>
                  <a:txBody>
                    <a:bodyPr/>
                    <a:lstStyle/>
                    <a:p>
                      <a:pPr algn="ctr" indent="0" marL="0">
                        <a:buNone/>
                      </a:pPr>
                      <a:r>
                        <a:rPr lang="en-US" sz="800" dirty="0">
                          <a:solidFill>
                            <a:srgbClr val="000000"/>
                          </a:solidFill>
                        </a:rPr>
                        <a:t>-11.9%</a:t>
                      </a:r>
                      <a:endParaRPr lang="en-US" sz="800" dirty="0"/>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8E6"/>
                    </a:solidFill>
                  </a:tcPr>
                </a:tc>
                <a:tc>
                  <a:txBody>
                    <a:bodyPr/>
                    <a:lstStyle/>
                    <a:p>
                      <a:pPr algn="ctr" indent="0" marL="0">
                        <a:buNone/>
                      </a:pPr>
                      <a:r>
                        <a:rPr lang="en-US" sz="800" b="1" dirty="0">
                          <a:solidFill>
                            <a:srgbClr val="7A5C00"/>
                          </a:solidFill>
                        </a:rPr>
                        <a:t>VALUE POSITION</a:t>
                      </a:r>
                      <a:endParaRPr lang="en-US" sz="800" dirty="0"/>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8E6"/>
                    </a:solidFill>
                  </a:tcPr>
                </a:tc>
                <a:tc>
                  <a:txBody>
                    <a:bodyPr/>
                    <a:lstStyle/>
                    <a:p>
                      <a:pPr algn="ctr" indent="0" marL="0">
                        <a:buNone/>
                      </a:pPr>
                      <a:r>
                        <a:rPr lang="en-US" sz="800" dirty="0">
                          <a:solidFill>
                            <a:srgbClr val="000000"/>
                          </a:solidFill>
                        </a:rPr>
                        <a:t>HIGH</a:t>
                      </a:r>
                      <a:endParaRPr lang="en-US" sz="800" dirty="0"/>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8E6"/>
                    </a:solidFill>
                  </a:tcPr>
                </a:tc>
              </a:tr>
              <a:tr h="182959">
                <a:tc>
                  <a:txBody>
                    <a:bodyPr/>
                    <a:lstStyle/>
                    <a:p>
                      <a:pPr algn="ctr" indent="0" marL="0">
                        <a:buNone/>
                      </a:pPr>
                      <a:r>
                        <a:rPr lang="en-US" sz="800" dirty="0">
                          <a:solidFill>
                            <a:srgbClr val="000000"/>
                          </a:solidFill>
                        </a:rPr>
                        <a:t>Carient SPRO</a:t>
                      </a:r>
                      <a:endParaRPr lang="en-US" sz="800" dirty="0"/>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8E6"/>
                    </a:solidFill>
                  </a:tcPr>
                </a:tc>
                <a:tc>
                  <a:txBody>
                    <a:bodyPr/>
                    <a:lstStyle/>
                    <a:p>
                      <a:pPr algn="ctr" indent="0" marL="0">
                        <a:buNone/>
                      </a:pPr>
                      <a:r>
                        <a:rPr lang="en-US" sz="800" dirty="0">
                          <a:solidFill>
                            <a:srgbClr val="000000"/>
                          </a:solidFill>
                        </a:rPr>
                        <a:t>15W-40</a:t>
                      </a:r>
                      <a:endParaRPr lang="en-US" sz="800" dirty="0"/>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8E6"/>
                    </a:solidFill>
                  </a:tcPr>
                </a:tc>
                <a:tc>
                  <a:txBody>
                    <a:bodyPr/>
                    <a:lstStyle/>
                    <a:p>
                      <a:pPr algn="ctr" indent="0" marL="0">
                        <a:buNone/>
                      </a:pPr>
                      <a:r>
                        <a:rPr lang="en-US" sz="800" dirty="0">
                          <a:solidFill>
                            <a:srgbClr val="000000"/>
                          </a:solidFill>
                        </a:rPr>
                        <a:t>3L</a:t>
                      </a:r>
                      <a:endParaRPr lang="en-US" sz="800" dirty="0"/>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8E6"/>
                    </a:solidFill>
                  </a:tcPr>
                </a:tc>
                <a:tc>
                  <a:txBody>
                    <a:bodyPr/>
                    <a:lstStyle/>
                    <a:p>
                      <a:pPr algn="ctr" indent="0" marL="0">
                        <a:buNone/>
                      </a:pPr>
                      <a:r>
                        <a:rPr lang="en-US" sz="800" dirty="0">
                          <a:solidFill>
                            <a:srgbClr val="000000"/>
                          </a:solidFill>
                        </a:rPr>
                        <a:t>Rs 1,575</a:t>
                      </a:r>
                      <a:endParaRPr lang="en-US" sz="800" dirty="0"/>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8E6"/>
                    </a:solidFill>
                  </a:tcPr>
                </a:tc>
                <a:tc>
                  <a:txBody>
                    <a:bodyPr/>
                    <a:lstStyle/>
                    <a:p>
                      <a:pPr algn="ctr" indent="0" marL="0">
                        <a:buNone/>
                      </a:pPr>
                      <a:r>
                        <a:rPr lang="en-US" sz="800" dirty="0">
                          <a:solidFill>
                            <a:srgbClr val="000000"/>
                          </a:solidFill>
                        </a:rPr>
                        <a:t>Rs 4,725</a:t>
                      </a:r>
                      <a:endParaRPr lang="en-US" sz="800" dirty="0"/>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8E6"/>
                    </a:solidFill>
                  </a:tcPr>
                </a:tc>
                <a:tc>
                  <a:txBody>
                    <a:bodyPr/>
                    <a:lstStyle/>
                    <a:p>
                      <a:pPr algn="ctr" indent="0" marL="0">
                        <a:buNone/>
                      </a:pPr>
                      <a:r>
                        <a:rPr lang="en-US" sz="800" dirty="0">
                          <a:solidFill>
                            <a:srgbClr val="000000"/>
                          </a:solidFill>
                        </a:rPr>
                        <a:t>-10.0%</a:t>
                      </a:r>
                      <a:endParaRPr lang="en-US" sz="800" dirty="0"/>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8E6"/>
                    </a:solidFill>
                  </a:tcPr>
                </a:tc>
                <a:tc>
                  <a:txBody>
                    <a:bodyPr/>
                    <a:lstStyle/>
                    <a:p>
                      <a:pPr algn="ctr" indent="0" marL="0">
                        <a:buNone/>
                      </a:pPr>
                      <a:r>
                        <a:rPr lang="en-US" sz="800" b="1" dirty="0">
                          <a:solidFill>
                            <a:srgbClr val="7A5C00"/>
                          </a:solidFill>
                        </a:rPr>
                        <a:t>VALUE POSITION</a:t>
                      </a:r>
                      <a:endParaRPr lang="en-US" sz="800" dirty="0"/>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8E6"/>
                    </a:solidFill>
                  </a:tcPr>
                </a:tc>
                <a:tc>
                  <a:txBody>
                    <a:bodyPr/>
                    <a:lstStyle/>
                    <a:p>
                      <a:pPr algn="ctr" indent="0" marL="0">
                        <a:buNone/>
                      </a:pPr>
                      <a:r>
                        <a:rPr lang="en-US" sz="800" dirty="0">
                          <a:solidFill>
                            <a:srgbClr val="000000"/>
                          </a:solidFill>
                        </a:rPr>
                        <a:t>HIGH</a:t>
                      </a:r>
                      <a:endParaRPr lang="en-US" sz="800" dirty="0"/>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8E6"/>
                    </a:solidFill>
                  </a:tcPr>
                </a:tc>
              </a:tr>
              <a:tr h="182959">
                <a:tc>
                  <a:txBody>
                    <a:bodyPr/>
                    <a:lstStyle/>
                    <a:p>
                      <a:pPr algn="ctr" indent="0" marL="0">
                        <a:buNone/>
                      </a:pPr>
                      <a:r>
                        <a:rPr lang="en-US" sz="800" dirty="0">
                          <a:solidFill>
                            <a:srgbClr val="000000"/>
                          </a:solidFill>
                        </a:rPr>
                        <a:t>Carient SPRO</a:t>
                      </a:r>
                      <a:endParaRPr lang="en-US" sz="800" dirty="0"/>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8E6"/>
                    </a:solidFill>
                  </a:tcPr>
                </a:tc>
                <a:tc>
                  <a:txBody>
                    <a:bodyPr/>
                    <a:lstStyle/>
                    <a:p>
                      <a:pPr algn="ctr" indent="0" marL="0">
                        <a:buNone/>
                      </a:pPr>
                      <a:r>
                        <a:rPr lang="en-US" sz="800" dirty="0">
                          <a:solidFill>
                            <a:srgbClr val="000000"/>
                          </a:solidFill>
                        </a:rPr>
                        <a:t>20W-50</a:t>
                      </a:r>
                      <a:endParaRPr lang="en-US" sz="800" dirty="0"/>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8E6"/>
                    </a:solidFill>
                  </a:tcPr>
                </a:tc>
                <a:tc>
                  <a:txBody>
                    <a:bodyPr/>
                    <a:lstStyle/>
                    <a:p>
                      <a:pPr algn="ctr" indent="0" marL="0">
                        <a:buNone/>
                      </a:pPr>
                      <a:r>
                        <a:rPr lang="en-US" sz="800" dirty="0">
                          <a:solidFill>
                            <a:srgbClr val="000000"/>
                          </a:solidFill>
                        </a:rPr>
                        <a:t>3L</a:t>
                      </a:r>
                      <a:endParaRPr lang="en-US" sz="800" dirty="0"/>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8E6"/>
                    </a:solidFill>
                  </a:tcPr>
                </a:tc>
                <a:tc>
                  <a:txBody>
                    <a:bodyPr/>
                    <a:lstStyle/>
                    <a:p>
                      <a:pPr algn="ctr" indent="0" marL="0">
                        <a:buNone/>
                      </a:pPr>
                      <a:r>
                        <a:rPr lang="en-US" sz="800" dirty="0">
                          <a:solidFill>
                            <a:srgbClr val="000000"/>
                          </a:solidFill>
                        </a:rPr>
                        <a:t>Rs 1,026</a:t>
                      </a:r>
                      <a:endParaRPr lang="en-US" sz="800" dirty="0"/>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8E6"/>
                    </a:solidFill>
                  </a:tcPr>
                </a:tc>
                <a:tc>
                  <a:txBody>
                    <a:bodyPr/>
                    <a:lstStyle/>
                    <a:p>
                      <a:pPr algn="ctr" indent="0" marL="0">
                        <a:buNone/>
                      </a:pPr>
                      <a:r>
                        <a:rPr lang="en-US" sz="800" dirty="0">
                          <a:solidFill>
                            <a:srgbClr val="000000"/>
                          </a:solidFill>
                        </a:rPr>
                        <a:t>Rs 3,078</a:t>
                      </a:r>
                      <a:endParaRPr lang="en-US" sz="800" dirty="0"/>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8E6"/>
                    </a:solidFill>
                  </a:tcPr>
                </a:tc>
                <a:tc>
                  <a:txBody>
                    <a:bodyPr/>
                    <a:lstStyle/>
                    <a:p>
                      <a:pPr algn="ctr" indent="0" marL="0">
                        <a:buNone/>
                      </a:pPr>
                      <a:r>
                        <a:rPr lang="en-US" sz="800" dirty="0">
                          <a:solidFill>
                            <a:srgbClr val="000000"/>
                          </a:solidFill>
                        </a:rPr>
                        <a:t>-13.3%</a:t>
                      </a:r>
                      <a:endParaRPr lang="en-US" sz="800" dirty="0"/>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8E6"/>
                    </a:solidFill>
                  </a:tcPr>
                </a:tc>
                <a:tc>
                  <a:txBody>
                    <a:bodyPr/>
                    <a:lstStyle/>
                    <a:p>
                      <a:pPr algn="ctr" indent="0" marL="0">
                        <a:buNone/>
                      </a:pPr>
                      <a:r>
                        <a:rPr lang="en-US" sz="800" b="1" dirty="0">
                          <a:solidFill>
                            <a:srgbClr val="7A5C00"/>
                          </a:solidFill>
                        </a:rPr>
                        <a:t>VALUE POSITION</a:t>
                      </a:r>
                      <a:endParaRPr lang="en-US" sz="800" dirty="0"/>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8E6"/>
                    </a:solidFill>
                  </a:tcPr>
                </a:tc>
                <a:tc>
                  <a:txBody>
                    <a:bodyPr/>
                    <a:lstStyle/>
                    <a:p>
                      <a:pPr algn="ctr" indent="0" marL="0">
                        <a:buNone/>
                      </a:pPr>
                      <a:r>
                        <a:rPr lang="en-US" sz="800" dirty="0">
                          <a:solidFill>
                            <a:srgbClr val="000000"/>
                          </a:solidFill>
                        </a:rPr>
                        <a:t>HIGH</a:t>
                      </a:r>
                      <a:endParaRPr lang="en-US" sz="800" dirty="0"/>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8E6"/>
                    </a:solidFill>
                  </a:tcPr>
                </a:tc>
              </a:tr>
              <a:tr h="182959">
                <a:tc>
                  <a:txBody>
                    <a:bodyPr/>
                    <a:lstStyle/>
                    <a:p>
                      <a:pPr algn="ctr" indent="0" marL="0">
                        <a:buNone/>
                      </a:pPr>
                      <a:r>
                        <a:rPr lang="en-US" sz="800" dirty="0">
                          <a:solidFill>
                            <a:srgbClr val="000000"/>
                          </a:solidFill>
                        </a:rPr>
                        <a:t>Carient SPRO</a:t>
                      </a:r>
                      <a:endParaRPr lang="en-US" sz="800" dirty="0"/>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8E6"/>
                    </a:solidFill>
                  </a:tcPr>
                </a:tc>
                <a:tc>
                  <a:txBody>
                    <a:bodyPr/>
                    <a:lstStyle/>
                    <a:p>
                      <a:pPr algn="ctr" indent="0" marL="0">
                        <a:buNone/>
                      </a:pPr>
                      <a:r>
                        <a:rPr lang="en-US" sz="800" dirty="0">
                          <a:solidFill>
                            <a:srgbClr val="000000"/>
                          </a:solidFill>
                        </a:rPr>
                        <a:t>15W-40</a:t>
                      </a:r>
                      <a:endParaRPr lang="en-US" sz="800" dirty="0"/>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8E6"/>
                    </a:solidFill>
                  </a:tcPr>
                </a:tc>
                <a:tc>
                  <a:txBody>
                    <a:bodyPr/>
                    <a:lstStyle/>
                    <a:p>
                      <a:pPr algn="ctr" indent="0" marL="0">
                        <a:buNone/>
                      </a:pPr>
                      <a:r>
                        <a:rPr lang="en-US" sz="800" dirty="0">
                          <a:solidFill>
                            <a:srgbClr val="000000"/>
                          </a:solidFill>
                        </a:rPr>
                        <a:t>4L</a:t>
                      </a:r>
                      <a:endParaRPr lang="en-US" sz="800" dirty="0"/>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8E6"/>
                    </a:solidFill>
                  </a:tcPr>
                </a:tc>
                <a:tc>
                  <a:txBody>
                    <a:bodyPr/>
                    <a:lstStyle/>
                    <a:p>
                      <a:pPr algn="ctr" indent="0" marL="0">
                        <a:buNone/>
                      </a:pPr>
                      <a:r>
                        <a:rPr lang="en-US" sz="800" dirty="0">
                          <a:solidFill>
                            <a:srgbClr val="000000"/>
                          </a:solidFill>
                        </a:rPr>
                        <a:t>Rs 1,515</a:t>
                      </a:r>
                      <a:endParaRPr lang="en-US" sz="800" dirty="0"/>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8E6"/>
                    </a:solidFill>
                  </a:tcPr>
                </a:tc>
                <a:tc>
                  <a:txBody>
                    <a:bodyPr/>
                    <a:lstStyle/>
                    <a:p>
                      <a:pPr algn="ctr" indent="0" marL="0">
                        <a:buNone/>
                      </a:pPr>
                      <a:r>
                        <a:rPr lang="en-US" sz="800" dirty="0">
                          <a:solidFill>
                            <a:srgbClr val="000000"/>
                          </a:solidFill>
                        </a:rPr>
                        <a:t>Rs 6,060</a:t>
                      </a:r>
                      <a:endParaRPr lang="en-US" sz="800" dirty="0"/>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8E6"/>
                    </a:solidFill>
                  </a:tcPr>
                </a:tc>
                <a:tc>
                  <a:txBody>
                    <a:bodyPr/>
                    <a:lstStyle/>
                    <a:p>
                      <a:pPr algn="ctr" indent="0" marL="0">
                        <a:buNone/>
                      </a:pPr>
                      <a:r>
                        <a:rPr lang="en-US" sz="800" dirty="0">
                          <a:solidFill>
                            <a:srgbClr val="000000"/>
                          </a:solidFill>
                        </a:rPr>
                        <a:t>-13.4%</a:t>
                      </a:r>
                      <a:endParaRPr lang="en-US" sz="800" dirty="0"/>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8E6"/>
                    </a:solidFill>
                  </a:tcPr>
                </a:tc>
                <a:tc>
                  <a:txBody>
                    <a:bodyPr/>
                    <a:lstStyle/>
                    <a:p>
                      <a:pPr algn="ctr" indent="0" marL="0">
                        <a:buNone/>
                      </a:pPr>
                      <a:r>
                        <a:rPr lang="en-US" sz="800" b="1" dirty="0">
                          <a:solidFill>
                            <a:srgbClr val="7A5C00"/>
                          </a:solidFill>
                        </a:rPr>
                        <a:t>VALUE POSITION</a:t>
                      </a:r>
                      <a:endParaRPr lang="en-US" sz="800" dirty="0"/>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8E6"/>
                    </a:solidFill>
                  </a:tcPr>
                </a:tc>
                <a:tc>
                  <a:txBody>
                    <a:bodyPr/>
                    <a:lstStyle/>
                    <a:p>
                      <a:pPr algn="ctr" indent="0" marL="0">
                        <a:buNone/>
                      </a:pPr>
                      <a:r>
                        <a:rPr lang="en-US" sz="800" dirty="0">
                          <a:solidFill>
                            <a:srgbClr val="000000"/>
                          </a:solidFill>
                        </a:rPr>
                        <a:t>HIGH</a:t>
                      </a:r>
                      <a:endParaRPr lang="en-US" sz="800" dirty="0"/>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8E6"/>
                    </a:solidFill>
                  </a:tcPr>
                </a:tc>
              </a:tr>
              <a:tr h="182959">
                <a:tc>
                  <a:txBody>
                    <a:bodyPr/>
                    <a:lstStyle/>
                    <a:p>
                      <a:pPr algn="ctr" indent="0" marL="0">
                        <a:buNone/>
                      </a:pPr>
                      <a:r>
                        <a:rPr lang="en-US" sz="800" dirty="0">
                          <a:solidFill>
                            <a:srgbClr val="000000"/>
                          </a:solidFill>
                        </a:rPr>
                        <a:t>Carient SPRO</a:t>
                      </a:r>
                      <a:endParaRPr lang="en-US" sz="800" dirty="0"/>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algn="ctr" indent="0" marL="0">
                        <a:buNone/>
                      </a:pPr>
                      <a:r>
                        <a:rPr lang="en-US" sz="800" dirty="0">
                          <a:solidFill>
                            <a:srgbClr val="000000"/>
                          </a:solidFill>
                        </a:rPr>
                        <a:t>20W-50</a:t>
                      </a:r>
                      <a:endParaRPr lang="en-US" sz="800" dirty="0"/>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algn="ctr" indent="0" marL="0">
                        <a:buNone/>
                      </a:pPr>
                      <a:r>
                        <a:rPr lang="en-US" sz="800" dirty="0">
                          <a:solidFill>
                            <a:srgbClr val="000000"/>
                          </a:solidFill>
                        </a:rPr>
                        <a:t>4L</a:t>
                      </a:r>
                      <a:endParaRPr lang="en-US" sz="800" dirty="0"/>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algn="ctr" indent="0" marL="0">
                        <a:buNone/>
                      </a:pPr>
                      <a:r>
                        <a:rPr lang="en-US" sz="800" dirty="0">
                          <a:solidFill>
                            <a:srgbClr val="000000"/>
                          </a:solidFill>
                        </a:rPr>
                        <a:t>Rs 925</a:t>
                      </a:r>
                      <a:endParaRPr lang="en-US" sz="800" dirty="0"/>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algn="ctr" indent="0" marL="0">
                        <a:buNone/>
                      </a:pPr>
                      <a:r>
                        <a:rPr lang="en-US" sz="800" dirty="0">
                          <a:solidFill>
                            <a:srgbClr val="000000"/>
                          </a:solidFill>
                        </a:rPr>
                        <a:t>Rs 3,700</a:t>
                      </a:r>
                      <a:endParaRPr lang="en-US" sz="800" dirty="0"/>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algn="ctr" indent="0" marL="0">
                        <a:buNone/>
                      </a:pPr>
                      <a:r>
                        <a:rPr lang="en-US" sz="800" dirty="0">
                          <a:solidFill>
                            <a:srgbClr val="000000"/>
                          </a:solidFill>
                        </a:rPr>
                        <a:t>-9.8%</a:t>
                      </a:r>
                      <a:endParaRPr lang="en-US" sz="800" dirty="0"/>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algn="ctr" indent="0" marL="0">
                        <a:buNone/>
                      </a:pPr>
                      <a:r>
                        <a:rPr lang="en-US" sz="800" b="1" dirty="0">
                          <a:solidFill>
                            <a:srgbClr val="444444"/>
                          </a:solidFill>
                        </a:rPr>
                        <a:t>AT MARKET</a:t>
                      </a:r>
                      <a:endParaRPr lang="en-US" sz="800" dirty="0"/>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algn="ctr" indent="0" marL="0">
                        <a:buNone/>
                      </a:pPr>
                      <a:r>
                        <a:rPr lang="en-US" sz="800" dirty="0">
                          <a:solidFill>
                            <a:srgbClr val="000000"/>
                          </a:solidFill>
                        </a:rPr>
                        <a:t>HIGH</a:t>
                      </a:r>
                      <a:endParaRPr lang="en-US" sz="800" dirty="0"/>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r>
            </a:tbl>
          </a:graphicData>
        </a:graphic>
      </p:graphicFrame>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0" y="0"/>
            <a:ext cx="9144000" cy="730151"/>
          </a:xfrm>
          <a:prstGeom prst="rect">
            <a:avLst/>
          </a:prstGeom>
          <a:solidFill>
            <a:srgbClr val="00703C"/>
          </a:solidFill>
          <a:ln/>
        </p:spPr>
        <p:txBody>
          <a:bodyPr wrap="square" rtlCol="0" anchor="ctr"/>
          <a:lstStyle/>
          <a:p>
            <a:pPr indent="0" marL="0">
              <a:buNone/>
            </a:pPr>
            <a:endParaRPr lang="en-US" dirty="0"/>
          </a:p>
        </p:txBody>
      </p:sp>
      <p:sp>
        <p:nvSpPr>
          <p:cNvPr id="3" name="Text 1"/>
          <p:cNvSpPr/>
          <p:nvPr/>
        </p:nvSpPr>
        <p:spPr>
          <a:xfrm>
            <a:off x="355550" y="152400"/>
            <a:ext cx="8601557" cy="266700"/>
          </a:xfrm>
          <a:prstGeom prst="rect">
            <a:avLst/>
          </a:prstGeom>
          <a:noFill/>
          <a:ln/>
        </p:spPr>
        <p:txBody>
          <a:bodyPr wrap="square" lIns="0" tIns="0" rIns="0" bIns="0" rtlCol="0" anchor="t"/>
          <a:lstStyle/>
          <a:p>
            <a:pPr algn="l" indent="0" marL="0">
              <a:buNone/>
            </a:pPr>
            <a:r>
              <a:rPr lang="en-US" sz="1800" b="1" dirty="0">
                <a:solidFill>
                  <a:srgbClr val="FFFFFF"/>
                </a:solidFill>
                <a:latin typeface="Arial" pitchFamily="34" charset="0"/>
                <a:ea typeface="Arial" pitchFamily="34" charset="-122"/>
                <a:cs typeface="Arial" pitchFamily="34" charset="-120"/>
              </a:rPr>
              <a:t>Recommended Prices — HDEO &amp; MCO</a:t>
            </a:r>
            <a:endParaRPr lang="en-US" sz="1800" dirty="0"/>
          </a:p>
        </p:txBody>
      </p:sp>
      <p:sp>
        <p:nvSpPr>
          <p:cNvPr id="4" name="Text 2"/>
          <p:cNvSpPr/>
          <p:nvPr/>
        </p:nvSpPr>
        <p:spPr>
          <a:xfrm>
            <a:off x="355550" y="469850"/>
            <a:ext cx="8601557" cy="133350"/>
          </a:xfrm>
          <a:prstGeom prst="rect">
            <a:avLst/>
          </a:prstGeom>
          <a:noFill/>
          <a:ln/>
        </p:spPr>
        <p:txBody>
          <a:bodyPr wrap="square" lIns="0" tIns="0" rIns="0" bIns="0" rtlCol="0" anchor="t"/>
          <a:lstStyle/>
          <a:p>
            <a:pPr algn="l" indent="0" marL="0">
              <a:spcBef>
                <a:spcPts val="400"/>
              </a:spcBef>
              <a:buNone/>
            </a:pPr>
            <a:r>
              <a:rPr lang="en-US" sz="900" b="1" dirty="0">
                <a:solidFill>
                  <a:srgbClr val="A8D5BE"/>
                </a:solidFill>
                <a:latin typeface="Arial" pitchFamily="34" charset="0"/>
                <a:ea typeface="Arial" pitchFamily="34" charset="-122"/>
                <a:cs typeface="Arial" pitchFamily="34" charset="-120"/>
              </a:rPr>
              <a:t>12 HDEO SKUs (DEO 3000 – DEO Max, Dieselube) | 5 MCO SKUs (Blaze 4T, Blaze Xtreme)</a:t>
            </a:r>
            <a:endParaRPr lang="en-US" sz="900" dirty="0"/>
          </a:p>
        </p:txBody>
      </p:sp>
      <p:sp>
        <p:nvSpPr>
          <p:cNvPr id="5" name="Text 3"/>
          <p:cNvSpPr/>
          <p:nvPr/>
        </p:nvSpPr>
        <p:spPr>
          <a:xfrm>
            <a:off x="304800" y="907852"/>
            <a:ext cx="4248861" cy="114300"/>
          </a:xfrm>
          <a:prstGeom prst="rect">
            <a:avLst/>
          </a:prstGeom>
          <a:noFill/>
          <a:ln/>
        </p:spPr>
        <p:txBody>
          <a:bodyPr wrap="square" lIns="0" tIns="0" rIns="0" bIns="0" rtlCol="0" anchor="t"/>
          <a:lstStyle/>
          <a:p>
            <a:pPr algn="l" indent="0" marL="0">
              <a:spcAft>
                <a:spcPts val="600"/>
              </a:spcAft>
              <a:buNone/>
            </a:pPr>
            <a:r>
              <a:rPr lang="en-US" sz="800" b="1" dirty="0">
                <a:solidFill>
                  <a:srgbClr val="C8960C"/>
                </a:solidFill>
                <a:latin typeface="Arial" pitchFamily="34" charset="0"/>
                <a:ea typeface="Arial" pitchFamily="34" charset="-122"/>
                <a:cs typeface="Arial" pitchFamily="34" charset="-120"/>
              </a:rPr>
              <a:t>DIESEL ENGINE OIL (HDEO)</a:t>
            </a:r>
            <a:endParaRPr lang="en-US" sz="800" dirty="0"/>
          </a:p>
        </p:txBody>
      </p:sp>
      <p:sp>
        <p:nvSpPr>
          <p:cNvPr id="6" name="Text 4"/>
          <p:cNvSpPr/>
          <p:nvPr/>
        </p:nvSpPr>
        <p:spPr>
          <a:xfrm>
            <a:off x="4673501" y="907852"/>
            <a:ext cx="4249013" cy="114300"/>
          </a:xfrm>
          <a:prstGeom prst="rect">
            <a:avLst/>
          </a:prstGeom>
          <a:noFill/>
          <a:ln/>
        </p:spPr>
        <p:txBody>
          <a:bodyPr wrap="square" lIns="0" tIns="0" rIns="0" bIns="0" rtlCol="0" anchor="t"/>
          <a:lstStyle/>
          <a:p>
            <a:pPr algn="l" indent="0" marL="0">
              <a:spcAft>
                <a:spcPts val="600"/>
              </a:spcAft>
              <a:buNone/>
            </a:pPr>
            <a:r>
              <a:rPr lang="en-US" sz="800" b="1" dirty="0">
                <a:solidFill>
                  <a:srgbClr val="C8960C"/>
                </a:solidFill>
                <a:latin typeface="Arial" pitchFamily="34" charset="0"/>
                <a:ea typeface="Arial" pitchFamily="34" charset="-122"/>
                <a:cs typeface="Arial" pitchFamily="34" charset="-120"/>
              </a:rPr>
              <a:t>MOTORCYCLE OIL (MCO)</a:t>
            </a:r>
            <a:endParaRPr lang="en-US" sz="800" dirty="0"/>
          </a:p>
        </p:txBody>
      </p:sp>
      <p:graphicFrame>
        <p:nvGraphicFramePr>
          <p:cNvPr id="16" name="Table 0"/>
          <p:cNvGraphicFramePr>
            <a:graphicFrameLocks noGrp="1"/>
          </p:cNvGraphicFramePr>
          <p:nvPr>
            <p:extLst>
              <p:ext uri="{D42A27DB-BD31-4B8C-83A1-F6EECF244321}">
                <p14:modId xmlns:p14="http://schemas.microsoft.com/office/powerpoint/2010/main" val="1579011935"/>
              </p:ext>
            </p:extLst>
          </p:nvPr>
        </p:nvGraphicFramePr>
        <p:xfrm>
          <a:off x="304800" y="1098352"/>
          <a:ext cx="4165550" cy="3867448"/>
        </p:xfrm>
        <a:graphic>
          <a:graphicData uri="http://schemas.openxmlformats.org/drawingml/2006/table">
            <a:tbl>
              <a:tblPr/>
              <a:tblGrid>
                <a:gridCol w="1005840"/>
                <a:gridCol w="731520"/>
                <a:gridCol w="457200"/>
                <a:gridCol w="822960"/>
                <a:gridCol w="822960"/>
                <a:gridCol w="640080"/>
                <a:gridCol w="1097280"/>
              </a:tblGrid>
              <a:tr h="297496">
                <a:tc>
                  <a:txBody>
                    <a:bodyPr/>
                    <a:lstStyle/>
                    <a:p>
                      <a:pPr algn="ctr" indent="0" marL="0">
                        <a:buNone/>
                      </a:pPr>
                      <a:r>
                        <a:rPr lang="en-US" sz="900" b="1" dirty="0">
                          <a:solidFill>
                            <a:srgbClr val="FFFFFF"/>
                          </a:solidFill>
                        </a:rPr>
                        <a:t>Brand</a:t>
                      </a:r>
                      <a:endParaRPr lang="en-US" sz="900" dirty="0"/>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023520"/>
                    </a:solidFill>
                  </a:tcPr>
                </a:tc>
                <a:tc>
                  <a:txBody>
                    <a:bodyPr/>
                    <a:lstStyle/>
                    <a:p>
                      <a:pPr algn="ctr" indent="0" marL="0">
                        <a:buNone/>
                      </a:pPr>
                      <a:r>
                        <a:rPr lang="en-US" sz="900" b="1" dirty="0">
                          <a:solidFill>
                            <a:srgbClr val="FFFFFF"/>
                          </a:solidFill>
                        </a:rPr>
                        <a:t>Grade</a:t>
                      </a:r>
                      <a:endParaRPr lang="en-US" sz="900" dirty="0"/>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023520"/>
                    </a:solidFill>
                  </a:tcPr>
                </a:tc>
                <a:tc>
                  <a:txBody>
                    <a:bodyPr/>
                    <a:lstStyle/>
                    <a:p>
                      <a:pPr algn="ctr" indent="0" marL="0">
                        <a:buNone/>
                      </a:pPr>
                      <a:r>
                        <a:rPr lang="en-US" sz="900" b="1" dirty="0">
                          <a:solidFill>
                            <a:srgbClr val="FFFFFF"/>
                          </a:solidFill>
                        </a:rPr>
                        <a:t>Pack</a:t>
                      </a:r>
                      <a:endParaRPr lang="en-US" sz="900" dirty="0"/>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023520"/>
                    </a:solidFill>
                  </a:tcPr>
                </a:tc>
                <a:tc>
                  <a:txBody>
                    <a:bodyPr/>
                    <a:lstStyle/>
                    <a:p>
                      <a:pPr algn="ctr" indent="0" marL="0">
                        <a:buNone/>
                      </a:pPr>
                      <a:r>
                        <a:rPr lang="en-US" sz="900" b="1" dirty="0">
                          <a:solidFill>
                            <a:srgbClr val="FFFFFF"/>
                          </a:solidFill>
                        </a:rPr>
                        <a:t>Rec/L</a:t>
                      </a:r>
                      <a:endParaRPr lang="en-US" sz="900" dirty="0"/>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023520"/>
                    </a:solidFill>
                  </a:tcPr>
                </a:tc>
                <a:tc>
                  <a:txBody>
                    <a:bodyPr/>
                    <a:lstStyle/>
                    <a:p>
                      <a:pPr algn="ctr" indent="0" marL="0">
                        <a:buNone/>
                      </a:pPr>
                      <a:r>
                        <a:rPr lang="en-US" sz="900" b="1" dirty="0">
                          <a:solidFill>
                            <a:srgbClr val="FFFFFF"/>
                          </a:solidFill>
                        </a:rPr>
                        <a:t>Rec PKR</a:t>
                      </a:r>
                      <a:endParaRPr lang="en-US" sz="900" dirty="0"/>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023520"/>
                    </a:solidFill>
                  </a:tcPr>
                </a:tc>
                <a:tc>
                  <a:txBody>
                    <a:bodyPr/>
                    <a:lstStyle/>
                    <a:p>
                      <a:pPr algn="ctr" indent="0" marL="0">
                        <a:buNone/>
                      </a:pPr>
                      <a:r>
                        <a:rPr lang="en-US" sz="900" b="1" dirty="0">
                          <a:solidFill>
                            <a:srgbClr val="FFFFFF"/>
                          </a:solidFill>
                        </a:rPr>
                        <a:t>vs Mkt</a:t>
                      </a:r>
                      <a:endParaRPr lang="en-US" sz="900" dirty="0"/>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023520"/>
                    </a:solidFill>
                  </a:tcPr>
                </a:tc>
                <a:tc>
                  <a:txBody>
                    <a:bodyPr/>
                    <a:lstStyle/>
                    <a:p>
                      <a:pPr algn="ctr" indent="0" marL="0">
                        <a:buNone/>
                      </a:pPr>
                      <a:r>
                        <a:rPr lang="en-US" sz="900" b="1" dirty="0">
                          <a:solidFill>
                            <a:srgbClr val="FFFFFF"/>
                          </a:solidFill>
                        </a:rPr>
                        <a:t>Signal</a:t>
                      </a:r>
                      <a:endParaRPr lang="en-US" sz="900" dirty="0"/>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023520"/>
                    </a:solidFill>
                  </a:tcPr>
                </a:tc>
              </a:tr>
              <a:tr h="297496">
                <a:tc>
                  <a:txBody>
                    <a:bodyPr/>
                    <a:lstStyle/>
                    <a:p>
                      <a:pPr algn="ctr" indent="0" marL="0">
                        <a:buNone/>
                      </a:pPr>
                      <a:r>
                        <a:rPr lang="en-US" sz="800" dirty="0">
                          <a:solidFill>
                            <a:srgbClr val="000000"/>
                          </a:solidFill>
                        </a:rPr>
                        <a:t>DEO 3000</a:t>
                      </a:r>
                      <a:endParaRPr lang="en-US" sz="800" dirty="0"/>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8E6"/>
                    </a:solidFill>
                  </a:tcPr>
                </a:tc>
                <a:tc>
                  <a:txBody>
                    <a:bodyPr/>
                    <a:lstStyle/>
                    <a:p>
                      <a:pPr algn="ctr" indent="0" marL="0">
                        <a:buNone/>
                      </a:pPr>
                      <a:r>
                        <a:rPr lang="en-US" sz="800" dirty="0">
                          <a:solidFill>
                            <a:srgbClr val="000000"/>
                          </a:solidFill>
                        </a:rPr>
                        <a:t>15W-40</a:t>
                      </a:r>
                      <a:endParaRPr lang="en-US" sz="800" dirty="0"/>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8E6"/>
                    </a:solidFill>
                  </a:tcPr>
                </a:tc>
                <a:tc>
                  <a:txBody>
                    <a:bodyPr/>
                    <a:lstStyle/>
                    <a:p>
                      <a:pPr algn="ctr" indent="0" marL="0">
                        <a:buNone/>
                      </a:pPr>
                      <a:r>
                        <a:rPr lang="en-US" sz="800" dirty="0">
                          <a:solidFill>
                            <a:srgbClr val="000000"/>
                          </a:solidFill>
                        </a:rPr>
                        <a:t>4L</a:t>
                      </a:r>
                      <a:endParaRPr lang="en-US" sz="800" dirty="0"/>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8E6"/>
                    </a:solidFill>
                  </a:tcPr>
                </a:tc>
                <a:tc>
                  <a:txBody>
                    <a:bodyPr/>
                    <a:lstStyle/>
                    <a:p>
                      <a:pPr algn="ctr" indent="0" marL="0">
                        <a:buNone/>
                      </a:pPr>
                      <a:r>
                        <a:rPr lang="en-US" sz="800" dirty="0">
                          <a:solidFill>
                            <a:srgbClr val="000000"/>
                          </a:solidFill>
                        </a:rPr>
                        <a:t>Rs 1,542</a:t>
                      </a:r>
                      <a:endParaRPr lang="en-US" sz="800" dirty="0"/>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8E6"/>
                    </a:solidFill>
                  </a:tcPr>
                </a:tc>
                <a:tc>
                  <a:txBody>
                    <a:bodyPr/>
                    <a:lstStyle/>
                    <a:p>
                      <a:pPr algn="ctr" indent="0" marL="0">
                        <a:buNone/>
                      </a:pPr>
                      <a:r>
                        <a:rPr lang="en-US" sz="800" dirty="0">
                          <a:solidFill>
                            <a:srgbClr val="000000"/>
                          </a:solidFill>
                        </a:rPr>
                        <a:t>Rs 6,168</a:t>
                      </a:r>
                      <a:endParaRPr lang="en-US" sz="800" dirty="0"/>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8E6"/>
                    </a:solidFill>
                  </a:tcPr>
                </a:tc>
                <a:tc>
                  <a:txBody>
                    <a:bodyPr/>
                    <a:lstStyle/>
                    <a:p>
                      <a:pPr algn="ctr" indent="0" marL="0">
                        <a:buNone/>
                      </a:pPr>
                      <a:r>
                        <a:rPr lang="en-US" sz="800" dirty="0">
                          <a:solidFill>
                            <a:srgbClr val="000000"/>
                          </a:solidFill>
                        </a:rPr>
                        <a:t>-11.9%</a:t>
                      </a:r>
                      <a:endParaRPr lang="en-US" sz="800" dirty="0"/>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8E6"/>
                    </a:solidFill>
                  </a:tcPr>
                </a:tc>
                <a:tc>
                  <a:txBody>
                    <a:bodyPr/>
                    <a:lstStyle/>
                    <a:p>
                      <a:pPr algn="ctr" indent="0" marL="0">
                        <a:buNone/>
                      </a:pPr>
                      <a:r>
                        <a:rPr lang="en-US" sz="800" b="1" dirty="0">
                          <a:solidFill>
                            <a:srgbClr val="7A5C00"/>
                          </a:solidFill>
                        </a:rPr>
                        <a:t>VALUE POSITION</a:t>
                      </a:r>
                      <a:endParaRPr lang="en-US" sz="800" dirty="0"/>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8E6"/>
                    </a:solidFill>
                  </a:tcPr>
                </a:tc>
              </a:tr>
              <a:tr h="297496">
                <a:tc>
                  <a:txBody>
                    <a:bodyPr/>
                    <a:lstStyle/>
                    <a:p>
                      <a:pPr algn="ctr" indent="0" marL="0">
                        <a:buNone/>
                      </a:pPr>
                      <a:r>
                        <a:rPr lang="en-US" sz="800" dirty="0">
                          <a:solidFill>
                            <a:srgbClr val="000000"/>
                          </a:solidFill>
                        </a:rPr>
                        <a:t>DEO 3000</a:t>
                      </a:r>
                      <a:endParaRPr lang="en-US" sz="800" dirty="0"/>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algn="ctr" indent="0" marL="0">
                        <a:buNone/>
                      </a:pPr>
                      <a:r>
                        <a:rPr lang="en-US" sz="800" dirty="0">
                          <a:solidFill>
                            <a:srgbClr val="000000"/>
                          </a:solidFill>
                        </a:rPr>
                        <a:t>20W-50</a:t>
                      </a:r>
                      <a:endParaRPr lang="en-US" sz="800" dirty="0"/>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algn="ctr" indent="0" marL="0">
                        <a:buNone/>
                      </a:pPr>
                      <a:r>
                        <a:rPr lang="en-US" sz="800" dirty="0">
                          <a:solidFill>
                            <a:srgbClr val="000000"/>
                          </a:solidFill>
                        </a:rPr>
                        <a:t>4L</a:t>
                      </a:r>
                      <a:endParaRPr lang="en-US" sz="800" dirty="0"/>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algn="ctr" indent="0" marL="0">
                        <a:buNone/>
                      </a:pPr>
                      <a:r>
                        <a:rPr lang="en-US" sz="800" dirty="0">
                          <a:solidFill>
                            <a:srgbClr val="000000"/>
                          </a:solidFill>
                        </a:rPr>
                        <a:t>Rs 945</a:t>
                      </a:r>
                      <a:endParaRPr lang="en-US" sz="800" dirty="0"/>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algn="ctr" indent="0" marL="0">
                        <a:buNone/>
                      </a:pPr>
                      <a:r>
                        <a:rPr lang="en-US" sz="800" dirty="0">
                          <a:solidFill>
                            <a:srgbClr val="000000"/>
                          </a:solidFill>
                        </a:rPr>
                        <a:t>Rs 3,780</a:t>
                      </a:r>
                      <a:endParaRPr lang="en-US" sz="800" dirty="0"/>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algn="ctr" indent="0" marL="0">
                        <a:buNone/>
                      </a:pPr>
                      <a:r>
                        <a:rPr lang="en-US" sz="800" dirty="0">
                          <a:solidFill>
                            <a:srgbClr val="000000"/>
                          </a:solidFill>
                        </a:rPr>
                        <a:t>-7.8%</a:t>
                      </a:r>
                      <a:endParaRPr lang="en-US" sz="800" dirty="0"/>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algn="ctr" indent="0" marL="0">
                        <a:buNone/>
                      </a:pPr>
                      <a:r>
                        <a:rPr lang="en-US" sz="800" b="1" dirty="0">
                          <a:solidFill>
                            <a:srgbClr val="444444"/>
                          </a:solidFill>
                        </a:rPr>
                        <a:t>AT MARKET</a:t>
                      </a:r>
                      <a:endParaRPr lang="en-US" sz="800" dirty="0"/>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r>
              <a:tr h="297496">
                <a:tc>
                  <a:txBody>
                    <a:bodyPr/>
                    <a:lstStyle/>
                    <a:p>
                      <a:pPr algn="ctr" indent="0" marL="0">
                        <a:buNone/>
                      </a:pPr>
                      <a:r>
                        <a:rPr lang="en-US" sz="800" dirty="0">
                          <a:solidFill>
                            <a:srgbClr val="000000"/>
                          </a:solidFill>
                        </a:rPr>
                        <a:t>DEO 6000</a:t>
                      </a:r>
                      <a:endParaRPr lang="en-US" sz="800" dirty="0"/>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algn="ctr" indent="0" marL="0">
                        <a:buNone/>
                      </a:pPr>
                      <a:r>
                        <a:rPr lang="en-US" sz="800" dirty="0">
                          <a:solidFill>
                            <a:srgbClr val="000000"/>
                          </a:solidFill>
                        </a:rPr>
                        <a:t>15W-40</a:t>
                      </a:r>
                      <a:endParaRPr lang="en-US" sz="800" dirty="0"/>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algn="ctr" indent="0" marL="0">
                        <a:buNone/>
                      </a:pPr>
                      <a:r>
                        <a:rPr lang="en-US" sz="800" dirty="0">
                          <a:solidFill>
                            <a:srgbClr val="000000"/>
                          </a:solidFill>
                        </a:rPr>
                        <a:t>1L</a:t>
                      </a:r>
                      <a:endParaRPr lang="en-US" sz="800" dirty="0"/>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algn="ctr" indent="0" marL="0">
                        <a:buNone/>
                      </a:pPr>
                      <a:r>
                        <a:rPr lang="en-US" sz="800" dirty="0">
                          <a:solidFill>
                            <a:srgbClr val="000000"/>
                          </a:solidFill>
                        </a:rPr>
                        <a:t>Rs 1,784</a:t>
                      </a:r>
                      <a:endParaRPr lang="en-US" sz="800" dirty="0"/>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algn="ctr" indent="0" marL="0">
                        <a:buNone/>
                      </a:pPr>
                      <a:r>
                        <a:rPr lang="en-US" sz="800" dirty="0">
                          <a:solidFill>
                            <a:srgbClr val="000000"/>
                          </a:solidFill>
                        </a:rPr>
                        <a:t>Rs 1,784</a:t>
                      </a:r>
                      <a:endParaRPr lang="en-US" sz="800" dirty="0"/>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algn="ctr" indent="0" marL="0">
                        <a:buNone/>
                      </a:pPr>
                      <a:r>
                        <a:rPr lang="en-US" sz="800" dirty="0">
                          <a:solidFill>
                            <a:srgbClr val="000000"/>
                          </a:solidFill>
                        </a:rPr>
                        <a:t>+1.9%</a:t>
                      </a:r>
                      <a:endParaRPr lang="en-US" sz="800" dirty="0"/>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algn="ctr" indent="0" marL="0">
                        <a:buNone/>
                      </a:pPr>
                      <a:r>
                        <a:rPr lang="en-US" sz="800" b="1" dirty="0">
                          <a:solidFill>
                            <a:srgbClr val="444444"/>
                          </a:solidFill>
                        </a:rPr>
                        <a:t>AT MARKET</a:t>
                      </a:r>
                      <a:endParaRPr lang="en-US" sz="800" dirty="0"/>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r>
              <a:tr h="297496">
                <a:tc>
                  <a:txBody>
                    <a:bodyPr/>
                    <a:lstStyle/>
                    <a:p>
                      <a:pPr algn="ctr" indent="0" marL="0">
                        <a:buNone/>
                      </a:pPr>
                      <a:r>
                        <a:rPr lang="en-US" sz="800" dirty="0">
                          <a:solidFill>
                            <a:srgbClr val="000000"/>
                          </a:solidFill>
                        </a:rPr>
                        <a:t>DEO 6000</a:t>
                      </a:r>
                      <a:endParaRPr lang="en-US" sz="800" dirty="0"/>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algn="ctr" indent="0" marL="0">
                        <a:buNone/>
                      </a:pPr>
                      <a:r>
                        <a:rPr lang="en-US" sz="800" dirty="0">
                          <a:solidFill>
                            <a:srgbClr val="000000"/>
                          </a:solidFill>
                        </a:rPr>
                        <a:t>15W-40</a:t>
                      </a:r>
                      <a:endParaRPr lang="en-US" sz="800" dirty="0"/>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algn="ctr" indent="0" marL="0">
                        <a:buNone/>
                      </a:pPr>
                      <a:r>
                        <a:rPr lang="en-US" sz="800" dirty="0">
                          <a:solidFill>
                            <a:srgbClr val="000000"/>
                          </a:solidFill>
                        </a:rPr>
                        <a:t>4L</a:t>
                      </a:r>
                      <a:endParaRPr lang="en-US" sz="800" dirty="0"/>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algn="ctr" indent="0" marL="0">
                        <a:buNone/>
                      </a:pPr>
                      <a:r>
                        <a:rPr lang="en-US" sz="800" dirty="0">
                          <a:solidFill>
                            <a:srgbClr val="000000"/>
                          </a:solidFill>
                        </a:rPr>
                        <a:t>Rs 1,577</a:t>
                      </a:r>
                      <a:endParaRPr lang="en-US" sz="800" dirty="0"/>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algn="ctr" indent="0" marL="0">
                        <a:buNone/>
                      </a:pPr>
                      <a:r>
                        <a:rPr lang="en-US" sz="800" dirty="0">
                          <a:solidFill>
                            <a:srgbClr val="000000"/>
                          </a:solidFill>
                        </a:rPr>
                        <a:t>Rs 6,308</a:t>
                      </a:r>
                      <a:endParaRPr lang="en-US" sz="800" dirty="0"/>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algn="ctr" indent="0" marL="0">
                        <a:buNone/>
                      </a:pPr>
                      <a:r>
                        <a:rPr lang="en-US" sz="800" dirty="0">
                          <a:solidFill>
                            <a:srgbClr val="000000"/>
                          </a:solidFill>
                        </a:rPr>
                        <a:t>-9.9%</a:t>
                      </a:r>
                      <a:endParaRPr lang="en-US" sz="800" dirty="0"/>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algn="ctr" indent="0" marL="0">
                        <a:buNone/>
                      </a:pPr>
                      <a:r>
                        <a:rPr lang="en-US" sz="800" b="1" dirty="0">
                          <a:solidFill>
                            <a:srgbClr val="444444"/>
                          </a:solidFill>
                        </a:rPr>
                        <a:t>AT MARKET</a:t>
                      </a:r>
                      <a:endParaRPr lang="en-US" sz="800" dirty="0"/>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r>
              <a:tr h="297496">
                <a:tc>
                  <a:txBody>
                    <a:bodyPr/>
                    <a:lstStyle/>
                    <a:p>
                      <a:pPr algn="ctr" indent="0" marL="0">
                        <a:buNone/>
                      </a:pPr>
                      <a:r>
                        <a:rPr lang="en-US" sz="800" dirty="0">
                          <a:solidFill>
                            <a:srgbClr val="000000"/>
                          </a:solidFill>
                        </a:rPr>
                        <a:t>DEO 8000</a:t>
                      </a:r>
                      <a:endParaRPr lang="en-US" sz="800" dirty="0"/>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8E6"/>
                    </a:solidFill>
                  </a:tcPr>
                </a:tc>
                <a:tc>
                  <a:txBody>
                    <a:bodyPr/>
                    <a:lstStyle/>
                    <a:p>
                      <a:pPr algn="ctr" indent="0" marL="0">
                        <a:buNone/>
                      </a:pPr>
                      <a:r>
                        <a:rPr lang="en-US" sz="800" dirty="0">
                          <a:solidFill>
                            <a:srgbClr val="000000"/>
                          </a:solidFill>
                        </a:rPr>
                        <a:t>10W-40</a:t>
                      </a:r>
                      <a:endParaRPr lang="en-US" sz="800" dirty="0"/>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8E6"/>
                    </a:solidFill>
                  </a:tcPr>
                </a:tc>
                <a:tc>
                  <a:txBody>
                    <a:bodyPr/>
                    <a:lstStyle/>
                    <a:p>
                      <a:pPr algn="ctr" indent="0" marL="0">
                        <a:buNone/>
                      </a:pPr>
                      <a:r>
                        <a:rPr lang="en-US" sz="800" dirty="0">
                          <a:solidFill>
                            <a:srgbClr val="000000"/>
                          </a:solidFill>
                        </a:rPr>
                        <a:t>1L</a:t>
                      </a:r>
                      <a:endParaRPr lang="en-US" sz="800" dirty="0"/>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8E6"/>
                    </a:solidFill>
                  </a:tcPr>
                </a:tc>
                <a:tc>
                  <a:txBody>
                    <a:bodyPr/>
                    <a:lstStyle/>
                    <a:p>
                      <a:pPr algn="ctr" indent="0" marL="0">
                        <a:buNone/>
                      </a:pPr>
                      <a:r>
                        <a:rPr lang="en-US" sz="800" dirty="0">
                          <a:solidFill>
                            <a:srgbClr val="000000"/>
                          </a:solidFill>
                        </a:rPr>
                        <a:t>Rs 1,734</a:t>
                      </a:r>
                      <a:endParaRPr lang="en-US" sz="800" dirty="0"/>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8E6"/>
                    </a:solidFill>
                  </a:tcPr>
                </a:tc>
                <a:tc>
                  <a:txBody>
                    <a:bodyPr/>
                    <a:lstStyle/>
                    <a:p>
                      <a:pPr algn="ctr" indent="0" marL="0">
                        <a:buNone/>
                      </a:pPr>
                      <a:r>
                        <a:rPr lang="en-US" sz="800" dirty="0">
                          <a:solidFill>
                            <a:srgbClr val="000000"/>
                          </a:solidFill>
                        </a:rPr>
                        <a:t>Rs 1,734</a:t>
                      </a:r>
                      <a:endParaRPr lang="en-US" sz="800" dirty="0"/>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8E6"/>
                    </a:solidFill>
                  </a:tcPr>
                </a:tc>
                <a:tc>
                  <a:txBody>
                    <a:bodyPr/>
                    <a:lstStyle/>
                    <a:p>
                      <a:pPr algn="ctr" indent="0" marL="0">
                        <a:buNone/>
                      </a:pPr>
                      <a:r>
                        <a:rPr lang="en-US" sz="800" dirty="0">
                          <a:solidFill>
                            <a:srgbClr val="000000"/>
                          </a:solidFill>
                        </a:rPr>
                        <a:t>-24.6%</a:t>
                      </a:r>
                      <a:endParaRPr lang="en-US" sz="800" dirty="0"/>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8E6"/>
                    </a:solidFill>
                  </a:tcPr>
                </a:tc>
                <a:tc>
                  <a:txBody>
                    <a:bodyPr/>
                    <a:lstStyle/>
                    <a:p>
                      <a:pPr algn="ctr" indent="0" marL="0">
                        <a:buNone/>
                      </a:pPr>
                      <a:r>
                        <a:rPr lang="en-US" sz="800" b="1" dirty="0">
                          <a:solidFill>
                            <a:srgbClr val="7A5C00"/>
                          </a:solidFill>
                        </a:rPr>
                        <a:t>VALUE POSITION</a:t>
                      </a:r>
                      <a:endParaRPr lang="en-US" sz="800" dirty="0"/>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8E6"/>
                    </a:solidFill>
                  </a:tcPr>
                </a:tc>
              </a:tr>
              <a:tr h="297496">
                <a:tc>
                  <a:txBody>
                    <a:bodyPr/>
                    <a:lstStyle/>
                    <a:p>
                      <a:pPr algn="ctr" indent="0" marL="0">
                        <a:buNone/>
                      </a:pPr>
                      <a:r>
                        <a:rPr lang="en-US" sz="800" dirty="0">
                          <a:solidFill>
                            <a:srgbClr val="000000"/>
                          </a:solidFill>
                        </a:rPr>
                        <a:t>DEO 8000</a:t>
                      </a:r>
                      <a:endParaRPr lang="en-US" sz="800" dirty="0"/>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algn="ctr" indent="0" marL="0">
                        <a:buNone/>
                      </a:pPr>
                      <a:r>
                        <a:rPr lang="en-US" sz="800" dirty="0">
                          <a:solidFill>
                            <a:srgbClr val="000000"/>
                          </a:solidFill>
                        </a:rPr>
                        <a:t>15W-40</a:t>
                      </a:r>
                      <a:endParaRPr lang="en-US" sz="800" dirty="0"/>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algn="ctr" indent="0" marL="0">
                        <a:buNone/>
                      </a:pPr>
                      <a:r>
                        <a:rPr lang="en-US" sz="800" dirty="0">
                          <a:solidFill>
                            <a:srgbClr val="000000"/>
                          </a:solidFill>
                        </a:rPr>
                        <a:t>1L</a:t>
                      </a:r>
                      <a:endParaRPr lang="en-US" sz="800" dirty="0"/>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algn="ctr" indent="0" marL="0">
                        <a:buNone/>
                      </a:pPr>
                      <a:r>
                        <a:rPr lang="en-US" sz="800" dirty="0">
                          <a:solidFill>
                            <a:srgbClr val="000000"/>
                          </a:solidFill>
                        </a:rPr>
                        <a:t>Rs 1,822</a:t>
                      </a:r>
                      <a:endParaRPr lang="en-US" sz="800" dirty="0"/>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algn="ctr" indent="0" marL="0">
                        <a:buNone/>
                      </a:pPr>
                      <a:r>
                        <a:rPr lang="en-US" sz="800" dirty="0">
                          <a:solidFill>
                            <a:srgbClr val="000000"/>
                          </a:solidFill>
                        </a:rPr>
                        <a:t>Rs 1,822</a:t>
                      </a:r>
                      <a:endParaRPr lang="en-US" sz="800" dirty="0"/>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algn="ctr" indent="0" marL="0">
                        <a:buNone/>
                      </a:pPr>
                      <a:r>
                        <a:rPr lang="en-US" sz="800" dirty="0">
                          <a:solidFill>
                            <a:srgbClr val="000000"/>
                          </a:solidFill>
                        </a:rPr>
                        <a:t>+4.1%</a:t>
                      </a:r>
                      <a:endParaRPr lang="en-US" sz="800" dirty="0"/>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algn="ctr" indent="0" marL="0">
                        <a:buNone/>
                      </a:pPr>
                      <a:r>
                        <a:rPr lang="en-US" sz="800" b="1" dirty="0">
                          <a:solidFill>
                            <a:srgbClr val="444444"/>
                          </a:solidFill>
                        </a:rPr>
                        <a:t>AT MARKET</a:t>
                      </a:r>
                      <a:endParaRPr lang="en-US" sz="800" dirty="0"/>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r>
              <a:tr h="297496">
                <a:tc>
                  <a:txBody>
                    <a:bodyPr/>
                    <a:lstStyle/>
                    <a:p>
                      <a:pPr algn="ctr" indent="0" marL="0">
                        <a:buNone/>
                      </a:pPr>
                      <a:r>
                        <a:rPr lang="en-US" sz="800" dirty="0">
                          <a:solidFill>
                            <a:srgbClr val="000000"/>
                          </a:solidFill>
                        </a:rPr>
                        <a:t>DEO 8000</a:t>
                      </a:r>
                      <a:endParaRPr lang="en-US" sz="800" dirty="0"/>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E8F0E4"/>
                    </a:solidFill>
                  </a:tcPr>
                </a:tc>
                <a:tc>
                  <a:txBody>
                    <a:bodyPr/>
                    <a:lstStyle/>
                    <a:p>
                      <a:pPr algn="ctr" indent="0" marL="0">
                        <a:buNone/>
                      </a:pPr>
                      <a:r>
                        <a:rPr lang="en-US" sz="800" dirty="0">
                          <a:solidFill>
                            <a:srgbClr val="000000"/>
                          </a:solidFill>
                        </a:rPr>
                        <a:t>10W-40</a:t>
                      </a:r>
                      <a:endParaRPr lang="en-US" sz="800" dirty="0"/>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E8F0E4"/>
                    </a:solidFill>
                  </a:tcPr>
                </a:tc>
                <a:tc>
                  <a:txBody>
                    <a:bodyPr/>
                    <a:lstStyle/>
                    <a:p>
                      <a:pPr algn="ctr" indent="0" marL="0">
                        <a:buNone/>
                      </a:pPr>
                      <a:r>
                        <a:rPr lang="en-US" sz="800" dirty="0">
                          <a:solidFill>
                            <a:srgbClr val="000000"/>
                          </a:solidFill>
                        </a:rPr>
                        <a:t>4L</a:t>
                      </a:r>
                      <a:endParaRPr lang="en-US" sz="800" dirty="0"/>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E8F0E4"/>
                    </a:solidFill>
                  </a:tcPr>
                </a:tc>
                <a:tc>
                  <a:txBody>
                    <a:bodyPr/>
                    <a:lstStyle/>
                    <a:p>
                      <a:pPr algn="ctr" indent="0" marL="0">
                        <a:buNone/>
                      </a:pPr>
                      <a:r>
                        <a:rPr lang="en-US" sz="800" dirty="0">
                          <a:solidFill>
                            <a:srgbClr val="000000"/>
                          </a:solidFill>
                        </a:rPr>
                        <a:t>Rs 1,352</a:t>
                      </a:r>
                      <a:endParaRPr lang="en-US" sz="800" dirty="0"/>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E8F0E4"/>
                    </a:solidFill>
                  </a:tcPr>
                </a:tc>
                <a:tc>
                  <a:txBody>
                    <a:bodyPr/>
                    <a:lstStyle/>
                    <a:p>
                      <a:pPr algn="ctr" indent="0" marL="0">
                        <a:buNone/>
                      </a:pPr>
                      <a:r>
                        <a:rPr lang="en-US" sz="800" dirty="0">
                          <a:solidFill>
                            <a:srgbClr val="000000"/>
                          </a:solidFill>
                        </a:rPr>
                        <a:t>Rs 5,408</a:t>
                      </a:r>
                      <a:endParaRPr lang="en-US" sz="800" dirty="0"/>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E8F0E4"/>
                    </a:solidFill>
                  </a:tcPr>
                </a:tc>
                <a:tc>
                  <a:txBody>
                    <a:bodyPr/>
                    <a:lstStyle/>
                    <a:p>
                      <a:pPr algn="ctr" indent="0" marL="0">
                        <a:buNone/>
                      </a:pPr>
                      <a:r>
                        <a:rPr lang="en-US" sz="800" dirty="0">
                          <a:solidFill>
                            <a:srgbClr val="000000"/>
                          </a:solidFill>
                        </a:rPr>
                        <a:t>+31.9%</a:t>
                      </a:r>
                      <a:endParaRPr lang="en-US" sz="800" dirty="0"/>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E8F0E4"/>
                    </a:solidFill>
                  </a:tcPr>
                </a:tc>
                <a:tc>
                  <a:txBody>
                    <a:bodyPr/>
                    <a:lstStyle/>
                    <a:p>
                      <a:pPr algn="ctr" indent="0" marL="0">
                        <a:buNone/>
                      </a:pPr>
                      <a:r>
                        <a:rPr lang="en-US" sz="800" b="1" dirty="0">
                          <a:solidFill>
                            <a:srgbClr val="023520"/>
                          </a:solidFill>
                        </a:rPr>
                        <a:t>PREMIUM</a:t>
                      </a:r>
                      <a:endParaRPr lang="en-US" sz="800" dirty="0"/>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E8F0E4"/>
                    </a:solidFill>
                  </a:tcPr>
                </a:tc>
              </a:tr>
              <a:tr h="297496">
                <a:tc>
                  <a:txBody>
                    <a:bodyPr/>
                    <a:lstStyle/>
                    <a:p>
                      <a:pPr algn="ctr" indent="0" marL="0">
                        <a:buNone/>
                      </a:pPr>
                      <a:r>
                        <a:rPr lang="en-US" sz="800" dirty="0">
                          <a:solidFill>
                            <a:srgbClr val="000000"/>
                          </a:solidFill>
                        </a:rPr>
                        <a:t>DEO 8000</a:t>
                      </a:r>
                      <a:endParaRPr lang="en-US" sz="800" dirty="0"/>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algn="ctr" indent="0" marL="0">
                        <a:buNone/>
                      </a:pPr>
                      <a:r>
                        <a:rPr lang="en-US" sz="800" dirty="0">
                          <a:solidFill>
                            <a:srgbClr val="000000"/>
                          </a:solidFill>
                        </a:rPr>
                        <a:t>15W-40</a:t>
                      </a:r>
                      <a:endParaRPr lang="en-US" sz="800" dirty="0"/>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algn="ctr" indent="0" marL="0">
                        <a:buNone/>
                      </a:pPr>
                      <a:r>
                        <a:rPr lang="en-US" sz="800" dirty="0">
                          <a:solidFill>
                            <a:srgbClr val="000000"/>
                          </a:solidFill>
                        </a:rPr>
                        <a:t>4L</a:t>
                      </a:r>
                      <a:endParaRPr lang="en-US" sz="800" dirty="0"/>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algn="ctr" indent="0" marL="0">
                        <a:buNone/>
                      </a:pPr>
                      <a:r>
                        <a:rPr lang="en-US" sz="800" dirty="0">
                          <a:solidFill>
                            <a:srgbClr val="000000"/>
                          </a:solidFill>
                        </a:rPr>
                        <a:t>Rs 1,613</a:t>
                      </a:r>
                      <a:endParaRPr lang="en-US" sz="800" dirty="0"/>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algn="ctr" indent="0" marL="0">
                        <a:buNone/>
                      </a:pPr>
                      <a:r>
                        <a:rPr lang="en-US" sz="800" dirty="0">
                          <a:solidFill>
                            <a:srgbClr val="000000"/>
                          </a:solidFill>
                        </a:rPr>
                        <a:t>Rs 6,452</a:t>
                      </a:r>
                      <a:endParaRPr lang="en-US" sz="800" dirty="0"/>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algn="ctr" indent="0" marL="0">
                        <a:buNone/>
                      </a:pPr>
                      <a:r>
                        <a:rPr lang="en-US" sz="800" dirty="0">
                          <a:solidFill>
                            <a:srgbClr val="000000"/>
                          </a:solidFill>
                        </a:rPr>
                        <a:t>-7.8%</a:t>
                      </a:r>
                      <a:endParaRPr lang="en-US" sz="800" dirty="0"/>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algn="ctr" indent="0" marL="0">
                        <a:buNone/>
                      </a:pPr>
                      <a:r>
                        <a:rPr lang="en-US" sz="800" b="1" dirty="0">
                          <a:solidFill>
                            <a:srgbClr val="444444"/>
                          </a:solidFill>
                        </a:rPr>
                        <a:t>AT MARKET</a:t>
                      </a:r>
                      <a:endParaRPr lang="en-US" sz="800" dirty="0"/>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r>
              <a:tr h="297496">
                <a:tc>
                  <a:txBody>
                    <a:bodyPr/>
                    <a:lstStyle/>
                    <a:p>
                      <a:pPr algn="ctr" indent="0" marL="0">
                        <a:buNone/>
                      </a:pPr>
                      <a:r>
                        <a:rPr lang="en-US" sz="800" dirty="0">
                          <a:solidFill>
                            <a:srgbClr val="000000"/>
                          </a:solidFill>
                        </a:rPr>
                        <a:t>DEO Max</a:t>
                      </a:r>
                      <a:endParaRPr lang="en-US" sz="800" dirty="0"/>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E8F0E4"/>
                    </a:solidFill>
                  </a:tcPr>
                </a:tc>
                <a:tc>
                  <a:txBody>
                    <a:bodyPr/>
                    <a:lstStyle/>
                    <a:p>
                      <a:pPr algn="ctr" indent="0" marL="0">
                        <a:buNone/>
                      </a:pPr>
                      <a:r>
                        <a:rPr lang="en-US" sz="800" dirty="0">
                          <a:solidFill>
                            <a:srgbClr val="000000"/>
                          </a:solidFill>
                        </a:rPr>
                        <a:t>10W-40</a:t>
                      </a:r>
                      <a:endParaRPr lang="en-US" sz="800" dirty="0"/>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E8F0E4"/>
                    </a:solidFill>
                  </a:tcPr>
                </a:tc>
                <a:tc>
                  <a:txBody>
                    <a:bodyPr/>
                    <a:lstStyle/>
                    <a:p>
                      <a:pPr algn="ctr" indent="0" marL="0">
                        <a:buNone/>
                      </a:pPr>
                      <a:r>
                        <a:rPr lang="en-US" sz="800" dirty="0">
                          <a:solidFill>
                            <a:srgbClr val="000000"/>
                          </a:solidFill>
                        </a:rPr>
                        <a:t>4L</a:t>
                      </a:r>
                      <a:endParaRPr lang="en-US" sz="800" dirty="0"/>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E8F0E4"/>
                    </a:solidFill>
                  </a:tcPr>
                </a:tc>
                <a:tc>
                  <a:txBody>
                    <a:bodyPr/>
                    <a:lstStyle/>
                    <a:p>
                      <a:pPr algn="ctr" indent="0" marL="0">
                        <a:buNone/>
                      </a:pPr>
                      <a:r>
                        <a:rPr lang="en-US" sz="800" dirty="0">
                          <a:solidFill>
                            <a:srgbClr val="000000"/>
                          </a:solidFill>
                        </a:rPr>
                        <a:t>Rs 1,352</a:t>
                      </a:r>
                      <a:endParaRPr lang="en-US" sz="800" dirty="0"/>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E8F0E4"/>
                    </a:solidFill>
                  </a:tcPr>
                </a:tc>
                <a:tc>
                  <a:txBody>
                    <a:bodyPr/>
                    <a:lstStyle/>
                    <a:p>
                      <a:pPr algn="ctr" indent="0" marL="0">
                        <a:buNone/>
                      </a:pPr>
                      <a:r>
                        <a:rPr lang="en-US" sz="800" dirty="0">
                          <a:solidFill>
                            <a:srgbClr val="000000"/>
                          </a:solidFill>
                        </a:rPr>
                        <a:t>Rs 5,408</a:t>
                      </a:r>
                      <a:endParaRPr lang="en-US" sz="800" dirty="0"/>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E8F0E4"/>
                    </a:solidFill>
                  </a:tcPr>
                </a:tc>
                <a:tc>
                  <a:txBody>
                    <a:bodyPr/>
                    <a:lstStyle/>
                    <a:p>
                      <a:pPr algn="ctr" indent="0" marL="0">
                        <a:buNone/>
                      </a:pPr>
                      <a:r>
                        <a:rPr lang="en-US" sz="800" dirty="0">
                          <a:solidFill>
                            <a:srgbClr val="000000"/>
                          </a:solidFill>
                        </a:rPr>
                        <a:t>+31.9%</a:t>
                      </a:r>
                      <a:endParaRPr lang="en-US" sz="800" dirty="0"/>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E8F0E4"/>
                    </a:solidFill>
                  </a:tcPr>
                </a:tc>
                <a:tc>
                  <a:txBody>
                    <a:bodyPr/>
                    <a:lstStyle/>
                    <a:p>
                      <a:pPr algn="ctr" indent="0" marL="0">
                        <a:buNone/>
                      </a:pPr>
                      <a:r>
                        <a:rPr lang="en-US" sz="800" b="1" dirty="0">
                          <a:solidFill>
                            <a:srgbClr val="023520"/>
                          </a:solidFill>
                        </a:rPr>
                        <a:t>PREMIUM</a:t>
                      </a:r>
                      <a:endParaRPr lang="en-US" sz="800" dirty="0"/>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E8F0E4"/>
                    </a:solidFill>
                  </a:tcPr>
                </a:tc>
              </a:tr>
              <a:tr h="297496">
                <a:tc>
                  <a:txBody>
                    <a:bodyPr/>
                    <a:lstStyle/>
                    <a:p>
                      <a:pPr algn="ctr" indent="0" marL="0">
                        <a:buNone/>
                      </a:pPr>
                      <a:r>
                        <a:rPr lang="en-US" sz="800" dirty="0">
                          <a:solidFill>
                            <a:srgbClr val="000000"/>
                          </a:solidFill>
                        </a:rPr>
                        <a:t>DEO Max</a:t>
                      </a:r>
                      <a:endParaRPr lang="en-US" sz="800" dirty="0"/>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algn="ctr" indent="0" marL="0">
                        <a:buNone/>
                      </a:pPr>
                      <a:r>
                        <a:rPr lang="en-US" sz="800" dirty="0">
                          <a:solidFill>
                            <a:srgbClr val="000000"/>
                          </a:solidFill>
                        </a:rPr>
                        <a:t>15W-40</a:t>
                      </a:r>
                      <a:endParaRPr lang="en-US" sz="800" dirty="0"/>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algn="ctr" indent="0" marL="0">
                        <a:buNone/>
                      </a:pPr>
                      <a:r>
                        <a:rPr lang="en-US" sz="800" dirty="0">
                          <a:solidFill>
                            <a:srgbClr val="000000"/>
                          </a:solidFill>
                        </a:rPr>
                        <a:t>4L</a:t>
                      </a:r>
                      <a:endParaRPr lang="en-US" sz="800" dirty="0"/>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algn="ctr" indent="0" marL="0">
                        <a:buNone/>
                      </a:pPr>
                      <a:r>
                        <a:rPr lang="en-US" sz="800" dirty="0">
                          <a:solidFill>
                            <a:srgbClr val="000000"/>
                          </a:solidFill>
                        </a:rPr>
                        <a:t>Rs 1,613</a:t>
                      </a:r>
                      <a:endParaRPr lang="en-US" sz="800" dirty="0"/>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algn="ctr" indent="0" marL="0">
                        <a:buNone/>
                      </a:pPr>
                      <a:r>
                        <a:rPr lang="en-US" sz="800" dirty="0">
                          <a:solidFill>
                            <a:srgbClr val="000000"/>
                          </a:solidFill>
                        </a:rPr>
                        <a:t>Rs 6,452</a:t>
                      </a:r>
                      <a:endParaRPr lang="en-US" sz="800" dirty="0"/>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algn="ctr" indent="0" marL="0">
                        <a:buNone/>
                      </a:pPr>
                      <a:r>
                        <a:rPr lang="en-US" sz="800" dirty="0">
                          <a:solidFill>
                            <a:srgbClr val="000000"/>
                          </a:solidFill>
                        </a:rPr>
                        <a:t>-7.8%</a:t>
                      </a:r>
                      <a:endParaRPr lang="en-US" sz="800" dirty="0"/>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algn="ctr" indent="0" marL="0">
                        <a:buNone/>
                      </a:pPr>
                      <a:r>
                        <a:rPr lang="en-US" sz="800" b="1" dirty="0">
                          <a:solidFill>
                            <a:srgbClr val="444444"/>
                          </a:solidFill>
                        </a:rPr>
                        <a:t>AT MARKET</a:t>
                      </a:r>
                      <a:endParaRPr lang="en-US" sz="800" dirty="0"/>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r>
              <a:tr h="297496">
                <a:tc>
                  <a:txBody>
                    <a:bodyPr/>
                    <a:lstStyle/>
                    <a:p>
                      <a:pPr algn="ctr" indent="0" marL="0">
                        <a:buNone/>
                      </a:pPr>
                      <a:r>
                        <a:rPr lang="en-US" sz="800" dirty="0">
                          <a:solidFill>
                            <a:srgbClr val="000000"/>
                          </a:solidFill>
                        </a:rPr>
                        <a:t>Dieselube</a:t>
                      </a:r>
                      <a:endParaRPr lang="en-US" sz="800" dirty="0"/>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8E6"/>
                    </a:solidFill>
                  </a:tcPr>
                </a:tc>
                <a:tc>
                  <a:txBody>
                    <a:bodyPr/>
                    <a:lstStyle/>
                    <a:p>
                      <a:pPr algn="ctr" indent="0" marL="0">
                        <a:buNone/>
                      </a:pPr>
                      <a:r>
                        <a:rPr lang="en-US" sz="800" dirty="0">
                          <a:solidFill>
                            <a:srgbClr val="000000"/>
                          </a:solidFill>
                        </a:rPr>
                        <a:t>15W-40</a:t>
                      </a:r>
                      <a:endParaRPr lang="en-US" sz="800" dirty="0"/>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8E6"/>
                    </a:solidFill>
                  </a:tcPr>
                </a:tc>
                <a:tc>
                  <a:txBody>
                    <a:bodyPr/>
                    <a:lstStyle/>
                    <a:p>
                      <a:pPr algn="ctr" indent="0" marL="0">
                        <a:buNone/>
                      </a:pPr>
                      <a:r>
                        <a:rPr lang="en-US" sz="800" dirty="0">
                          <a:solidFill>
                            <a:srgbClr val="000000"/>
                          </a:solidFill>
                        </a:rPr>
                        <a:t>4L</a:t>
                      </a:r>
                      <a:endParaRPr lang="en-US" sz="800" dirty="0"/>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8E6"/>
                    </a:solidFill>
                  </a:tcPr>
                </a:tc>
                <a:tc>
                  <a:txBody>
                    <a:bodyPr/>
                    <a:lstStyle/>
                    <a:p>
                      <a:pPr algn="ctr" indent="0" marL="0">
                        <a:buNone/>
                      </a:pPr>
                      <a:r>
                        <a:rPr lang="en-US" sz="800" dirty="0">
                          <a:solidFill>
                            <a:srgbClr val="000000"/>
                          </a:solidFill>
                        </a:rPr>
                        <a:t>Rs 1,515</a:t>
                      </a:r>
                      <a:endParaRPr lang="en-US" sz="800" dirty="0"/>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8E6"/>
                    </a:solidFill>
                  </a:tcPr>
                </a:tc>
                <a:tc>
                  <a:txBody>
                    <a:bodyPr/>
                    <a:lstStyle/>
                    <a:p>
                      <a:pPr algn="ctr" indent="0" marL="0">
                        <a:buNone/>
                      </a:pPr>
                      <a:r>
                        <a:rPr lang="en-US" sz="800" dirty="0">
                          <a:solidFill>
                            <a:srgbClr val="000000"/>
                          </a:solidFill>
                        </a:rPr>
                        <a:t>Rs 6,060</a:t>
                      </a:r>
                      <a:endParaRPr lang="en-US" sz="800" dirty="0"/>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8E6"/>
                    </a:solidFill>
                  </a:tcPr>
                </a:tc>
                <a:tc>
                  <a:txBody>
                    <a:bodyPr/>
                    <a:lstStyle/>
                    <a:p>
                      <a:pPr algn="ctr" indent="0" marL="0">
                        <a:buNone/>
                      </a:pPr>
                      <a:r>
                        <a:rPr lang="en-US" sz="800" dirty="0">
                          <a:solidFill>
                            <a:srgbClr val="000000"/>
                          </a:solidFill>
                        </a:rPr>
                        <a:t>-13.4%</a:t>
                      </a:r>
                      <a:endParaRPr lang="en-US" sz="800" dirty="0"/>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8E6"/>
                    </a:solidFill>
                  </a:tcPr>
                </a:tc>
                <a:tc>
                  <a:txBody>
                    <a:bodyPr/>
                    <a:lstStyle/>
                    <a:p>
                      <a:pPr algn="ctr" indent="0" marL="0">
                        <a:buNone/>
                      </a:pPr>
                      <a:r>
                        <a:rPr lang="en-US" sz="800" b="1" dirty="0">
                          <a:solidFill>
                            <a:srgbClr val="7A5C00"/>
                          </a:solidFill>
                        </a:rPr>
                        <a:t>VALUE POSITION</a:t>
                      </a:r>
                      <a:endParaRPr lang="en-US" sz="800" dirty="0"/>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8E6"/>
                    </a:solidFill>
                  </a:tcPr>
                </a:tc>
              </a:tr>
              <a:tr h="297496">
                <a:tc>
                  <a:txBody>
                    <a:bodyPr/>
                    <a:lstStyle/>
                    <a:p>
                      <a:pPr algn="ctr" indent="0" marL="0">
                        <a:buNone/>
                      </a:pPr>
                      <a:r>
                        <a:rPr lang="en-US" sz="800" dirty="0">
                          <a:solidFill>
                            <a:srgbClr val="000000"/>
                          </a:solidFill>
                        </a:rPr>
                        <a:t>Dieselube</a:t>
                      </a:r>
                      <a:endParaRPr lang="en-US" sz="800" dirty="0"/>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algn="ctr" indent="0" marL="0">
                        <a:buNone/>
                      </a:pPr>
                      <a:r>
                        <a:rPr lang="en-US" sz="800" dirty="0">
                          <a:solidFill>
                            <a:srgbClr val="000000"/>
                          </a:solidFill>
                        </a:rPr>
                        <a:t>20W-50</a:t>
                      </a:r>
                      <a:endParaRPr lang="en-US" sz="800" dirty="0"/>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algn="ctr" indent="0" marL="0">
                        <a:buNone/>
                      </a:pPr>
                      <a:r>
                        <a:rPr lang="en-US" sz="800" dirty="0">
                          <a:solidFill>
                            <a:srgbClr val="000000"/>
                          </a:solidFill>
                        </a:rPr>
                        <a:t>4L</a:t>
                      </a:r>
                      <a:endParaRPr lang="en-US" sz="800" dirty="0"/>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algn="ctr" indent="0" marL="0">
                        <a:buNone/>
                      </a:pPr>
                      <a:r>
                        <a:rPr lang="en-US" sz="800" dirty="0">
                          <a:solidFill>
                            <a:srgbClr val="000000"/>
                          </a:solidFill>
                        </a:rPr>
                        <a:t>Rs 925</a:t>
                      </a:r>
                      <a:endParaRPr lang="en-US" sz="800" dirty="0"/>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algn="ctr" indent="0" marL="0">
                        <a:buNone/>
                      </a:pPr>
                      <a:r>
                        <a:rPr lang="en-US" sz="800" dirty="0">
                          <a:solidFill>
                            <a:srgbClr val="000000"/>
                          </a:solidFill>
                        </a:rPr>
                        <a:t>Rs 3,700</a:t>
                      </a:r>
                      <a:endParaRPr lang="en-US" sz="800" dirty="0"/>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algn="ctr" indent="0" marL="0">
                        <a:buNone/>
                      </a:pPr>
                      <a:r>
                        <a:rPr lang="en-US" sz="800" dirty="0">
                          <a:solidFill>
                            <a:srgbClr val="000000"/>
                          </a:solidFill>
                        </a:rPr>
                        <a:t>-9.8%</a:t>
                      </a:r>
                      <a:endParaRPr lang="en-US" sz="800" dirty="0"/>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algn="ctr" indent="0" marL="0">
                        <a:buNone/>
                      </a:pPr>
                      <a:r>
                        <a:rPr lang="en-US" sz="800" b="1" dirty="0">
                          <a:solidFill>
                            <a:srgbClr val="444444"/>
                          </a:solidFill>
                        </a:rPr>
                        <a:t>AT MARKET</a:t>
                      </a:r>
                      <a:endParaRPr lang="en-US" sz="800" dirty="0"/>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r>
            </a:tbl>
          </a:graphicData>
        </a:graphic>
      </p:graphicFrame>
      <p:graphicFrame>
        <p:nvGraphicFramePr>
          <p:cNvPr id="31" name="Table 1"/>
          <p:cNvGraphicFramePr>
            <a:graphicFrameLocks noGrp="1"/>
          </p:cNvGraphicFramePr>
          <p:nvPr>
            <p:extLst>
              <p:ext uri="{D42A27DB-BD31-4B8C-83A1-F6EECF244321}">
                <p14:modId xmlns:p14="http://schemas.microsoft.com/office/powerpoint/2010/main" val="1579011935"/>
              </p:ext>
            </p:extLst>
          </p:nvPr>
        </p:nvGraphicFramePr>
        <p:xfrm>
          <a:off x="4673501" y="1098352"/>
          <a:ext cx="4165699" cy="3867448"/>
        </p:xfrm>
        <a:graphic>
          <a:graphicData uri="http://schemas.openxmlformats.org/drawingml/2006/table">
            <a:tbl>
              <a:tblPr/>
              <a:tblGrid>
                <a:gridCol w="1005840"/>
                <a:gridCol w="731520"/>
                <a:gridCol w="548640"/>
                <a:gridCol w="822960"/>
                <a:gridCol w="822960"/>
                <a:gridCol w="640080"/>
                <a:gridCol w="1097280"/>
              </a:tblGrid>
              <a:tr h="644575">
                <a:tc>
                  <a:txBody>
                    <a:bodyPr/>
                    <a:lstStyle/>
                    <a:p>
                      <a:pPr algn="ctr" indent="0" marL="0">
                        <a:buNone/>
                      </a:pPr>
                      <a:r>
                        <a:rPr lang="en-US" sz="900" b="1" dirty="0">
                          <a:solidFill>
                            <a:srgbClr val="FFFFFF"/>
                          </a:solidFill>
                        </a:rPr>
                        <a:t>Brand</a:t>
                      </a:r>
                      <a:endParaRPr lang="en-US" sz="900" dirty="0"/>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023520"/>
                    </a:solidFill>
                  </a:tcPr>
                </a:tc>
                <a:tc>
                  <a:txBody>
                    <a:bodyPr/>
                    <a:lstStyle/>
                    <a:p>
                      <a:pPr algn="ctr" indent="0" marL="0">
                        <a:buNone/>
                      </a:pPr>
                      <a:r>
                        <a:rPr lang="en-US" sz="900" b="1" dirty="0">
                          <a:solidFill>
                            <a:srgbClr val="FFFFFF"/>
                          </a:solidFill>
                        </a:rPr>
                        <a:t>Grade</a:t>
                      </a:r>
                      <a:endParaRPr lang="en-US" sz="900" dirty="0"/>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023520"/>
                    </a:solidFill>
                  </a:tcPr>
                </a:tc>
                <a:tc>
                  <a:txBody>
                    <a:bodyPr/>
                    <a:lstStyle/>
                    <a:p>
                      <a:pPr algn="ctr" indent="0" marL="0">
                        <a:buNone/>
                      </a:pPr>
                      <a:r>
                        <a:rPr lang="en-US" sz="900" b="1" dirty="0">
                          <a:solidFill>
                            <a:srgbClr val="FFFFFF"/>
                          </a:solidFill>
                        </a:rPr>
                        <a:t>Pack</a:t>
                      </a:r>
                      <a:endParaRPr lang="en-US" sz="900" dirty="0"/>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023520"/>
                    </a:solidFill>
                  </a:tcPr>
                </a:tc>
                <a:tc>
                  <a:txBody>
                    <a:bodyPr/>
                    <a:lstStyle/>
                    <a:p>
                      <a:pPr algn="ctr" indent="0" marL="0">
                        <a:buNone/>
                      </a:pPr>
                      <a:r>
                        <a:rPr lang="en-US" sz="900" b="1" dirty="0">
                          <a:solidFill>
                            <a:srgbClr val="FFFFFF"/>
                          </a:solidFill>
                        </a:rPr>
                        <a:t>Rec/L</a:t>
                      </a:r>
                      <a:endParaRPr lang="en-US" sz="900" dirty="0"/>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023520"/>
                    </a:solidFill>
                  </a:tcPr>
                </a:tc>
                <a:tc>
                  <a:txBody>
                    <a:bodyPr/>
                    <a:lstStyle/>
                    <a:p>
                      <a:pPr algn="ctr" indent="0" marL="0">
                        <a:buNone/>
                      </a:pPr>
                      <a:r>
                        <a:rPr lang="en-US" sz="900" b="1" dirty="0">
                          <a:solidFill>
                            <a:srgbClr val="FFFFFF"/>
                          </a:solidFill>
                        </a:rPr>
                        <a:t>Rec PKR</a:t>
                      </a:r>
                      <a:endParaRPr lang="en-US" sz="900" dirty="0"/>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023520"/>
                    </a:solidFill>
                  </a:tcPr>
                </a:tc>
                <a:tc>
                  <a:txBody>
                    <a:bodyPr/>
                    <a:lstStyle/>
                    <a:p>
                      <a:pPr algn="ctr" indent="0" marL="0">
                        <a:buNone/>
                      </a:pPr>
                      <a:r>
                        <a:rPr lang="en-US" sz="900" b="1" dirty="0">
                          <a:solidFill>
                            <a:srgbClr val="FFFFFF"/>
                          </a:solidFill>
                        </a:rPr>
                        <a:t>vs Mkt</a:t>
                      </a:r>
                      <a:endParaRPr lang="en-US" sz="900" dirty="0"/>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023520"/>
                    </a:solidFill>
                  </a:tcPr>
                </a:tc>
                <a:tc>
                  <a:txBody>
                    <a:bodyPr/>
                    <a:lstStyle/>
                    <a:p>
                      <a:pPr algn="ctr" indent="0" marL="0">
                        <a:buNone/>
                      </a:pPr>
                      <a:r>
                        <a:rPr lang="en-US" sz="900" b="1" dirty="0">
                          <a:solidFill>
                            <a:srgbClr val="FFFFFF"/>
                          </a:solidFill>
                        </a:rPr>
                        <a:t>Signal</a:t>
                      </a:r>
                      <a:endParaRPr lang="en-US" sz="900" dirty="0"/>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023520"/>
                    </a:solidFill>
                  </a:tcPr>
                </a:tc>
              </a:tr>
              <a:tr h="644575">
                <a:tc>
                  <a:txBody>
                    <a:bodyPr/>
                    <a:lstStyle/>
                    <a:p>
                      <a:pPr algn="ctr" indent="0" marL="0">
                        <a:buNone/>
                      </a:pPr>
                      <a:r>
                        <a:rPr lang="en-US" sz="800" dirty="0">
                          <a:solidFill>
                            <a:srgbClr val="000000"/>
                          </a:solidFill>
                        </a:rPr>
                        <a:t>Blaze 4T</a:t>
                      </a:r>
                      <a:endParaRPr lang="en-US" sz="800" dirty="0"/>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8E6"/>
                    </a:solidFill>
                  </a:tcPr>
                </a:tc>
                <a:tc>
                  <a:txBody>
                    <a:bodyPr/>
                    <a:lstStyle/>
                    <a:p>
                      <a:pPr algn="ctr" indent="0" marL="0">
                        <a:buNone/>
                      </a:pPr>
                      <a:r>
                        <a:rPr lang="en-US" sz="800" dirty="0">
                          <a:solidFill>
                            <a:srgbClr val="000000"/>
                          </a:solidFill>
                        </a:rPr>
                        <a:t>10W-40</a:t>
                      </a:r>
                      <a:endParaRPr lang="en-US" sz="800" dirty="0"/>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8E6"/>
                    </a:solidFill>
                  </a:tcPr>
                </a:tc>
                <a:tc>
                  <a:txBody>
                    <a:bodyPr/>
                    <a:lstStyle/>
                    <a:p>
                      <a:pPr algn="ctr" indent="0" marL="0">
                        <a:buNone/>
                      </a:pPr>
                      <a:r>
                        <a:rPr lang="en-US" sz="800" dirty="0">
                          <a:solidFill>
                            <a:srgbClr val="000000"/>
                          </a:solidFill>
                        </a:rPr>
                        <a:t>1.0L</a:t>
                      </a:r>
                      <a:endParaRPr lang="en-US" sz="800" dirty="0"/>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8E6"/>
                    </a:solidFill>
                  </a:tcPr>
                </a:tc>
                <a:tc>
                  <a:txBody>
                    <a:bodyPr/>
                    <a:lstStyle/>
                    <a:p>
                      <a:pPr algn="ctr" indent="0" marL="0">
                        <a:buNone/>
                      </a:pPr>
                      <a:r>
                        <a:rPr lang="en-US" sz="800" dirty="0">
                          <a:solidFill>
                            <a:srgbClr val="000000"/>
                          </a:solidFill>
                        </a:rPr>
                        <a:t>Rs 1,665</a:t>
                      </a:r>
                      <a:endParaRPr lang="en-US" sz="800" dirty="0"/>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8E6"/>
                    </a:solidFill>
                  </a:tcPr>
                </a:tc>
                <a:tc>
                  <a:txBody>
                    <a:bodyPr/>
                    <a:lstStyle/>
                    <a:p>
                      <a:pPr algn="ctr" indent="0" marL="0">
                        <a:buNone/>
                      </a:pPr>
                      <a:r>
                        <a:rPr lang="en-US" sz="800" dirty="0">
                          <a:solidFill>
                            <a:srgbClr val="000000"/>
                          </a:solidFill>
                        </a:rPr>
                        <a:t>Rs 1,665</a:t>
                      </a:r>
                      <a:endParaRPr lang="en-US" sz="800" dirty="0"/>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8E6"/>
                    </a:solidFill>
                  </a:tcPr>
                </a:tc>
                <a:tc>
                  <a:txBody>
                    <a:bodyPr/>
                    <a:lstStyle/>
                    <a:p>
                      <a:pPr algn="ctr" indent="0" marL="0">
                        <a:buNone/>
                      </a:pPr>
                      <a:r>
                        <a:rPr lang="en-US" sz="800" dirty="0">
                          <a:solidFill>
                            <a:srgbClr val="000000"/>
                          </a:solidFill>
                        </a:rPr>
                        <a:t>-27.6%</a:t>
                      </a:r>
                      <a:endParaRPr lang="en-US" sz="800" dirty="0"/>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8E6"/>
                    </a:solidFill>
                  </a:tcPr>
                </a:tc>
                <a:tc>
                  <a:txBody>
                    <a:bodyPr/>
                    <a:lstStyle/>
                    <a:p>
                      <a:pPr algn="ctr" indent="0" marL="0">
                        <a:buNone/>
                      </a:pPr>
                      <a:r>
                        <a:rPr lang="en-US" sz="800" b="1" dirty="0">
                          <a:solidFill>
                            <a:srgbClr val="7A5C00"/>
                          </a:solidFill>
                        </a:rPr>
                        <a:t>VALUE POSITION</a:t>
                      </a:r>
                      <a:endParaRPr lang="en-US" sz="800" dirty="0"/>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8E6"/>
                    </a:solidFill>
                  </a:tcPr>
                </a:tc>
              </a:tr>
              <a:tr h="644575">
                <a:tc>
                  <a:txBody>
                    <a:bodyPr/>
                    <a:lstStyle/>
                    <a:p>
                      <a:pPr algn="ctr" indent="0" marL="0">
                        <a:buNone/>
                      </a:pPr>
                      <a:r>
                        <a:rPr lang="en-US" sz="800" dirty="0">
                          <a:solidFill>
                            <a:srgbClr val="000000"/>
                          </a:solidFill>
                        </a:rPr>
                        <a:t>Blaze 4T</a:t>
                      </a:r>
                      <a:endParaRPr lang="en-US" sz="800" dirty="0"/>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8E6"/>
                    </a:solidFill>
                  </a:tcPr>
                </a:tc>
                <a:tc>
                  <a:txBody>
                    <a:bodyPr/>
                    <a:lstStyle/>
                    <a:p>
                      <a:pPr algn="ctr" indent="0" marL="0">
                        <a:buNone/>
                      </a:pPr>
                      <a:r>
                        <a:rPr lang="en-US" sz="800" dirty="0">
                          <a:solidFill>
                            <a:srgbClr val="000000"/>
                          </a:solidFill>
                        </a:rPr>
                        <a:t>20W-50</a:t>
                      </a:r>
                      <a:endParaRPr lang="en-US" sz="800" dirty="0"/>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8E6"/>
                    </a:solidFill>
                  </a:tcPr>
                </a:tc>
                <a:tc>
                  <a:txBody>
                    <a:bodyPr/>
                    <a:lstStyle/>
                    <a:p>
                      <a:pPr algn="ctr" indent="0" marL="0">
                        <a:buNone/>
                      </a:pPr>
                      <a:r>
                        <a:rPr lang="en-US" sz="800" dirty="0">
                          <a:solidFill>
                            <a:srgbClr val="000000"/>
                          </a:solidFill>
                        </a:rPr>
                        <a:t>1.0L</a:t>
                      </a:r>
                      <a:endParaRPr lang="en-US" sz="800" dirty="0"/>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8E6"/>
                    </a:solidFill>
                  </a:tcPr>
                </a:tc>
                <a:tc>
                  <a:txBody>
                    <a:bodyPr/>
                    <a:lstStyle/>
                    <a:p>
                      <a:pPr algn="ctr" indent="0" marL="0">
                        <a:buNone/>
                      </a:pPr>
                      <a:r>
                        <a:rPr lang="en-US" sz="800" dirty="0">
                          <a:solidFill>
                            <a:srgbClr val="000000"/>
                          </a:solidFill>
                        </a:rPr>
                        <a:t>Rs 1,287</a:t>
                      </a:r>
                      <a:endParaRPr lang="en-US" sz="800" dirty="0"/>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8E6"/>
                    </a:solidFill>
                  </a:tcPr>
                </a:tc>
                <a:tc>
                  <a:txBody>
                    <a:bodyPr/>
                    <a:lstStyle/>
                    <a:p>
                      <a:pPr algn="ctr" indent="0" marL="0">
                        <a:buNone/>
                      </a:pPr>
                      <a:r>
                        <a:rPr lang="en-US" sz="800" dirty="0">
                          <a:solidFill>
                            <a:srgbClr val="000000"/>
                          </a:solidFill>
                        </a:rPr>
                        <a:t>Rs 1,287</a:t>
                      </a:r>
                      <a:endParaRPr lang="en-US" sz="800" dirty="0"/>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8E6"/>
                    </a:solidFill>
                  </a:tcPr>
                </a:tc>
                <a:tc>
                  <a:txBody>
                    <a:bodyPr/>
                    <a:lstStyle/>
                    <a:p>
                      <a:pPr algn="ctr" indent="0" marL="0">
                        <a:buNone/>
                      </a:pPr>
                      <a:r>
                        <a:rPr lang="en-US" sz="800" dirty="0">
                          <a:solidFill>
                            <a:srgbClr val="000000"/>
                          </a:solidFill>
                        </a:rPr>
                        <a:t>-17.0%</a:t>
                      </a:r>
                      <a:endParaRPr lang="en-US" sz="800" dirty="0"/>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8E6"/>
                    </a:solidFill>
                  </a:tcPr>
                </a:tc>
                <a:tc>
                  <a:txBody>
                    <a:bodyPr/>
                    <a:lstStyle/>
                    <a:p>
                      <a:pPr algn="ctr" indent="0" marL="0">
                        <a:buNone/>
                      </a:pPr>
                      <a:r>
                        <a:rPr lang="en-US" sz="800" b="1" dirty="0">
                          <a:solidFill>
                            <a:srgbClr val="7A5C00"/>
                          </a:solidFill>
                        </a:rPr>
                        <a:t>VALUE POSITION</a:t>
                      </a:r>
                      <a:endParaRPr lang="en-US" sz="800" dirty="0"/>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8E6"/>
                    </a:solidFill>
                  </a:tcPr>
                </a:tc>
              </a:tr>
              <a:tr h="644575">
                <a:tc>
                  <a:txBody>
                    <a:bodyPr/>
                    <a:lstStyle/>
                    <a:p>
                      <a:pPr algn="ctr" indent="0" marL="0">
                        <a:buNone/>
                      </a:pPr>
                      <a:r>
                        <a:rPr lang="en-US" sz="800" dirty="0">
                          <a:solidFill>
                            <a:srgbClr val="000000"/>
                          </a:solidFill>
                        </a:rPr>
                        <a:t>Blaze 4T</a:t>
                      </a:r>
                      <a:endParaRPr lang="en-US" sz="800" dirty="0"/>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algn="ctr" indent="0" marL="0">
                        <a:buNone/>
                      </a:pPr>
                      <a:r>
                        <a:rPr lang="en-US" sz="800" dirty="0">
                          <a:solidFill>
                            <a:srgbClr val="000000"/>
                          </a:solidFill>
                        </a:rPr>
                        <a:t>10W-40</a:t>
                      </a:r>
                      <a:endParaRPr lang="en-US" sz="800" dirty="0"/>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algn="ctr" indent="0" marL="0">
                        <a:buNone/>
                      </a:pPr>
                      <a:r>
                        <a:rPr lang="en-US" sz="800" dirty="0">
                          <a:solidFill>
                            <a:srgbClr val="000000"/>
                          </a:solidFill>
                        </a:rPr>
                        <a:t>0.7L</a:t>
                      </a:r>
                      <a:endParaRPr lang="en-US" sz="800" dirty="0"/>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algn="ctr" indent="0" marL="0">
                        <a:buNone/>
                      </a:pPr>
                      <a:r>
                        <a:rPr lang="en-US" sz="800" dirty="0">
                          <a:solidFill>
                            <a:srgbClr val="000000"/>
                          </a:solidFill>
                        </a:rPr>
                        <a:t>Rs 1,108</a:t>
                      </a:r>
                      <a:endParaRPr lang="en-US" sz="800" dirty="0"/>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algn="ctr" indent="0" marL="0">
                        <a:buNone/>
                      </a:pPr>
                      <a:r>
                        <a:rPr lang="en-US" sz="800" dirty="0">
                          <a:solidFill>
                            <a:srgbClr val="000000"/>
                          </a:solidFill>
                        </a:rPr>
                        <a:t>Rs 776</a:t>
                      </a:r>
                      <a:endParaRPr lang="en-US" sz="800" dirty="0"/>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algn="ctr" indent="0" marL="0">
                        <a:buNone/>
                      </a:pPr>
                      <a:r>
                        <a:rPr lang="en-US" sz="800" dirty="0">
                          <a:solidFill>
                            <a:srgbClr val="000000"/>
                          </a:solidFill>
                        </a:rPr>
                        <a:t>-1.5%</a:t>
                      </a:r>
                      <a:endParaRPr lang="en-US" sz="800" dirty="0"/>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algn="ctr" indent="0" marL="0">
                        <a:buNone/>
                      </a:pPr>
                      <a:r>
                        <a:rPr lang="en-US" sz="800" b="1" dirty="0">
                          <a:solidFill>
                            <a:srgbClr val="444444"/>
                          </a:solidFill>
                        </a:rPr>
                        <a:t>AT MARKET</a:t>
                      </a:r>
                      <a:endParaRPr lang="en-US" sz="800" dirty="0"/>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r>
              <a:tr h="644575">
                <a:tc>
                  <a:txBody>
                    <a:bodyPr/>
                    <a:lstStyle/>
                    <a:p>
                      <a:pPr algn="ctr" indent="0" marL="0">
                        <a:buNone/>
                      </a:pPr>
                      <a:r>
                        <a:rPr lang="en-US" sz="800" dirty="0">
                          <a:solidFill>
                            <a:srgbClr val="000000"/>
                          </a:solidFill>
                        </a:rPr>
                        <a:t>Blaze 4T</a:t>
                      </a:r>
                      <a:endParaRPr lang="en-US" sz="800" dirty="0"/>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8E6"/>
                    </a:solidFill>
                  </a:tcPr>
                </a:tc>
                <a:tc>
                  <a:txBody>
                    <a:bodyPr/>
                    <a:lstStyle/>
                    <a:p>
                      <a:pPr algn="ctr" indent="0" marL="0">
                        <a:buNone/>
                      </a:pPr>
                      <a:r>
                        <a:rPr lang="en-US" sz="800" dirty="0">
                          <a:solidFill>
                            <a:srgbClr val="000000"/>
                          </a:solidFill>
                        </a:rPr>
                        <a:t>20W-50</a:t>
                      </a:r>
                      <a:endParaRPr lang="en-US" sz="800" dirty="0"/>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8E6"/>
                    </a:solidFill>
                  </a:tcPr>
                </a:tc>
                <a:tc>
                  <a:txBody>
                    <a:bodyPr/>
                    <a:lstStyle/>
                    <a:p>
                      <a:pPr algn="ctr" indent="0" marL="0">
                        <a:buNone/>
                      </a:pPr>
                      <a:r>
                        <a:rPr lang="en-US" sz="800" dirty="0">
                          <a:solidFill>
                            <a:srgbClr val="000000"/>
                          </a:solidFill>
                        </a:rPr>
                        <a:t>0.7L</a:t>
                      </a:r>
                      <a:endParaRPr lang="en-US" sz="800" dirty="0"/>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8E6"/>
                    </a:solidFill>
                  </a:tcPr>
                </a:tc>
                <a:tc>
                  <a:txBody>
                    <a:bodyPr/>
                    <a:lstStyle/>
                    <a:p>
                      <a:pPr algn="ctr" indent="0" marL="0">
                        <a:buNone/>
                      </a:pPr>
                      <a:r>
                        <a:rPr lang="en-US" sz="800" dirty="0">
                          <a:solidFill>
                            <a:srgbClr val="000000"/>
                          </a:solidFill>
                        </a:rPr>
                        <a:t>Rs 996</a:t>
                      </a:r>
                      <a:endParaRPr lang="en-US" sz="800" dirty="0"/>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8E6"/>
                    </a:solidFill>
                  </a:tcPr>
                </a:tc>
                <a:tc>
                  <a:txBody>
                    <a:bodyPr/>
                    <a:lstStyle/>
                    <a:p>
                      <a:pPr algn="ctr" indent="0" marL="0">
                        <a:buNone/>
                      </a:pPr>
                      <a:r>
                        <a:rPr lang="en-US" sz="800" dirty="0">
                          <a:solidFill>
                            <a:srgbClr val="000000"/>
                          </a:solidFill>
                        </a:rPr>
                        <a:t>Rs 697</a:t>
                      </a:r>
                      <a:endParaRPr lang="en-US" sz="800" dirty="0"/>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8E6"/>
                    </a:solidFill>
                  </a:tcPr>
                </a:tc>
                <a:tc>
                  <a:txBody>
                    <a:bodyPr/>
                    <a:lstStyle/>
                    <a:p>
                      <a:pPr algn="ctr" indent="0" marL="0">
                        <a:buNone/>
                      </a:pPr>
                      <a:r>
                        <a:rPr lang="en-US" sz="800" dirty="0">
                          <a:solidFill>
                            <a:srgbClr val="000000"/>
                          </a:solidFill>
                        </a:rPr>
                        <a:t>-12.1%</a:t>
                      </a:r>
                      <a:endParaRPr lang="en-US" sz="800" dirty="0"/>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8E6"/>
                    </a:solidFill>
                  </a:tcPr>
                </a:tc>
                <a:tc>
                  <a:txBody>
                    <a:bodyPr/>
                    <a:lstStyle/>
                    <a:p>
                      <a:pPr algn="ctr" indent="0" marL="0">
                        <a:buNone/>
                      </a:pPr>
                      <a:r>
                        <a:rPr lang="en-US" sz="800" b="1" dirty="0">
                          <a:solidFill>
                            <a:srgbClr val="7A5C00"/>
                          </a:solidFill>
                        </a:rPr>
                        <a:t>VALUE POSITION</a:t>
                      </a:r>
                      <a:endParaRPr lang="en-US" sz="800" dirty="0"/>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8E6"/>
                    </a:solidFill>
                  </a:tcPr>
                </a:tc>
              </a:tr>
              <a:tr h="644575">
                <a:tc>
                  <a:txBody>
                    <a:bodyPr/>
                    <a:lstStyle/>
                    <a:p>
                      <a:pPr algn="ctr" indent="0" marL="0">
                        <a:buNone/>
                      </a:pPr>
                      <a:r>
                        <a:rPr lang="en-US" sz="800" dirty="0">
                          <a:solidFill>
                            <a:srgbClr val="000000"/>
                          </a:solidFill>
                        </a:rPr>
                        <a:t>Blaze Xtreme</a:t>
                      </a:r>
                      <a:endParaRPr lang="en-US" sz="800" dirty="0"/>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8E6"/>
                    </a:solidFill>
                  </a:tcPr>
                </a:tc>
                <a:tc>
                  <a:txBody>
                    <a:bodyPr/>
                    <a:lstStyle/>
                    <a:p>
                      <a:pPr algn="ctr" indent="0" marL="0">
                        <a:buNone/>
                      </a:pPr>
                      <a:r>
                        <a:rPr lang="en-US" sz="800" dirty="0">
                          <a:solidFill>
                            <a:srgbClr val="000000"/>
                          </a:solidFill>
                        </a:rPr>
                        <a:t>10W-40</a:t>
                      </a:r>
                      <a:endParaRPr lang="en-US" sz="800" dirty="0"/>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8E6"/>
                    </a:solidFill>
                  </a:tcPr>
                </a:tc>
                <a:tc>
                  <a:txBody>
                    <a:bodyPr/>
                    <a:lstStyle/>
                    <a:p>
                      <a:pPr algn="ctr" indent="0" marL="0">
                        <a:buNone/>
                      </a:pPr>
                      <a:r>
                        <a:rPr lang="en-US" sz="800" dirty="0">
                          <a:solidFill>
                            <a:srgbClr val="000000"/>
                          </a:solidFill>
                        </a:rPr>
                        <a:t>1.0L</a:t>
                      </a:r>
                      <a:endParaRPr lang="en-US" sz="800" dirty="0"/>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8E6"/>
                    </a:solidFill>
                  </a:tcPr>
                </a:tc>
                <a:tc>
                  <a:txBody>
                    <a:bodyPr/>
                    <a:lstStyle/>
                    <a:p>
                      <a:pPr algn="ctr" indent="0" marL="0">
                        <a:buNone/>
                      </a:pPr>
                      <a:r>
                        <a:rPr lang="en-US" sz="800" dirty="0">
                          <a:solidFill>
                            <a:srgbClr val="000000"/>
                          </a:solidFill>
                        </a:rPr>
                        <a:t>Rs 1,698</a:t>
                      </a:r>
                      <a:endParaRPr lang="en-US" sz="800" dirty="0"/>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8E6"/>
                    </a:solidFill>
                  </a:tcPr>
                </a:tc>
                <a:tc>
                  <a:txBody>
                    <a:bodyPr/>
                    <a:lstStyle/>
                    <a:p>
                      <a:pPr algn="ctr" indent="0" marL="0">
                        <a:buNone/>
                      </a:pPr>
                      <a:r>
                        <a:rPr lang="en-US" sz="800" dirty="0">
                          <a:solidFill>
                            <a:srgbClr val="000000"/>
                          </a:solidFill>
                        </a:rPr>
                        <a:t>Rs 1,698</a:t>
                      </a:r>
                      <a:endParaRPr lang="en-US" sz="800" dirty="0"/>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8E6"/>
                    </a:solidFill>
                  </a:tcPr>
                </a:tc>
                <a:tc>
                  <a:txBody>
                    <a:bodyPr/>
                    <a:lstStyle/>
                    <a:p>
                      <a:pPr algn="ctr" indent="0" marL="0">
                        <a:buNone/>
                      </a:pPr>
                      <a:r>
                        <a:rPr lang="en-US" sz="800" dirty="0">
                          <a:solidFill>
                            <a:srgbClr val="000000"/>
                          </a:solidFill>
                        </a:rPr>
                        <a:t>-26.2%</a:t>
                      </a:r>
                      <a:endParaRPr lang="en-US" sz="800" dirty="0"/>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8E6"/>
                    </a:solidFill>
                  </a:tcPr>
                </a:tc>
                <a:tc>
                  <a:txBody>
                    <a:bodyPr/>
                    <a:lstStyle/>
                    <a:p>
                      <a:pPr algn="ctr" indent="0" marL="0">
                        <a:buNone/>
                      </a:pPr>
                      <a:r>
                        <a:rPr lang="en-US" sz="800" b="1" dirty="0">
                          <a:solidFill>
                            <a:srgbClr val="7A5C00"/>
                          </a:solidFill>
                        </a:rPr>
                        <a:t>VALUE POSITION</a:t>
                      </a:r>
                      <a:endParaRPr lang="en-US" sz="800" dirty="0"/>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8E6"/>
                    </a:solidFill>
                  </a:tcPr>
                </a:tc>
              </a:tr>
            </a:tbl>
          </a:graphicData>
        </a:graphic>
      </p:graphicFrame>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0" y="0"/>
            <a:ext cx="9144000" cy="730151"/>
          </a:xfrm>
          <a:prstGeom prst="rect">
            <a:avLst/>
          </a:prstGeom>
          <a:solidFill>
            <a:srgbClr val="00703C"/>
          </a:solidFill>
          <a:ln/>
        </p:spPr>
        <p:txBody>
          <a:bodyPr wrap="square" rtlCol="0" anchor="ctr"/>
          <a:lstStyle/>
          <a:p>
            <a:pPr indent="0" marL="0">
              <a:buNone/>
            </a:pPr>
            <a:endParaRPr lang="en-US" dirty="0"/>
          </a:p>
        </p:txBody>
      </p:sp>
      <p:sp>
        <p:nvSpPr>
          <p:cNvPr id="3" name="Text 1"/>
          <p:cNvSpPr/>
          <p:nvPr/>
        </p:nvSpPr>
        <p:spPr>
          <a:xfrm>
            <a:off x="355550" y="152400"/>
            <a:ext cx="8601557" cy="266700"/>
          </a:xfrm>
          <a:prstGeom prst="rect">
            <a:avLst/>
          </a:prstGeom>
          <a:noFill/>
          <a:ln/>
        </p:spPr>
        <p:txBody>
          <a:bodyPr wrap="square" lIns="0" tIns="0" rIns="0" bIns="0" rtlCol="0" anchor="t"/>
          <a:lstStyle/>
          <a:p>
            <a:pPr algn="l" indent="0" marL="0">
              <a:buNone/>
            </a:pPr>
            <a:r>
              <a:rPr lang="en-US" sz="1800" b="1" dirty="0">
                <a:solidFill>
                  <a:srgbClr val="FFFFFF"/>
                </a:solidFill>
                <a:latin typeface="Arial" pitchFamily="34" charset="0"/>
                <a:ea typeface="Arial" pitchFamily="34" charset="-122"/>
                <a:cs typeface="Arial" pitchFamily="34" charset="-120"/>
              </a:rPr>
              <a:t>Market Position — Where PSO Stands vs Market</a:t>
            </a:r>
            <a:endParaRPr lang="en-US" sz="1800" dirty="0"/>
          </a:p>
        </p:txBody>
      </p:sp>
      <p:sp>
        <p:nvSpPr>
          <p:cNvPr id="4" name="Text 2"/>
          <p:cNvSpPr/>
          <p:nvPr/>
        </p:nvSpPr>
        <p:spPr>
          <a:xfrm>
            <a:off x="355550" y="469850"/>
            <a:ext cx="8601557" cy="133350"/>
          </a:xfrm>
          <a:prstGeom prst="rect">
            <a:avLst/>
          </a:prstGeom>
          <a:noFill/>
          <a:ln/>
        </p:spPr>
        <p:txBody>
          <a:bodyPr wrap="square" lIns="0" tIns="0" rIns="0" bIns="0" rtlCol="0" anchor="t"/>
          <a:lstStyle/>
          <a:p>
            <a:pPr algn="l" indent="0" marL="0">
              <a:spcBef>
                <a:spcPts val="400"/>
              </a:spcBef>
              <a:buNone/>
            </a:pPr>
            <a:r>
              <a:rPr lang="en-US" sz="900" b="1" dirty="0">
                <a:solidFill>
                  <a:srgbClr val="A8D5BE"/>
                </a:solidFill>
                <a:latin typeface="Arial" pitchFamily="34" charset="0"/>
                <a:ea typeface="Arial" pitchFamily="34" charset="-122"/>
                <a:cs typeface="Arial" pitchFamily="34" charset="-120"/>
              </a:rPr>
              <a:t>45 SKUs benchmarked | % deviation from market median price/L (Daraz.pk, July 2026)</a:t>
            </a:r>
            <a:endParaRPr lang="en-US" sz="900" dirty="0"/>
          </a:p>
        </p:txBody>
      </p:sp>
      <p:sp>
        <p:nvSpPr>
          <p:cNvPr id="5" name="Text 3"/>
          <p:cNvSpPr/>
          <p:nvPr/>
        </p:nvSpPr>
        <p:spPr>
          <a:xfrm>
            <a:off x="304800" y="1224260"/>
            <a:ext cx="2412950" cy="1050727"/>
          </a:xfrm>
          <a:prstGeom prst="roundRect">
            <a:avLst>
              <a:gd name="adj" fmla="val 6043"/>
            </a:avLst>
          </a:prstGeom>
          <a:solidFill>
            <a:srgbClr val="023520"/>
          </a:solidFill>
          <a:ln/>
        </p:spPr>
        <p:txBody>
          <a:bodyPr wrap="square" rtlCol="0" anchor="ctr"/>
          <a:lstStyle/>
          <a:p>
            <a:pPr indent="0" marL="0">
              <a:buNone/>
            </a:pPr>
            <a:endParaRPr lang="en-US" dirty="0"/>
          </a:p>
        </p:txBody>
      </p:sp>
      <p:sp>
        <p:nvSpPr>
          <p:cNvPr id="6" name="Text 4"/>
          <p:cNvSpPr/>
          <p:nvPr/>
        </p:nvSpPr>
        <p:spPr>
          <a:xfrm>
            <a:off x="482501" y="1351211"/>
            <a:ext cx="2098700" cy="371475"/>
          </a:xfrm>
          <a:prstGeom prst="rect">
            <a:avLst/>
          </a:prstGeom>
          <a:noFill/>
          <a:ln/>
        </p:spPr>
        <p:txBody>
          <a:bodyPr wrap="square" lIns="0" tIns="0" rIns="0" bIns="0" rtlCol="0" anchor="t"/>
          <a:lstStyle/>
          <a:p>
            <a:pPr algn="l" indent="0" marL="0">
              <a:buNone/>
            </a:pPr>
            <a:r>
              <a:rPr lang="en-US" sz="2600" b="1" dirty="0">
                <a:solidFill>
                  <a:srgbClr val="FFFFFF"/>
                </a:solidFill>
                <a:latin typeface="Arial" pitchFamily="34" charset="0"/>
                <a:ea typeface="Arial" pitchFamily="34" charset="-122"/>
                <a:cs typeface="Arial" pitchFamily="34" charset="-120"/>
              </a:rPr>
              <a:t>10</a:t>
            </a:r>
            <a:endParaRPr lang="en-US" sz="2600" dirty="0"/>
          </a:p>
        </p:txBody>
      </p:sp>
      <p:sp>
        <p:nvSpPr>
          <p:cNvPr id="7" name="Text 5"/>
          <p:cNvSpPr/>
          <p:nvPr/>
        </p:nvSpPr>
        <p:spPr>
          <a:xfrm>
            <a:off x="482501" y="1747986"/>
            <a:ext cx="2098700" cy="133350"/>
          </a:xfrm>
          <a:prstGeom prst="rect">
            <a:avLst/>
          </a:prstGeom>
          <a:noFill/>
          <a:ln/>
        </p:spPr>
        <p:txBody>
          <a:bodyPr wrap="square" lIns="0" tIns="0" rIns="0" bIns="0" rtlCol="0" anchor="t"/>
          <a:lstStyle/>
          <a:p>
            <a:pPr algn="l" indent="0" marL="0">
              <a:spcBef>
                <a:spcPts val="200"/>
              </a:spcBef>
              <a:buNone/>
            </a:pPr>
            <a:r>
              <a:rPr lang="en-US" sz="900" b="1" dirty="0">
                <a:solidFill>
                  <a:srgbClr val="FFFFFF"/>
                </a:solidFill>
                <a:latin typeface="Arial" pitchFamily="34" charset="0"/>
                <a:ea typeface="Arial" pitchFamily="34" charset="-122"/>
                <a:cs typeface="Arial" pitchFamily="34" charset="-120"/>
              </a:rPr>
              <a:t>PREMIUM SKUs</a:t>
            </a:r>
            <a:endParaRPr lang="en-US" sz="900" dirty="0"/>
          </a:p>
        </p:txBody>
      </p:sp>
      <p:sp>
        <p:nvSpPr>
          <p:cNvPr id="8" name="Text 6"/>
          <p:cNvSpPr/>
          <p:nvPr/>
        </p:nvSpPr>
        <p:spPr>
          <a:xfrm>
            <a:off x="482501" y="1919436"/>
            <a:ext cx="2098700" cy="228600"/>
          </a:xfrm>
          <a:prstGeom prst="rect">
            <a:avLst/>
          </a:prstGeom>
          <a:noFill/>
          <a:ln/>
        </p:spPr>
        <p:txBody>
          <a:bodyPr wrap="square" lIns="0" tIns="0" rIns="0" bIns="0" rtlCol="0" anchor="t"/>
          <a:lstStyle/>
          <a:p>
            <a:pPr algn="l" indent="0" marL="0">
              <a:spcBef>
                <a:spcPts val="300"/>
              </a:spcBef>
              <a:buNone/>
            </a:pPr>
            <a:r>
              <a:rPr lang="en-US" sz="800" dirty="0">
                <a:solidFill>
                  <a:srgbClr val="FFFFFF"/>
                </a:solidFill>
                <a:latin typeface="Arial" pitchFamily="34" charset="0"/>
                <a:ea typeface="Arial" pitchFamily="34" charset="-122"/>
                <a:cs typeface="Arial" pitchFamily="34" charset="-120"/>
              </a:rPr>
              <a:t>Priced &gt;10% above market — justify with spec premium communication</a:t>
            </a:r>
            <a:endParaRPr lang="en-US" sz="800" dirty="0"/>
          </a:p>
        </p:txBody>
      </p:sp>
      <p:sp>
        <p:nvSpPr>
          <p:cNvPr id="9" name="Text 7"/>
          <p:cNvSpPr/>
          <p:nvPr/>
        </p:nvSpPr>
        <p:spPr>
          <a:xfrm>
            <a:off x="304800" y="2401937"/>
            <a:ext cx="2412950" cy="1050727"/>
          </a:xfrm>
          <a:prstGeom prst="roundRect">
            <a:avLst>
              <a:gd name="adj" fmla="val 6043"/>
            </a:avLst>
          </a:prstGeom>
          <a:solidFill>
            <a:srgbClr val="00703C"/>
          </a:solidFill>
          <a:ln/>
        </p:spPr>
        <p:txBody>
          <a:bodyPr wrap="square" rtlCol="0" anchor="ctr"/>
          <a:lstStyle/>
          <a:p>
            <a:pPr indent="0" marL="0">
              <a:buNone/>
            </a:pPr>
            <a:endParaRPr lang="en-US" dirty="0"/>
          </a:p>
        </p:txBody>
      </p:sp>
      <p:sp>
        <p:nvSpPr>
          <p:cNvPr id="10" name="Text 8"/>
          <p:cNvSpPr/>
          <p:nvPr/>
        </p:nvSpPr>
        <p:spPr>
          <a:xfrm>
            <a:off x="482501" y="2528888"/>
            <a:ext cx="2098700" cy="371475"/>
          </a:xfrm>
          <a:prstGeom prst="rect">
            <a:avLst/>
          </a:prstGeom>
          <a:noFill/>
          <a:ln/>
        </p:spPr>
        <p:txBody>
          <a:bodyPr wrap="square" lIns="0" tIns="0" rIns="0" bIns="0" rtlCol="0" anchor="t"/>
          <a:lstStyle/>
          <a:p>
            <a:pPr algn="l" indent="0" marL="0">
              <a:buNone/>
            </a:pPr>
            <a:r>
              <a:rPr lang="en-US" sz="2600" b="1" dirty="0">
                <a:solidFill>
                  <a:srgbClr val="FFFFFF"/>
                </a:solidFill>
                <a:latin typeface="Arial" pitchFamily="34" charset="0"/>
                <a:ea typeface="Arial" pitchFamily="34" charset="-122"/>
                <a:cs typeface="Arial" pitchFamily="34" charset="-120"/>
              </a:rPr>
              <a:t>19</a:t>
            </a:r>
            <a:endParaRPr lang="en-US" sz="2600" dirty="0"/>
          </a:p>
        </p:txBody>
      </p:sp>
      <p:sp>
        <p:nvSpPr>
          <p:cNvPr id="11" name="Text 9"/>
          <p:cNvSpPr/>
          <p:nvPr/>
        </p:nvSpPr>
        <p:spPr>
          <a:xfrm>
            <a:off x="482501" y="2925663"/>
            <a:ext cx="2098700" cy="133350"/>
          </a:xfrm>
          <a:prstGeom prst="rect">
            <a:avLst/>
          </a:prstGeom>
          <a:noFill/>
          <a:ln/>
        </p:spPr>
        <p:txBody>
          <a:bodyPr wrap="square" lIns="0" tIns="0" rIns="0" bIns="0" rtlCol="0" anchor="t"/>
          <a:lstStyle/>
          <a:p>
            <a:pPr algn="l" indent="0" marL="0">
              <a:spcBef>
                <a:spcPts val="200"/>
              </a:spcBef>
              <a:buNone/>
            </a:pPr>
            <a:r>
              <a:rPr lang="en-US" sz="900" b="1" dirty="0">
                <a:solidFill>
                  <a:srgbClr val="FFFFFF"/>
                </a:solidFill>
                <a:latin typeface="Arial" pitchFamily="34" charset="0"/>
                <a:ea typeface="Arial" pitchFamily="34" charset="-122"/>
                <a:cs typeface="Arial" pitchFamily="34" charset="-120"/>
              </a:rPr>
              <a:t>AT MARKET SKUs</a:t>
            </a:r>
            <a:endParaRPr lang="en-US" sz="900" dirty="0"/>
          </a:p>
        </p:txBody>
      </p:sp>
      <p:sp>
        <p:nvSpPr>
          <p:cNvPr id="12" name="Text 10"/>
          <p:cNvSpPr/>
          <p:nvPr/>
        </p:nvSpPr>
        <p:spPr>
          <a:xfrm>
            <a:off x="482501" y="3097113"/>
            <a:ext cx="2098700" cy="228600"/>
          </a:xfrm>
          <a:prstGeom prst="rect">
            <a:avLst/>
          </a:prstGeom>
          <a:noFill/>
          <a:ln/>
        </p:spPr>
        <p:txBody>
          <a:bodyPr wrap="square" lIns="0" tIns="0" rIns="0" bIns="0" rtlCol="0" anchor="t"/>
          <a:lstStyle/>
          <a:p>
            <a:pPr algn="l" indent="0" marL="0">
              <a:spcBef>
                <a:spcPts val="300"/>
              </a:spcBef>
              <a:buNone/>
            </a:pPr>
            <a:r>
              <a:rPr lang="en-US" sz="800" dirty="0">
                <a:solidFill>
                  <a:srgbClr val="FFFFFF"/>
                </a:solidFill>
                <a:latin typeface="Arial" pitchFamily="34" charset="0"/>
                <a:ea typeface="Arial" pitchFamily="34" charset="-122"/>
                <a:cs typeface="Arial" pitchFamily="34" charset="-120"/>
              </a:rPr>
              <a:t>Within ±10% of market median — correctly positioned</a:t>
            </a:r>
            <a:endParaRPr lang="en-US" sz="800" dirty="0"/>
          </a:p>
        </p:txBody>
      </p:sp>
      <p:sp>
        <p:nvSpPr>
          <p:cNvPr id="13" name="Text 11"/>
          <p:cNvSpPr/>
          <p:nvPr/>
        </p:nvSpPr>
        <p:spPr>
          <a:xfrm>
            <a:off x="304800" y="3579614"/>
            <a:ext cx="2412950" cy="1069777"/>
          </a:xfrm>
          <a:prstGeom prst="roundRect">
            <a:avLst>
              <a:gd name="adj" fmla="val 5936"/>
            </a:avLst>
          </a:prstGeom>
          <a:solidFill>
            <a:srgbClr val="FFF8E6"/>
          </a:solidFill>
          <a:ln w="9525">
            <a:solidFill>
              <a:srgbClr val="C8960C"/>
            </a:solidFill>
          </a:ln>
        </p:spPr>
        <p:txBody>
          <a:bodyPr wrap="square" rtlCol="0" anchor="ctr"/>
          <a:lstStyle/>
          <a:p>
            <a:pPr indent="0" marL="0">
              <a:buNone/>
            </a:pPr>
            <a:endParaRPr lang="en-US" dirty="0"/>
          </a:p>
        </p:txBody>
      </p:sp>
      <p:sp>
        <p:nvSpPr>
          <p:cNvPr id="14" name="Text 12"/>
          <p:cNvSpPr/>
          <p:nvPr/>
        </p:nvSpPr>
        <p:spPr>
          <a:xfrm>
            <a:off x="492026" y="3716089"/>
            <a:ext cx="2079269" cy="371475"/>
          </a:xfrm>
          <a:prstGeom prst="rect">
            <a:avLst/>
          </a:prstGeom>
          <a:noFill/>
          <a:ln/>
        </p:spPr>
        <p:txBody>
          <a:bodyPr wrap="square" lIns="0" tIns="0" rIns="0" bIns="0" rtlCol="0" anchor="t"/>
          <a:lstStyle/>
          <a:p>
            <a:pPr algn="l" indent="0" marL="0">
              <a:buNone/>
            </a:pPr>
            <a:r>
              <a:rPr lang="en-US" sz="2600" b="1" dirty="0">
                <a:solidFill>
                  <a:srgbClr val="7A5C00"/>
                </a:solidFill>
                <a:latin typeface="Arial" pitchFamily="34" charset="0"/>
                <a:ea typeface="Arial" pitchFamily="34" charset="-122"/>
                <a:cs typeface="Arial" pitchFamily="34" charset="-120"/>
              </a:rPr>
              <a:t>16</a:t>
            </a:r>
            <a:endParaRPr lang="en-US" sz="2600" dirty="0"/>
          </a:p>
        </p:txBody>
      </p:sp>
      <p:sp>
        <p:nvSpPr>
          <p:cNvPr id="15" name="Text 13"/>
          <p:cNvSpPr/>
          <p:nvPr/>
        </p:nvSpPr>
        <p:spPr>
          <a:xfrm>
            <a:off x="492026" y="4112865"/>
            <a:ext cx="2079269" cy="133350"/>
          </a:xfrm>
          <a:prstGeom prst="rect">
            <a:avLst/>
          </a:prstGeom>
          <a:noFill/>
          <a:ln/>
        </p:spPr>
        <p:txBody>
          <a:bodyPr wrap="square" lIns="0" tIns="0" rIns="0" bIns="0" rtlCol="0" anchor="t"/>
          <a:lstStyle/>
          <a:p>
            <a:pPr algn="l" indent="0" marL="0">
              <a:spcBef>
                <a:spcPts val="200"/>
              </a:spcBef>
              <a:buNone/>
            </a:pPr>
            <a:r>
              <a:rPr lang="en-US" sz="900" b="1" dirty="0">
                <a:solidFill>
                  <a:srgbClr val="7A5C00"/>
                </a:solidFill>
                <a:latin typeface="Arial" pitchFamily="34" charset="0"/>
                <a:ea typeface="Arial" pitchFamily="34" charset="-122"/>
                <a:cs typeface="Arial" pitchFamily="34" charset="-120"/>
              </a:rPr>
              <a:t>VALUE POSITION SKUs</a:t>
            </a:r>
            <a:endParaRPr lang="en-US" sz="900" dirty="0"/>
          </a:p>
        </p:txBody>
      </p:sp>
      <p:sp>
        <p:nvSpPr>
          <p:cNvPr id="16" name="Text 14"/>
          <p:cNvSpPr/>
          <p:nvPr/>
        </p:nvSpPr>
        <p:spPr>
          <a:xfrm>
            <a:off x="492026" y="4284315"/>
            <a:ext cx="2079269" cy="228600"/>
          </a:xfrm>
          <a:prstGeom prst="rect">
            <a:avLst/>
          </a:prstGeom>
          <a:noFill/>
          <a:ln/>
        </p:spPr>
        <p:txBody>
          <a:bodyPr wrap="square" lIns="0" tIns="0" rIns="0" bIns="0" rtlCol="0" anchor="t"/>
          <a:lstStyle/>
          <a:p>
            <a:pPr algn="l" indent="0" marL="0">
              <a:spcBef>
                <a:spcPts val="300"/>
              </a:spcBef>
              <a:buNone/>
            </a:pPr>
            <a:r>
              <a:rPr lang="en-US" sz="800" dirty="0">
                <a:solidFill>
                  <a:srgbClr val="7A5C00"/>
                </a:solidFill>
                <a:latin typeface="Arial" pitchFamily="34" charset="0"/>
                <a:ea typeface="Arial" pitchFamily="34" charset="-122"/>
                <a:cs typeface="Arial" pitchFamily="34" charset="-120"/>
              </a:rPr>
              <a:t>Priced &gt;10% below market — revenue upside opportunity</a:t>
            </a:r>
            <a:endParaRPr lang="en-US" sz="800" dirty="0"/>
          </a:p>
        </p:txBody>
      </p:sp>
      <p:sp>
        <p:nvSpPr>
          <p:cNvPr id="17" name="Text 15"/>
          <p:cNvSpPr/>
          <p:nvPr/>
        </p:nvSpPr>
        <p:spPr>
          <a:xfrm>
            <a:off x="2971651" y="907852"/>
            <a:ext cx="5984900" cy="114300"/>
          </a:xfrm>
          <a:prstGeom prst="rect">
            <a:avLst/>
          </a:prstGeom>
          <a:noFill/>
          <a:ln/>
        </p:spPr>
        <p:txBody>
          <a:bodyPr wrap="square" lIns="0" tIns="0" rIns="0" bIns="0" rtlCol="0" anchor="t"/>
          <a:lstStyle/>
          <a:p>
            <a:pPr algn="l" indent="0" marL="0">
              <a:spcAft>
                <a:spcPts val="800"/>
              </a:spcAft>
              <a:buNone/>
            </a:pPr>
            <a:r>
              <a:rPr lang="en-US" sz="800" dirty="0">
                <a:solidFill>
                  <a:srgbClr val="555555"/>
                </a:solidFill>
                <a:latin typeface="Arial" pitchFamily="34" charset="0"/>
                <a:ea typeface="Arial" pitchFamily="34" charset="-122"/>
                <a:cs typeface="Arial" pitchFamily="34" charset="-120"/>
              </a:rPr>
              <a:t>% Deviation from Market Median (PKR/L) — Recommended Price by Brand × Grade</a:t>
            </a:r>
            <a:endParaRPr lang="en-US" sz="800" dirty="0"/>
          </a:p>
        </p:txBody>
      </p:sp>
      <p:graphicFrame>
        <p:nvGraphicFramePr>
          <p:cNvPr id="18" name="Chart 0" descr=""/>
          <p:cNvGraphicFramePr/>
          <p:nvPr/>
        </p:nvGraphicFramePr>
        <p:xfrm>
          <a:off x="2971651" y="1123652"/>
          <a:ext cx="5867549" cy="3842147"/>
        </p:xfrm>
        <a:graphic xmlns:a="http://schemas.openxmlformats.org/drawingml/2006/main">
          <a:graphicData uri="http://schemas.openxmlformats.org/drawingml/2006/chart">
            <c:chart xmlns:c="http://schemas.openxmlformats.org/drawingml/2006/chart" r:id="rId1"/>
          </a:graphicData>
        </a:graphic>
      </p:graphicFrame>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8F8F8"/>
        </a:solidFill>
      </p:bgPr>
    </p:bg>
    <p:spTree>
      <p:nvGrpSpPr>
        <p:cNvPr id="1" name=""/>
        <p:cNvGrpSpPr/>
        <p:nvPr/>
      </p:nvGrpSpPr>
      <p:grpSpPr>
        <a:xfrm>
          <a:off x="0" y="0"/>
          <a:ext cx="0" cy="0"/>
          <a:chOff x="0" y="0"/>
          <a:chExt cx="0" cy="0"/>
        </a:xfrm>
      </p:grpSpPr>
      <p:sp>
        <p:nvSpPr>
          <p:cNvPr id="2" name="Text 0"/>
          <p:cNvSpPr/>
          <p:nvPr/>
        </p:nvSpPr>
        <p:spPr>
          <a:xfrm>
            <a:off x="0" y="0"/>
            <a:ext cx="9144000" cy="466576"/>
          </a:xfrm>
          <a:prstGeom prst="rect">
            <a:avLst/>
          </a:prstGeom>
          <a:solidFill>
            <a:srgbClr val="00703C"/>
          </a:solidFill>
          <a:ln/>
        </p:spPr>
        <p:txBody>
          <a:bodyPr wrap="square" rtlCol="0" anchor="ctr"/>
          <a:lstStyle/>
          <a:p>
            <a:pPr indent="0" marL="0">
              <a:buNone/>
            </a:pPr>
            <a:endParaRPr lang="en-US" dirty="0"/>
          </a:p>
        </p:txBody>
      </p:sp>
      <p:sp>
        <p:nvSpPr>
          <p:cNvPr id="3" name="Text 1"/>
          <p:cNvSpPr/>
          <p:nvPr/>
        </p:nvSpPr>
        <p:spPr>
          <a:xfrm>
            <a:off x="355550" y="126950"/>
            <a:ext cx="8601557" cy="238125"/>
          </a:xfrm>
          <a:prstGeom prst="rect">
            <a:avLst/>
          </a:prstGeom>
          <a:noFill/>
          <a:ln/>
        </p:spPr>
        <p:txBody>
          <a:bodyPr wrap="square" lIns="0" tIns="0" rIns="0" bIns="0" rtlCol="0" anchor="t"/>
          <a:lstStyle/>
          <a:p>
            <a:pPr algn="l" indent="0" marL="0">
              <a:buNone/>
            </a:pPr>
            <a:r>
              <a:rPr lang="en-US" sz="1600" b="1" dirty="0">
                <a:solidFill>
                  <a:srgbClr val="FFFFFF"/>
                </a:solidFill>
                <a:latin typeface="Arial" pitchFamily="34" charset="0"/>
                <a:ea typeface="Arial" pitchFamily="34" charset="-122"/>
                <a:cs typeface="Arial" pitchFamily="34" charset="-120"/>
              </a:rPr>
              <a:t>Key Findings — 4 Pricing Insights</a:t>
            </a:r>
            <a:endParaRPr lang="en-US" sz="1600" dirty="0"/>
          </a:p>
        </p:txBody>
      </p:sp>
      <p:sp>
        <p:nvSpPr>
          <p:cNvPr id="4" name="Text 2"/>
          <p:cNvSpPr/>
          <p:nvPr/>
        </p:nvSpPr>
        <p:spPr>
          <a:xfrm>
            <a:off x="253901" y="568077"/>
            <a:ext cx="4381500" cy="911126"/>
          </a:xfrm>
          <a:prstGeom prst="roundRect">
            <a:avLst>
              <a:gd name="adj" fmla="val 6969"/>
            </a:avLst>
          </a:prstGeom>
          <a:solidFill>
            <a:srgbClr val="FFFFFF"/>
          </a:solidFill>
          <a:ln/>
          <a:effectLst>
            <a:outerShdw sx="100000" sy="100000" kx="0" ky="0" algn="bl" rotWithShape="0" blurRad="50800" dist="17960" dir="2700000">
              <a:srgbClr val="000000">
                <a:alpha val="7000"/>
              </a:srgbClr>
            </a:outerShdw>
          </a:effectLst>
        </p:spPr>
        <p:txBody>
          <a:bodyPr wrap="square" rtlCol="0" anchor="ctr"/>
          <a:lstStyle/>
          <a:p>
            <a:pPr indent="0" marL="0">
              <a:buNone/>
            </a:pPr>
            <a:endParaRPr lang="en-US" dirty="0"/>
          </a:p>
        </p:txBody>
      </p:sp>
      <p:sp>
        <p:nvSpPr>
          <p:cNvPr id="5" name="Shape 3"/>
          <p:cNvSpPr/>
          <p:nvPr/>
        </p:nvSpPr>
        <p:spPr>
          <a:xfrm>
            <a:off x="272951" y="568077"/>
            <a:ext cx="0" cy="911126"/>
          </a:xfrm>
          <a:prstGeom prst="line">
            <a:avLst/>
          </a:prstGeom>
          <a:noFill/>
          <a:ln w="38100">
            <a:solidFill>
              <a:srgbClr val="00703C"/>
            </a:solidFill>
            <a:prstDash val="solid"/>
          </a:ln>
        </p:spPr>
      </p:sp>
      <p:sp>
        <p:nvSpPr>
          <p:cNvPr id="6" name="Text 4"/>
          <p:cNvSpPr/>
          <p:nvPr/>
        </p:nvSpPr>
        <p:spPr>
          <a:xfrm>
            <a:off x="444401" y="656927"/>
            <a:ext cx="4119372" cy="152400"/>
          </a:xfrm>
          <a:prstGeom prst="rect">
            <a:avLst/>
          </a:prstGeom>
          <a:noFill/>
          <a:ln/>
        </p:spPr>
        <p:txBody>
          <a:bodyPr wrap="square" lIns="0" tIns="0" rIns="0" bIns="0" rtlCol="0" anchor="t"/>
          <a:lstStyle/>
          <a:p>
            <a:pPr algn="l" indent="0" marL="0">
              <a:spcAft>
                <a:spcPts val="300"/>
              </a:spcAft>
              <a:buNone/>
            </a:pPr>
            <a:r>
              <a:rPr lang="en-US" sz="1100" b="1" dirty="0">
                <a:solidFill>
                  <a:srgbClr val="00703C"/>
                </a:solidFill>
                <a:latin typeface="Arial" pitchFamily="34" charset="0"/>
                <a:ea typeface="Arial" pitchFamily="34" charset="-122"/>
                <a:cs typeface="Arial" pitchFamily="34" charset="-120"/>
              </a:rPr>
              <a:t>01</a:t>
            </a:r>
            <a:endParaRPr lang="en-US" sz="1100" dirty="0"/>
          </a:p>
        </p:txBody>
      </p:sp>
      <p:sp>
        <p:nvSpPr>
          <p:cNvPr id="7" name="Text 5"/>
          <p:cNvSpPr/>
          <p:nvPr/>
        </p:nvSpPr>
        <p:spPr>
          <a:xfrm>
            <a:off x="444401" y="847427"/>
            <a:ext cx="4119372" cy="133350"/>
          </a:xfrm>
          <a:prstGeom prst="rect">
            <a:avLst/>
          </a:prstGeom>
          <a:noFill/>
          <a:ln/>
        </p:spPr>
        <p:txBody>
          <a:bodyPr wrap="square" lIns="0" tIns="0" rIns="0" bIns="0" rtlCol="0" anchor="t"/>
          <a:lstStyle/>
          <a:p>
            <a:pPr algn="l" indent="0" marL="0">
              <a:spcAft>
                <a:spcPts val="300"/>
              </a:spcAft>
              <a:buNone/>
            </a:pPr>
            <a:r>
              <a:rPr lang="en-US" sz="900" b="1" dirty="0">
                <a:solidFill>
                  <a:srgbClr val="023520"/>
                </a:solidFill>
                <a:latin typeface="Arial" pitchFamily="34" charset="0"/>
                <a:ea typeface="Arial" pitchFamily="34" charset="-122"/>
                <a:cs typeface="Arial" pitchFamily="34" charset="-120"/>
              </a:rPr>
              <a:t>16 SKUs Are Underpriced vs Market</a:t>
            </a:r>
            <a:endParaRPr lang="en-US" sz="900" dirty="0"/>
          </a:p>
        </p:txBody>
      </p:sp>
      <p:sp>
        <p:nvSpPr>
          <p:cNvPr id="8" name="Text 6"/>
          <p:cNvSpPr/>
          <p:nvPr/>
        </p:nvSpPr>
        <p:spPr>
          <a:xfrm>
            <a:off x="444401" y="1018877"/>
            <a:ext cx="4119372" cy="371475"/>
          </a:xfrm>
          <a:prstGeom prst="rect">
            <a:avLst/>
          </a:prstGeom>
          <a:noFill/>
          <a:ln/>
        </p:spPr>
        <p:txBody>
          <a:bodyPr wrap="square" lIns="0" tIns="0" rIns="0" bIns="0" rtlCol="0" anchor="t"/>
          <a:lstStyle/>
          <a:p>
            <a:pPr algn="l" indent="0" marL="0">
              <a:lnSpc>
                <a:spcPts val="975"/>
              </a:lnSpc>
              <a:buNone/>
            </a:pPr>
            <a:r>
              <a:rPr lang="en-US" sz="750" dirty="0">
                <a:solidFill>
                  <a:srgbClr val="444444"/>
                </a:solidFill>
                <a:latin typeface="Arial" pitchFamily="34" charset="0"/>
                <a:ea typeface="Arial" pitchFamily="34" charset="-122"/>
                <a:cs typeface="Arial" pitchFamily="34" charset="-120"/>
              </a:rPr>
              <a:t>36% of PSO's retail SKUs are positioned </a:t>
            </a:r>
            <a:pPr algn="l" indent="0" marL="0">
              <a:lnSpc>
                <a:spcPts val="975"/>
              </a:lnSpc>
              <a:buNone/>
            </a:pPr>
            <a:r>
              <a:rPr lang="en-US" sz="750" b="1" dirty="0">
                <a:solidFill>
                  <a:srgbClr val="C8960C"/>
                </a:solidFill>
                <a:latin typeface="Arial" pitchFamily="34" charset="0"/>
                <a:ea typeface="Arial" pitchFamily="34" charset="-122"/>
                <a:cs typeface="Arial" pitchFamily="34" charset="-120"/>
              </a:rPr>
              <a:t>more than 10% below market median</a:t>
            </a:r>
            <a:pPr algn="l" indent="0" marL="0">
              <a:lnSpc>
                <a:spcPts val="975"/>
              </a:lnSpc>
              <a:buNone/>
            </a:pPr>
            <a:r>
              <a:rPr lang="en-US" sz="750" dirty="0">
                <a:solidFill>
                  <a:srgbClr val="444444"/>
                </a:solidFill>
                <a:latin typeface="Arial" pitchFamily="34" charset="0"/>
                <a:ea typeface="Arial" pitchFamily="34" charset="-122"/>
                <a:cs typeface="Arial" pitchFamily="34" charset="-120"/>
              </a:rPr>
              <a:t>. The highest gap: Carient Plus 10W-40 1L at −27.6%. This represents a direct margin recovery opportunity without volume risk.</a:t>
            </a:r>
            <a:endParaRPr lang="en-US" sz="750" dirty="0"/>
          </a:p>
        </p:txBody>
      </p:sp>
      <p:sp>
        <p:nvSpPr>
          <p:cNvPr id="9" name="Text 7"/>
          <p:cNvSpPr/>
          <p:nvPr/>
        </p:nvSpPr>
        <p:spPr>
          <a:xfrm>
            <a:off x="253901" y="1580704"/>
            <a:ext cx="4381500" cy="911126"/>
          </a:xfrm>
          <a:prstGeom prst="roundRect">
            <a:avLst>
              <a:gd name="adj" fmla="val 6969"/>
            </a:avLst>
          </a:prstGeom>
          <a:solidFill>
            <a:srgbClr val="FFFFFF"/>
          </a:solidFill>
          <a:ln/>
          <a:effectLst>
            <a:outerShdw sx="100000" sy="100000" kx="0" ky="0" algn="bl" rotWithShape="0" blurRad="50800" dist="17960" dir="2700000">
              <a:srgbClr val="000000">
                <a:alpha val="7000"/>
              </a:srgbClr>
            </a:outerShdw>
          </a:effectLst>
        </p:spPr>
        <p:txBody>
          <a:bodyPr wrap="square" rtlCol="0" anchor="ctr"/>
          <a:lstStyle/>
          <a:p>
            <a:pPr indent="0" marL="0">
              <a:buNone/>
            </a:pPr>
            <a:endParaRPr lang="en-US" dirty="0"/>
          </a:p>
        </p:txBody>
      </p:sp>
      <p:sp>
        <p:nvSpPr>
          <p:cNvPr id="10" name="Shape 8"/>
          <p:cNvSpPr/>
          <p:nvPr/>
        </p:nvSpPr>
        <p:spPr>
          <a:xfrm>
            <a:off x="272951" y="1580704"/>
            <a:ext cx="0" cy="911126"/>
          </a:xfrm>
          <a:prstGeom prst="line">
            <a:avLst/>
          </a:prstGeom>
          <a:noFill/>
          <a:ln w="38100">
            <a:solidFill>
              <a:srgbClr val="00703C"/>
            </a:solidFill>
            <a:prstDash val="solid"/>
          </a:ln>
        </p:spPr>
      </p:sp>
      <p:sp>
        <p:nvSpPr>
          <p:cNvPr id="11" name="Text 9"/>
          <p:cNvSpPr/>
          <p:nvPr/>
        </p:nvSpPr>
        <p:spPr>
          <a:xfrm>
            <a:off x="444401" y="1669554"/>
            <a:ext cx="4119372" cy="152400"/>
          </a:xfrm>
          <a:prstGeom prst="rect">
            <a:avLst/>
          </a:prstGeom>
          <a:noFill/>
          <a:ln/>
        </p:spPr>
        <p:txBody>
          <a:bodyPr wrap="square" lIns="0" tIns="0" rIns="0" bIns="0" rtlCol="0" anchor="t"/>
          <a:lstStyle/>
          <a:p>
            <a:pPr algn="l" indent="0" marL="0">
              <a:spcAft>
                <a:spcPts val="300"/>
              </a:spcAft>
              <a:buNone/>
            </a:pPr>
            <a:r>
              <a:rPr lang="en-US" sz="1100" b="1" dirty="0">
                <a:solidFill>
                  <a:srgbClr val="00703C"/>
                </a:solidFill>
                <a:latin typeface="Arial" pitchFamily="34" charset="0"/>
                <a:ea typeface="Arial" pitchFamily="34" charset="-122"/>
                <a:cs typeface="Arial" pitchFamily="34" charset="-120"/>
              </a:rPr>
              <a:t>02</a:t>
            </a:r>
            <a:endParaRPr lang="en-US" sz="1100" dirty="0"/>
          </a:p>
        </p:txBody>
      </p:sp>
      <p:sp>
        <p:nvSpPr>
          <p:cNvPr id="12" name="Text 10"/>
          <p:cNvSpPr/>
          <p:nvPr/>
        </p:nvSpPr>
        <p:spPr>
          <a:xfrm>
            <a:off x="444401" y="1860054"/>
            <a:ext cx="4119372" cy="133350"/>
          </a:xfrm>
          <a:prstGeom prst="rect">
            <a:avLst/>
          </a:prstGeom>
          <a:noFill/>
          <a:ln/>
        </p:spPr>
        <p:txBody>
          <a:bodyPr wrap="square" lIns="0" tIns="0" rIns="0" bIns="0" rtlCol="0" anchor="t"/>
          <a:lstStyle/>
          <a:p>
            <a:pPr algn="l" indent="0" marL="0">
              <a:spcAft>
                <a:spcPts val="300"/>
              </a:spcAft>
              <a:buNone/>
            </a:pPr>
            <a:r>
              <a:rPr lang="en-US" sz="900" b="1" dirty="0">
                <a:solidFill>
                  <a:srgbClr val="023520"/>
                </a:solidFill>
                <a:latin typeface="Arial" pitchFamily="34" charset="0"/>
                <a:ea typeface="Arial" pitchFamily="34" charset="-122"/>
                <a:cs typeface="Arial" pitchFamily="34" charset="-120"/>
              </a:rPr>
              <a:t>5W-30 Commands a Disproportionate Premium</a:t>
            </a:r>
            <a:endParaRPr lang="en-US" sz="900" dirty="0"/>
          </a:p>
        </p:txBody>
      </p:sp>
      <p:sp>
        <p:nvSpPr>
          <p:cNvPr id="13" name="Text 11"/>
          <p:cNvSpPr/>
          <p:nvPr/>
        </p:nvSpPr>
        <p:spPr>
          <a:xfrm>
            <a:off x="444401" y="2031504"/>
            <a:ext cx="4119372" cy="371475"/>
          </a:xfrm>
          <a:prstGeom prst="rect">
            <a:avLst/>
          </a:prstGeom>
          <a:noFill/>
          <a:ln/>
        </p:spPr>
        <p:txBody>
          <a:bodyPr wrap="square" lIns="0" tIns="0" rIns="0" bIns="0" rtlCol="0" anchor="t"/>
          <a:lstStyle/>
          <a:p>
            <a:pPr algn="l" indent="0" marL="0">
              <a:lnSpc>
                <a:spcPts val="975"/>
              </a:lnSpc>
              <a:buNone/>
            </a:pPr>
            <a:r>
              <a:rPr lang="en-US" sz="750" dirty="0">
                <a:solidFill>
                  <a:srgbClr val="444444"/>
                </a:solidFill>
                <a:latin typeface="Arial" pitchFamily="34" charset="0"/>
                <a:ea typeface="Arial" pitchFamily="34" charset="-122"/>
                <a:cs typeface="Arial" pitchFamily="34" charset="-120"/>
              </a:rPr>
              <a:t>Carient Ultra 5W-30 is priced </a:t>
            </a:r>
            <a:pPr algn="l" indent="0" marL="0">
              <a:lnSpc>
                <a:spcPts val="975"/>
              </a:lnSpc>
              <a:buNone/>
            </a:pPr>
            <a:r>
              <a:rPr lang="en-US" sz="750" b="1" dirty="0">
                <a:solidFill>
                  <a:srgbClr val="C8960C"/>
                </a:solidFill>
                <a:latin typeface="Arial" pitchFamily="34" charset="0"/>
                <a:ea typeface="Arial" pitchFamily="34" charset="-122"/>
                <a:cs typeface="Arial" pitchFamily="34" charset="-120"/>
              </a:rPr>
              <a:t>+127% above market median</a:t>
            </a:r>
            <a:pPr algn="l" indent="0" marL="0">
              <a:lnSpc>
                <a:spcPts val="975"/>
              </a:lnSpc>
              <a:buNone/>
            </a:pPr>
            <a:r>
              <a:rPr lang="en-US" sz="750" dirty="0">
                <a:solidFill>
                  <a:srgbClr val="444444"/>
                </a:solidFill>
                <a:latin typeface="Arial" pitchFamily="34" charset="0"/>
                <a:ea typeface="Arial" pitchFamily="34" charset="-122"/>
                <a:cs typeface="Arial" pitchFamily="34" charset="-120"/>
              </a:rPr>
              <a:t> on 1L packs. While partly justified by spec premium, this outlier price may be suppressing trial. A 30–40% reduction is recommended.</a:t>
            </a:r>
            <a:endParaRPr lang="en-US" sz="750" dirty="0"/>
          </a:p>
        </p:txBody>
      </p:sp>
      <p:sp>
        <p:nvSpPr>
          <p:cNvPr id="14" name="Text 12"/>
          <p:cNvSpPr/>
          <p:nvPr/>
        </p:nvSpPr>
        <p:spPr>
          <a:xfrm>
            <a:off x="253901" y="2593330"/>
            <a:ext cx="4381500" cy="911126"/>
          </a:xfrm>
          <a:prstGeom prst="roundRect">
            <a:avLst>
              <a:gd name="adj" fmla="val 6969"/>
            </a:avLst>
          </a:prstGeom>
          <a:solidFill>
            <a:srgbClr val="FFFFFF"/>
          </a:solidFill>
          <a:ln/>
          <a:effectLst>
            <a:outerShdw sx="100000" sy="100000" kx="0" ky="0" algn="bl" rotWithShape="0" blurRad="50800" dist="17960" dir="2700000">
              <a:srgbClr val="000000">
                <a:alpha val="7000"/>
              </a:srgbClr>
            </a:outerShdw>
          </a:effectLst>
        </p:spPr>
        <p:txBody>
          <a:bodyPr wrap="square" rtlCol="0" anchor="ctr"/>
          <a:lstStyle/>
          <a:p>
            <a:pPr indent="0" marL="0">
              <a:buNone/>
            </a:pPr>
            <a:endParaRPr lang="en-US" dirty="0"/>
          </a:p>
        </p:txBody>
      </p:sp>
      <p:sp>
        <p:nvSpPr>
          <p:cNvPr id="15" name="Shape 13"/>
          <p:cNvSpPr/>
          <p:nvPr/>
        </p:nvSpPr>
        <p:spPr>
          <a:xfrm>
            <a:off x="272951" y="2593330"/>
            <a:ext cx="0" cy="911126"/>
          </a:xfrm>
          <a:prstGeom prst="line">
            <a:avLst/>
          </a:prstGeom>
          <a:noFill/>
          <a:ln w="38100">
            <a:solidFill>
              <a:srgbClr val="00703C"/>
            </a:solidFill>
            <a:prstDash val="solid"/>
          </a:ln>
        </p:spPr>
      </p:sp>
      <p:sp>
        <p:nvSpPr>
          <p:cNvPr id="16" name="Text 14"/>
          <p:cNvSpPr/>
          <p:nvPr/>
        </p:nvSpPr>
        <p:spPr>
          <a:xfrm>
            <a:off x="444401" y="2682180"/>
            <a:ext cx="4119372" cy="152400"/>
          </a:xfrm>
          <a:prstGeom prst="rect">
            <a:avLst/>
          </a:prstGeom>
          <a:noFill/>
          <a:ln/>
        </p:spPr>
        <p:txBody>
          <a:bodyPr wrap="square" lIns="0" tIns="0" rIns="0" bIns="0" rtlCol="0" anchor="t"/>
          <a:lstStyle/>
          <a:p>
            <a:pPr algn="l" indent="0" marL="0">
              <a:spcAft>
                <a:spcPts val="300"/>
              </a:spcAft>
              <a:buNone/>
            </a:pPr>
            <a:r>
              <a:rPr lang="en-US" sz="1100" b="1" dirty="0">
                <a:solidFill>
                  <a:srgbClr val="00703C"/>
                </a:solidFill>
                <a:latin typeface="Arial" pitchFamily="34" charset="0"/>
                <a:ea typeface="Arial" pitchFamily="34" charset="-122"/>
                <a:cs typeface="Arial" pitchFamily="34" charset="-120"/>
              </a:rPr>
              <a:t>03</a:t>
            </a:r>
            <a:endParaRPr lang="en-US" sz="1100" dirty="0"/>
          </a:p>
        </p:txBody>
      </p:sp>
      <p:sp>
        <p:nvSpPr>
          <p:cNvPr id="17" name="Text 15"/>
          <p:cNvSpPr/>
          <p:nvPr/>
        </p:nvSpPr>
        <p:spPr>
          <a:xfrm>
            <a:off x="444401" y="2872680"/>
            <a:ext cx="4119372" cy="133350"/>
          </a:xfrm>
          <a:prstGeom prst="rect">
            <a:avLst/>
          </a:prstGeom>
          <a:noFill/>
          <a:ln/>
        </p:spPr>
        <p:txBody>
          <a:bodyPr wrap="square" lIns="0" tIns="0" rIns="0" bIns="0" rtlCol="0" anchor="t"/>
          <a:lstStyle/>
          <a:p>
            <a:pPr algn="l" indent="0" marL="0">
              <a:spcAft>
                <a:spcPts val="300"/>
              </a:spcAft>
              <a:buNone/>
            </a:pPr>
            <a:r>
              <a:rPr lang="en-US" sz="900" b="1" dirty="0">
                <a:solidFill>
                  <a:srgbClr val="023520"/>
                </a:solidFill>
                <a:latin typeface="Arial" pitchFamily="34" charset="0"/>
                <a:ea typeface="Arial" pitchFamily="34" charset="-122"/>
                <a:cs typeface="Arial" pitchFamily="34" charset="-120"/>
              </a:rPr>
              <a:t>DEO Tier Gap Is Too Narrow</a:t>
            </a:r>
            <a:endParaRPr lang="en-US" sz="900" dirty="0"/>
          </a:p>
        </p:txBody>
      </p:sp>
      <p:sp>
        <p:nvSpPr>
          <p:cNvPr id="18" name="Text 16"/>
          <p:cNvSpPr/>
          <p:nvPr/>
        </p:nvSpPr>
        <p:spPr>
          <a:xfrm>
            <a:off x="444401" y="3044130"/>
            <a:ext cx="4119372" cy="371475"/>
          </a:xfrm>
          <a:prstGeom prst="rect">
            <a:avLst/>
          </a:prstGeom>
          <a:noFill/>
          <a:ln/>
        </p:spPr>
        <p:txBody>
          <a:bodyPr wrap="square" lIns="0" tIns="0" rIns="0" bIns="0" rtlCol="0" anchor="t"/>
          <a:lstStyle/>
          <a:p>
            <a:pPr algn="l" indent="0" marL="0">
              <a:lnSpc>
                <a:spcPts val="975"/>
              </a:lnSpc>
              <a:buNone/>
            </a:pPr>
            <a:r>
              <a:rPr lang="en-US" sz="750" dirty="0">
                <a:solidFill>
                  <a:srgbClr val="444444"/>
                </a:solidFill>
                <a:latin typeface="Arial" pitchFamily="34" charset="0"/>
                <a:ea typeface="Arial" pitchFamily="34" charset="-122"/>
                <a:cs typeface="Arial" pitchFamily="34" charset="-120"/>
              </a:rPr>
              <a:t>DEO 8000 (super premium) is priced almost identically to DEO 6000 (premium). The </a:t>
            </a:r>
            <a:pPr algn="l" indent="0" marL="0">
              <a:lnSpc>
                <a:spcPts val="975"/>
              </a:lnSpc>
              <a:buNone/>
            </a:pPr>
            <a:r>
              <a:rPr lang="en-US" sz="750" b="1" dirty="0">
                <a:solidFill>
                  <a:srgbClr val="C8960C"/>
                </a:solidFill>
                <a:latin typeface="Arial" pitchFamily="34" charset="0"/>
                <a:ea typeface="Arial" pitchFamily="34" charset="-122"/>
                <a:cs typeface="Arial" pitchFamily="34" charset="-120"/>
              </a:rPr>
              <a:t>inter-tier spread is only 2–4%</a:t>
            </a:r>
            <a:pPr algn="l" indent="0" marL="0">
              <a:lnSpc>
                <a:spcPts val="975"/>
              </a:lnSpc>
              <a:buNone/>
            </a:pPr>
            <a:r>
              <a:rPr lang="en-US" sz="750" dirty="0">
                <a:solidFill>
                  <a:srgbClr val="444444"/>
                </a:solidFill>
                <a:latin typeface="Arial" pitchFamily="34" charset="0"/>
                <a:ea typeface="Arial" pitchFamily="34" charset="-122"/>
                <a:cs typeface="Arial" pitchFamily="34" charset="-120"/>
              </a:rPr>
              <a:t>. Widening to 10–15% would strengthen trade-up rationale for fleet managers.</a:t>
            </a:r>
            <a:endParaRPr lang="en-US" sz="750" dirty="0"/>
          </a:p>
        </p:txBody>
      </p:sp>
      <p:sp>
        <p:nvSpPr>
          <p:cNvPr id="19" name="Text 17"/>
          <p:cNvSpPr/>
          <p:nvPr/>
        </p:nvSpPr>
        <p:spPr>
          <a:xfrm>
            <a:off x="253901" y="3605957"/>
            <a:ext cx="4381500" cy="911126"/>
          </a:xfrm>
          <a:prstGeom prst="roundRect">
            <a:avLst>
              <a:gd name="adj" fmla="val 6969"/>
            </a:avLst>
          </a:prstGeom>
          <a:solidFill>
            <a:srgbClr val="FFFFFF"/>
          </a:solidFill>
          <a:ln/>
          <a:effectLst>
            <a:outerShdw sx="100000" sy="100000" kx="0" ky="0" algn="bl" rotWithShape="0" blurRad="50800" dist="17960" dir="2700000">
              <a:srgbClr val="000000">
                <a:alpha val="7000"/>
              </a:srgbClr>
            </a:outerShdw>
          </a:effectLst>
        </p:spPr>
        <p:txBody>
          <a:bodyPr wrap="square" rtlCol="0" anchor="ctr"/>
          <a:lstStyle/>
          <a:p>
            <a:pPr indent="0" marL="0">
              <a:buNone/>
            </a:pPr>
            <a:endParaRPr lang="en-US" dirty="0"/>
          </a:p>
        </p:txBody>
      </p:sp>
      <p:sp>
        <p:nvSpPr>
          <p:cNvPr id="20" name="Shape 18"/>
          <p:cNvSpPr/>
          <p:nvPr/>
        </p:nvSpPr>
        <p:spPr>
          <a:xfrm>
            <a:off x="272951" y="3605957"/>
            <a:ext cx="0" cy="911126"/>
          </a:xfrm>
          <a:prstGeom prst="line">
            <a:avLst/>
          </a:prstGeom>
          <a:noFill/>
          <a:ln w="38100">
            <a:solidFill>
              <a:srgbClr val="00703C"/>
            </a:solidFill>
            <a:prstDash val="solid"/>
          </a:ln>
        </p:spPr>
      </p:sp>
      <p:sp>
        <p:nvSpPr>
          <p:cNvPr id="21" name="Text 19"/>
          <p:cNvSpPr/>
          <p:nvPr/>
        </p:nvSpPr>
        <p:spPr>
          <a:xfrm>
            <a:off x="444401" y="3694807"/>
            <a:ext cx="4119372" cy="152400"/>
          </a:xfrm>
          <a:prstGeom prst="rect">
            <a:avLst/>
          </a:prstGeom>
          <a:noFill/>
          <a:ln/>
        </p:spPr>
        <p:txBody>
          <a:bodyPr wrap="square" lIns="0" tIns="0" rIns="0" bIns="0" rtlCol="0" anchor="t"/>
          <a:lstStyle/>
          <a:p>
            <a:pPr algn="l" indent="0" marL="0">
              <a:spcAft>
                <a:spcPts val="300"/>
              </a:spcAft>
              <a:buNone/>
            </a:pPr>
            <a:r>
              <a:rPr lang="en-US" sz="1100" b="1" dirty="0">
                <a:solidFill>
                  <a:srgbClr val="00703C"/>
                </a:solidFill>
                <a:latin typeface="Arial" pitchFamily="34" charset="0"/>
                <a:ea typeface="Arial" pitchFamily="34" charset="-122"/>
                <a:cs typeface="Arial" pitchFamily="34" charset="-120"/>
              </a:rPr>
              <a:t>04</a:t>
            </a:r>
            <a:endParaRPr lang="en-US" sz="1100" dirty="0"/>
          </a:p>
        </p:txBody>
      </p:sp>
      <p:sp>
        <p:nvSpPr>
          <p:cNvPr id="22" name="Text 20"/>
          <p:cNvSpPr/>
          <p:nvPr/>
        </p:nvSpPr>
        <p:spPr>
          <a:xfrm>
            <a:off x="444401" y="3885307"/>
            <a:ext cx="4119372" cy="133350"/>
          </a:xfrm>
          <a:prstGeom prst="rect">
            <a:avLst/>
          </a:prstGeom>
          <a:noFill/>
          <a:ln/>
        </p:spPr>
        <p:txBody>
          <a:bodyPr wrap="square" lIns="0" tIns="0" rIns="0" bIns="0" rtlCol="0" anchor="t"/>
          <a:lstStyle/>
          <a:p>
            <a:pPr algn="l" indent="0" marL="0">
              <a:spcAft>
                <a:spcPts val="300"/>
              </a:spcAft>
              <a:buNone/>
            </a:pPr>
            <a:r>
              <a:rPr lang="en-US" sz="900" b="1" dirty="0">
                <a:solidFill>
                  <a:srgbClr val="023520"/>
                </a:solidFill>
                <a:latin typeface="Arial" pitchFamily="34" charset="0"/>
                <a:ea typeface="Arial" pitchFamily="34" charset="-122"/>
                <a:cs typeface="Arial" pitchFamily="34" charset="-120"/>
              </a:rPr>
              <a:t>MCO Blaze is Significantly Underpriced</a:t>
            </a:r>
            <a:endParaRPr lang="en-US" sz="900" dirty="0"/>
          </a:p>
        </p:txBody>
      </p:sp>
      <p:sp>
        <p:nvSpPr>
          <p:cNvPr id="23" name="Text 21"/>
          <p:cNvSpPr/>
          <p:nvPr/>
        </p:nvSpPr>
        <p:spPr>
          <a:xfrm>
            <a:off x="444401" y="4056757"/>
            <a:ext cx="4119372" cy="371475"/>
          </a:xfrm>
          <a:prstGeom prst="rect">
            <a:avLst/>
          </a:prstGeom>
          <a:noFill/>
          <a:ln/>
        </p:spPr>
        <p:txBody>
          <a:bodyPr wrap="square" lIns="0" tIns="0" rIns="0" bIns="0" rtlCol="0" anchor="t"/>
          <a:lstStyle/>
          <a:p>
            <a:pPr algn="l" indent="0" marL="0">
              <a:lnSpc>
                <a:spcPts val="975"/>
              </a:lnSpc>
              <a:buNone/>
            </a:pPr>
            <a:r>
              <a:rPr lang="en-US" sz="750" dirty="0">
                <a:solidFill>
                  <a:srgbClr val="444444"/>
                </a:solidFill>
                <a:latin typeface="Arial" pitchFamily="34" charset="0"/>
                <a:ea typeface="Arial" pitchFamily="34" charset="-122"/>
                <a:cs typeface="Arial" pitchFamily="34" charset="-120"/>
              </a:rPr>
              <a:t>Blaze 4T and Blaze Xtreme are both positioned </a:t>
            </a:r>
            <a:pPr algn="l" indent="0" marL="0">
              <a:lnSpc>
                <a:spcPts val="975"/>
              </a:lnSpc>
              <a:buNone/>
            </a:pPr>
            <a:r>
              <a:rPr lang="en-US" sz="750" b="1" dirty="0">
                <a:solidFill>
                  <a:srgbClr val="C8960C"/>
                </a:solidFill>
                <a:latin typeface="Arial" pitchFamily="34" charset="0"/>
                <a:ea typeface="Arial" pitchFamily="34" charset="-122"/>
                <a:cs typeface="Arial" pitchFamily="34" charset="-120"/>
              </a:rPr>
              <a:t>17–27% below market median</a:t>
            </a:r>
            <a:pPr algn="l" indent="0" marL="0">
              <a:lnSpc>
                <a:spcPts val="975"/>
              </a:lnSpc>
              <a:buNone/>
            </a:pPr>
            <a:r>
              <a:rPr lang="en-US" sz="750" dirty="0">
                <a:solidFill>
                  <a:srgbClr val="444444"/>
                </a:solidFill>
                <a:latin typeface="Arial" pitchFamily="34" charset="0"/>
                <a:ea typeface="Arial" pitchFamily="34" charset="-122"/>
                <a:cs typeface="Arial" pitchFamily="34" charset="-120"/>
              </a:rPr>
              <a:t> on 1L packs. Given motorcycle oil's high repurchase frequency, selective price recovery here yields outsized revenue impact.</a:t>
            </a:r>
            <a:endParaRPr lang="en-US" sz="7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0" y="0"/>
            <a:ext cx="9144000" cy="730151"/>
          </a:xfrm>
          <a:prstGeom prst="rect">
            <a:avLst/>
          </a:prstGeom>
          <a:solidFill>
            <a:srgbClr val="023520"/>
          </a:solidFill>
          <a:ln/>
        </p:spPr>
        <p:txBody>
          <a:bodyPr wrap="square" rtlCol="0" anchor="ctr"/>
          <a:lstStyle/>
          <a:p>
            <a:pPr indent="0" marL="0">
              <a:buNone/>
            </a:pPr>
            <a:endParaRPr lang="en-US" dirty="0"/>
          </a:p>
        </p:txBody>
      </p:sp>
      <p:sp>
        <p:nvSpPr>
          <p:cNvPr id="3" name="Text 1"/>
          <p:cNvSpPr/>
          <p:nvPr/>
        </p:nvSpPr>
        <p:spPr>
          <a:xfrm>
            <a:off x="355550" y="152400"/>
            <a:ext cx="8601557" cy="266700"/>
          </a:xfrm>
          <a:prstGeom prst="rect">
            <a:avLst/>
          </a:prstGeom>
          <a:noFill/>
          <a:ln/>
        </p:spPr>
        <p:txBody>
          <a:bodyPr wrap="square" lIns="0" tIns="0" rIns="0" bIns="0" rtlCol="0" anchor="t"/>
          <a:lstStyle/>
          <a:p>
            <a:pPr algn="l" indent="0" marL="0">
              <a:buNone/>
            </a:pPr>
            <a:r>
              <a:rPr lang="en-US" sz="1800" b="1" dirty="0">
                <a:solidFill>
                  <a:srgbClr val="FFFFFF"/>
                </a:solidFill>
                <a:latin typeface="Arial" pitchFamily="34" charset="0"/>
                <a:ea typeface="Arial" pitchFamily="34" charset="-122"/>
                <a:cs typeface="Arial" pitchFamily="34" charset="-120"/>
              </a:rPr>
              <a:t>Strategic Recommendations</a:t>
            </a:r>
            <a:endParaRPr lang="en-US" sz="1800" dirty="0"/>
          </a:p>
        </p:txBody>
      </p:sp>
      <p:sp>
        <p:nvSpPr>
          <p:cNvPr id="4" name="Text 2"/>
          <p:cNvSpPr/>
          <p:nvPr/>
        </p:nvSpPr>
        <p:spPr>
          <a:xfrm>
            <a:off x="355550" y="469850"/>
            <a:ext cx="8601557" cy="133350"/>
          </a:xfrm>
          <a:prstGeom prst="rect">
            <a:avLst/>
          </a:prstGeom>
          <a:noFill/>
          <a:ln/>
        </p:spPr>
        <p:txBody>
          <a:bodyPr wrap="square" lIns="0" tIns="0" rIns="0" bIns="0" rtlCol="0" anchor="t"/>
          <a:lstStyle/>
          <a:p>
            <a:pPr algn="l" indent="0" marL="0">
              <a:spcBef>
                <a:spcPts val="400"/>
              </a:spcBef>
              <a:buNone/>
            </a:pPr>
            <a:r>
              <a:rPr lang="en-US" sz="900" b="1" dirty="0">
                <a:solidFill>
                  <a:srgbClr val="A8D5BE"/>
                </a:solidFill>
                <a:latin typeface="Arial" pitchFamily="34" charset="0"/>
                <a:ea typeface="Arial" pitchFamily="34" charset="-122"/>
                <a:cs typeface="Arial" pitchFamily="34" charset="-120"/>
              </a:rPr>
              <a:t>5 priority actions to capture pricing opportunity and protect margin</a:t>
            </a:r>
            <a:endParaRPr lang="en-US" sz="900" dirty="0"/>
          </a:p>
        </p:txBody>
      </p:sp>
      <p:sp>
        <p:nvSpPr>
          <p:cNvPr id="5" name="Text 3"/>
          <p:cNvSpPr/>
          <p:nvPr/>
        </p:nvSpPr>
        <p:spPr>
          <a:xfrm>
            <a:off x="304800" y="907852"/>
            <a:ext cx="8534400" cy="698599"/>
          </a:xfrm>
          <a:prstGeom prst="roundRect">
            <a:avLst>
              <a:gd name="adj" fmla="val 9090"/>
            </a:avLst>
          </a:prstGeom>
          <a:solidFill>
            <a:srgbClr val="F8F8F8"/>
          </a:solidFill>
          <a:ln/>
        </p:spPr>
        <p:txBody>
          <a:bodyPr wrap="square" rtlCol="0" anchor="ctr"/>
          <a:lstStyle/>
          <a:p>
            <a:pPr indent="0" marL="0">
              <a:buNone/>
            </a:pPr>
            <a:endParaRPr lang="en-US" dirty="0"/>
          </a:p>
        </p:txBody>
      </p:sp>
      <p:sp>
        <p:nvSpPr>
          <p:cNvPr id="6" name="Shape 4"/>
          <p:cNvSpPr/>
          <p:nvPr/>
        </p:nvSpPr>
        <p:spPr>
          <a:xfrm>
            <a:off x="328613" y="907852"/>
            <a:ext cx="0" cy="698599"/>
          </a:xfrm>
          <a:prstGeom prst="line">
            <a:avLst/>
          </a:prstGeom>
          <a:noFill/>
          <a:ln w="47625">
            <a:solidFill>
              <a:srgbClr val="00703C"/>
            </a:solidFill>
            <a:prstDash val="solid"/>
          </a:ln>
        </p:spPr>
      </p:sp>
      <p:sp>
        <p:nvSpPr>
          <p:cNvPr id="7" name="Text 5"/>
          <p:cNvSpPr/>
          <p:nvPr/>
        </p:nvSpPr>
        <p:spPr>
          <a:xfrm>
            <a:off x="504825" y="1009352"/>
            <a:ext cx="258979" cy="222200"/>
          </a:xfrm>
          <a:prstGeom prst="rect">
            <a:avLst/>
          </a:prstGeom>
          <a:noFill/>
          <a:ln/>
        </p:spPr>
        <p:txBody>
          <a:bodyPr wrap="square" lIns="0" tIns="12700" rIns="0" bIns="0" rtlCol="0" anchor="t"/>
          <a:lstStyle/>
          <a:p>
            <a:pPr algn="l" indent="0" marL="0">
              <a:buNone/>
            </a:pPr>
            <a:r>
              <a:rPr lang="en-US" sz="1400" b="1" dirty="0">
                <a:solidFill>
                  <a:srgbClr val="C8960C"/>
                </a:solidFill>
                <a:latin typeface="Arial" pitchFamily="34" charset="0"/>
                <a:ea typeface="Arial" pitchFamily="34" charset="-122"/>
                <a:cs typeface="Arial" pitchFamily="34" charset="-120"/>
              </a:rPr>
              <a:t>1</a:t>
            </a:r>
            <a:endParaRPr lang="en-US" sz="1400" dirty="0"/>
          </a:p>
        </p:txBody>
      </p:sp>
      <p:sp>
        <p:nvSpPr>
          <p:cNvPr id="8" name="Text 6"/>
          <p:cNvSpPr/>
          <p:nvPr/>
        </p:nvSpPr>
        <p:spPr>
          <a:xfrm>
            <a:off x="911126" y="1009352"/>
            <a:ext cx="2684210" cy="142875"/>
          </a:xfrm>
          <a:prstGeom prst="rect">
            <a:avLst/>
          </a:prstGeom>
          <a:noFill/>
          <a:ln/>
        </p:spPr>
        <p:txBody>
          <a:bodyPr wrap="square" lIns="0" tIns="0" rIns="0" bIns="0" rtlCol="0" anchor="t"/>
          <a:lstStyle/>
          <a:p>
            <a:pPr algn="l" indent="0" marL="0">
              <a:spcAft>
                <a:spcPts val="200"/>
              </a:spcAft>
              <a:buNone/>
            </a:pPr>
            <a:r>
              <a:rPr lang="en-US" sz="1000" b="1" dirty="0">
                <a:solidFill>
                  <a:srgbClr val="023520"/>
                </a:solidFill>
                <a:latin typeface="Arial" pitchFamily="34" charset="0"/>
                <a:ea typeface="Arial" pitchFamily="34" charset="-122"/>
                <a:cs typeface="Arial" pitchFamily="34" charset="-120"/>
              </a:rPr>
              <a:t>Recover Margin on Underpriced MCO SKUs</a:t>
            </a:r>
            <a:endParaRPr lang="en-US" sz="1000" dirty="0"/>
          </a:p>
        </p:txBody>
      </p:sp>
      <p:sp>
        <p:nvSpPr>
          <p:cNvPr id="9" name="Text 7"/>
          <p:cNvSpPr/>
          <p:nvPr/>
        </p:nvSpPr>
        <p:spPr>
          <a:xfrm>
            <a:off x="3644205" y="1020514"/>
            <a:ext cx="819001" cy="145852"/>
          </a:xfrm>
          <a:prstGeom prst="roundRect">
            <a:avLst>
              <a:gd name="adj" fmla="val 17415"/>
            </a:avLst>
          </a:prstGeom>
          <a:solidFill>
            <a:srgbClr val="C8960C"/>
          </a:solidFill>
          <a:ln/>
        </p:spPr>
        <p:txBody>
          <a:bodyPr wrap="square" rtlCol="0" anchor="ctr"/>
          <a:lstStyle/>
          <a:p>
            <a:pPr indent="0" marL="0">
              <a:buNone/>
            </a:pPr>
            <a:endParaRPr lang="en-US" dirty="0"/>
          </a:p>
        </p:txBody>
      </p:sp>
      <p:sp>
        <p:nvSpPr>
          <p:cNvPr id="10" name="Text 8"/>
          <p:cNvSpPr/>
          <p:nvPr/>
        </p:nvSpPr>
        <p:spPr>
          <a:xfrm>
            <a:off x="3720405" y="1045815"/>
            <a:ext cx="679933" cy="95250"/>
          </a:xfrm>
          <a:prstGeom prst="rect">
            <a:avLst/>
          </a:prstGeom>
          <a:noFill/>
          <a:ln/>
        </p:spPr>
        <p:txBody>
          <a:bodyPr wrap="square" lIns="0" tIns="0" rIns="0" bIns="0" rtlCol="0" anchor="t"/>
          <a:lstStyle/>
          <a:p>
            <a:pPr algn="l" indent="0" marL="0">
              <a:buNone/>
            </a:pPr>
            <a:r>
              <a:rPr lang="en-US" sz="700" b="1" dirty="0">
                <a:solidFill>
                  <a:srgbClr val="FFFFFF"/>
                </a:solidFill>
                <a:latin typeface="Arial" pitchFamily="34" charset="0"/>
                <a:ea typeface="Arial" pitchFamily="34" charset="-122"/>
                <a:cs typeface="Arial" pitchFamily="34" charset="-120"/>
              </a:rPr>
              <a:t>HIGH PRIORITY</a:t>
            </a:r>
            <a:endParaRPr lang="en-US" sz="700" dirty="0"/>
          </a:p>
        </p:txBody>
      </p:sp>
      <p:sp>
        <p:nvSpPr>
          <p:cNvPr id="11" name="Text 9"/>
          <p:cNvSpPr/>
          <p:nvPr/>
        </p:nvSpPr>
        <p:spPr>
          <a:xfrm>
            <a:off x="911126" y="1202829"/>
            <a:ext cx="7931188" cy="302121"/>
          </a:xfrm>
          <a:prstGeom prst="rect">
            <a:avLst/>
          </a:prstGeom>
          <a:noFill/>
          <a:ln/>
        </p:spPr>
        <p:txBody>
          <a:bodyPr wrap="square" lIns="0" tIns="0" rIns="0" bIns="0" rtlCol="0" anchor="t"/>
          <a:lstStyle/>
          <a:p>
            <a:pPr algn="l" indent="0" marL="0">
              <a:lnSpc>
                <a:spcPts val="1190"/>
              </a:lnSpc>
              <a:buNone/>
            </a:pPr>
            <a:r>
              <a:rPr lang="en-US" sz="850" dirty="0">
                <a:solidFill>
                  <a:srgbClr val="444444"/>
                </a:solidFill>
                <a:latin typeface="Arial" pitchFamily="34" charset="0"/>
                <a:ea typeface="Arial" pitchFamily="34" charset="-122"/>
                <a:cs typeface="Arial" pitchFamily="34" charset="-120"/>
              </a:rPr>
              <a:t>Raise Blaze 4T and Blaze Xtreme 1L prices by 15–20% in a phased 6-month schedule. MCO buyers are high-frequency purchasers — price increases are absorbed faster here than in HDEO.</a:t>
            </a:r>
            <a:endParaRPr lang="en-US" sz="850" dirty="0"/>
          </a:p>
        </p:txBody>
      </p:sp>
      <p:sp>
        <p:nvSpPr>
          <p:cNvPr id="12" name="Text 10"/>
          <p:cNvSpPr/>
          <p:nvPr/>
        </p:nvSpPr>
        <p:spPr>
          <a:xfrm>
            <a:off x="304800" y="1707952"/>
            <a:ext cx="8534400" cy="698599"/>
          </a:xfrm>
          <a:prstGeom prst="roundRect">
            <a:avLst>
              <a:gd name="adj" fmla="val 9090"/>
            </a:avLst>
          </a:prstGeom>
          <a:solidFill>
            <a:srgbClr val="F8F8F8"/>
          </a:solidFill>
          <a:ln/>
        </p:spPr>
        <p:txBody>
          <a:bodyPr wrap="square" rtlCol="0" anchor="ctr"/>
          <a:lstStyle/>
          <a:p>
            <a:pPr indent="0" marL="0">
              <a:buNone/>
            </a:pPr>
            <a:endParaRPr lang="en-US" dirty="0"/>
          </a:p>
        </p:txBody>
      </p:sp>
      <p:sp>
        <p:nvSpPr>
          <p:cNvPr id="13" name="Shape 11"/>
          <p:cNvSpPr/>
          <p:nvPr/>
        </p:nvSpPr>
        <p:spPr>
          <a:xfrm>
            <a:off x="328613" y="1707952"/>
            <a:ext cx="0" cy="698599"/>
          </a:xfrm>
          <a:prstGeom prst="line">
            <a:avLst/>
          </a:prstGeom>
          <a:noFill/>
          <a:ln w="47625">
            <a:solidFill>
              <a:srgbClr val="00703C"/>
            </a:solidFill>
            <a:prstDash val="solid"/>
          </a:ln>
        </p:spPr>
      </p:sp>
      <p:sp>
        <p:nvSpPr>
          <p:cNvPr id="14" name="Text 12"/>
          <p:cNvSpPr/>
          <p:nvPr/>
        </p:nvSpPr>
        <p:spPr>
          <a:xfrm>
            <a:off x="504825" y="1809452"/>
            <a:ext cx="258979" cy="222200"/>
          </a:xfrm>
          <a:prstGeom prst="rect">
            <a:avLst/>
          </a:prstGeom>
          <a:noFill/>
          <a:ln/>
        </p:spPr>
        <p:txBody>
          <a:bodyPr wrap="square" lIns="0" tIns="12700" rIns="0" bIns="0" rtlCol="0" anchor="t"/>
          <a:lstStyle/>
          <a:p>
            <a:pPr algn="l" indent="0" marL="0">
              <a:buNone/>
            </a:pPr>
            <a:r>
              <a:rPr lang="en-US" sz="1400" b="1" dirty="0">
                <a:solidFill>
                  <a:srgbClr val="C8960C"/>
                </a:solidFill>
                <a:latin typeface="Arial" pitchFamily="34" charset="0"/>
                <a:ea typeface="Arial" pitchFamily="34" charset="-122"/>
                <a:cs typeface="Arial" pitchFamily="34" charset="-120"/>
              </a:rPr>
              <a:t>2</a:t>
            </a:r>
            <a:endParaRPr lang="en-US" sz="1400" dirty="0"/>
          </a:p>
        </p:txBody>
      </p:sp>
      <p:sp>
        <p:nvSpPr>
          <p:cNvPr id="15" name="Text 13"/>
          <p:cNvSpPr/>
          <p:nvPr/>
        </p:nvSpPr>
        <p:spPr>
          <a:xfrm>
            <a:off x="911126" y="1809452"/>
            <a:ext cx="1911828" cy="142875"/>
          </a:xfrm>
          <a:prstGeom prst="rect">
            <a:avLst/>
          </a:prstGeom>
          <a:noFill/>
          <a:ln/>
        </p:spPr>
        <p:txBody>
          <a:bodyPr wrap="square" lIns="0" tIns="0" rIns="0" bIns="0" rtlCol="0" anchor="t"/>
          <a:lstStyle/>
          <a:p>
            <a:pPr algn="l" indent="0" marL="0">
              <a:spcAft>
                <a:spcPts val="200"/>
              </a:spcAft>
              <a:buNone/>
            </a:pPr>
            <a:r>
              <a:rPr lang="en-US" sz="1000" b="1" dirty="0">
                <a:solidFill>
                  <a:srgbClr val="023520"/>
                </a:solidFill>
                <a:latin typeface="Arial" pitchFamily="34" charset="0"/>
                <a:ea typeface="Arial" pitchFamily="34" charset="-122"/>
                <a:cs typeface="Arial" pitchFamily="34" charset="-120"/>
              </a:rPr>
              <a:t>Correct the 5W-30 Price Outlier</a:t>
            </a:r>
            <a:endParaRPr lang="en-US" sz="1000" dirty="0"/>
          </a:p>
        </p:txBody>
      </p:sp>
      <p:sp>
        <p:nvSpPr>
          <p:cNvPr id="16" name="Text 14"/>
          <p:cNvSpPr/>
          <p:nvPr/>
        </p:nvSpPr>
        <p:spPr>
          <a:xfrm>
            <a:off x="2886968" y="1820614"/>
            <a:ext cx="644575" cy="145852"/>
          </a:xfrm>
          <a:prstGeom prst="roundRect">
            <a:avLst>
              <a:gd name="adj" fmla="val 17415"/>
            </a:avLst>
          </a:prstGeom>
          <a:solidFill>
            <a:srgbClr val="C8960C"/>
          </a:solidFill>
          <a:ln/>
        </p:spPr>
        <p:txBody>
          <a:bodyPr wrap="square" rtlCol="0" anchor="ctr"/>
          <a:lstStyle/>
          <a:p>
            <a:pPr indent="0" marL="0">
              <a:buNone/>
            </a:pPr>
            <a:endParaRPr lang="en-US" dirty="0"/>
          </a:p>
        </p:txBody>
      </p:sp>
      <p:sp>
        <p:nvSpPr>
          <p:cNvPr id="17" name="Text 15"/>
          <p:cNvSpPr/>
          <p:nvPr/>
        </p:nvSpPr>
        <p:spPr>
          <a:xfrm>
            <a:off x="2963168" y="1845915"/>
            <a:ext cx="502018" cy="95250"/>
          </a:xfrm>
          <a:prstGeom prst="rect">
            <a:avLst/>
          </a:prstGeom>
          <a:noFill/>
          <a:ln/>
        </p:spPr>
        <p:txBody>
          <a:bodyPr wrap="square" lIns="0" tIns="0" rIns="0" bIns="0" rtlCol="0" anchor="t"/>
          <a:lstStyle/>
          <a:p>
            <a:pPr algn="l" indent="0" marL="0">
              <a:buNone/>
            </a:pPr>
            <a:r>
              <a:rPr lang="en-US" sz="700" b="1" dirty="0">
                <a:solidFill>
                  <a:srgbClr val="FFFFFF"/>
                </a:solidFill>
                <a:latin typeface="Arial" pitchFamily="34" charset="0"/>
                <a:ea typeface="Arial" pitchFamily="34" charset="-122"/>
                <a:cs typeface="Arial" pitchFamily="34" charset="-120"/>
              </a:rPr>
              <a:t>IMMEDIATE</a:t>
            </a:r>
            <a:endParaRPr lang="en-US" sz="700" dirty="0"/>
          </a:p>
        </p:txBody>
      </p:sp>
      <p:sp>
        <p:nvSpPr>
          <p:cNvPr id="18" name="Text 16"/>
          <p:cNvSpPr/>
          <p:nvPr/>
        </p:nvSpPr>
        <p:spPr>
          <a:xfrm>
            <a:off x="911126" y="2002929"/>
            <a:ext cx="7931188" cy="302121"/>
          </a:xfrm>
          <a:prstGeom prst="rect">
            <a:avLst/>
          </a:prstGeom>
          <a:noFill/>
          <a:ln/>
        </p:spPr>
        <p:txBody>
          <a:bodyPr wrap="square" lIns="0" tIns="0" rIns="0" bIns="0" rtlCol="0" anchor="t"/>
          <a:lstStyle/>
          <a:p>
            <a:pPr algn="l" indent="0" marL="0">
              <a:lnSpc>
                <a:spcPts val="1190"/>
              </a:lnSpc>
              <a:buNone/>
            </a:pPr>
            <a:r>
              <a:rPr lang="en-US" sz="850" dirty="0">
                <a:solidFill>
                  <a:srgbClr val="444444"/>
                </a:solidFill>
                <a:latin typeface="Arial" pitchFamily="34" charset="0"/>
                <a:ea typeface="Arial" pitchFamily="34" charset="-122"/>
                <a:cs typeface="Arial" pitchFamily="34" charset="-120"/>
              </a:rPr>
              <a:t>Carient Ultra 5W-30 at +127% vs market is a trial barrier. Reduce 1L price to the Rs 1,800–2,000 range while communicating spec superiority to maintain premium positioning.</a:t>
            </a:r>
            <a:endParaRPr lang="en-US" sz="850" dirty="0"/>
          </a:p>
        </p:txBody>
      </p:sp>
      <p:sp>
        <p:nvSpPr>
          <p:cNvPr id="19" name="Text 17"/>
          <p:cNvSpPr/>
          <p:nvPr/>
        </p:nvSpPr>
        <p:spPr>
          <a:xfrm>
            <a:off x="304800" y="2508052"/>
            <a:ext cx="8534400" cy="698599"/>
          </a:xfrm>
          <a:prstGeom prst="roundRect">
            <a:avLst>
              <a:gd name="adj" fmla="val 9090"/>
            </a:avLst>
          </a:prstGeom>
          <a:solidFill>
            <a:srgbClr val="F8F8F8"/>
          </a:solidFill>
          <a:ln/>
        </p:spPr>
        <p:txBody>
          <a:bodyPr wrap="square" rtlCol="0" anchor="ctr"/>
          <a:lstStyle/>
          <a:p>
            <a:pPr indent="0" marL="0">
              <a:buNone/>
            </a:pPr>
            <a:endParaRPr lang="en-US" dirty="0"/>
          </a:p>
        </p:txBody>
      </p:sp>
      <p:sp>
        <p:nvSpPr>
          <p:cNvPr id="20" name="Shape 18"/>
          <p:cNvSpPr/>
          <p:nvPr/>
        </p:nvSpPr>
        <p:spPr>
          <a:xfrm>
            <a:off x="328613" y="2508052"/>
            <a:ext cx="0" cy="698599"/>
          </a:xfrm>
          <a:prstGeom prst="line">
            <a:avLst/>
          </a:prstGeom>
          <a:noFill/>
          <a:ln w="47625">
            <a:solidFill>
              <a:srgbClr val="00703C"/>
            </a:solidFill>
            <a:prstDash val="solid"/>
          </a:ln>
        </p:spPr>
      </p:sp>
      <p:sp>
        <p:nvSpPr>
          <p:cNvPr id="21" name="Text 19"/>
          <p:cNvSpPr/>
          <p:nvPr/>
        </p:nvSpPr>
        <p:spPr>
          <a:xfrm>
            <a:off x="504825" y="2609552"/>
            <a:ext cx="258979" cy="222200"/>
          </a:xfrm>
          <a:prstGeom prst="rect">
            <a:avLst/>
          </a:prstGeom>
          <a:noFill/>
          <a:ln/>
        </p:spPr>
        <p:txBody>
          <a:bodyPr wrap="square" lIns="0" tIns="12700" rIns="0" bIns="0" rtlCol="0" anchor="t"/>
          <a:lstStyle/>
          <a:p>
            <a:pPr algn="l" indent="0" marL="0">
              <a:buNone/>
            </a:pPr>
            <a:r>
              <a:rPr lang="en-US" sz="1400" b="1" dirty="0">
                <a:solidFill>
                  <a:srgbClr val="C8960C"/>
                </a:solidFill>
                <a:latin typeface="Arial" pitchFamily="34" charset="0"/>
                <a:ea typeface="Arial" pitchFamily="34" charset="-122"/>
                <a:cs typeface="Arial" pitchFamily="34" charset="-120"/>
              </a:rPr>
              <a:t>3</a:t>
            </a:r>
            <a:endParaRPr lang="en-US" sz="1400" dirty="0"/>
          </a:p>
        </p:txBody>
      </p:sp>
      <p:sp>
        <p:nvSpPr>
          <p:cNvPr id="22" name="Text 20"/>
          <p:cNvSpPr/>
          <p:nvPr/>
        </p:nvSpPr>
        <p:spPr>
          <a:xfrm>
            <a:off x="911126" y="2609552"/>
            <a:ext cx="1817102" cy="142875"/>
          </a:xfrm>
          <a:prstGeom prst="rect">
            <a:avLst/>
          </a:prstGeom>
          <a:noFill/>
          <a:ln/>
        </p:spPr>
        <p:txBody>
          <a:bodyPr wrap="square" lIns="0" tIns="0" rIns="0" bIns="0" rtlCol="0" anchor="t"/>
          <a:lstStyle/>
          <a:p>
            <a:pPr algn="l" indent="0" marL="0">
              <a:spcAft>
                <a:spcPts val="200"/>
              </a:spcAft>
              <a:buNone/>
            </a:pPr>
            <a:r>
              <a:rPr lang="en-US" sz="1000" b="1" dirty="0">
                <a:solidFill>
                  <a:srgbClr val="023520"/>
                </a:solidFill>
                <a:latin typeface="Arial" pitchFamily="34" charset="0"/>
                <a:ea typeface="Arial" pitchFamily="34" charset="-122"/>
                <a:cs typeface="Arial" pitchFamily="34" charset="-120"/>
              </a:rPr>
              <a:t>Widen the DEO Inter-Tier Gap</a:t>
            </a:r>
            <a:endParaRPr lang="en-US" sz="1000" dirty="0"/>
          </a:p>
        </p:txBody>
      </p:sp>
      <p:sp>
        <p:nvSpPr>
          <p:cNvPr id="23" name="Text 21"/>
          <p:cNvSpPr/>
          <p:nvPr/>
        </p:nvSpPr>
        <p:spPr>
          <a:xfrm>
            <a:off x="2794099" y="2620714"/>
            <a:ext cx="957263" cy="145852"/>
          </a:xfrm>
          <a:prstGeom prst="roundRect">
            <a:avLst>
              <a:gd name="adj" fmla="val 17415"/>
            </a:avLst>
          </a:prstGeom>
          <a:solidFill>
            <a:srgbClr val="C8960C"/>
          </a:solidFill>
          <a:ln/>
        </p:spPr>
        <p:txBody>
          <a:bodyPr wrap="square" rtlCol="0" anchor="ctr"/>
          <a:lstStyle/>
          <a:p>
            <a:pPr indent="0" marL="0">
              <a:buNone/>
            </a:pPr>
            <a:endParaRPr lang="en-US" dirty="0"/>
          </a:p>
        </p:txBody>
      </p:sp>
      <p:sp>
        <p:nvSpPr>
          <p:cNvPr id="24" name="Text 22"/>
          <p:cNvSpPr/>
          <p:nvPr/>
        </p:nvSpPr>
        <p:spPr>
          <a:xfrm>
            <a:off x="2870299" y="2646015"/>
            <a:ext cx="820960" cy="95250"/>
          </a:xfrm>
          <a:prstGeom prst="rect">
            <a:avLst/>
          </a:prstGeom>
          <a:noFill/>
          <a:ln/>
        </p:spPr>
        <p:txBody>
          <a:bodyPr wrap="square" lIns="0" tIns="0" rIns="0" bIns="0" rtlCol="0" anchor="t"/>
          <a:lstStyle/>
          <a:p>
            <a:pPr algn="l" indent="0" marL="0">
              <a:buNone/>
            </a:pPr>
            <a:r>
              <a:rPr lang="en-US" sz="700" b="1" dirty="0">
                <a:solidFill>
                  <a:srgbClr val="FFFFFF"/>
                </a:solidFill>
                <a:latin typeface="Arial" pitchFamily="34" charset="0"/>
                <a:ea typeface="Arial" pitchFamily="34" charset="-122"/>
                <a:cs typeface="Arial" pitchFamily="34" charset="-120"/>
              </a:rPr>
              <a:t>MEDIUM PRIORITY</a:t>
            </a:r>
            <a:endParaRPr lang="en-US" sz="700" dirty="0"/>
          </a:p>
        </p:txBody>
      </p:sp>
      <p:sp>
        <p:nvSpPr>
          <p:cNvPr id="25" name="Text 23"/>
          <p:cNvSpPr/>
          <p:nvPr/>
        </p:nvSpPr>
        <p:spPr>
          <a:xfrm>
            <a:off x="911126" y="2803029"/>
            <a:ext cx="7931188" cy="302121"/>
          </a:xfrm>
          <a:prstGeom prst="rect">
            <a:avLst/>
          </a:prstGeom>
          <a:noFill/>
          <a:ln/>
        </p:spPr>
        <p:txBody>
          <a:bodyPr wrap="square" lIns="0" tIns="0" rIns="0" bIns="0" rtlCol="0" anchor="t"/>
          <a:lstStyle/>
          <a:p>
            <a:pPr algn="l" indent="0" marL="0">
              <a:lnSpc>
                <a:spcPts val="1190"/>
              </a:lnSpc>
              <a:buNone/>
            </a:pPr>
            <a:r>
              <a:rPr lang="en-US" sz="850" dirty="0">
                <a:solidFill>
                  <a:srgbClr val="444444"/>
                </a:solidFill>
                <a:latin typeface="Arial" pitchFamily="34" charset="0"/>
                <a:ea typeface="Arial" pitchFamily="34" charset="-122"/>
                <a:cs typeface="Arial" pitchFamily="34" charset="-120"/>
              </a:rPr>
              <a:t>Increase DEO Max and DEO 8000 pricing by 8–12% relative to DEO 6000. A 10–15% visible price step will reinforce the trade-up story with fleet buyers and workshop channel partners.</a:t>
            </a:r>
            <a:endParaRPr lang="en-US" sz="850" dirty="0"/>
          </a:p>
        </p:txBody>
      </p:sp>
      <p:sp>
        <p:nvSpPr>
          <p:cNvPr id="26" name="Text 24"/>
          <p:cNvSpPr/>
          <p:nvPr/>
        </p:nvSpPr>
        <p:spPr>
          <a:xfrm>
            <a:off x="304800" y="3308152"/>
            <a:ext cx="8534400" cy="698599"/>
          </a:xfrm>
          <a:prstGeom prst="roundRect">
            <a:avLst>
              <a:gd name="adj" fmla="val 9090"/>
            </a:avLst>
          </a:prstGeom>
          <a:solidFill>
            <a:srgbClr val="F8F8F8"/>
          </a:solidFill>
          <a:ln/>
        </p:spPr>
        <p:txBody>
          <a:bodyPr wrap="square" rtlCol="0" anchor="ctr"/>
          <a:lstStyle/>
          <a:p>
            <a:pPr indent="0" marL="0">
              <a:buNone/>
            </a:pPr>
            <a:endParaRPr lang="en-US" dirty="0"/>
          </a:p>
        </p:txBody>
      </p:sp>
      <p:sp>
        <p:nvSpPr>
          <p:cNvPr id="27" name="Shape 25"/>
          <p:cNvSpPr/>
          <p:nvPr/>
        </p:nvSpPr>
        <p:spPr>
          <a:xfrm>
            <a:off x="328613" y="3308152"/>
            <a:ext cx="0" cy="698599"/>
          </a:xfrm>
          <a:prstGeom prst="line">
            <a:avLst/>
          </a:prstGeom>
          <a:noFill/>
          <a:ln w="47625">
            <a:solidFill>
              <a:srgbClr val="00703C"/>
            </a:solidFill>
            <a:prstDash val="solid"/>
          </a:ln>
        </p:spPr>
      </p:sp>
      <p:sp>
        <p:nvSpPr>
          <p:cNvPr id="28" name="Text 26"/>
          <p:cNvSpPr/>
          <p:nvPr/>
        </p:nvSpPr>
        <p:spPr>
          <a:xfrm>
            <a:off x="504825" y="3409652"/>
            <a:ext cx="258979" cy="222200"/>
          </a:xfrm>
          <a:prstGeom prst="rect">
            <a:avLst/>
          </a:prstGeom>
          <a:noFill/>
          <a:ln/>
        </p:spPr>
        <p:txBody>
          <a:bodyPr wrap="square" lIns="0" tIns="12700" rIns="0" bIns="0" rtlCol="0" anchor="t"/>
          <a:lstStyle/>
          <a:p>
            <a:pPr algn="l" indent="0" marL="0">
              <a:buNone/>
            </a:pPr>
            <a:r>
              <a:rPr lang="en-US" sz="1400" b="1" dirty="0">
                <a:solidFill>
                  <a:srgbClr val="C8960C"/>
                </a:solidFill>
                <a:latin typeface="Arial" pitchFamily="34" charset="0"/>
                <a:ea typeface="Arial" pitchFamily="34" charset="-122"/>
                <a:cs typeface="Arial" pitchFamily="34" charset="-120"/>
              </a:rPr>
              <a:t>4</a:t>
            </a:r>
            <a:endParaRPr lang="en-US" sz="1400" dirty="0"/>
          </a:p>
        </p:txBody>
      </p:sp>
      <p:sp>
        <p:nvSpPr>
          <p:cNvPr id="29" name="Text 27"/>
          <p:cNvSpPr/>
          <p:nvPr/>
        </p:nvSpPr>
        <p:spPr>
          <a:xfrm>
            <a:off x="911126" y="3409652"/>
            <a:ext cx="2447395" cy="142875"/>
          </a:xfrm>
          <a:prstGeom prst="rect">
            <a:avLst/>
          </a:prstGeom>
          <a:noFill/>
          <a:ln/>
        </p:spPr>
        <p:txBody>
          <a:bodyPr wrap="square" lIns="0" tIns="0" rIns="0" bIns="0" rtlCol="0" anchor="t"/>
          <a:lstStyle/>
          <a:p>
            <a:pPr algn="l" indent="0" marL="0">
              <a:spcAft>
                <a:spcPts val="200"/>
              </a:spcAft>
              <a:buNone/>
            </a:pPr>
            <a:r>
              <a:rPr lang="en-US" sz="1000" b="1" dirty="0">
                <a:solidFill>
                  <a:srgbClr val="023520"/>
                </a:solidFill>
                <a:latin typeface="Arial" pitchFamily="34" charset="0"/>
                <a:ea typeface="Arial" pitchFamily="34" charset="-122"/>
                <a:cs typeface="Arial" pitchFamily="34" charset="-120"/>
              </a:rPr>
              <a:t>Standardise Pack-Size Premium Curves</a:t>
            </a:r>
            <a:endParaRPr lang="en-US" sz="1000" dirty="0"/>
          </a:p>
        </p:txBody>
      </p:sp>
      <p:sp>
        <p:nvSpPr>
          <p:cNvPr id="30" name="Text 28"/>
          <p:cNvSpPr/>
          <p:nvPr/>
        </p:nvSpPr>
        <p:spPr>
          <a:xfrm>
            <a:off x="3412034" y="3420814"/>
            <a:ext cx="957263" cy="145852"/>
          </a:xfrm>
          <a:prstGeom prst="roundRect">
            <a:avLst>
              <a:gd name="adj" fmla="val 17415"/>
            </a:avLst>
          </a:prstGeom>
          <a:solidFill>
            <a:srgbClr val="C8960C"/>
          </a:solidFill>
          <a:ln/>
        </p:spPr>
        <p:txBody>
          <a:bodyPr wrap="square" rtlCol="0" anchor="ctr"/>
          <a:lstStyle/>
          <a:p>
            <a:pPr indent="0" marL="0">
              <a:buNone/>
            </a:pPr>
            <a:endParaRPr lang="en-US" dirty="0"/>
          </a:p>
        </p:txBody>
      </p:sp>
      <p:sp>
        <p:nvSpPr>
          <p:cNvPr id="31" name="Text 29"/>
          <p:cNvSpPr/>
          <p:nvPr/>
        </p:nvSpPr>
        <p:spPr>
          <a:xfrm>
            <a:off x="3488234" y="3446115"/>
            <a:ext cx="820960" cy="95250"/>
          </a:xfrm>
          <a:prstGeom prst="rect">
            <a:avLst/>
          </a:prstGeom>
          <a:noFill/>
          <a:ln/>
        </p:spPr>
        <p:txBody>
          <a:bodyPr wrap="square" lIns="0" tIns="0" rIns="0" bIns="0" rtlCol="0" anchor="t"/>
          <a:lstStyle/>
          <a:p>
            <a:pPr algn="l" indent="0" marL="0">
              <a:buNone/>
            </a:pPr>
            <a:r>
              <a:rPr lang="en-US" sz="700" b="1" dirty="0">
                <a:solidFill>
                  <a:srgbClr val="FFFFFF"/>
                </a:solidFill>
                <a:latin typeface="Arial" pitchFamily="34" charset="0"/>
                <a:ea typeface="Arial" pitchFamily="34" charset="-122"/>
                <a:cs typeface="Arial" pitchFamily="34" charset="-120"/>
              </a:rPr>
              <a:t>MEDIUM PRIORITY</a:t>
            </a:r>
            <a:endParaRPr lang="en-US" sz="700" dirty="0"/>
          </a:p>
        </p:txBody>
      </p:sp>
      <p:sp>
        <p:nvSpPr>
          <p:cNvPr id="32" name="Text 30"/>
          <p:cNvSpPr/>
          <p:nvPr/>
        </p:nvSpPr>
        <p:spPr>
          <a:xfrm>
            <a:off x="911126" y="3603129"/>
            <a:ext cx="7931188" cy="302121"/>
          </a:xfrm>
          <a:prstGeom prst="rect">
            <a:avLst/>
          </a:prstGeom>
          <a:noFill/>
          <a:ln/>
        </p:spPr>
        <p:txBody>
          <a:bodyPr wrap="square" lIns="0" tIns="0" rIns="0" bIns="0" rtlCol="0" anchor="t"/>
          <a:lstStyle/>
          <a:p>
            <a:pPr algn="l" indent="0" marL="0">
              <a:lnSpc>
                <a:spcPts val="1190"/>
              </a:lnSpc>
              <a:buNone/>
            </a:pPr>
            <a:r>
              <a:rPr lang="en-US" sz="850" dirty="0">
                <a:solidFill>
                  <a:srgbClr val="444444"/>
                </a:solidFill>
                <a:latin typeface="Arial" pitchFamily="34" charset="0"/>
                <a:ea typeface="Arial" pitchFamily="34" charset="-122"/>
                <a:cs typeface="Arial" pitchFamily="34" charset="-120"/>
              </a:rPr>
              <a:t>Apply consistent PPA step-down rules across all brands. Currently, some 3L and 4L packs are priced inconsistently vs 1L, creating arbitrage opportunities for distributors.</a:t>
            </a:r>
            <a:endParaRPr lang="en-US" sz="850" dirty="0"/>
          </a:p>
        </p:txBody>
      </p:sp>
      <p:sp>
        <p:nvSpPr>
          <p:cNvPr id="33" name="Text 31"/>
          <p:cNvSpPr/>
          <p:nvPr/>
        </p:nvSpPr>
        <p:spPr>
          <a:xfrm>
            <a:off x="304800" y="4108252"/>
            <a:ext cx="8534400" cy="698599"/>
          </a:xfrm>
          <a:prstGeom prst="roundRect">
            <a:avLst>
              <a:gd name="adj" fmla="val 9090"/>
            </a:avLst>
          </a:prstGeom>
          <a:solidFill>
            <a:srgbClr val="F8F8F8"/>
          </a:solidFill>
          <a:ln/>
        </p:spPr>
        <p:txBody>
          <a:bodyPr wrap="square" rtlCol="0" anchor="ctr"/>
          <a:lstStyle/>
          <a:p>
            <a:pPr indent="0" marL="0">
              <a:buNone/>
            </a:pPr>
            <a:endParaRPr lang="en-US" dirty="0"/>
          </a:p>
        </p:txBody>
      </p:sp>
      <p:sp>
        <p:nvSpPr>
          <p:cNvPr id="34" name="Shape 32"/>
          <p:cNvSpPr/>
          <p:nvPr/>
        </p:nvSpPr>
        <p:spPr>
          <a:xfrm>
            <a:off x="328613" y="4108252"/>
            <a:ext cx="0" cy="698599"/>
          </a:xfrm>
          <a:prstGeom prst="line">
            <a:avLst/>
          </a:prstGeom>
          <a:noFill/>
          <a:ln w="47625">
            <a:solidFill>
              <a:srgbClr val="00703C"/>
            </a:solidFill>
            <a:prstDash val="solid"/>
          </a:ln>
        </p:spPr>
      </p:sp>
      <p:sp>
        <p:nvSpPr>
          <p:cNvPr id="35" name="Text 33"/>
          <p:cNvSpPr/>
          <p:nvPr/>
        </p:nvSpPr>
        <p:spPr>
          <a:xfrm>
            <a:off x="504825" y="4209752"/>
            <a:ext cx="258979" cy="222200"/>
          </a:xfrm>
          <a:prstGeom prst="rect">
            <a:avLst/>
          </a:prstGeom>
          <a:noFill/>
          <a:ln/>
        </p:spPr>
        <p:txBody>
          <a:bodyPr wrap="square" lIns="0" tIns="12700" rIns="0" bIns="0" rtlCol="0" anchor="t"/>
          <a:lstStyle/>
          <a:p>
            <a:pPr algn="l" indent="0" marL="0">
              <a:buNone/>
            </a:pPr>
            <a:r>
              <a:rPr lang="en-US" sz="1400" b="1" dirty="0">
                <a:solidFill>
                  <a:srgbClr val="C8960C"/>
                </a:solidFill>
                <a:latin typeface="Arial" pitchFamily="34" charset="0"/>
                <a:ea typeface="Arial" pitchFamily="34" charset="-122"/>
                <a:cs typeface="Arial" pitchFamily="34" charset="-120"/>
              </a:rPr>
              <a:t>5</a:t>
            </a:r>
            <a:endParaRPr lang="en-US" sz="1400" dirty="0"/>
          </a:p>
        </p:txBody>
      </p:sp>
      <p:sp>
        <p:nvSpPr>
          <p:cNvPr id="36" name="Text 34"/>
          <p:cNvSpPr/>
          <p:nvPr/>
        </p:nvSpPr>
        <p:spPr>
          <a:xfrm>
            <a:off x="911126" y="4209752"/>
            <a:ext cx="2670396" cy="142875"/>
          </a:xfrm>
          <a:prstGeom prst="rect">
            <a:avLst/>
          </a:prstGeom>
          <a:noFill/>
          <a:ln/>
        </p:spPr>
        <p:txBody>
          <a:bodyPr wrap="square" lIns="0" tIns="0" rIns="0" bIns="0" rtlCol="0" anchor="t"/>
          <a:lstStyle/>
          <a:p>
            <a:pPr algn="l" indent="0" marL="0">
              <a:spcAft>
                <a:spcPts val="200"/>
              </a:spcAft>
              <a:buNone/>
            </a:pPr>
            <a:r>
              <a:rPr lang="en-US" sz="1000" b="1" dirty="0">
                <a:solidFill>
                  <a:srgbClr val="023520"/>
                </a:solidFill>
                <a:latin typeface="Arial" pitchFamily="34" charset="0"/>
                <a:ea typeface="Arial" pitchFamily="34" charset="-122"/>
                <a:cs typeface="Arial" pitchFamily="34" charset="-120"/>
              </a:rPr>
              <a:t>Implement Quarterly Price Review Cadence</a:t>
            </a:r>
            <a:endParaRPr lang="en-US" sz="1000" dirty="0"/>
          </a:p>
        </p:txBody>
      </p:sp>
      <p:sp>
        <p:nvSpPr>
          <p:cNvPr id="37" name="Text 35"/>
          <p:cNvSpPr/>
          <p:nvPr/>
        </p:nvSpPr>
        <p:spPr>
          <a:xfrm>
            <a:off x="3630662" y="4220914"/>
            <a:ext cx="759619" cy="145852"/>
          </a:xfrm>
          <a:prstGeom prst="roundRect">
            <a:avLst>
              <a:gd name="adj" fmla="val 17415"/>
            </a:avLst>
          </a:prstGeom>
          <a:solidFill>
            <a:srgbClr val="C8960C"/>
          </a:solidFill>
          <a:ln/>
        </p:spPr>
        <p:txBody>
          <a:bodyPr wrap="square" rtlCol="0" anchor="ctr"/>
          <a:lstStyle/>
          <a:p>
            <a:pPr indent="0" marL="0">
              <a:buNone/>
            </a:pPr>
            <a:endParaRPr lang="en-US" dirty="0"/>
          </a:p>
        </p:txBody>
      </p:sp>
      <p:sp>
        <p:nvSpPr>
          <p:cNvPr id="38" name="Text 36"/>
          <p:cNvSpPr/>
          <p:nvPr/>
        </p:nvSpPr>
        <p:spPr>
          <a:xfrm>
            <a:off x="3706862" y="4246215"/>
            <a:ext cx="619363" cy="95250"/>
          </a:xfrm>
          <a:prstGeom prst="rect">
            <a:avLst/>
          </a:prstGeom>
          <a:noFill/>
          <a:ln/>
        </p:spPr>
        <p:txBody>
          <a:bodyPr wrap="square" lIns="0" tIns="0" rIns="0" bIns="0" rtlCol="0" anchor="t"/>
          <a:lstStyle/>
          <a:p>
            <a:pPr algn="l" indent="0" marL="0">
              <a:buNone/>
            </a:pPr>
            <a:r>
              <a:rPr lang="en-US" sz="700" b="1" dirty="0">
                <a:solidFill>
                  <a:srgbClr val="FFFFFF"/>
                </a:solidFill>
                <a:latin typeface="Arial" pitchFamily="34" charset="0"/>
                <a:ea typeface="Arial" pitchFamily="34" charset="-122"/>
                <a:cs typeface="Arial" pitchFamily="34" charset="-120"/>
              </a:rPr>
              <a:t>STRUCTURAL</a:t>
            </a:r>
            <a:endParaRPr lang="en-US" sz="700" dirty="0"/>
          </a:p>
        </p:txBody>
      </p:sp>
      <p:sp>
        <p:nvSpPr>
          <p:cNvPr id="39" name="Text 37"/>
          <p:cNvSpPr/>
          <p:nvPr/>
        </p:nvSpPr>
        <p:spPr>
          <a:xfrm>
            <a:off x="911126" y="4403229"/>
            <a:ext cx="7931188" cy="302121"/>
          </a:xfrm>
          <a:prstGeom prst="rect">
            <a:avLst/>
          </a:prstGeom>
          <a:noFill/>
          <a:ln/>
        </p:spPr>
        <p:txBody>
          <a:bodyPr wrap="square" lIns="0" tIns="0" rIns="0" bIns="0" rtlCol="0" anchor="t"/>
          <a:lstStyle/>
          <a:p>
            <a:pPr algn="l" indent="0" marL="0">
              <a:lnSpc>
                <a:spcPts val="1190"/>
              </a:lnSpc>
              <a:buNone/>
            </a:pPr>
            <a:r>
              <a:rPr lang="en-US" sz="850" dirty="0">
                <a:solidFill>
                  <a:srgbClr val="444444"/>
                </a:solidFill>
                <a:latin typeface="Arial" pitchFamily="34" charset="0"/>
                <a:ea typeface="Arial" pitchFamily="34" charset="-122"/>
                <a:cs typeface="Arial" pitchFamily="34" charset="-120"/>
              </a:rPr>
              <a:t>Tie recommended prices to a quarterly BOI re-indexation. Automate re-calculation when PKR/USD moves &gt;5% or Group III base oil benchmarks shift &gt;8%. This pricing intelligence tool delivers that capability.</a:t>
            </a:r>
            <a:endParaRPr lang="en-US" sz="8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0" y="0"/>
            <a:ext cx="9144000" cy="730151"/>
          </a:xfrm>
          <a:prstGeom prst="rect">
            <a:avLst/>
          </a:prstGeom>
          <a:solidFill>
            <a:srgbClr val="00703C"/>
          </a:solidFill>
          <a:ln/>
        </p:spPr>
        <p:txBody>
          <a:bodyPr wrap="square" rtlCol="0" anchor="ctr"/>
          <a:lstStyle/>
          <a:p>
            <a:pPr indent="0" marL="0">
              <a:buNone/>
            </a:pPr>
            <a:endParaRPr lang="en-US" dirty="0"/>
          </a:p>
        </p:txBody>
      </p:sp>
      <p:sp>
        <p:nvSpPr>
          <p:cNvPr id="3" name="Text 1"/>
          <p:cNvSpPr/>
          <p:nvPr/>
        </p:nvSpPr>
        <p:spPr>
          <a:xfrm>
            <a:off x="355550" y="152400"/>
            <a:ext cx="8601557" cy="266700"/>
          </a:xfrm>
          <a:prstGeom prst="rect">
            <a:avLst/>
          </a:prstGeom>
          <a:noFill/>
          <a:ln/>
        </p:spPr>
        <p:txBody>
          <a:bodyPr wrap="square" lIns="0" tIns="0" rIns="0" bIns="0" rtlCol="0" anchor="t"/>
          <a:lstStyle/>
          <a:p>
            <a:pPr algn="l" indent="0" marL="0">
              <a:buNone/>
            </a:pPr>
            <a:r>
              <a:rPr lang="en-US" sz="1800" b="1" dirty="0">
                <a:solidFill>
                  <a:srgbClr val="FFFFFF"/>
                </a:solidFill>
                <a:latin typeface="Arial" pitchFamily="34" charset="0"/>
                <a:ea typeface="Arial" pitchFamily="34" charset="-122"/>
                <a:cs typeface="Arial" pitchFamily="34" charset="-120"/>
              </a:rPr>
              <a:t>Implementation Roadmap</a:t>
            </a:r>
            <a:endParaRPr lang="en-US" sz="1800" dirty="0"/>
          </a:p>
        </p:txBody>
      </p:sp>
      <p:sp>
        <p:nvSpPr>
          <p:cNvPr id="4" name="Text 2"/>
          <p:cNvSpPr/>
          <p:nvPr/>
        </p:nvSpPr>
        <p:spPr>
          <a:xfrm>
            <a:off x="355550" y="469850"/>
            <a:ext cx="8601557" cy="133350"/>
          </a:xfrm>
          <a:prstGeom prst="rect">
            <a:avLst/>
          </a:prstGeom>
          <a:noFill/>
          <a:ln/>
        </p:spPr>
        <p:txBody>
          <a:bodyPr wrap="square" lIns="0" tIns="0" rIns="0" bIns="0" rtlCol="0" anchor="t"/>
          <a:lstStyle/>
          <a:p>
            <a:pPr algn="l" indent="0" marL="0">
              <a:spcBef>
                <a:spcPts val="400"/>
              </a:spcBef>
              <a:buNone/>
            </a:pPr>
            <a:r>
              <a:rPr lang="en-US" sz="900" b="1" dirty="0">
                <a:solidFill>
                  <a:srgbClr val="A8D5BE"/>
                </a:solidFill>
                <a:latin typeface="Arial" pitchFamily="34" charset="0"/>
                <a:ea typeface="Arial" pitchFamily="34" charset="-122"/>
                <a:cs typeface="Arial" pitchFamily="34" charset="-120"/>
              </a:rPr>
              <a:t>12-month phased pricing adjustment plan | August 2026 – July 2027</a:t>
            </a:r>
            <a:endParaRPr lang="en-US" sz="900" dirty="0"/>
          </a:p>
        </p:txBody>
      </p:sp>
      <p:sp>
        <p:nvSpPr>
          <p:cNvPr id="5" name="Text 3"/>
          <p:cNvSpPr/>
          <p:nvPr/>
        </p:nvSpPr>
        <p:spPr>
          <a:xfrm>
            <a:off x="304800" y="907852"/>
            <a:ext cx="8705088" cy="114300"/>
          </a:xfrm>
          <a:prstGeom prst="rect">
            <a:avLst/>
          </a:prstGeom>
          <a:noFill/>
          <a:ln/>
        </p:spPr>
        <p:txBody>
          <a:bodyPr wrap="square" lIns="0" tIns="0" rIns="0" bIns="0" rtlCol="0" anchor="t"/>
          <a:lstStyle/>
          <a:p>
            <a:pPr algn="l" indent="0" marL="0">
              <a:spcAft>
                <a:spcPts val="1000"/>
              </a:spcAft>
              <a:buNone/>
            </a:pPr>
            <a:r>
              <a:rPr lang="en-US" sz="800" dirty="0">
                <a:solidFill>
                  <a:srgbClr val="555555"/>
                </a:solidFill>
                <a:latin typeface="Arial" pitchFamily="34" charset="0"/>
                <a:ea typeface="Arial" pitchFamily="34" charset="-122"/>
                <a:cs typeface="Arial" pitchFamily="34" charset="-120"/>
              </a:rPr>
              <a:t>Priority actions mapped to quarter. RED = immediate. AMBER = within 6 months. GREEN = structural / ongoing.</a:t>
            </a:r>
            <a:endParaRPr lang="en-US" sz="800" dirty="0"/>
          </a:p>
        </p:txBody>
      </p:sp>
      <p:graphicFrame>
        <p:nvGraphicFramePr>
          <p:cNvPr id="20" name="Table 0"/>
          <p:cNvGraphicFramePr>
            <a:graphicFrameLocks noGrp="1"/>
          </p:cNvGraphicFramePr>
          <p:nvPr>
            <p:extLst>
              <p:ext uri="{D42A27DB-BD31-4B8C-83A1-F6EECF244321}">
                <p14:modId xmlns:p14="http://schemas.microsoft.com/office/powerpoint/2010/main" val="1579011935"/>
              </p:ext>
            </p:extLst>
          </p:nvPr>
        </p:nvGraphicFramePr>
        <p:xfrm>
          <a:off x="304800" y="1149102"/>
          <a:ext cx="8534400" cy="3816697"/>
        </p:xfrm>
        <a:graphic>
          <a:graphicData uri="http://schemas.openxmlformats.org/drawingml/2006/table">
            <a:tbl>
              <a:tblPr/>
              <a:tblGrid>
                <a:gridCol w="2560320"/>
                <a:gridCol w="1280160"/>
                <a:gridCol w="1371600"/>
                <a:gridCol w="1280160"/>
                <a:gridCol w="1188720"/>
                <a:gridCol w="914400"/>
              </a:tblGrid>
              <a:tr h="636116">
                <a:tc>
                  <a:txBody>
                    <a:bodyPr/>
                    <a:lstStyle/>
                    <a:p>
                      <a:pPr indent="0" marL="0">
                        <a:buNone/>
                      </a:pPr>
                      <a:r>
                        <a:rPr lang="en-US" sz="900" b="1" dirty="0">
                          <a:solidFill>
                            <a:srgbClr val="FFFFFF"/>
                          </a:solidFill>
                        </a:rPr>
                        <a:t>Action</a:t>
                      </a:r>
                      <a:endParaRPr lang="en-US" sz="900" dirty="0"/>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023520"/>
                    </a:solidFill>
                  </a:tcPr>
                </a:tc>
                <a:tc>
                  <a:txBody>
                    <a:bodyPr/>
                    <a:lstStyle/>
                    <a:p>
                      <a:pPr algn="ctr" indent="0" marL="0">
                        <a:buNone/>
                      </a:pPr>
                      <a:r>
                        <a:rPr lang="en-US" sz="900" b="1" dirty="0">
                          <a:solidFill>
                            <a:srgbClr val="FFFFFF"/>
                          </a:solidFill>
                        </a:rPr>
                        <a:t>Q1 Aug–Oct '26</a:t>
                      </a:r>
                      <a:endParaRPr lang="en-US" sz="900" dirty="0"/>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023520"/>
                    </a:solidFill>
                  </a:tcPr>
                </a:tc>
                <a:tc>
                  <a:txBody>
                    <a:bodyPr/>
                    <a:lstStyle/>
                    <a:p>
                      <a:pPr algn="ctr" indent="0" marL="0">
                        <a:buNone/>
                      </a:pPr>
                      <a:r>
                        <a:rPr lang="en-US" sz="900" b="1" dirty="0">
                          <a:solidFill>
                            <a:srgbClr val="FFFFFF"/>
                          </a:solidFill>
                        </a:rPr>
                        <a:t>Q2 Nov '26–Jan '27</a:t>
                      </a:r>
                      <a:endParaRPr lang="en-US" sz="900" dirty="0"/>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023520"/>
                    </a:solidFill>
                  </a:tcPr>
                </a:tc>
                <a:tc>
                  <a:txBody>
                    <a:bodyPr/>
                    <a:lstStyle/>
                    <a:p>
                      <a:pPr algn="ctr" indent="0" marL="0">
                        <a:buNone/>
                      </a:pPr>
                      <a:r>
                        <a:rPr lang="en-US" sz="900" b="1" dirty="0">
                          <a:solidFill>
                            <a:srgbClr val="FFFFFF"/>
                          </a:solidFill>
                        </a:rPr>
                        <a:t>Q3 Feb–Apr '27</a:t>
                      </a:r>
                      <a:endParaRPr lang="en-US" sz="900" dirty="0"/>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023520"/>
                    </a:solidFill>
                  </a:tcPr>
                </a:tc>
                <a:tc>
                  <a:txBody>
                    <a:bodyPr/>
                    <a:lstStyle/>
                    <a:p>
                      <a:pPr algn="ctr" indent="0" marL="0">
                        <a:buNone/>
                      </a:pPr>
                      <a:r>
                        <a:rPr lang="en-US" sz="900" b="1" dirty="0">
                          <a:solidFill>
                            <a:srgbClr val="FFFFFF"/>
                          </a:solidFill>
                        </a:rPr>
                        <a:t>Q4 May–Jul '27</a:t>
                      </a:r>
                      <a:endParaRPr lang="en-US" sz="900" dirty="0"/>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023520"/>
                    </a:solidFill>
                  </a:tcPr>
                </a:tc>
                <a:tc>
                  <a:txBody>
                    <a:bodyPr/>
                    <a:lstStyle/>
                    <a:p>
                      <a:pPr indent="0" marL="0">
                        <a:buNone/>
                      </a:pPr>
                      <a:r>
                        <a:rPr lang="en-US" sz="900" b="1" dirty="0">
                          <a:solidFill>
                            <a:srgbClr val="FFFFFF"/>
                          </a:solidFill>
                        </a:rPr>
                        <a:t>Owner</a:t>
                      </a:r>
                      <a:endParaRPr lang="en-US" sz="900" dirty="0"/>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023520"/>
                    </a:solidFill>
                  </a:tcPr>
                </a:tc>
              </a:tr>
              <a:tr h="636116">
                <a:tc>
                  <a:txBody>
                    <a:bodyPr/>
                    <a:lstStyle/>
                    <a:p>
                      <a:pPr indent="0" marL="0">
                        <a:buNone/>
                      </a:pPr>
                      <a:r>
                        <a:rPr lang="en-US" sz="800" b="1" dirty="0">
                          <a:solidFill>
                            <a:srgbClr val="023520"/>
                          </a:solidFill>
                        </a:rPr>
                        <a:t>Correct 5W-30 outlier price</a:t>
                      </a:r>
                      <a:endParaRPr lang="en-US" sz="800" dirty="0"/>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algn="ctr" indent="0" marL="0">
                        <a:buNone/>
                      </a:pPr>
                      <a:r>
                        <a:rPr lang="en-US" sz="800" b="1" dirty="0">
                          <a:solidFill>
                            <a:srgbClr val="FFFFFF"/>
                          </a:solidFill>
                        </a:rPr>
                        <a:t>EXECUTE</a:t>
                      </a:r>
                      <a:endParaRPr lang="en-US" sz="800" dirty="0"/>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C0392B"/>
                    </a:solidFill>
                  </a:tcPr>
                </a:tc>
                <a:tc>
                  <a:txBody>
                    <a:bodyPr/>
                    <a:lstStyle/>
                    <a:p>
                      <a:pPr algn="ctr" indent="0" marL="0">
                        <a:buNone/>
                      </a:pPr>
                      <a:r>
                        <a:rPr lang="en-US" sz="800" dirty="0">
                          <a:solidFill>
                            <a:srgbClr val="555555"/>
                          </a:solidFill>
                        </a:rPr>
                        <a:t>Monitor</a:t>
                      </a:r>
                      <a:endParaRPr lang="en-US" sz="800" dirty="0"/>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indent="0" marL="0">
                        <a:buNone/>
                      </a:pPr>
                      <a:endParaRPr lang="en-US" sz="800" dirty="0"/>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indent="0" marL="0">
                        <a:buNone/>
                      </a:pPr>
                      <a:endParaRPr lang="en-US" sz="800" dirty="0"/>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indent="0" marL="0">
                        <a:buNone/>
                      </a:pPr>
                      <a:r>
                        <a:rPr lang="en-US" sz="800" dirty="0">
                          <a:solidFill>
                            <a:srgbClr val="000000"/>
                          </a:solidFill>
                        </a:rPr>
                        <a:t>BU Pricing</a:t>
                      </a:r>
                      <a:endParaRPr lang="en-US" sz="800" dirty="0"/>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r>
              <a:tr h="636116">
                <a:tc>
                  <a:txBody>
                    <a:bodyPr/>
                    <a:lstStyle/>
                    <a:p>
                      <a:pPr indent="0" marL="0">
                        <a:buNone/>
                      </a:pPr>
                      <a:r>
                        <a:rPr lang="en-US" sz="800" b="1" dirty="0">
                          <a:solidFill>
                            <a:srgbClr val="023520"/>
                          </a:solidFill>
                        </a:rPr>
                        <a:t>Raise MCO prices by 15–20%</a:t>
                      </a:r>
                      <a:endParaRPr lang="en-US" sz="800" dirty="0"/>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algn="ctr" indent="0" marL="0">
                        <a:buNone/>
                      </a:pPr>
                      <a:r>
                        <a:rPr lang="en-US" sz="800" b="1" dirty="0">
                          <a:solidFill>
                            <a:srgbClr val="FFFFFF"/>
                          </a:solidFill>
                        </a:rPr>
                        <a:t>PLAN</a:t>
                      </a:r>
                      <a:endParaRPr lang="en-US" sz="800" dirty="0"/>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E67E22"/>
                    </a:solidFill>
                  </a:tcPr>
                </a:tc>
                <a:tc>
                  <a:txBody>
                    <a:bodyPr/>
                    <a:lstStyle/>
                    <a:p>
                      <a:pPr algn="ctr" indent="0" marL="0">
                        <a:buNone/>
                      </a:pPr>
                      <a:r>
                        <a:rPr lang="en-US" sz="800" b="1" dirty="0">
                          <a:solidFill>
                            <a:srgbClr val="FFFFFF"/>
                          </a:solidFill>
                        </a:rPr>
                        <a:t>EXECUTE</a:t>
                      </a:r>
                      <a:endParaRPr lang="en-US" sz="800" dirty="0"/>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E67E22"/>
                    </a:solidFill>
                  </a:tcPr>
                </a:tc>
                <a:tc>
                  <a:txBody>
                    <a:bodyPr/>
                    <a:lstStyle/>
                    <a:p>
                      <a:pPr algn="ctr" indent="0" marL="0">
                        <a:buNone/>
                      </a:pPr>
                      <a:r>
                        <a:rPr lang="en-US" sz="800" dirty="0">
                          <a:solidFill>
                            <a:srgbClr val="555555"/>
                          </a:solidFill>
                        </a:rPr>
                        <a:t>Monitor</a:t>
                      </a:r>
                      <a:endParaRPr lang="en-US" sz="800" dirty="0"/>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indent="0" marL="0">
                        <a:buNone/>
                      </a:pPr>
                      <a:endParaRPr lang="en-US" sz="800" dirty="0"/>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indent="0" marL="0">
                        <a:buNone/>
                      </a:pPr>
                      <a:r>
                        <a:rPr lang="en-US" sz="800" dirty="0">
                          <a:solidFill>
                            <a:srgbClr val="000000"/>
                          </a:solidFill>
                        </a:rPr>
                        <a:t>Sales / BU</a:t>
                      </a:r>
                      <a:endParaRPr lang="en-US" sz="800" dirty="0"/>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r>
              <a:tr h="636116">
                <a:tc>
                  <a:txBody>
                    <a:bodyPr/>
                    <a:lstStyle/>
                    <a:p>
                      <a:pPr indent="0" marL="0">
                        <a:buNone/>
                      </a:pPr>
                      <a:r>
                        <a:rPr lang="en-US" sz="800" b="1" dirty="0">
                          <a:solidFill>
                            <a:srgbClr val="023520"/>
                          </a:solidFill>
                        </a:rPr>
                        <a:t>Widen DEO tier gap (+8–12%)</a:t>
                      </a:r>
                      <a:endParaRPr lang="en-US" sz="800" dirty="0"/>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indent="0" marL="0">
                        <a:buNone/>
                      </a:pPr>
                      <a:endParaRPr lang="en-US" sz="800" dirty="0"/>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algn="ctr" indent="0" marL="0">
                        <a:buNone/>
                      </a:pPr>
                      <a:r>
                        <a:rPr lang="en-US" sz="800" b="1" dirty="0">
                          <a:solidFill>
                            <a:srgbClr val="FFFFFF"/>
                          </a:solidFill>
                        </a:rPr>
                        <a:t>PLAN</a:t>
                      </a:r>
                      <a:endParaRPr lang="en-US" sz="800" dirty="0"/>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E67E22"/>
                    </a:solidFill>
                  </a:tcPr>
                </a:tc>
                <a:tc>
                  <a:txBody>
                    <a:bodyPr/>
                    <a:lstStyle/>
                    <a:p>
                      <a:pPr algn="ctr" indent="0" marL="0">
                        <a:buNone/>
                      </a:pPr>
                      <a:r>
                        <a:rPr lang="en-US" sz="800" b="1" dirty="0">
                          <a:solidFill>
                            <a:srgbClr val="FFFFFF"/>
                          </a:solidFill>
                        </a:rPr>
                        <a:t>EXECUTE</a:t>
                      </a:r>
                      <a:endParaRPr lang="en-US" sz="800" dirty="0"/>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E67E22"/>
                    </a:solidFill>
                  </a:tcPr>
                </a:tc>
                <a:tc>
                  <a:txBody>
                    <a:bodyPr/>
                    <a:lstStyle/>
                    <a:p>
                      <a:pPr algn="ctr" indent="0" marL="0">
                        <a:buNone/>
                      </a:pPr>
                      <a:r>
                        <a:rPr lang="en-US" sz="800" dirty="0">
                          <a:solidFill>
                            <a:srgbClr val="555555"/>
                          </a:solidFill>
                        </a:rPr>
                        <a:t>Monitor</a:t>
                      </a:r>
                      <a:endParaRPr lang="en-US" sz="800" dirty="0"/>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indent="0" marL="0">
                        <a:buNone/>
                      </a:pPr>
                      <a:r>
                        <a:rPr lang="en-US" sz="800" dirty="0">
                          <a:solidFill>
                            <a:srgbClr val="000000"/>
                          </a:solidFill>
                        </a:rPr>
                        <a:t>Sales / BU</a:t>
                      </a:r>
                      <a:endParaRPr lang="en-US" sz="800" dirty="0"/>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r>
              <a:tr h="636116">
                <a:tc>
                  <a:txBody>
                    <a:bodyPr/>
                    <a:lstStyle/>
                    <a:p>
                      <a:pPr indent="0" marL="0">
                        <a:buNone/>
                      </a:pPr>
                      <a:r>
                        <a:rPr lang="en-US" sz="800" b="1" dirty="0">
                          <a:solidFill>
                            <a:srgbClr val="023520"/>
                          </a:solidFill>
                        </a:rPr>
                        <a:t>Standardise PPA step-down curves</a:t>
                      </a:r>
                      <a:endParaRPr lang="en-US" sz="800" dirty="0"/>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indent="0" marL="0">
                        <a:buNone/>
                      </a:pPr>
                      <a:endParaRPr lang="en-US" sz="800" dirty="0"/>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algn="ctr" indent="0" marL="0">
                        <a:buNone/>
                      </a:pPr>
                      <a:r>
                        <a:rPr lang="en-US" sz="800" b="1" dirty="0">
                          <a:solidFill>
                            <a:srgbClr val="FFFFFF"/>
                          </a:solidFill>
                        </a:rPr>
                        <a:t>EXECUTE</a:t>
                      </a:r>
                      <a:endParaRPr lang="en-US" sz="800" dirty="0"/>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00703C"/>
                    </a:solidFill>
                  </a:tcPr>
                </a:tc>
                <a:tc>
                  <a:txBody>
                    <a:bodyPr/>
                    <a:lstStyle/>
                    <a:p>
                      <a:pPr algn="ctr" indent="0" marL="0">
                        <a:buNone/>
                      </a:pPr>
                      <a:r>
                        <a:rPr lang="en-US" sz="800" dirty="0">
                          <a:solidFill>
                            <a:srgbClr val="555555"/>
                          </a:solidFill>
                        </a:rPr>
                        <a:t>Audit</a:t>
                      </a:r>
                      <a:endParaRPr lang="en-US" sz="800" dirty="0"/>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algn="ctr" indent="0" marL="0">
                        <a:buNone/>
                      </a:pPr>
                      <a:r>
                        <a:rPr lang="en-US" sz="800" dirty="0">
                          <a:solidFill>
                            <a:srgbClr val="555555"/>
                          </a:solidFill>
                        </a:rPr>
                        <a:t>Ongoing</a:t>
                      </a:r>
                      <a:endParaRPr lang="en-US" sz="800" dirty="0"/>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indent="0" marL="0">
                        <a:buNone/>
                      </a:pPr>
                      <a:r>
                        <a:rPr lang="en-US" sz="800" dirty="0">
                          <a:solidFill>
                            <a:srgbClr val="000000"/>
                          </a:solidFill>
                        </a:rPr>
                        <a:t>BU Pricing</a:t>
                      </a:r>
                      <a:endParaRPr lang="en-US" sz="800" dirty="0"/>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r>
              <a:tr h="636116">
                <a:tc>
                  <a:txBody>
                    <a:bodyPr/>
                    <a:lstStyle/>
                    <a:p>
                      <a:pPr indent="0" marL="0">
                        <a:buNone/>
                      </a:pPr>
                      <a:r>
                        <a:rPr lang="en-US" sz="800" b="1" dirty="0">
                          <a:solidFill>
                            <a:srgbClr val="023520"/>
                          </a:solidFill>
                        </a:rPr>
                        <a:t>Quarterly BOI re-indexation cadence</a:t>
                      </a:r>
                      <a:endParaRPr lang="en-US" sz="800" dirty="0"/>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algn="ctr" indent="0" marL="0">
                        <a:buNone/>
                      </a:pPr>
                      <a:r>
                        <a:rPr lang="en-US" sz="800" b="1" dirty="0">
                          <a:solidFill>
                            <a:srgbClr val="FFFFFF"/>
                          </a:solidFill>
                        </a:rPr>
                        <a:t>DESIGN</a:t>
                      </a:r>
                      <a:endParaRPr lang="en-US" sz="800" dirty="0"/>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00703C"/>
                    </a:solidFill>
                  </a:tcPr>
                </a:tc>
                <a:tc>
                  <a:txBody>
                    <a:bodyPr/>
                    <a:lstStyle/>
                    <a:p>
                      <a:pPr algn="ctr" indent="0" marL="0">
                        <a:buNone/>
                      </a:pPr>
                      <a:r>
                        <a:rPr lang="en-US" sz="800" b="1" dirty="0">
                          <a:solidFill>
                            <a:srgbClr val="FFFFFF"/>
                          </a:solidFill>
                        </a:rPr>
                        <a:t>PILOT</a:t>
                      </a:r>
                      <a:endParaRPr lang="en-US" sz="800" dirty="0"/>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00703C"/>
                    </a:solidFill>
                  </a:tcPr>
                </a:tc>
                <a:tc>
                  <a:txBody>
                    <a:bodyPr/>
                    <a:lstStyle/>
                    <a:p>
                      <a:pPr algn="ctr" indent="0" marL="0">
                        <a:buNone/>
                      </a:pPr>
                      <a:r>
                        <a:rPr lang="en-US" sz="800" b="1" dirty="0">
                          <a:solidFill>
                            <a:srgbClr val="FFFFFF"/>
                          </a:solidFill>
                        </a:rPr>
                        <a:t>ROLLOUT</a:t>
                      </a:r>
                      <a:endParaRPr lang="en-US" sz="800" dirty="0"/>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00703C"/>
                    </a:solidFill>
                  </a:tcPr>
                </a:tc>
                <a:tc>
                  <a:txBody>
                    <a:bodyPr/>
                    <a:lstStyle/>
                    <a:p>
                      <a:pPr algn="ctr" indent="0" marL="0">
                        <a:buNone/>
                      </a:pPr>
                      <a:r>
                        <a:rPr lang="en-US" sz="800" dirty="0">
                          <a:solidFill>
                            <a:srgbClr val="555555"/>
                          </a:solidFill>
                        </a:rPr>
                        <a:t>Ongoing</a:t>
                      </a:r>
                      <a:endParaRPr lang="en-US" sz="800" dirty="0"/>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indent="0" marL="0">
                        <a:buNone/>
                      </a:pPr>
                      <a:r>
                        <a:rPr lang="en-US" sz="800" dirty="0">
                          <a:solidFill>
                            <a:srgbClr val="000000"/>
                          </a:solidFill>
                        </a:rPr>
                        <a:t>Strategy</a:t>
                      </a:r>
                      <a:endParaRPr lang="en-US" sz="800" dirty="0"/>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r>
            </a:tbl>
          </a:graphicData>
        </a:graphic>
      </p:graphicFrame>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023520"/>
        </a:solidFill>
      </p:bgPr>
    </p:bg>
    <p:spTree>
      <p:nvGrpSpPr>
        <p:cNvPr id="1" name=""/>
        <p:cNvGrpSpPr/>
        <p:nvPr/>
      </p:nvGrpSpPr>
      <p:grpSpPr>
        <a:xfrm>
          <a:off x="0" y="0"/>
          <a:ext cx="0" cy="0"/>
          <a:chOff x="0" y="0"/>
          <a:chExt cx="0" cy="0"/>
        </a:xfrm>
      </p:grpSpPr>
      <p:sp>
        <p:nvSpPr>
          <p:cNvPr id="2" name="Text 0"/>
          <p:cNvSpPr/>
          <p:nvPr/>
        </p:nvSpPr>
        <p:spPr>
          <a:xfrm>
            <a:off x="4303812" y="1125736"/>
            <a:ext cx="547104" cy="295275"/>
          </a:xfrm>
          <a:prstGeom prst="rect">
            <a:avLst/>
          </a:prstGeom>
          <a:noFill/>
          <a:ln/>
        </p:spPr>
        <p:txBody>
          <a:bodyPr wrap="square" lIns="0" tIns="0" rIns="0" bIns="0" rtlCol="0" anchor="t"/>
          <a:lstStyle/>
          <a:p>
            <a:pPr algn="l" indent="0" marL="0">
              <a:spcAft>
                <a:spcPts val="800"/>
              </a:spcAft>
              <a:buNone/>
            </a:pPr>
            <a:r>
              <a:rPr lang="en-US" sz="2000" b="1" dirty="0">
                <a:solidFill>
                  <a:srgbClr val="C8960C"/>
                </a:solidFill>
                <a:latin typeface="Arial" pitchFamily="34" charset="0"/>
                <a:ea typeface="Arial" pitchFamily="34" charset="-122"/>
                <a:cs typeface="Arial" pitchFamily="34" charset="-120"/>
              </a:rPr>
              <a:t>PSO</a:t>
            </a:r>
            <a:endParaRPr lang="en-US" sz="2000" dirty="0"/>
          </a:p>
        </p:txBody>
      </p:sp>
      <p:sp>
        <p:nvSpPr>
          <p:cNvPr id="3" name="Text 1"/>
          <p:cNvSpPr/>
          <p:nvPr/>
        </p:nvSpPr>
        <p:spPr>
          <a:xfrm>
            <a:off x="3399830" y="1522512"/>
            <a:ext cx="2391227" cy="133350"/>
          </a:xfrm>
          <a:prstGeom prst="rect">
            <a:avLst/>
          </a:prstGeom>
          <a:noFill/>
          <a:ln/>
        </p:spPr>
        <p:txBody>
          <a:bodyPr wrap="square" lIns="0" tIns="0" rIns="0" bIns="0" rtlCol="0" anchor="t"/>
          <a:lstStyle/>
          <a:p>
            <a:pPr algn="l" indent="0" marL="0">
              <a:spcAft>
                <a:spcPts val="2200"/>
              </a:spcAft>
              <a:buNone/>
            </a:pPr>
            <a:r>
              <a:rPr lang="en-US" sz="900" dirty="0">
                <a:solidFill>
                  <a:srgbClr val="A8D5BE"/>
                </a:solidFill>
                <a:latin typeface="Arial" pitchFamily="34" charset="0"/>
                <a:ea typeface="Arial" pitchFamily="34" charset="-122"/>
                <a:cs typeface="Arial" pitchFamily="34" charset="-120"/>
              </a:rPr>
              <a:t>Pakistan State Oil — Lubricants Business Unit</a:t>
            </a:r>
            <a:endParaRPr lang="en-US" sz="900" dirty="0"/>
          </a:p>
        </p:txBody>
      </p:sp>
      <p:sp>
        <p:nvSpPr>
          <p:cNvPr id="4" name="Text 2"/>
          <p:cNvSpPr/>
          <p:nvPr/>
        </p:nvSpPr>
        <p:spPr>
          <a:xfrm>
            <a:off x="3555950" y="1935212"/>
            <a:ext cx="2031950" cy="38100"/>
          </a:xfrm>
          <a:prstGeom prst="rect">
            <a:avLst/>
          </a:prstGeom>
          <a:solidFill>
            <a:srgbClr val="C8960C"/>
          </a:solidFill>
          <a:ln/>
        </p:spPr>
        <p:txBody>
          <a:bodyPr wrap="square" rtlCol="0" anchor="ctr"/>
          <a:lstStyle/>
          <a:p>
            <a:pPr indent="0" marL="0">
              <a:buNone/>
            </a:pPr>
            <a:endParaRPr lang="en-US" dirty="0"/>
          </a:p>
        </p:txBody>
      </p:sp>
      <p:sp>
        <p:nvSpPr>
          <p:cNvPr id="5" name="Text 3"/>
          <p:cNvSpPr/>
          <p:nvPr/>
        </p:nvSpPr>
        <p:spPr>
          <a:xfrm>
            <a:off x="3596656" y="2252663"/>
            <a:ext cx="1950538" cy="428625"/>
          </a:xfrm>
          <a:prstGeom prst="rect">
            <a:avLst/>
          </a:prstGeom>
          <a:noFill/>
          <a:ln/>
        </p:spPr>
        <p:txBody>
          <a:bodyPr wrap="square" lIns="0" tIns="0" rIns="0" bIns="0" rtlCol="0" anchor="t"/>
          <a:lstStyle/>
          <a:p>
            <a:pPr algn="ctr" indent="0" marL="0">
              <a:spcAft>
                <a:spcPts val="1000"/>
              </a:spcAft>
              <a:buNone/>
            </a:pPr>
            <a:r>
              <a:rPr lang="en-US" sz="3000" b="1" dirty="0">
                <a:solidFill>
                  <a:srgbClr val="FFFFFF"/>
                </a:solidFill>
                <a:latin typeface="Arial" pitchFamily="34" charset="0"/>
                <a:ea typeface="Arial" pitchFamily="34" charset="-122"/>
                <a:cs typeface="Arial" pitchFamily="34" charset="-120"/>
              </a:rPr>
              <a:t>Thank You</a:t>
            </a:r>
            <a:endParaRPr lang="en-US" sz="3000" dirty="0"/>
          </a:p>
        </p:txBody>
      </p:sp>
      <p:sp>
        <p:nvSpPr>
          <p:cNvPr id="6" name="Text 4"/>
          <p:cNvSpPr/>
          <p:nvPr/>
        </p:nvSpPr>
        <p:spPr>
          <a:xfrm>
            <a:off x="3682881" y="2808238"/>
            <a:ext cx="1778088" cy="200025"/>
          </a:xfrm>
          <a:prstGeom prst="rect">
            <a:avLst/>
          </a:prstGeom>
          <a:noFill/>
          <a:ln/>
        </p:spPr>
        <p:txBody>
          <a:bodyPr wrap="square" lIns="0" tIns="0" rIns="0" bIns="0" rtlCol="0" anchor="t"/>
          <a:lstStyle/>
          <a:p>
            <a:pPr algn="ctr" indent="0" marL="0">
              <a:spcAft>
                <a:spcPts val="2800"/>
              </a:spcAft>
              <a:buNone/>
            </a:pPr>
            <a:r>
              <a:rPr lang="en-US" sz="1300" dirty="0">
                <a:solidFill>
                  <a:srgbClr val="A8D5BE"/>
                </a:solidFill>
                <a:latin typeface="Arial" pitchFamily="34" charset="0"/>
                <a:ea typeface="Arial" pitchFamily="34" charset="-122"/>
                <a:cs typeface="Arial" pitchFamily="34" charset="-120"/>
              </a:rPr>
              <a:t>Questions &amp; Discussion</a:t>
            </a:r>
            <a:endParaRPr lang="en-US" sz="1300" dirty="0"/>
          </a:p>
        </p:txBody>
      </p:sp>
      <p:sp>
        <p:nvSpPr>
          <p:cNvPr id="7" name="Text 5"/>
          <p:cNvSpPr/>
          <p:nvPr/>
        </p:nvSpPr>
        <p:spPr>
          <a:xfrm>
            <a:off x="4064050" y="3541514"/>
            <a:ext cx="1015901" cy="12650"/>
          </a:xfrm>
          <a:prstGeom prst="rect">
            <a:avLst/>
          </a:prstGeom>
          <a:solidFill>
            <a:srgbClr val="00703C"/>
          </a:solidFill>
          <a:ln/>
        </p:spPr>
        <p:txBody>
          <a:bodyPr wrap="square" rtlCol="0" anchor="ctr"/>
          <a:lstStyle/>
          <a:p>
            <a:pPr indent="0" marL="0">
              <a:buNone/>
            </a:pPr>
            <a:endParaRPr lang="en-US" dirty="0"/>
          </a:p>
        </p:txBody>
      </p:sp>
      <p:sp>
        <p:nvSpPr>
          <p:cNvPr id="8" name="Text 6"/>
          <p:cNvSpPr/>
          <p:nvPr/>
        </p:nvSpPr>
        <p:spPr>
          <a:xfrm>
            <a:off x="1699248" y="3731865"/>
            <a:ext cx="5745504" cy="142875"/>
          </a:xfrm>
          <a:prstGeom prst="rect">
            <a:avLst/>
          </a:prstGeom>
          <a:noFill/>
          <a:ln/>
        </p:spPr>
        <p:txBody>
          <a:bodyPr wrap="square" lIns="0" tIns="0" rIns="0" bIns="0" rtlCol="0" anchor="t"/>
          <a:lstStyle/>
          <a:p>
            <a:pPr algn="ctr" indent="0" marL="0">
              <a:buNone/>
            </a:pPr>
            <a:r>
              <a:rPr lang="en-US" sz="1000" dirty="0">
                <a:solidFill>
                  <a:srgbClr val="6FA882"/>
                </a:solidFill>
                <a:latin typeface="Arial" pitchFamily="34" charset="0"/>
                <a:ea typeface="Arial" pitchFamily="34" charset="-122"/>
                <a:cs typeface="Arial" pitchFamily="34" charset="-120"/>
              </a:rPr>
              <a:t>Pricing Intelligence v2.0 | Powered by live Daraz.pk market data + 8 international pricing frameworks</a:t>
            </a:r>
            <a:endParaRPr lang="en-US" sz="1000" dirty="0"/>
          </a:p>
        </p:txBody>
      </p:sp>
      <p:sp>
        <p:nvSpPr>
          <p:cNvPr id="9" name="Text 7"/>
          <p:cNvSpPr/>
          <p:nvPr/>
        </p:nvSpPr>
        <p:spPr>
          <a:xfrm>
            <a:off x="3851992" y="3874740"/>
            <a:ext cx="1439867" cy="142875"/>
          </a:xfrm>
          <a:prstGeom prst="rect">
            <a:avLst/>
          </a:prstGeom>
          <a:noFill/>
          <a:ln/>
        </p:spPr>
        <p:txBody>
          <a:bodyPr wrap="square" lIns="0" tIns="0" rIns="0" bIns="0" rtlCol="0" anchor="t"/>
          <a:lstStyle/>
          <a:p>
            <a:pPr algn="ctr" indent="0" marL="0">
              <a:buNone/>
            </a:pPr>
            <a:r>
              <a:rPr lang="en-US" sz="1000" dirty="0">
                <a:solidFill>
                  <a:srgbClr val="6FA882"/>
                </a:solidFill>
                <a:latin typeface="Arial" pitchFamily="34" charset="0"/>
                <a:ea typeface="Arial" pitchFamily="34" charset="-122"/>
                <a:cs typeface="Arial" pitchFamily="34" charset="-120"/>
              </a:rPr>
              <a:t>Confidential — July 2026</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20</Slides>
  <Notes>20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20</vt:i4>
      </vt:variant>
    </vt:vector>
  </HeadingPairs>
  <TitlesOfParts>
    <vt:vector size="2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vector>
  </TitlesOfParts>
  <Company>Pakistan State Oil</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PSO Lubricants Pricing Strategy 2025–26</dc:title>
  <dc:subject>PptxGenJS Presentation</dc:subject>
  <dc:creator>PSO Lubricants Pricing Intelligence v2</dc:creator>
  <cp:lastModifiedBy>PSO Lubricants Pricing Intelligence v2</cp:lastModifiedBy>
  <cp:revision>1</cp:revision>
  <dcterms:created xsi:type="dcterms:W3CDTF">2026-07-07T12:59:48Z</dcterms:created>
  <dcterms:modified xsi:type="dcterms:W3CDTF">2026-07-07T12:59:48Z</dcterms:modified>
</cp:coreProperties>
</file>