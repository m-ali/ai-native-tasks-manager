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Introduce the project: this is a data-driven SKU-level pricing strategy for PSO's full lubricants retail portfolio. The recommendations are built from 365 live Daraz.pk price listings across 7 competitor brands, processed through 8 international pricing frameworks. All 45 retail SKUs (up to 4L pack size) with actual FY25 sales are covered.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6 sections. Estimated time per section: Competitive Landscape 5 min | Portfolio Overview 3 min | 8 Frameworks 10 min | SKU Pricing 8 min | Market Signals 5 min | Recommendations &amp; Roadmap 5 min. Total: ~36 minutes plus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 PSO competes across all four tiers, but Shell dominates super-premium. ZIC and Aramco are the primary mainstream threats. Kixx and Equimoli create floor pressure in economy. Total and Caltex are present but have thinner SKU ranges. The 365 listings give us a statistically meaningful benchmark — this is not anecdotal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PSO's portfolio spans 12 sub-brands across 4 tiers and 3 engine oil categories. The tier structure is clear on paper but, as we'll see in the pricing data, the inter-tier price gaps are not always well-maintained — particularly in the HDEO segment where DEO 8000 and DEO 6000 are priced almost identically.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8 frameworks are not equally weighted. F1 (VBT) and F2 (CRP) together account for 60% of the recommended price — these are the market-facing anchors. F3 (PPA) provides pack-size consistency at 20%. F5 (Spec Premium) handles grade-level differentiation at 10%. F4 is a hard floor, not a weighted input — it overrides any price that would invert our margin. F6, F7, and F8 are reference frameworks used for regional and channel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VBT discount structure is conservative. At −8% for super-premium, we're leaving the door open to close the gap over time as PSO invests in brand building. These discounts were derived from a combination of Daraz.pk listing analysis and typical brand perception gaps seen in emerging market lubricant studies. The economy tier gap of −2% reflects that at the value end, PSO is already price-competitive and consumer brand loyalty is weaker.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CRP chart shows that in the super-premium tier (Shell/Caltex/Total), the market median is Rs 2,300/L. PSO's recommended price is set at Rs 2,106 — a 8.4% discount, matching our VBT framework. In the mainstream tier (ZIC/Aramco), the gap narrows to 6%. This confirms PSO is competitive but systematically leaves a small premium on the table, which is appropriate given current brand equity levels.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PPA curve for Carient Ultra shows the step-down: 1L at Rs 3,745/L → 3L at Rs 3,463/L → 4L at Rs 3,347/L. This is a roughly 4.5% step per pack size increment — consistent and defensible. Distributors cannot arbitrage by buying 4L and repacking because the margin doesn't justify it. This consistency needs to be enforced across all brands — currently, some brands show irregular step-downs that create channel conflict.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price waterfall for Carient Plus 15W-40 shows a floor of Rs 1,260/L. This means no pricing decision — no promotional activity, no channel discount, no geographic index — can take the actual realised price below this number without destroying margin. The F4 floor is automatically applied by the model: 3 of the 45 SKUs in our final recommendations were floored by F4, meaning the market-derived price would have been below cost-plus.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5W-30 bar is highlighted in red — at Rs 2,319/L, it's priced 127% above market median, which is disproportionate even accounting for the spec premium. The 0W-20 grade at Rs 3,745 makes sense because there are few competitors in this grade range. The F5 framework caps spec uplift at 30% for Group III grades — the 5W-30 outlier is an artifact of near-zero competitor supply, not genuine spec justification.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Geographic segmentation is a reference framework — PSO likely operates uniform national pricing at this stage. However, the regional index provides a basis for targeted trade promotions. South Pakistan (Karachi) is a high-value, high-volume market where premium pricing is more sustainable. North Pakistan has lower income per capita and higher logistics cost, justifying the −5% index. Central (Punjab) is our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BOI framework connects our pricing to raw material reality. A 12% YoY increase in Group III base oil (driven by USD/PKR movement and global API Group III supply tightness) directly impacts Carient Ultra's cost floor. Our model re-indexes automatically when these inputs change. The key ratio to watch: base oil as a percentage of finished lubricant cost — currently 55–60%. When this rises above 65%, all super-premium prices need to be revisited.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channel waterfall is critical for PSO's distribution model. Retail pump (petrol station) represents the highest price point — this is our base recommended price. Workshop channel receives a 12% trade discount, reflecting the workshop owner's role in brand recommendation. Distributors at −15% need a deeper margin to finance inventory and logistics. Fleet contracts at −20% are justifiable for bulk, predictable volume. These discounts should be non-negotiable — any exceptions create a slippery precedent.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audience through the PCMO table by tier. Key points: (1) Carient Ultra 5W-30 is the outlier at +127% vs market — flag for immediate review. (2) Carient Plus across all grades is showing VALUE POSITION signals, meaning we're systematically under-recovering vs the market in our mainstream segment — this is the highest volume segment, so the margin opportunity is significant. (3) All recommendations carry HIGH confidence because they are backed by a statistically robust competitor dataset (365 listings).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HDEO: DEO Max and DEO 8000 are priced almost identically — this is a structural problem. A fleet buyer cannot see the value difference between these brands. The recommendation is to widen the gap by 10–12%. For MCO: all Blaze SKUs are VALUE POSITION, meaning PSO has been systematically under-recovering in the motorcycle segment. With Pakistan having one of the world's highest motorcycle-to-car ratios, this segment deserves more active pricing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bar chart tells the story at a glance: dark green = PREMIUM (above market), PSO green = AT MARKET, gold = VALUE POSITION (below market, revenue opportunity). The cluster of gold bars on the left (Blaze, Carient Plus, DEO 8000 10W-40) represents our most actionable upside. The Carient FS 5W-30 outlier at +96.9% is a concern on the premium end — it may be deterring trial from consumers considering moving up from Carient Plus.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each finding as a discovery, not a pre-determined conclusion. Emphasise that these insights emerged from the data — 365 competitor listings, actual FY25 volume data from PSO's own SKU Wise sheet, and 8 independently-scored pricing frameworks. Finding 2 (5W-30 outlier) is the most urgent because it actively harms conversion at the top of the funnel. Finding 4 (MCO underpricing) has the highest revenue recovery potential in absolute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Recommendations are sequenced by urgency and risk. #1 and #2 are immediate — they address specific pricing anomalies that are actively costing PSO money. #3 and #4 are medium-priority structural changes that require sales team alignment and distributor communication. #5 is the structural recommendation — moving from annual to quarterly price reviews is a capability shift that this pricing intelligence tool enables. The tool re-runs in minutes with updated Daraz.pk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12-month roadmap is deliberately conservative. We're not asking PSO to change all 45 SKU prices overnight — that would create channel disruption and distributors would not absorb the change. Instead, we start with the two highest-urgency corrections (5W-30 outlier and MCO under-recovery), then phase in the structural changes. By Q4, PSO should be running quarterly BOI-linked price reviews as standard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a summary of value delivered: 45 SKUs priced across 8 frameworks using live market data. The pricing intelligence system is repeatable — rerunning the scrape and model takes less than 30 minutes. Next steps: agree on which recommendations PSO wants to prioritise in Q1, and schedule a 30-day follow-up to review any pricing changes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3520"/>
        </a:solidFill>
      </p:bgPr>
    </p:bg>
    <p:spTree>
      <p:nvGrpSpPr>
        <p:cNvPr id="1" name=""/>
        <p:cNvGrpSpPr/>
        <p:nvPr/>
      </p:nvGrpSpPr>
      <p:grpSpPr>
        <a:xfrm>
          <a:off x="0" y="0"/>
          <a:ext cx="0" cy="0"/>
          <a:chOff x="0" y="0"/>
          <a:chExt cx="0" cy="0"/>
        </a:xfrm>
      </p:grpSpPr>
      <p:sp>
        <p:nvSpPr>
          <p:cNvPr id="2" name="Text 0"/>
          <p:cNvSpPr/>
          <p:nvPr/>
        </p:nvSpPr>
        <p:spPr>
          <a:xfrm>
            <a:off x="0" y="0"/>
            <a:ext cx="101501" cy="5143500"/>
          </a:xfrm>
          <a:prstGeom prst="rect">
            <a:avLst/>
          </a:prstGeom>
          <a:solidFill>
            <a:srgbClr val="C8960C"/>
          </a:solidFill>
          <a:ln/>
        </p:spPr>
        <p:txBody>
          <a:bodyPr wrap="square" rtlCol="0" anchor="ctr"/>
          <a:lstStyle/>
          <a:p>
            <a:pPr indent="0" marL="0">
              <a:buNone/>
            </a:pPr>
            <a:endParaRPr lang="en-US" dirty="0"/>
          </a:p>
        </p:txBody>
      </p:sp>
      <p:sp>
        <p:nvSpPr>
          <p:cNvPr id="3" name="Text 1"/>
          <p:cNvSpPr/>
          <p:nvPr/>
        </p:nvSpPr>
        <p:spPr>
          <a:xfrm>
            <a:off x="507950" y="1061591"/>
            <a:ext cx="6703391" cy="409575"/>
          </a:xfrm>
          <a:prstGeom prst="rect">
            <a:avLst/>
          </a:prstGeom>
          <a:noFill/>
          <a:ln/>
        </p:spPr>
        <p:txBody>
          <a:bodyPr wrap="square" lIns="0" tIns="0" rIns="0" bIns="0" rtlCol="0" anchor="t"/>
          <a:lstStyle/>
          <a:p>
            <a:pPr algn="l" indent="0" marL="0">
              <a:spcAft>
                <a:spcPts val="1800"/>
              </a:spcAft>
              <a:buNone/>
            </a:pPr>
            <a:r>
              <a:rPr lang="en-US" sz="2800" b="1" dirty="0">
                <a:solidFill>
                  <a:srgbClr val="C8960C"/>
                </a:solidFill>
                <a:latin typeface="Arial" pitchFamily="34" charset="0"/>
                <a:ea typeface="Arial" pitchFamily="34" charset="-122"/>
                <a:cs typeface="Arial" pitchFamily="34" charset="-120"/>
              </a:rPr>
              <a:t>PSO</a:t>
            </a:r>
            <a:endParaRPr lang="en-US" sz="2800" dirty="0"/>
          </a:p>
        </p:txBody>
      </p:sp>
      <p:sp>
        <p:nvSpPr>
          <p:cNvPr id="4" name="Text 2"/>
          <p:cNvSpPr/>
          <p:nvPr/>
        </p:nvSpPr>
        <p:spPr>
          <a:xfrm>
            <a:off x="507950" y="1699766"/>
            <a:ext cx="2539901" cy="25301"/>
          </a:xfrm>
          <a:prstGeom prst="rect">
            <a:avLst/>
          </a:prstGeom>
          <a:solidFill>
            <a:srgbClr val="C8960C"/>
          </a:solidFill>
          <a:ln/>
        </p:spPr>
        <p:txBody>
          <a:bodyPr wrap="square" rtlCol="0" anchor="ctr"/>
          <a:lstStyle/>
          <a:p>
            <a:pPr indent="0" marL="0">
              <a:buNone/>
            </a:pPr>
            <a:endParaRPr lang="en-US" dirty="0"/>
          </a:p>
        </p:txBody>
      </p:sp>
      <p:sp>
        <p:nvSpPr>
          <p:cNvPr id="5" name="Text 3"/>
          <p:cNvSpPr/>
          <p:nvPr/>
        </p:nvSpPr>
        <p:spPr>
          <a:xfrm>
            <a:off x="507950" y="1902768"/>
            <a:ext cx="6703391" cy="152400"/>
          </a:xfrm>
          <a:prstGeom prst="rect">
            <a:avLst/>
          </a:prstGeom>
          <a:noFill/>
          <a:ln/>
        </p:spPr>
        <p:txBody>
          <a:bodyPr wrap="square" lIns="0" tIns="0" rIns="0" bIns="0" rtlCol="0" anchor="t"/>
          <a:lstStyle/>
          <a:p>
            <a:pPr algn="l" indent="0" marL="0">
              <a:spcAft>
                <a:spcPts val="1000"/>
              </a:spcAft>
              <a:buNone/>
            </a:pPr>
            <a:r>
              <a:rPr lang="en-US" sz="1100" b="1" dirty="0">
                <a:solidFill>
                  <a:srgbClr val="C8960C"/>
                </a:solidFill>
                <a:latin typeface="Arial" pitchFamily="34" charset="0"/>
                <a:ea typeface="Arial" pitchFamily="34" charset="-122"/>
                <a:cs typeface="Arial" pitchFamily="34" charset="-120"/>
              </a:rPr>
              <a:t>LUBRICANTS BUSINESS UNIT</a:t>
            </a:r>
            <a:endParaRPr lang="en-US" sz="1100" dirty="0"/>
          </a:p>
        </p:txBody>
      </p:sp>
      <p:sp>
        <p:nvSpPr>
          <p:cNvPr id="6" name="Text 4"/>
          <p:cNvSpPr/>
          <p:nvPr/>
        </p:nvSpPr>
        <p:spPr>
          <a:xfrm>
            <a:off x="507950" y="2182118"/>
            <a:ext cx="6703391" cy="1061740"/>
          </a:xfrm>
          <a:prstGeom prst="rect">
            <a:avLst/>
          </a:prstGeom>
          <a:noFill/>
          <a:ln/>
        </p:spPr>
        <p:txBody>
          <a:bodyPr wrap="square" lIns="0" tIns="0" rIns="0" bIns="0" rtlCol="0" anchor="t"/>
          <a:lstStyle/>
          <a:p>
            <a:pPr algn="l" indent="0" marL="0">
              <a:lnSpc>
                <a:spcPts val="4180"/>
              </a:lnSpc>
              <a:spcAft>
                <a:spcPts val="800"/>
              </a:spcAft>
              <a:buNone/>
            </a:pPr>
            <a:r>
              <a:rPr lang="en-US" sz="3800" dirty="0">
                <a:solidFill>
                  <a:srgbClr val="FFFFFF"/>
                </a:solidFill>
                <a:latin typeface="Arial" pitchFamily="34" charset="0"/>
                <a:ea typeface="Arial" pitchFamily="34" charset="-122"/>
                <a:cs typeface="Arial" pitchFamily="34" charset="-120"/>
              </a:rPr>
              <a:t>Pricing Intelligence</a:t>
            </a:r>
            <a:endParaRPr lang="en-US" sz="3800" dirty="0"/>
          </a:p>
          <a:p>
            <a:pPr algn="l" indent="0" marL="0">
              <a:lnSpc>
                <a:spcPts val="4180"/>
              </a:lnSpc>
              <a:spcAft>
                <a:spcPts val="800"/>
              </a:spcAft>
              <a:buNone/>
            </a:pPr>
            <a:r>
              <a:rPr lang="en-US" sz="3800" dirty="0">
                <a:solidFill>
                  <a:srgbClr val="FFFFFF"/>
                </a:solidFill>
                <a:latin typeface="Arial" pitchFamily="34" charset="0"/>
                <a:ea typeface="Arial" pitchFamily="34" charset="-122"/>
                <a:cs typeface="Arial" pitchFamily="34" charset="-120"/>
              </a:rPr>
              <a:t>Strategy 2025–26</a:t>
            </a:r>
            <a:endParaRPr lang="en-US" sz="3800" dirty="0"/>
          </a:p>
        </p:txBody>
      </p:sp>
      <p:sp>
        <p:nvSpPr>
          <p:cNvPr id="7" name="Text 5"/>
          <p:cNvSpPr/>
          <p:nvPr/>
        </p:nvSpPr>
        <p:spPr>
          <a:xfrm>
            <a:off x="507950" y="3345359"/>
            <a:ext cx="6703391" cy="238125"/>
          </a:xfrm>
          <a:prstGeom prst="rect">
            <a:avLst/>
          </a:prstGeom>
          <a:noFill/>
          <a:ln/>
        </p:spPr>
        <p:txBody>
          <a:bodyPr wrap="square" lIns="0" tIns="0" rIns="0" bIns="0" rtlCol="0" anchor="t"/>
          <a:lstStyle/>
          <a:p>
            <a:pPr algn="l" indent="0" marL="0">
              <a:spcAft>
                <a:spcPts val="2800"/>
              </a:spcAft>
              <a:buNone/>
            </a:pPr>
            <a:r>
              <a:rPr lang="en-US" sz="1600" dirty="0">
                <a:solidFill>
                  <a:srgbClr val="A8D5BE"/>
                </a:solidFill>
                <a:latin typeface="Arial" pitchFamily="34" charset="0"/>
                <a:ea typeface="Arial" pitchFamily="34" charset="-122"/>
                <a:cs typeface="Arial" pitchFamily="34" charset="-120"/>
              </a:rPr>
              <a:t>SKU-Level Pricing Recommendations across 8 International Frameworks</a:t>
            </a:r>
            <a:endParaRPr lang="en-US" sz="1600" dirty="0"/>
          </a:p>
        </p:txBody>
      </p:sp>
      <p:sp>
        <p:nvSpPr>
          <p:cNvPr id="8" name="Text 6"/>
          <p:cNvSpPr/>
          <p:nvPr/>
        </p:nvSpPr>
        <p:spPr>
          <a:xfrm>
            <a:off x="507950" y="3939034"/>
            <a:ext cx="6703391" cy="142875"/>
          </a:xfrm>
          <a:prstGeom prst="rect">
            <a:avLst/>
          </a:prstGeom>
          <a:noFill/>
          <a:ln/>
        </p:spPr>
        <p:txBody>
          <a:bodyPr wrap="square" lIns="0" tIns="0" rIns="0" bIns="0" rtlCol="0" anchor="t"/>
          <a:lstStyle/>
          <a:p>
            <a:pPr algn="l" indent="0" marL="0">
              <a:buNone/>
            </a:pPr>
            <a:r>
              <a:rPr lang="en-US" sz="1000" dirty="0">
                <a:solidFill>
                  <a:srgbClr val="6FA882"/>
                </a:solidFill>
                <a:latin typeface="Arial" pitchFamily="34" charset="0"/>
                <a:ea typeface="Arial" pitchFamily="34" charset="-122"/>
                <a:cs typeface="Arial" pitchFamily="34" charset="-120"/>
              </a:rPr>
              <a:t>Confidential — Prepared for PSO Management | July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2793802" cy="5143500"/>
          </a:xfrm>
          <a:prstGeom prst="rect">
            <a:avLst/>
          </a:prstGeom>
          <a:solidFill>
            <a:srgbClr val="00703C"/>
          </a:solidFill>
          <a:ln/>
        </p:spPr>
        <p:txBody>
          <a:bodyPr wrap="square" rtlCol="0" anchor="ctr"/>
          <a:lstStyle/>
          <a:p>
            <a:pPr indent="0" marL="0">
              <a:buNone/>
            </a:pPr>
            <a:endParaRPr lang="en-US" dirty="0"/>
          </a:p>
        </p:txBody>
      </p:sp>
      <p:sp>
        <p:nvSpPr>
          <p:cNvPr id="3" name="Text 1"/>
          <p:cNvSpPr/>
          <p:nvPr/>
        </p:nvSpPr>
        <p:spPr>
          <a:xfrm>
            <a:off x="253901" y="3963888"/>
            <a:ext cx="2331720" cy="133350"/>
          </a:xfrm>
          <a:prstGeom prst="rect">
            <a:avLst/>
          </a:prstGeom>
          <a:noFill/>
          <a:ln/>
        </p:spPr>
        <p:txBody>
          <a:bodyPr wrap="square" lIns="0" tIns="0" rIns="0" bIns="0" rtlCol="0" anchor="t"/>
          <a:lstStyle/>
          <a:p>
            <a:pPr algn="l" indent="0" marL="0">
              <a:spcAft>
                <a:spcPts val="600"/>
              </a:spcAft>
              <a:buNone/>
            </a:pPr>
            <a:r>
              <a:rPr lang="en-US" sz="900" b="1" dirty="0">
                <a:solidFill>
                  <a:srgbClr val="C8960C"/>
                </a:solidFill>
                <a:latin typeface="Arial" pitchFamily="34" charset="0"/>
                <a:ea typeface="Arial" pitchFamily="34" charset="-122"/>
                <a:cs typeface="Arial" pitchFamily="34" charset="-120"/>
              </a:rPr>
              <a:t>TODAY'S</a:t>
            </a:r>
            <a:endParaRPr lang="en-US" sz="900" dirty="0"/>
          </a:p>
        </p:txBody>
      </p:sp>
      <p:sp>
        <p:nvSpPr>
          <p:cNvPr id="4" name="Text 2"/>
          <p:cNvSpPr/>
          <p:nvPr/>
        </p:nvSpPr>
        <p:spPr>
          <a:xfrm>
            <a:off x="253901" y="4173438"/>
            <a:ext cx="2331720" cy="335161"/>
          </a:xfrm>
          <a:prstGeom prst="rect">
            <a:avLst/>
          </a:prstGeom>
          <a:noFill/>
          <a:ln/>
        </p:spPr>
        <p:txBody>
          <a:bodyPr wrap="square" lIns="0" tIns="0" rIns="0" bIns="0" rtlCol="0" anchor="t"/>
          <a:lstStyle/>
          <a:p>
            <a:pPr algn="l" indent="0" marL="0">
              <a:lnSpc>
                <a:spcPts val="2640"/>
              </a:lnSpc>
              <a:buNone/>
            </a:pPr>
            <a:r>
              <a:rPr lang="en-US" sz="2200" b="1" dirty="0">
                <a:solidFill>
                  <a:srgbClr val="FFFFFF"/>
                </a:solidFill>
                <a:latin typeface="Arial" pitchFamily="34" charset="0"/>
                <a:ea typeface="Arial" pitchFamily="34" charset="-122"/>
                <a:cs typeface="Arial" pitchFamily="34" charset="-120"/>
              </a:rPr>
              <a:t>Agenda</a:t>
            </a:r>
            <a:endParaRPr lang="en-US" sz="2200" dirty="0"/>
          </a:p>
        </p:txBody>
      </p:sp>
      <p:sp>
        <p:nvSpPr>
          <p:cNvPr id="5" name="Text 3"/>
          <p:cNvSpPr/>
          <p:nvPr/>
        </p:nvSpPr>
        <p:spPr>
          <a:xfrm>
            <a:off x="3174802" y="355550"/>
            <a:ext cx="5699962" cy="152400"/>
          </a:xfrm>
          <a:prstGeom prst="rect">
            <a:avLst/>
          </a:prstGeom>
          <a:noFill/>
          <a:ln/>
        </p:spPr>
        <p:txBody>
          <a:bodyPr wrap="square" lIns="0" tIns="0" rIns="0" bIns="0" rtlCol="0" anchor="t"/>
          <a:lstStyle/>
          <a:p>
            <a:pPr algn="l" indent="0" marL="0">
              <a:spcAft>
                <a:spcPts val="2000"/>
              </a:spcAft>
              <a:buNone/>
            </a:pPr>
            <a:r>
              <a:rPr lang="en-US" sz="1100" b="1" dirty="0">
                <a:solidFill>
                  <a:srgbClr val="00703C"/>
                </a:solidFill>
                <a:latin typeface="Arial" pitchFamily="34" charset="0"/>
                <a:ea typeface="Arial" pitchFamily="34" charset="-122"/>
                <a:cs typeface="Arial" pitchFamily="34" charset="-120"/>
              </a:rPr>
              <a:t>PRESENTATION OUTLINE</a:t>
            </a:r>
            <a:endParaRPr lang="en-US" sz="1100" dirty="0"/>
          </a:p>
        </p:txBody>
      </p:sp>
      <p:sp>
        <p:nvSpPr>
          <p:cNvPr id="6" name="Text 4"/>
          <p:cNvSpPr/>
          <p:nvPr/>
        </p:nvSpPr>
        <p:spPr>
          <a:xfrm>
            <a:off x="3174802" y="761851"/>
            <a:ext cx="279350" cy="279350"/>
          </a:xfrm>
          <a:prstGeom prst="roundRect">
            <a:avLst>
              <a:gd name="adj" fmla="val 327331"/>
            </a:avLst>
          </a:prstGeom>
          <a:solidFill>
            <a:srgbClr val="00703C"/>
          </a:solidFill>
          <a:ln/>
        </p:spPr>
        <p:txBody>
          <a:bodyPr wrap="square" rtlCol="0" anchor="ctr"/>
          <a:lstStyle/>
          <a:p>
            <a:pPr indent="0" marL="0">
              <a:buNone/>
            </a:pPr>
            <a:endParaRPr lang="en-US" dirty="0"/>
          </a:p>
        </p:txBody>
      </p:sp>
      <p:sp>
        <p:nvSpPr>
          <p:cNvPr id="7" name="Text 5"/>
          <p:cNvSpPr/>
          <p:nvPr/>
        </p:nvSpPr>
        <p:spPr>
          <a:xfrm>
            <a:off x="3279130" y="830014"/>
            <a:ext cx="72107" cy="142875"/>
          </a:xfrm>
          <a:prstGeom prst="rect">
            <a:avLst/>
          </a:prstGeom>
          <a:noFill/>
          <a:ln/>
        </p:spPr>
        <p:txBody>
          <a:bodyPr wrap="square" lIns="0" tIns="0" rIns="0" bIns="0" rtlCol="0" anchor="t"/>
          <a:lstStyle/>
          <a:p>
            <a:pPr algn="l"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8" name="Text 6"/>
          <p:cNvSpPr/>
          <p:nvPr/>
        </p:nvSpPr>
        <p:spPr>
          <a:xfrm>
            <a:off x="3581102" y="799951"/>
            <a:ext cx="3640884" cy="152400"/>
          </a:xfrm>
          <a:prstGeom prst="rect">
            <a:avLst/>
          </a:prstGeom>
          <a:noFill/>
          <a:ln/>
        </p:spPr>
        <p:txBody>
          <a:bodyPr wrap="square" lIns="0" tIns="0" rIns="0" bIns="0" rtlCol="0" anchor="t"/>
          <a:lstStyle/>
          <a:p>
            <a:pPr algn="l" indent="0" marL="0">
              <a:buNone/>
            </a:pPr>
            <a:r>
              <a:rPr lang="en-US" sz="1100" dirty="0">
                <a:solidFill>
                  <a:srgbClr val="1A1A1A"/>
                </a:solidFill>
                <a:latin typeface="Arial" pitchFamily="34" charset="0"/>
                <a:ea typeface="Arial" pitchFamily="34" charset="-122"/>
                <a:cs typeface="Arial" pitchFamily="34" charset="-120"/>
              </a:rPr>
              <a:t>Competitive Landscape </a:t>
            </a:r>
            <a:pPr algn="l" indent="0" marL="0">
              <a:buNone/>
            </a:pPr>
            <a:r>
              <a:rPr lang="en-US" sz="900" dirty="0">
                <a:solidFill>
                  <a:srgbClr val="555555"/>
                </a:solidFill>
                <a:latin typeface="Arial" pitchFamily="34" charset="0"/>
                <a:ea typeface="Arial" pitchFamily="34" charset="-122"/>
                <a:cs typeface="Arial" pitchFamily="34" charset="-120"/>
              </a:rPr>
              <a:t>— 7 brands benchmarked on Daraz.pk</a:t>
            </a:r>
            <a:endParaRPr lang="en-US" sz="1100" dirty="0"/>
          </a:p>
        </p:txBody>
      </p:sp>
      <p:sp>
        <p:nvSpPr>
          <p:cNvPr id="9" name="Text 7"/>
          <p:cNvSpPr/>
          <p:nvPr/>
        </p:nvSpPr>
        <p:spPr>
          <a:xfrm>
            <a:off x="3174802" y="1193602"/>
            <a:ext cx="279350" cy="279350"/>
          </a:xfrm>
          <a:prstGeom prst="roundRect">
            <a:avLst>
              <a:gd name="adj" fmla="val 327331"/>
            </a:avLst>
          </a:prstGeom>
          <a:solidFill>
            <a:srgbClr val="00703C"/>
          </a:solidFill>
          <a:ln/>
        </p:spPr>
        <p:txBody>
          <a:bodyPr wrap="square" rtlCol="0" anchor="ctr"/>
          <a:lstStyle/>
          <a:p>
            <a:pPr indent="0" marL="0">
              <a:buNone/>
            </a:pPr>
            <a:endParaRPr lang="en-US" dirty="0"/>
          </a:p>
        </p:txBody>
      </p:sp>
      <p:sp>
        <p:nvSpPr>
          <p:cNvPr id="10" name="Text 8"/>
          <p:cNvSpPr/>
          <p:nvPr/>
        </p:nvSpPr>
        <p:spPr>
          <a:xfrm>
            <a:off x="3279130" y="1261765"/>
            <a:ext cx="72107" cy="142875"/>
          </a:xfrm>
          <a:prstGeom prst="rect">
            <a:avLst/>
          </a:prstGeom>
          <a:noFill/>
          <a:ln/>
        </p:spPr>
        <p:txBody>
          <a:bodyPr wrap="square" lIns="0" tIns="0" rIns="0" bIns="0" rtlCol="0" anchor="t"/>
          <a:lstStyle/>
          <a:p>
            <a:pPr algn="l"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1" name="Text 9"/>
          <p:cNvSpPr/>
          <p:nvPr/>
        </p:nvSpPr>
        <p:spPr>
          <a:xfrm>
            <a:off x="3581102" y="1231702"/>
            <a:ext cx="4145786" cy="152400"/>
          </a:xfrm>
          <a:prstGeom prst="rect">
            <a:avLst/>
          </a:prstGeom>
          <a:noFill/>
          <a:ln/>
        </p:spPr>
        <p:txBody>
          <a:bodyPr wrap="square" lIns="0" tIns="0" rIns="0" bIns="0" rtlCol="0" anchor="t"/>
          <a:lstStyle/>
          <a:p>
            <a:pPr algn="l" indent="0" marL="0">
              <a:buNone/>
            </a:pPr>
            <a:r>
              <a:rPr lang="en-US" sz="1100" dirty="0">
                <a:solidFill>
                  <a:srgbClr val="1A1A1A"/>
                </a:solidFill>
                <a:latin typeface="Arial" pitchFamily="34" charset="0"/>
                <a:ea typeface="Arial" pitchFamily="34" charset="-122"/>
                <a:cs typeface="Arial" pitchFamily="34" charset="-120"/>
              </a:rPr>
              <a:t>PSO Portfolio Overview </a:t>
            </a:r>
            <a:pPr algn="l" indent="0" marL="0">
              <a:buNone/>
            </a:pPr>
            <a:r>
              <a:rPr lang="en-US" sz="900" dirty="0">
                <a:solidFill>
                  <a:srgbClr val="555555"/>
                </a:solidFill>
                <a:latin typeface="Arial" pitchFamily="34" charset="0"/>
                <a:ea typeface="Arial" pitchFamily="34" charset="-122"/>
                <a:cs typeface="Arial" pitchFamily="34" charset="-120"/>
              </a:rPr>
              <a:t>— Tier positioning across PCMO, HDEO &amp; MCO</a:t>
            </a:r>
            <a:endParaRPr lang="en-US" sz="1100" dirty="0"/>
          </a:p>
        </p:txBody>
      </p:sp>
      <p:sp>
        <p:nvSpPr>
          <p:cNvPr id="12" name="Text 10"/>
          <p:cNvSpPr/>
          <p:nvPr/>
        </p:nvSpPr>
        <p:spPr>
          <a:xfrm>
            <a:off x="3174802" y="1625352"/>
            <a:ext cx="279350" cy="279350"/>
          </a:xfrm>
          <a:prstGeom prst="roundRect">
            <a:avLst>
              <a:gd name="adj" fmla="val 327331"/>
            </a:avLst>
          </a:prstGeom>
          <a:solidFill>
            <a:srgbClr val="00703C"/>
          </a:solidFill>
          <a:ln/>
        </p:spPr>
        <p:txBody>
          <a:bodyPr wrap="square" rtlCol="0" anchor="ctr"/>
          <a:lstStyle/>
          <a:p>
            <a:pPr indent="0" marL="0">
              <a:buNone/>
            </a:pPr>
            <a:endParaRPr lang="en-US" dirty="0"/>
          </a:p>
        </p:txBody>
      </p:sp>
      <p:sp>
        <p:nvSpPr>
          <p:cNvPr id="13" name="Text 11"/>
          <p:cNvSpPr/>
          <p:nvPr/>
        </p:nvSpPr>
        <p:spPr>
          <a:xfrm>
            <a:off x="3279130" y="1693515"/>
            <a:ext cx="72107" cy="142875"/>
          </a:xfrm>
          <a:prstGeom prst="rect">
            <a:avLst/>
          </a:prstGeom>
          <a:noFill/>
          <a:ln/>
        </p:spPr>
        <p:txBody>
          <a:bodyPr wrap="square" lIns="0" tIns="0" rIns="0" bIns="0" rtlCol="0" anchor="t"/>
          <a:lstStyle/>
          <a:p>
            <a:pPr algn="l"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4" name="Text 12"/>
          <p:cNvSpPr/>
          <p:nvPr/>
        </p:nvSpPr>
        <p:spPr>
          <a:xfrm>
            <a:off x="3581102" y="1663452"/>
            <a:ext cx="3865858" cy="152400"/>
          </a:xfrm>
          <a:prstGeom prst="rect">
            <a:avLst/>
          </a:prstGeom>
          <a:noFill/>
          <a:ln/>
        </p:spPr>
        <p:txBody>
          <a:bodyPr wrap="square" lIns="0" tIns="0" rIns="0" bIns="0" rtlCol="0" anchor="t"/>
          <a:lstStyle/>
          <a:p>
            <a:pPr algn="l" indent="0" marL="0">
              <a:buNone/>
            </a:pPr>
            <a:r>
              <a:rPr lang="en-US" sz="1100" dirty="0">
                <a:solidFill>
                  <a:srgbClr val="1A1A1A"/>
                </a:solidFill>
                <a:latin typeface="Arial" pitchFamily="34" charset="0"/>
                <a:ea typeface="Arial" pitchFamily="34" charset="-122"/>
                <a:cs typeface="Arial" pitchFamily="34" charset="-120"/>
              </a:rPr>
              <a:t>8 Pricing Frameworks </a:t>
            </a:r>
            <a:pPr algn="l" indent="0" marL="0">
              <a:buNone/>
            </a:pPr>
            <a:r>
              <a:rPr lang="en-US" sz="900" dirty="0">
                <a:solidFill>
                  <a:srgbClr val="555555"/>
                </a:solidFill>
                <a:latin typeface="Arial" pitchFamily="34" charset="0"/>
                <a:ea typeface="Arial" pitchFamily="34" charset="-122"/>
                <a:cs typeface="Arial" pitchFamily="34" charset="-120"/>
              </a:rPr>
              <a:t>— International models applied to PSO SKUs</a:t>
            </a:r>
            <a:endParaRPr lang="en-US" sz="1100" dirty="0"/>
          </a:p>
        </p:txBody>
      </p:sp>
      <p:sp>
        <p:nvSpPr>
          <p:cNvPr id="15" name="Text 13"/>
          <p:cNvSpPr/>
          <p:nvPr/>
        </p:nvSpPr>
        <p:spPr>
          <a:xfrm>
            <a:off x="3174802" y="2057102"/>
            <a:ext cx="279350" cy="279350"/>
          </a:xfrm>
          <a:prstGeom prst="roundRect">
            <a:avLst>
              <a:gd name="adj" fmla="val 327331"/>
            </a:avLst>
          </a:prstGeom>
          <a:solidFill>
            <a:srgbClr val="00703C"/>
          </a:solidFill>
          <a:ln/>
        </p:spPr>
        <p:txBody>
          <a:bodyPr wrap="square" rtlCol="0" anchor="ctr"/>
          <a:lstStyle/>
          <a:p>
            <a:pPr indent="0" marL="0">
              <a:buNone/>
            </a:pPr>
            <a:endParaRPr lang="en-US" dirty="0"/>
          </a:p>
        </p:txBody>
      </p:sp>
      <p:sp>
        <p:nvSpPr>
          <p:cNvPr id="16" name="Text 14"/>
          <p:cNvSpPr/>
          <p:nvPr/>
        </p:nvSpPr>
        <p:spPr>
          <a:xfrm>
            <a:off x="3279130" y="2125266"/>
            <a:ext cx="72107" cy="142875"/>
          </a:xfrm>
          <a:prstGeom prst="rect">
            <a:avLst/>
          </a:prstGeom>
          <a:noFill/>
          <a:ln/>
        </p:spPr>
        <p:txBody>
          <a:bodyPr wrap="square" lIns="0" tIns="0" rIns="0" bIns="0" rtlCol="0" anchor="t"/>
          <a:lstStyle/>
          <a:p>
            <a:pPr algn="l"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Text 15"/>
          <p:cNvSpPr/>
          <p:nvPr/>
        </p:nvSpPr>
        <p:spPr>
          <a:xfrm>
            <a:off x="3581102" y="2095202"/>
            <a:ext cx="4282714" cy="152400"/>
          </a:xfrm>
          <a:prstGeom prst="rect">
            <a:avLst/>
          </a:prstGeom>
          <a:noFill/>
          <a:ln/>
        </p:spPr>
        <p:txBody>
          <a:bodyPr wrap="square" lIns="0" tIns="0" rIns="0" bIns="0" rtlCol="0" anchor="t"/>
          <a:lstStyle/>
          <a:p>
            <a:pPr algn="l" indent="0" marL="0">
              <a:buNone/>
            </a:pPr>
            <a:r>
              <a:rPr lang="en-US" sz="1100" dirty="0">
                <a:solidFill>
                  <a:srgbClr val="1A1A1A"/>
                </a:solidFill>
                <a:latin typeface="Arial" pitchFamily="34" charset="0"/>
                <a:ea typeface="Arial" pitchFamily="34" charset="-122"/>
                <a:cs typeface="Arial" pitchFamily="34" charset="-120"/>
              </a:rPr>
              <a:t>SKU Pricing Recommendations </a:t>
            </a:r>
            <a:pPr algn="l" indent="0" marL="0">
              <a:buNone/>
            </a:pPr>
            <a:r>
              <a:rPr lang="en-US" sz="900" dirty="0">
                <a:solidFill>
                  <a:srgbClr val="555555"/>
                </a:solidFill>
                <a:latin typeface="Arial" pitchFamily="34" charset="0"/>
                <a:ea typeface="Arial" pitchFamily="34" charset="-122"/>
                <a:cs typeface="Arial" pitchFamily="34" charset="-120"/>
              </a:rPr>
              <a:t>— 45 retail SKUs, all pack sizes up to 4L</a:t>
            </a:r>
            <a:endParaRPr lang="en-US" sz="1100" dirty="0"/>
          </a:p>
        </p:txBody>
      </p:sp>
      <p:sp>
        <p:nvSpPr>
          <p:cNvPr id="18" name="Text 16"/>
          <p:cNvSpPr/>
          <p:nvPr/>
        </p:nvSpPr>
        <p:spPr>
          <a:xfrm>
            <a:off x="3174802" y="2488853"/>
            <a:ext cx="279350" cy="279350"/>
          </a:xfrm>
          <a:prstGeom prst="roundRect">
            <a:avLst>
              <a:gd name="adj" fmla="val 327331"/>
            </a:avLst>
          </a:prstGeom>
          <a:solidFill>
            <a:srgbClr val="00703C"/>
          </a:solidFill>
          <a:ln/>
        </p:spPr>
        <p:txBody>
          <a:bodyPr wrap="square" rtlCol="0" anchor="ctr"/>
          <a:lstStyle/>
          <a:p>
            <a:pPr indent="0" marL="0">
              <a:buNone/>
            </a:pPr>
            <a:endParaRPr lang="en-US" dirty="0"/>
          </a:p>
        </p:txBody>
      </p:sp>
      <p:sp>
        <p:nvSpPr>
          <p:cNvPr id="19" name="Text 17"/>
          <p:cNvSpPr/>
          <p:nvPr/>
        </p:nvSpPr>
        <p:spPr>
          <a:xfrm>
            <a:off x="3279130" y="2557016"/>
            <a:ext cx="72107" cy="142875"/>
          </a:xfrm>
          <a:prstGeom prst="rect">
            <a:avLst/>
          </a:prstGeom>
          <a:noFill/>
          <a:ln/>
        </p:spPr>
        <p:txBody>
          <a:bodyPr wrap="square" lIns="0" tIns="0" rIns="0" bIns="0" rtlCol="0" anchor="t"/>
          <a:lstStyle/>
          <a:p>
            <a:pPr algn="l"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20" name="Text 18"/>
          <p:cNvSpPr/>
          <p:nvPr/>
        </p:nvSpPr>
        <p:spPr>
          <a:xfrm>
            <a:off x="3581102" y="2526953"/>
            <a:ext cx="4778356" cy="152400"/>
          </a:xfrm>
          <a:prstGeom prst="rect">
            <a:avLst/>
          </a:prstGeom>
          <a:noFill/>
          <a:ln/>
        </p:spPr>
        <p:txBody>
          <a:bodyPr wrap="square" lIns="0" tIns="0" rIns="0" bIns="0" rtlCol="0" anchor="t"/>
          <a:lstStyle/>
          <a:p>
            <a:pPr algn="l" indent="0" marL="0">
              <a:buNone/>
            </a:pPr>
            <a:r>
              <a:rPr lang="en-US" sz="1100" dirty="0">
                <a:solidFill>
                  <a:srgbClr val="1A1A1A"/>
                </a:solidFill>
                <a:latin typeface="Arial" pitchFamily="34" charset="0"/>
                <a:ea typeface="Arial" pitchFamily="34" charset="-122"/>
                <a:cs typeface="Arial" pitchFamily="34" charset="-120"/>
              </a:rPr>
              <a:t>Market Signals &amp; Opportunities </a:t>
            </a:r>
            <a:pPr algn="l" indent="0" marL="0">
              <a:buNone/>
            </a:pPr>
            <a:r>
              <a:rPr lang="en-US" sz="900" dirty="0">
                <a:solidFill>
                  <a:srgbClr val="555555"/>
                </a:solidFill>
                <a:latin typeface="Arial" pitchFamily="34" charset="0"/>
                <a:ea typeface="Arial" pitchFamily="34" charset="-122"/>
                <a:cs typeface="Arial" pitchFamily="34" charset="-120"/>
              </a:rPr>
              <a:t>— Where PSO leads, matches, or trails the market</a:t>
            </a:r>
            <a:endParaRPr lang="en-US" sz="1100" dirty="0"/>
          </a:p>
        </p:txBody>
      </p:sp>
      <p:sp>
        <p:nvSpPr>
          <p:cNvPr id="21" name="Text 19"/>
          <p:cNvSpPr/>
          <p:nvPr/>
        </p:nvSpPr>
        <p:spPr>
          <a:xfrm>
            <a:off x="3174802" y="2920603"/>
            <a:ext cx="279350" cy="279350"/>
          </a:xfrm>
          <a:prstGeom prst="roundRect">
            <a:avLst>
              <a:gd name="adj" fmla="val 327331"/>
            </a:avLst>
          </a:prstGeom>
          <a:solidFill>
            <a:srgbClr val="00703C"/>
          </a:solidFill>
          <a:ln/>
        </p:spPr>
        <p:txBody>
          <a:bodyPr wrap="square" rtlCol="0" anchor="ctr"/>
          <a:lstStyle/>
          <a:p>
            <a:pPr indent="0" marL="0">
              <a:buNone/>
            </a:pPr>
            <a:endParaRPr lang="en-US" dirty="0"/>
          </a:p>
        </p:txBody>
      </p:sp>
      <p:sp>
        <p:nvSpPr>
          <p:cNvPr id="22" name="Text 20"/>
          <p:cNvSpPr/>
          <p:nvPr/>
        </p:nvSpPr>
        <p:spPr>
          <a:xfrm>
            <a:off x="3279130" y="2988766"/>
            <a:ext cx="72107" cy="142875"/>
          </a:xfrm>
          <a:prstGeom prst="rect">
            <a:avLst/>
          </a:prstGeom>
          <a:noFill/>
          <a:ln/>
        </p:spPr>
        <p:txBody>
          <a:bodyPr wrap="square" lIns="0" tIns="0" rIns="0" bIns="0" rtlCol="0" anchor="t"/>
          <a:lstStyle/>
          <a:p>
            <a:pPr algn="l"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3" name="Text 21"/>
          <p:cNvSpPr/>
          <p:nvPr/>
        </p:nvSpPr>
        <p:spPr>
          <a:xfrm>
            <a:off x="3581102" y="2958703"/>
            <a:ext cx="4431786" cy="152400"/>
          </a:xfrm>
          <a:prstGeom prst="rect">
            <a:avLst/>
          </a:prstGeom>
          <a:noFill/>
          <a:ln/>
        </p:spPr>
        <p:txBody>
          <a:bodyPr wrap="square" lIns="0" tIns="0" rIns="0" bIns="0" rtlCol="0" anchor="t"/>
          <a:lstStyle/>
          <a:p>
            <a:pPr algn="l" indent="0" marL="0">
              <a:buNone/>
            </a:pPr>
            <a:r>
              <a:rPr lang="en-US" sz="1100" dirty="0">
                <a:solidFill>
                  <a:srgbClr val="1A1A1A"/>
                </a:solidFill>
                <a:latin typeface="Arial" pitchFamily="34" charset="0"/>
                <a:ea typeface="Arial" pitchFamily="34" charset="-122"/>
                <a:cs typeface="Arial" pitchFamily="34" charset="-120"/>
              </a:rPr>
              <a:t>Strategic Recommendations </a:t>
            </a:r>
            <a:pPr algn="l" indent="0" marL="0">
              <a:buNone/>
            </a:pPr>
            <a:r>
              <a:rPr lang="en-US" sz="900" dirty="0">
                <a:solidFill>
                  <a:srgbClr val="555555"/>
                </a:solidFill>
                <a:latin typeface="Arial" pitchFamily="34" charset="0"/>
                <a:ea typeface="Arial" pitchFamily="34" charset="-122"/>
                <a:cs typeface="Arial" pitchFamily="34" charset="-120"/>
              </a:rPr>
              <a:t>— Priority actions with implementation roadmap</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8F8"/>
        </a:solidFill>
      </p:bgPr>
    </p:bg>
    <p:spTree>
      <p:nvGrpSpPr>
        <p:cNvPr id="1" name=""/>
        <p:cNvGrpSpPr/>
        <p:nvPr/>
      </p:nvGrpSpPr>
      <p:grpSpPr>
        <a:xfrm>
          <a:off x="0" y="0"/>
          <a:ext cx="0" cy="0"/>
          <a:chOff x="0" y="0"/>
          <a:chExt cx="0" cy="0"/>
        </a:xfrm>
      </p:grpSpPr>
      <p:sp>
        <p:nvSpPr>
          <p:cNvPr id="2" name="Text 0"/>
          <p:cNvSpPr/>
          <p:nvPr/>
        </p:nvSpPr>
        <p:spPr>
          <a:xfrm>
            <a:off x="0" y="0"/>
            <a:ext cx="9144000" cy="780901"/>
          </a:xfrm>
          <a:prstGeom prst="rect">
            <a:avLst/>
          </a:prstGeom>
          <a:solidFill>
            <a:srgbClr val="00703C"/>
          </a:solidFill>
          <a:ln/>
        </p:spPr>
        <p:txBody>
          <a:bodyPr wrap="square" rtlCol="0" anchor="ctr"/>
          <a:lstStyle/>
          <a:p>
            <a:pPr indent="0" marL="0">
              <a:buNone/>
            </a:pPr>
            <a:endParaRPr lang="en-US" dirty="0"/>
          </a:p>
        </p:txBody>
      </p:sp>
      <p:sp>
        <p:nvSpPr>
          <p:cNvPr id="3" name="Text 1"/>
          <p:cNvSpPr/>
          <p:nvPr/>
        </p:nvSpPr>
        <p:spPr>
          <a:xfrm>
            <a:off x="355550" y="177701"/>
            <a:ext cx="8601557" cy="266700"/>
          </a:xfrm>
          <a:prstGeom prst="rect">
            <a:avLst/>
          </a:prstGeom>
          <a:noFill/>
          <a:ln/>
        </p:spPr>
        <p:txBody>
          <a:bodyPr wrap="square" lIns="0" tIns="0" rIns="0" bIns="0" rtlCol="0" anchor="t"/>
          <a:lstStyle/>
          <a:p>
            <a:pPr algn="l" indent="0" marL="0">
              <a:buNone/>
            </a:pPr>
            <a:r>
              <a:rPr lang="en-US" sz="1800" b="1" dirty="0">
                <a:solidFill>
                  <a:srgbClr val="FFFFFF"/>
                </a:solidFill>
                <a:latin typeface="Arial" pitchFamily="34" charset="0"/>
                <a:ea typeface="Arial" pitchFamily="34" charset="-122"/>
                <a:cs typeface="Arial" pitchFamily="34" charset="-120"/>
              </a:rPr>
              <a:t>Competitive Landscape</a:t>
            </a:r>
            <a:endParaRPr lang="en-US" sz="1800" dirty="0"/>
          </a:p>
        </p:txBody>
      </p:sp>
      <p:sp>
        <p:nvSpPr>
          <p:cNvPr id="4" name="Text 2"/>
          <p:cNvSpPr/>
          <p:nvPr/>
        </p:nvSpPr>
        <p:spPr>
          <a:xfrm>
            <a:off x="355550" y="495151"/>
            <a:ext cx="8601557" cy="133350"/>
          </a:xfrm>
          <a:prstGeom prst="rect">
            <a:avLst/>
          </a:prstGeom>
          <a:noFill/>
          <a:ln/>
        </p:spPr>
        <p:txBody>
          <a:bodyPr wrap="square" lIns="0" tIns="0" rIns="0" bIns="0" rtlCol="0" anchor="t"/>
          <a:lstStyle/>
          <a:p>
            <a:pPr algn="l" indent="0" marL="0">
              <a:spcBef>
                <a:spcPts val="400"/>
              </a:spcBef>
              <a:buNone/>
            </a:pPr>
            <a:r>
              <a:rPr lang="en-US" sz="900" dirty="0">
                <a:solidFill>
                  <a:srgbClr val="A8D5BE"/>
                </a:solidFill>
                <a:latin typeface="Arial" pitchFamily="34" charset="0"/>
                <a:ea typeface="Arial" pitchFamily="34" charset="-122"/>
                <a:cs typeface="Arial" pitchFamily="34" charset="-120"/>
              </a:rPr>
              <a:t>365 price listings scraped across Daraz.pk | 7 brands | PCMO, HDEO &amp; MCO categories</a:t>
            </a:r>
            <a:endParaRPr lang="en-US" sz="900" dirty="0"/>
          </a:p>
        </p:txBody>
      </p:sp>
      <p:sp>
        <p:nvSpPr>
          <p:cNvPr id="5" name="Text 3"/>
          <p:cNvSpPr/>
          <p:nvPr/>
        </p:nvSpPr>
        <p:spPr>
          <a:xfrm>
            <a:off x="355550" y="984052"/>
            <a:ext cx="8601557" cy="133350"/>
          </a:xfrm>
          <a:prstGeom prst="rect">
            <a:avLst/>
          </a:prstGeom>
          <a:noFill/>
          <a:ln/>
        </p:spPr>
        <p:txBody>
          <a:bodyPr wrap="square" lIns="0" tIns="0" rIns="0" bIns="0" rtlCol="0" anchor="t"/>
          <a:lstStyle/>
          <a:p>
            <a:pPr algn="l" indent="0" marL="0">
              <a:spcAft>
                <a:spcPts val="1200"/>
              </a:spcAft>
              <a:buNone/>
            </a:pPr>
            <a:r>
              <a:rPr lang="en-US" sz="900" dirty="0">
                <a:solidFill>
                  <a:srgbClr val="555555"/>
                </a:solidFill>
                <a:latin typeface="Arial" pitchFamily="34" charset="0"/>
                <a:ea typeface="Arial" pitchFamily="34" charset="-122"/>
                <a:cs typeface="Arial" pitchFamily="34" charset="-120"/>
              </a:rPr>
              <a:t>Source: Daraz.pk live price data (July 2026) | Price per litre (PKR) | Median of available pack sizes</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274320" y="1417320"/>
          <a:ext cx="8595360" cy="3291840"/>
        </p:xfrm>
        <a:graphic>
          <a:graphicData uri="http://schemas.openxmlformats.org/drawingml/2006/table">
            <a:tbl>
              <a:tblPr/>
              <a:tblGrid>
                <a:gridCol w="1371600"/>
                <a:gridCol w="1097280"/>
                <a:gridCol w="914400"/>
                <a:gridCol w="1463040"/>
                <a:gridCol w="1097280"/>
                <a:gridCol w="1097280"/>
                <a:gridCol w="1097280"/>
              </a:tblGrid>
              <a:tr h="420624">
                <a:tc>
                  <a:txBody>
                    <a:bodyPr/>
                    <a:lstStyle/>
                    <a:p>
                      <a:pPr algn="ctr" indent="0" marL="0">
                        <a:buNone/>
                      </a:pPr>
                      <a:r>
                        <a:rPr lang="en-US" sz="800" dirty="0">
                          <a:solidFill>
                            <a:srgbClr val="000000"/>
                          </a:solidFill>
                        </a:rPr>
                        <a:t>Brand</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Tier</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Origin</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Grades</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Market Min</a:t>
                      </a:r>
                      <a:endParaRPr lang="en-US" sz="800" dirty="0"/>
                    </a:p>
                    <a:p>
                      <a:pPr algn="ctr" indent="0" marL="0">
                        <a:buNone/>
                      </a:pPr>
                      <a:r>
                        <a:rPr lang="en-US" sz="800" dirty="0">
                          <a:solidFill>
                            <a:srgbClr val="000000"/>
                          </a:solidFill>
                        </a:rPr>
                        <a:t>(PKR/L)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Market Med</a:t>
                      </a:r>
                      <a:endParaRPr lang="en-US" sz="800" dirty="0"/>
                    </a:p>
                    <a:p>
                      <a:pPr algn="ctr" indent="0" marL="0">
                        <a:buNone/>
                      </a:pPr>
                      <a:r>
                        <a:rPr lang="en-US" sz="800" dirty="0">
                          <a:solidFill>
                            <a:srgbClr val="000000"/>
                          </a:solidFill>
                        </a:rPr>
                        <a:t>(PKR/L)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Market Max</a:t>
                      </a:r>
                      <a:endParaRPr lang="en-US" sz="800" dirty="0"/>
                    </a:p>
                    <a:p>
                      <a:pPr algn="ctr" indent="0" marL="0">
                        <a:buNone/>
                      </a:pPr>
                      <a:r>
                        <a:rPr lang="en-US" sz="800" dirty="0">
                          <a:solidFill>
                            <a:srgbClr val="000000"/>
                          </a:solidFill>
                        </a:rPr>
                        <a:t>(PKR/L)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420624">
                <a:tc>
                  <a:txBody>
                    <a:bodyPr/>
                    <a:lstStyle/>
                    <a:p>
                      <a:pPr algn="ctr" indent="0" marL="0">
                        <a:buNone/>
                      </a:pPr>
                      <a:r>
                        <a:rPr lang="en-US" sz="800" dirty="0">
                          <a:solidFill>
                            <a:srgbClr val="000000"/>
                          </a:solidFill>
                        </a:rPr>
                        <a:t>Shell Helix</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Super Premium</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Imported</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0W-20, 5W-30, 5W-40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3,375</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3,412</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4,012</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420624">
                <a:tc>
                  <a:txBody>
                    <a:bodyPr/>
                    <a:lstStyle/>
                    <a:p>
                      <a:pPr algn="ctr" indent="0" marL="0">
                        <a:buNone/>
                      </a:pPr>
                      <a:r>
                        <a:rPr lang="en-US" sz="800" dirty="0">
                          <a:solidFill>
                            <a:srgbClr val="000000"/>
                          </a:solidFill>
                        </a:rPr>
                        <a:t>Caltex Havoline</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Premium</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Imported</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5W-30, 10W-40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1,660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2,300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2,300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420624">
                <a:tc>
                  <a:txBody>
                    <a:bodyPr/>
                    <a:lstStyle/>
                    <a:p>
                      <a:pPr algn="ctr" indent="0" marL="0">
                        <a:buNone/>
                      </a:pPr>
                      <a:r>
                        <a:rPr lang="en-US" sz="800" dirty="0">
                          <a:solidFill>
                            <a:srgbClr val="000000"/>
                          </a:solidFill>
                        </a:rPr>
                        <a:t>Total Quartz</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Premium</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Imported</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5W-30, 5W-40, 10W-40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1,660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2,300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2,300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420624">
                <a:tc>
                  <a:txBody>
                    <a:bodyPr/>
                    <a:lstStyle/>
                    <a:p>
                      <a:pPr algn="ctr" indent="0" marL="0">
                        <a:buNone/>
                      </a:pPr>
                      <a:r>
                        <a:rPr lang="en-US" sz="800" dirty="0">
                          <a:solidFill>
                            <a:srgbClr val="000000"/>
                          </a:solidFill>
                        </a:rPr>
                        <a:t>ZIC (SK)</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Premium/Mainstream</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Imported (Korea)</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5W-30, 10W-40, 20W-50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1,088</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1,750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2,262</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420624">
                <a:tc>
                  <a:txBody>
                    <a:bodyPr/>
                    <a:lstStyle/>
                    <a:p>
                      <a:pPr algn="ctr" indent="0" marL="0">
                        <a:buNone/>
                      </a:pPr>
                      <a:r>
                        <a:rPr lang="en-US" sz="800" dirty="0">
                          <a:solidFill>
                            <a:srgbClr val="000000"/>
                          </a:solidFill>
                        </a:rPr>
                        <a:t>Aramco Mobil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Mainstream</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Imported</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10W-40, 15W-40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1,088</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1,750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2,262</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420624">
                <a:tc>
                  <a:txBody>
                    <a:bodyPr/>
                    <a:lstStyle/>
                    <a:p>
                      <a:pPr algn="ctr" indent="0" marL="0">
                        <a:buNone/>
                      </a:pPr>
                      <a:r>
                        <a:rPr lang="en-US" sz="800" dirty="0">
                          <a:solidFill>
                            <a:srgbClr val="000000"/>
                          </a:solidFill>
                        </a:rPr>
                        <a:t>Kixx (GS)</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Mainstream/Economy</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Imported (Korea)</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10W-40, 15W-40, 20W-50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876</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1,019</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1,500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420624">
                <a:tc>
                  <a:txBody>
                    <a:bodyPr/>
                    <a:lstStyle/>
                    <a:p>
                      <a:pPr algn="ctr" indent="0" marL="0">
                        <a:buNone/>
                      </a:pPr>
                      <a:r>
                        <a:rPr lang="en-US" sz="800" dirty="0">
                          <a:solidFill>
                            <a:srgbClr val="000000"/>
                          </a:solidFill>
                        </a:rPr>
                        <a:t>Equimoli</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Economy</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Local/Imported</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15W-40, 20W-50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922</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1,025</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2,150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780901"/>
          </a:xfrm>
          <a:prstGeom prst="rect">
            <a:avLst/>
          </a:prstGeom>
          <a:solidFill>
            <a:srgbClr val="00703C"/>
          </a:solidFill>
          <a:ln/>
        </p:spPr>
        <p:txBody>
          <a:bodyPr wrap="square" rtlCol="0" anchor="ctr"/>
          <a:lstStyle/>
          <a:p>
            <a:pPr indent="0" marL="0">
              <a:buNone/>
            </a:pPr>
            <a:endParaRPr lang="en-US" dirty="0"/>
          </a:p>
        </p:txBody>
      </p:sp>
      <p:sp>
        <p:nvSpPr>
          <p:cNvPr id="3" name="Text 1"/>
          <p:cNvSpPr/>
          <p:nvPr/>
        </p:nvSpPr>
        <p:spPr>
          <a:xfrm>
            <a:off x="355550" y="177701"/>
            <a:ext cx="8601557" cy="266700"/>
          </a:xfrm>
          <a:prstGeom prst="rect">
            <a:avLst/>
          </a:prstGeom>
          <a:noFill/>
          <a:ln/>
        </p:spPr>
        <p:txBody>
          <a:bodyPr wrap="square" lIns="0" tIns="0" rIns="0" bIns="0" rtlCol="0" anchor="t"/>
          <a:lstStyle/>
          <a:p>
            <a:pPr algn="l" indent="0" marL="0">
              <a:buNone/>
            </a:pPr>
            <a:r>
              <a:rPr lang="en-US" sz="1800" b="1" dirty="0">
                <a:solidFill>
                  <a:srgbClr val="FFFFFF"/>
                </a:solidFill>
                <a:latin typeface="Arial" pitchFamily="34" charset="0"/>
                <a:ea typeface="Arial" pitchFamily="34" charset="-122"/>
                <a:cs typeface="Arial" pitchFamily="34" charset="-120"/>
              </a:rPr>
              <a:t>PSO Lubricants Portfolio — Tier Overview</a:t>
            </a:r>
            <a:endParaRPr lang="en-US" sz="1800" dirty="0"/>
          </a:p>
        </p:txBody>
      </p:sp>
      <p:sp>
        <p:nvSpPr>
          <p:cNvPr id="4" name="Text 2"/>
          <p:cNvSpPr/>
          <p:nvPr/>
        </p:nvSpPr>
        <p:spPr>
          <a:xfrm>
            <a:off x="355550" y="495151"/>
            <a:ext cx="8601557" cy="133350"/>
          </a:xfrm>
          <a:prstGeom prst="rect">
            <a:avLst/>
          </a:prstGeom>
          <a:noFill/>
          <a:ln/>
        </p:spPr>
        <p:txBody>
          <a:bodyPr wrap="square" lIns="0" tIns="0" rIns="0" bIns="0" rtlCol="0" anchor="t"/>
          <a:lstStyle/>
          <a:p>
            <a:pPr algn="l" indent="0" marL="0">
              <a:spcBef>
                <a:spcPts val="400"/>
              </a:spcBef>
              <a:buNone/>
            </a:pPr>
            <a:r>
              <a:rPr lang="en-US" sz="900" b="1" dirty="0">
                <a:solidFill>
                  <a:srgbClr val="A8D5BE"/>
                </a:solidFill>
                <a:latin typeface="Arial" pitchFamily="34" charset="0"/>
                <a:ea typeface="Arial" pitchFamily="34" charset="-122"/>
                <a:cs typeface="Arial" pitchFamily="34" charset="-120"/>
              </a:rPr>
              <a:t>12 sub-brands across 4 performance tiers | PCMO · HDEO · MCO categories</a:t>
            </a:r>
            <a:endParaRPr lang="en-US" sz="900" dirty="0"/>
          </a:p>
        </p:txBody>
      </p:sp>
      <p:sp>
        <p:nvSpPr>
          <p:cNvPr id="5" name="Text 3"/>
          <p:cNvSpPr/>
          <p:nvPr/>
        </p:nvSpPr>
        <p:spPr>
          <a:xfrm>
            <a:off x="355550" y="984052"/>
            <a:ext cx="2746299" cy="133350"/>
          </a:xfrm>
          <a:prstGeom prst="rect">
            <a:avLst/>
          </a:prstGeom>
          <a:noFill/>
          <a:ln/>
        </p:spPr>
        <p:txBody>
          <a:bodyPr wrap="square" lIns="0" tIns="0" rIns="0" bIns="0" rtlCol="0" anchor="t"/>
          <a:lstStyle/>
          <a:p>
            <a:pPr algn="l" indent="0" marL="0">
              <a:spcAft>
                <a:spcPts val="600"/>
              </a:spcAft>
              <a:buNone/>
            </a:pPr>
            <a:r>
              <a:rPr lang="en-US" sz="900" b="1" dirty="0">
                <a:solidFill>
                  <a:srgbClr val="555555"/>
                </a:solidFill>
                <a:latin typeface="Arial" pitchFamily="34" charset="0"/>
                <a:ea typeface="Arial" pitchFamily="34" charset="-122"/>
                <a:cs typeface="Arial" pitchFamily="34" charset="-120"/>
              </a:rPr>
              <a:t>PETROL ENGINE (PCMO)</a:t>
            </a:r>
            <a:endParaRPr lang="en-US" sz="900" dirty="0"/>
          </a:p>
        </p:txBody>
      </p:sp>
      <p:sp>
        <p:nvSpPr>
          <p:cNvPr id="6" name="Text 4"/>
          <p:cNvSpPr/>
          <p:nvPr/>
        </p:nvSpPr>
        <p:spPr>
          <a:xfrm>
            <a:off x="355550" y="1320552"/>
            <a:ext cx="2692450" cy="730002"/>
          </a:xfrm>
          <a:prstGeom prst="roundRect">
            <a:avLst>
              <a:gd name="adj" fmla="val 10438"/>
            </a:avLst>
          </a:prstGeom>
          <a:solidFill>
            <a:srgbClr val="023520"/>
          </a:solidFill>
          <a:ln/>
        </p:spPr>
        <p:txBody>
          <a:bodyPr wrap="square" rtlCol="0" anchor="ctr"/>
          <a:lstStyle/>
          <a:p>
            <a:pPr indent="0" marL="0">
              <a:buNone/>
            </a:pPr>
            <a:endParaRPr lang="en-US" dirty="0"/>
          </a:p>
        </p:txBody>
      </p:sp>
      <p:sp>
        <p:nvSpPr>
          <p:cNvPr id="7" name="Text 5"/>
          <p:cNvSpPr/>
          <p:nvPr/>
        </p:nvSpPr>
        <p:spPr>
          <a:xfrm>
            <a:off x="533251" y="1447502"/>
            <a:ext cx="2383789" cy="114300"/>
          </a:xfrm>
          <a:prstGeom prst="rect">
            <a:avLst/>
          </a:prstGeom>
          <a:noFill/>
          <a:ln/>
        </p:spPr>
        <p:txBody>
          <a:bodyPr wrap="square" lIns="0" tIns="0" rIns="0" bIns="0" rtlCol="0" anchor="t"/>
          <a:lstStyle/>
          <a:p>
            <a:pPr algn="l" indent="0" marL="0">
              <a:spcAft>
                <a:spcPts val="400"/>
              </a:spcAft>
              <a:buNone/>
            </a:pPr>
            <a:r>
              <a:rPr lang="en-US" sz="800" b="1" dirty="0">
                <a:solidFill>
                  <a:srgbClr val="FFFFFF"/>
                </a:solidFill>
                <a:latin typeface="Arial" pitchFamily="34" charset="0"/>
                <a:ea typeface="Arial" pitchFamily="34" charset="-122"/>
                <a:cs typeface="Arial" pitchFamily="34" charset="-120"/>
              </a:rPr>
              <a:t>SUPER PREMIUM</a:t>
            </a:r>
            <a:endParaRPr lang="en-US" sz="800" dirty="0"/>
          </a:p>
        </p:txBody>
      </p:sp>
      <p:sp>
        <p:nvSpPr>
          <p:cNvPr id="8" name="Text 6"/>
          <p:cNvSpPr/>
          <p:nvPr/>
        </p:nvSpPr>
        <p:spPr>
          <a:xfrm>
            <a:off x="533251" y="1612553"/>
            <a:ext cx="2383789" cy="171450"/>
          </a:xfrm>
          <a:prstGeom prst="rect">
            <a:avLst/>
          </a:prstGeom>
          <a:noFill/>
          <a:ln/>
        </p:spPr>
        <p:txBody>
          <a:bodyPr wrap="square" lIns="0" tIns="0" rIns="0" bIns="0" rtlCol="0" anchor="t"/>
          <a:lstStyle/>
          <a:p>
            <a:pPr algn="l" indent="0" marL="0">
              <a:spcAft>
                <a:spcPts val="200"/>
              </a:spcAft>
              <a:buNone/>
            </a:pPr>
            <a:r>
              <a:rPr lang="en-US" sz="1200" b="1" dirty="0">
                <a:solidFill>
                  <a:srgbClr val="FFFFFF"/>
                </a:solidFill>
                <a:latin typeface="Arial" pitchFamily="34" charset="0"/>
                <a:ea typeface="Arial" pitchFamily="34" charset="-122"/>
                <a:cs typeface="Arial" pitchFamily="34" charset="-120"/>
              </a:rPr>
              <a:t>Carient Ultra</a:t>
            </a:r>
            <a:endParaRPr lang="en-US" sz="1200" dirty="0"/>
          </a:p>
        </p:txBody>
      </p:sp>
      <p:sp>
        <p:nvSpPr>
          <p:cNvPr id="9" name="Text 7"/>
          <p:cNvSpPr/>
          <p:nvPr/>
        </p:nvSpPr>
        <p:spPr>
          <a:xfrm>
            <a:off x="533251" y="1809304"/>
            <a:ext cx="2383789" cy="114300"/>
          </a:xfrm>
          <a:prstGeom prst="rect">
            <a:avLst/>
          </a:prstGeom>
          <a:noFill/>
          <a:ln/>
        </p:spPr>
        <p:txBody>
          <a:bodyPr wrap="square" lIns="0" tIns="0" rIns="0" bIns="0" rtlCol="0" anchor="t"/>
          <a:lstStyle/>
          <a:p>
            <a:pPr algn="l" indent="0" marL="0">
              <a:buNone/>
            </a:pPr>
            <a:r>
              <a:rPr lang="en-US" sz="800" dirty="0">
                <a:solidFill>
                  <a:srgbClr val="FFFFFF"/>
                </a:solidFill>
                <a:latin typeface="Arial" pitchFamily="34" charset="0"/>
                <a:ea typeface="Arial" pitchFamily="34" charset="-122"/>
                <a:cs typeface="Arial" pitchFamily="34" charset="-120"/>
              </a:rPr>
              <a:t>0W-20, 5W-20, 5W-30, 5W-40 | Full Synthetic</a:t>
            </a:r>
            <a:endParaRPr lang="en-US" sz="800" dirty="0"/>
          </a:p>
        </p:txBody>
      </p:sp>
      <p:sp>
        <p:nvSpPr>
          <p:cNvPr id="10" name="Text 8"/>
          <p:cNvSpPr/>
          <p:nvPr/>
        </p:nvSpPr>
        <p:spPr>
          <a:xfrm>
            <a:off x="355550" y="2177504"/>
            <a:ext cx="2692450" cy="730002"/>
          </a:xfrm>
          <a:prstGeom prst="roundRect">
            <a:avLst>
              <a:gd name="adj" fmla="val 10438"/>
            </a:avLst>
          </a:prstGeom>
          <a:solidFill>
            <a:srgbClr val="00703C"/>
          </a:solidFill>
          <a:ln/>
        </p:spPr>
        <p:txBody>
          <a:bodyPr wrap="square" rtlCol="0" anchor="ctr"/>
          <a:lstStyle/>
          <a:p>
            <a:pPr indent="0" marL="0">
              <a:buNone/>
            </a:pPr>
            <a:endParaRPr lang="en-US" dirty="0"/>
          </a:p>
        </p:txBody>
      </p:sp>
      <p:sp>
        <p:nvSpPr>
          <p:cNvPr id="11" name="Text 9"/>
          <p:cNvSpPr/>
          <p:nvPr/>
        </p:nvSpPr>
        <p:spPr>
          <a:xfrm>
            <a:off x="533251" y="2304455"/>
            <a:ext cx="2383789" cy="114300"/>
          </a:xfrm>
          <a:prstGeom prst="rect">
            <a:avLst/>
          </a:prstGeom>
          <a:noFill/>
          <a:ln/>
        </p:spPr>
        <p:txBody>
          <a:bodyPr wrap="square" lIns="0" tIns="0" rIns="0" bIns="0" rtlCol="0" anchor="t"/>
          <a:lstStyle/>
          <a:p>
            <a:pPr algn="l" indent="0" marL="0">
              <a:spcAft>
                <a:spcPts val="400"/>
              </a:spcAft>
              <a:buNone/>
            </a:pPr>
            <a:r>
              <a:rPr lang="en-US" sz="800" b="1" dirty="0">
                <a:solidFill>
                  <a:srgbClr val="FFFFFF"/>
                </a:solidFill>
                <a:latin typeface="Arial" pitchFamily="34" charset="0"/>
                <a:ea typeface="Arial" pitchFamily="34" charset="-122"/>
                <a:cs typeface="Arial" pitchFamily="34" charset="-120"/>
              </a:rPr>
              <a:t>PREMIUM</a:t>
            </a:r>
            <a:endParaRPr lang="en-US" sz="800" dirty="0"/>
          </a:p>
        </p:txBody>
      </p:sp>
      <p:sp>
        <p:nvSpPr>
          <p:cNvPr id="12" name="Text 10"/>
          <p:cNvSpPr/>
          <p:nvPr/>
        </p:nvSpPr>
        <p:spPr>
          <a:xfrm>
            <a:off x="533251" y="2469505"/>
            <a:ext cx="2383789" cy="171450"/>
          </a:xfrm>
          <a:prstGeom prst="rect">
            <a:avLst/>
          </a:prstGeom>
          <a:noFill/>
          <a:ln/>
        </p:spPr>
        <p:txBody>
          <a:bodyPr wrap="square" lIns="0" tIns="0" rIns="0" bIns="0" rtlCol="0" anchor="t"/>
          <a:lstStyle/>
          <a:p>
            <a:pPr algn="l" indent="0" marL="0">
              <a:spcAft>
                <a:spcPts val="200"/>
              </a:spcAft>
              <a:buNone/>
            </a:pPr>
            <a:r>
              <a:rPr lang="en-US" sz="1200" b="1" dirty="0">
                <a:solidFill>
                  <a:srgbClr val="FFFFFF"/>
                </a:solidFill>
                <a:latin typeface="Arial" pitchFamily="34" charset="0"/>
                <a:ea typeface="Arial" pitchFamily="34" charset="-122"/>
                <a:cs typeface="Arial" pitchFamily="34" charset="-120"/>
              </a:rPr>
              <a:t>Carient FS</a:t>
            </a:r>
            <a:endParaRPr lang="en-US" sz="1200" dirty="0"/>
          </a:p>
        </p:txBody>
      </p:sp>
      <p:sp>
        <p:nvSpPr>
          <p:cNvPr id="13" name="Text 11"/>
          <p:cNvSpPr/>
          <p:nvPr/>
        </p:nvSpPr>
        <p:spPr>
          <a:xfrm>
            <a:off x="533251" y="2666256"/>
            <a:ext cx="2383789" cy="114300"/>
          </a:xfrm>
          <a:prstGeom prst="rect">
            <a:avLst/>
          </a:prstGeom>
          <a:noFill/>
          <a:ln/>
        </p:spPr>
        <p:txBody>
          <a:bodyPr wrap="square" lIns="0" tIns="0" rIns="0" bIns="0" rtlCol="0" anchor="t"/>
          <a:lstStyle/>
          <a:p>
            <a:pPr algn="l" indent="0" marL="0">
              <a:buNone/>
            </a:pPr>
            <a:r>
              <a:rPr lang="en-US" sz="800" dirty="0">
                <a:solidFill>
                  <a:srgbClr val="FFFFFF"/>
                </a:solidFill>
                <a:latin typeface="Arial" pitchFamily="34" charset="0"/>
                <a:ea typeface="Arial" pitchFamily="34" charset="-122"/>
                <a:cs typeface="Arial" pitchFamily="34" charset="-120"/>
              </a:rPr>
              <a:t>5W-30, 5W-40, 10W-40 | Semi-Synthetic</a:t>
            </a:r>
            <a:endParaRPr lang="en-US" sz="800" dirty="0"/>
          </a:p>
        </p:txBody>
      </p:sp>
      <p:sp>
        <p:nvSpPr>
          <p:cNvPr id="14" name="Text 12"/>
          <p:cNvSpPr/>
          <p:nvPr/>
        </p:nvSpPr>
        <p:spPr>
          <a:xfrm>
            <a:off x="355550" y="3034457"/>
            <a:ext cx="2692450" cy="749052"/>
          </a:xfrm>
          <a:prstGeom prst="roundRect">
            <a:avLst>
              <a:gd name="adj" fmla="val 10173"/>
            </a:avLst>
          </a:prstGeom>
          <a:solidFill>
            <a:srgbClr val="E8F5EE"/>
          </a:solidFill>
          <a:ln w="9525">
            <a:solidFill>
              <a:srgbClr val="00703C"/>
            </a:solidFill>
          </a:ln>
        </p:spPr>
        <p:txBody>
          <a:bodyPr wrap="square" rtlCol="0" anchor="ctr"/>
          <a:lstStyle/>
          <a:p>
            <a:pPr indent="0" marL="0">
              <a:buNone/>
            </a:pPr>
            <a:endParaRPr lang="en-US" dirty="0"/>
          </a:p>
        </p:txBody>
      </p:sp>
      <p:sp>
        <p:nvSpPr>
          <p:cNvPr id="15" name="Text 13"/>
          <p:cNvSpPr/>
          <p:nvPr/>
        </p:nvSpPr>
        <p:spPr>
          <a:xfrm>
            <a:off x="542776" y="3170932"/>
            <a:ext cx="2364358" cy="114300"/>
          </a:xfrm>
          <a:prstGeom prst="rect">
            <a:avLst/>
          </a:prstGeom>
          <a:noFill/>
          <a:ln/>
        </p:spPr>
        <p:txBody>
          <a:bodyPr wrap="square" lIns="0" tIns="0" rIns="0" bIns="0" rtlCol="0" anchor="t"/>
          <a:lstStyle/>
          <a:p>
            <a:pPr algn="l" indent="0" marL="0">
              <a:spcAft>
                <a:spcPts val="400"/>
              </a:spcAft>
              <a:buNone/>
            </a:pPr>
            <a:r>
              <a:rPr lang="en-US" sz="800" b="1" dirty="0">
                <a:solidFill>
                  <a:srgbClr val="023520"/>
                </a:solidFill>
                <a:latin typeface="Arial" pitchFamily="34" charset="0"/>
                <a:ea typeface="Arial" pitchFamily="34" charset="-122"/>
                <a:cs typeface="Arial" pitchFamily="34" charset="-120"/>
              </a:rPr>
              <a:t>MAINSTREAM</a:t>
            </a:r>
            <a:endParaRPr lang="en-US" sz="800" dirty="0"/>
          </a:p>
        </p:txBody>
      </p:sp>
      <p:sp>
        <p:nvSpPr>
          <p:cNvPr id="16" name="Text 14"/>
          <p:cNvSpPr/>
          <p:nvPr/>
        </p:nvSpPr>
        <p:spPr>
          <a:xfrm>
            <a:off x="542776" y="3335982"/>
            <a:ext cx="2364358" cy="171450"/>
          </a:xfrm>
          <a:prstGeom prst="rect">
            <a:avLst/>
          </a:prstGeom>
          <a:noFill/>
          <a:ln/>
        </p:spPr>
        <p:txBody>
          <a:bodyPr wrap="square" lIns="0" tIns="0" rIns="0" bIns="0" rtlCol="0" anchor="t"/>
          <a:lstStyle/>
          <a:p>
            <a:pPr algn="l" indent="0" marL="0">
              <a:spcAft>
                <a:spcPts val="200"/>
              </a:spcAft>
              <a:buNone/>
            </a:pPr>
            <a:r>
              <a:rPr lang="en-US" sz="1200" b="1" dirty="0">
                <a:solidFill>
                  <a:srgbClr val="023520"/>
                </a:solidFill>
                <a:latin typeface="Arial" pitchFamily="34" charset="0"/>
                <a:ea typeface="Arial" pitchFamily="34" charset="-122"/>
                <a:cs typeface="Arial" pitchFamily="34" charset="-120"/>
              </a:rPr>
              <a:t>Carient Plus</a:t>
            </a:r>
            <a:endParaRPr lang="en-US" sz="1200" dirty="0"/>
          </a:p>
        </p:txBody>
      </p:sp>
      <p:sp>
        <p:nvSpPr>
          <p:cNvPr id="17" name="Text 15"/>
          <p:cNvSpPr/>
          <p:nvPr/>
        </p:nvSpPr>
        <p:spPr>
          <a:xfrm>
            <a:off x="542776" y="3532733"/>
            <a:ext cx="2364358" cy="114300"/>
          </a:xfrm>
          <a:prstGeom prst="rect">
            <a:avLst/>
          </a:prstGeom>
          <a:noFill/>
          <a:ln/>
        </p:spPr>
        <p:txBody>
          <a:bodyPr wrap="square" lIns="0" tIns="0" rIns="0" bIns="0" rtlCol="0" anchor="t"/>
          <a:lstStyle/>
          <a:p>
            <a:pPr algn="l" indent="0" marL="0">
              <a:buNone/>
            </a:pPr>
            <a:r>
              <a:rPr lang="en-US" sz="800" dirty="0">
                <a:solidFill>
                  <a:srgbClr val="023520"/>
                </a:solidFill>
                <a:latin typeface="Arial" pitchFamily="34" charset="0"/>
                <a:ea typeface="Arial" pitchFamily="34" charset="-122"/>
                <a:cs typeface="Arial" pitchFamily="34" charset="-120"/>
              </a:rPr>
              <a:t>10W-40, 15W-40, 20W-50 | Mineral</a:t>
            </a:r>
            <a:endParaRPr lang="en-US" sz="800" dirty="0"/>
          </a:p>
        </p:txBody>
      </p:sp>
      <p:sp>
        <p:nvSpPr>
          <p:cNvPr id="18" name="Text 16"/>
          <p:cNvSpPr/>
          <p:nvPr/>
        </p:nvSpPr>
        <p:spPr>
          <a:xfrm>
            <a:off x="355550" y="3910459"/>
            <a:ext cx="2692450" cy="749052"/>
          </a:xfrm>
          <a:prstGeom prst="roundRect">
            <a:avLst>
              <a:gd name="adj" fmla="val 10173"/>
            </a:avLst>
          </a:prstGeom>
          <a:solidFill>
            <a:srgbClr val="F5F5F5"/>
          </a:solidFill>
          <a:ln w="9525">
            <a:solidFill>
              <a:srgbClr val="AAAAAA"/>
            </a:solidFill>
          </a:ln>
        </p:spPr>
        <p:txBody>
          <a:bodyPr wrap="square" rtlCol="0" anchor="ctr"/>
          <a:lstStyle/>
          <a:p>
            <a:pPr indent="0" marL="0">
              <a:buNone/>
            </a:pPr>
            <a:endParaRPr lang="en-US" dirty="0"/>
          </a:p>
        </p:txBody>
      </p:sp>
      <p:sp>
        <p:nvSpPr>
          <p:cNvPr id="19" name="Text 17"/>
          <p:cNvSpPr/>
          <p:nvPr/>
        </p:nvSpPr>
        <p:spPr>
          <a:xfrm>
            <a:off x="542776" y="4046934"/>
            <a:ext cx="2364358" cy="114300"/>
          </a:xfrm>
          <a:prstGeom prst="rect">
            <a:avLst/>
          </a:prstGeom>
          <a:noFill/>
          <a:ln/>
        </p:spPr>
        <p:txBody>
          <a:bodyPr wrap="square" lIns="0" tIns="0" rIns="0" bIns="0" rtlCol="0" anchor="t"/>
          <a:lstStyle/>
          <a:p>
            <a:pPr algn="l" indent="0" marL="0">
              <a:spcAft>
                <a:spcPts val="400"/>
              </a:spcAft>
              <a:buNone/>
            </a:pPr>
            <a:r>
              <a:rPr lang="en-US" sz="800" b="1" dirty="0">
                <a:solidFill>
                  <a:srgbClr val="333333"/>
                </a:solidFill>
                <a:latin typeface="Arial" pitchFamily="34" charset="0"/>
                <a:ea typeface="Arial" pitchFamily="34" charset="-122"/>
                <a:cs typeface="Arial" pitchFamily="34" charset="-120"/>
              </a:rPr>
              <a:t>ECONOMY</a:t>
            </a:r>
            <a:endParaRPr lang="en-US" sz="800" dirty="0"/>
          </a:p>
        </p:txBody>
      </p:sp>
      <p:sp>
        <p:nvSpPr>
          <p:cNvPr id="20" name="Text 18"/>
          <p:cNvSpPr/>
          <p:nvPr/>
        </p:nvSpPr>
        <p:spPr>
          <a:xfrm>
            <a:off x="542776" y="4211985"/>
            <a:ext cx="2364358" cy="171450"/>
          </a:xfrm>
          <a:prstGeom prst="rect">
            <a:avLst/>
          </a:prstGeom>
          <a:noFill/>
          <a:ln/>
        </p:spPr>
        <p:txBody>
          <a:bodyPr wrap="square" lIns="0" tIns="0" rIns="0" bIns="0" rtlCol="0" anchor="t"/>
          <a:lstStyle/>
          <a:p>
            <a:pPr algn="l" indent="0" marL="0">
              <a:spcAft>
                <a:spcPts val="200"/>
              </a:spcAft>
              <a:buNone/>
            </a:pPr>
            <a:r>
              <a:rPr lang="en-US" sz="1200" b="1" dirty="0">
                <a:solidFill>
                  <a:srgbClr val="333333"/>
                </a:solidFill>
                <a:latin typeface="Arial" pitchFamily="34" charset="0"/>
                <a:ea typeface="Arial" pitchFamily="34" charset="-122"/>
                <a:cs typeface="Arial" pitchFamily="34" charset="-120"/>
              </a:rPr>
              <a:t>Carient SPRO</a:t>
            </a:r>
            <a:endParaRPr lang="en-US" sz="1200" dirty="0"/>
          </a:p>
        </p:txBody>
      </p:sp>
      <p:sp>
        <p:nvSpPr>
          <p:cNvPr id="21" name="Text 19"/>
          <p:cNvSpPr/>
          <p:nvPr/>
        </p:nvSpPr>
        <p:spPr>
          <a:xfrm>
            <a:off x="542776" y="4408736"/>
            <a:ext cx="2364358" cy="114300"/>
          </a:xfrm>
          <a:prstGeom prst="rect">
            <a:avLst/>
          </a:prstGeom>
          <a:noFill/>
          <a:ln/>
        </p:spPr>
        <p:txBody>
          <a:bodyPr wrap="square" lIns="0" tIns="0" rIns="0" bIns="0" rtlCol="0" anchor="t"/>
          <a:lstStyle/>
          <a:p>
            <a:pPr algn="l" indent="0" marL="0">
              <a:buNone/>
            </a:pPr>
            <a:r>
              <a:rPr lang="en-US" sz="800" dirty="0">
                <a:solidFill>
                  <a:srgbClr val="333333"/>
                </a:solidFill>
                <a:latin typeface="Arial" pitchFamily="34" charset="0"/>
                <a:ea typeface="Arial" pitchFamily="34" charset="-122"/>
                <a:cs typeface="Arial" pitchFamily="34" charset="-120"/>
              </a:rPr>
              <a:t>15W-40, 20W-50 | Mineral</a:t>
            </a:r>
            <a:endParaRPr lang="en-US" sz="800" dirty="0"/>
          </a:p>
        </p:txBody>
      </p:sp>
      <p:sp>
        <p:nvSpPr>
          <p:cNvPr id="22" name="Text 20"/>
          <p:cNvSpPr/>
          <p:nvPr/>
        </p:nvSpPr>
        <p:spPr>
          <a:xfrm>
            <a:off x="3225701" y="984052"/>
            <a:ext cx="2746450" cy="133350"/>
          </a:xfrm>
          <a:prstGeom prst="rect">
            <a:avLst/>
          </a:prstGeom>
          <a:noFill/>
          <a:ln/>
        </p:spPr>
        <p:txBody>
          <a:bodyPr wrap="square" lIns="0" tIns="0" rIns="0" bIns="0" rtlCol="0" anchor="t"/>
          <a:lstStyle/>
          <a:p>
            <a:pPr algn="l" indent="0" marL="0">
              <a:spcAft>
                <a:spcPts val="600"/>
              </a:spcAft>
              <a:buNone/>
            </a:pPr>
            <a:r>
              <a:rPr lang="en-US" sz="900" b="1" dirty="0">
                <a:solidFill>
                  <a:srgbClr val="555555"/>
                </a:solidFill>
                <a:latin typeface="Arial" pitchFamily="34" charset="0"/>
                <a:ea typeface="Arial" pitchFamily="34" charset="-122"/>
                <a:cs typeface="Arial" pitchFamily="34" charset="-120"/>
              </a:rPr>
              <a:t>DIESEL ENGINE (HDEO)</a:t>
            </a:r>
            <a:endParaRPr lang="en-US" sz="900" dirty="0"/>
          </a:p>
        </p:txBody>
      </p:sp>
      <p:sp>
        <p:nvSpPr>
          <p:cNvPr id="23" name="Text 21"/>
          <p:cNvSpPr/>
          <p:nvPr/>
        </p:nvSpPr>
        <p:spPr>
          <a:xfrm>
            <a:off x="3225701" y="1320552"/>
            <a:ext cx="2692598" cy="730002"/>
          </a:xfrm>
          <a:prstGeom prst="roundRect">
            <a:avLst>
              <a:gd name="adj" fmla="val 10438"/>
            </a:avLst>
          </a:prstGeom>
          <a:solidFill>
            <a:srgbClr val="023520"/>
          </a:solidFill>
          <a:ln/>
        </p:spPr>
        <p:txBody>
          <a:bodyPr wrap="square" rtlCol="0" anchor="ctr"/>
          <a:lstStyle/>
          <a:p>
            <a:pPr indent="0" marL="0">
              <a:buNone/>
            </a:pPr>
            <a:endParaRPr lang="en-US" dirty="0"/>
          </a:p>
        </p:txBody>
      </p:sp>
      <p:sp>
        <p:nvSpPr>
          <p:cNvPr id="24" name="Text 22"/>
          <p:cNvSpPr/>
          <p:nvPr/>
        </p:nvSpPr>
        <p:spPr>
          <a:xfrm>
            <a:off x="3403402" y="1447502"/>
            <a:ext cx="2383941" cy="114300"/>
          </a:xfrm>
          <a:prstGeom prst="rect">
            <a:avLst/>
          </a:prstGeom>
          <a:noFill/>
          <a:ln/>
        </p:spPr>
        <p:txBody>
          <a:bodyPr wrap="square" lIns="0" tIns="0" rIns="0" bIns="0" rtlCol="0" anchor="t"/>
          <a:lstStyle/>
          <a:p>
            <a:pPr algn="l" indent="0" marL="0">
              <a:spcAft>
                <a:spcPts val="400"/>
              </a:spcAft>
              <a:buNone/>
            </a:pPr>
            <a:r>
              <a:rPr lang="en-US" sz="800" b="1" dirty="0">
                <a:solidFill>
                  <a:srgbClr val="FFFFFF"/>
                </a:solidFill>
                <a:latin typeface="Arial" pitchFamily="34" charset="0"/>
                <a:ea typeface="Arial" pitchFamily="34" charset="-122"/>
                <a:cs typeface="Arial" pitchFamily="34" charset="-120"/>
              </a:rPr>
              <a:t>SUPER PREMIUM</a:t>
            </a:r>
            <a:endParaRPr lang="en-US" sz="800" dirty="0"/>
          </a:p>
        </p:txBody>
      </p:sp>
      <p:sp>
        <p:nvSpPr>
          <p:cNvPr id="25" name="Text 23"/>
          <p:cNvSpPr/>
          <p:nvPr/>
        </p:nvSpPr>
        <p:spPr>
          <a:xfrm>
            <a:off x="3403402" y="1612553"/>
            <a:ext cx="2383941" cy="171450"/>
          </a:xfrm>
          <a:prstGeom prst="rect">
            <a:avLst/>
          </a:prstGeom>
          <a:noFill/>
          <a:ln/>
        </p:spPr>
        <p:txBody>
          <a:bodyPr wrap="square" lIns="0" tIns="0" rIns="0" bIns="0" rtlCol="0" anchor="t"/>
          <a:lstStyle/>
          <a:p>
            <a:pPr algn="l" indent="0" marL="0">
              <a:spcAft>
                <a:spcPts val="200"/>
              </a:spcAft>
              <a:buNone/>
            </a:pPr>
            <a:r>
              <a:rPr lang="en-US" sz="1200" b="1" dirty="0">
                <a:solidFill>
                  <a:srgbClr val="FFFFFF"/>
                </a:solidFill>
                <a:latin typeface="Arial" pitchFamily="34" charset="0"/>
                <a:ea typeface="Arial" pitchFamily="34" charset="-122"/>
                <a:cs typeface="Arial" pitchFamily="34" charset="-120"/>
              </a:rPr>
              <a:t>DEO Max / DEO 8000</a:t>
            </a:r>
            <a:endParaRPr lang="en-US" sz="1200" dirty="0"/>
          </a:p>
        </p:txBody>
      </p:sp>
      <p:sp>
        <p:nvSpPr>
          <p:cNvPr id="26" name="Text 24"/>
          <p:cNvSpPr/>
          <p:nvPr/>
        </p:nvSpPr>
        <p:spPr>
          <a:xfrm>
            <a:off x="3403402" y="1809304"/>
            <a:ext cx="2383941" cy="114300"/>
          </a:xfrm>
          <a:prstGeom prst="rect">
            <a:avLst/>
          </a:prstGeom>
          <a:noFill/>
          <a:ln/>
        </p:spPr>
        <p:txBody>
          <a:bodyPr wrap="square" lIns="0" tIns="0" rIns="0" bIns="0" rtlCol="0" anchor="t"/>
          <a:lstStyle/>
          <a:p>
            <a:pPr algn="l" indent="0" marL="0">
              <a:buNone/>
            </a:pPr>
            <a:r>
              <a:rPr lang="en-US" sz="800" dirty="0">
                <a:solidFill>
                  <a:srgbClr val="FFFFFF"/>
                </a:solidFill>
                <a:latin typeface="Arial" pitchFamily="34" charset="0"/>
                <a:ea typeface="Arial" pitchFamily="34" charset="-122"/>
                <a:cs typeface="Arial" pitchFamily="34" charset="-120"/>
              </a:rPr>
              <a:t>10W-40, 15W-40 | Heavy-duty Diesel</a:t>
            </a:r>
            <a:endParaRPr lang="en-US" sz="800" dirty="0"/>
          </a:p>
        </p:txBody>
      </p:sp>
      <p:sp>
        <p:nvSpPr>
          <p:cNvPr id="27" name="Text 25"/>
          <p:cNvSpPr/>
          <p:nvPr/>
        </p:nvSpPr>
        <p:spPr>
          <a:xfrm>
            <a:off x="3225701" y="2177504"/>
            <a:ext cx="2692598" cy="730002"/>
          </a:xfrm>
          <a:prstGeom prst="roundRect">
            <a:avLst>
              <a:gd name="adj" fmla="val 10438"/>
            </a:avLst>
          </a:prstGeom>
          <a:solidFill>
            <a:srgbClr val="00703C"/>
          </a:solidFill>
          <a:ln/>
        </p:spPr>
        <p:txBody>
          <a:bodyPr wrap="square" rtlCol="0" anchor="ctr"/>
          <a:lstStyle/>
          <a:p>
            <a:pPr indent="0" marL="0">
              <a:buNone/>
            </a:pPr>
            <a:endParaRPr lang="en-US" dirty="0"/>
          </a:p>
        </p:txBody>
      </p:sp>
      <p:sp>
        <p:nvSpPr>
          <p:cNvPr id="28" name="Text 26"/>
          <p:cNvSpPr/>
          <p:nvPr/>
        </p:nvSpPr>
        <p:spPr>
          <a:xfrm>
            <a:off x="3403402" y="2304455"/>
            <a:ext cx="2383941" cy="114300"/>
          </a:xfrm>
          <a:prstGeom prst="rect">
            <a:avLst/>
          </a:prstGeom>
          <a:noFill/>
          <a:ln/>
        </p:spPr>
        <p:txBody>
          <a:bodyPr wrap="square" lIns="0" tIns="0" rIns="0" bIns="0" rtlCol="0" anchor="t"/>
          <a:lstStyle/>
          <a:p>
            <a:pPr algn="l" indent="0" marL="0">
              <a:spcAft>
                <a:spcPts val="400"/>
              </a:spcAft>
              <a:buNone/>
            </a:pPr>
            <a:r>
              <a:rPr lang="en-US" sz="800" b="1" dirty="0">
                <a:solidFill>
                  <a:srgbClr val="FFFFFF"/>
                </a:solidFill>
                <a:latin typeface="Arial" pitchFamily="34" charset="0"/>
                <a:ea typeface="Arial" pitchFamily="34" charset="-122"/>
                <a:cs typeface="Arial" pitchFamily="34" charset="-120"/>
              </a:rPr>
              <a:t>PREMIUM</a:t>
            </a:r>
            <a:endParaRPr lang="en-US" sz="800" dirty="0"/>
          </a:p>
        </p:txBody>
      </p:sp>
      <p:sp>
        <p:nvSpPr>
          <p:cNvPr id="29" name="Text 27"/>
          <p:cNvSpPr/>
          <p:nvPr/>
        </p:nvSpPr>
        <p:spPr>
          <a:xfrm>
            <a:off x="3403402" y="2469505"/>
            <a:ext cx="2383941" cy="171450"/>
          </a:xfrm>
          <a:prstGeom prst="rect">
            <a:avLst/>
          </a:prstGeom>
          <a:noFill/>
          <a:ln/>
        </p:spPr>
        <p:txBody>
          <a:bodyPr wrap="square" lIns="0" tIns="0" rIns="0" bIns="0" rtlCol="0" anchor="t"/>
          <a:lstStyle/>
          <a:p>
            <a:pPr algn="l" indent="0" marL="0">
              <a:spcAft>
                <a:spcPts val="200"/>
              </a:spcAft>
              <a:buNone/>
            </a:pPr>
            <a:r>
              <a:rPr lang="en-US" sz="1200" b="1" dirty="0">
                <a:solidFill>
                  <a:srgbClr val="FFFFFF"/>
                </a:solidFill>
                <a:latin typeface="Arial" pitchFamily="34" charset="0"/>
                <a:ea typeface="Arial" pitchFamily="34" charset="-122"/>
                <a:cs typeface="Arial" pitchFamily="34" charset="-120"/>
              </a:rPr>
              <a:t>DEO 6000</a:t>
            </a:r>
            <a:endParaRPr lang="en-US" sz="1200" dirty="0"/>
          </a:p>
        </p:txBody>
      </p:sp>
      <p:sp>
        <p:nvSpPr>
          <p:cNvPr id="30" name="Text 28"/>
          <p:cNvSpPr/>
          <p:nvPr/>
        </p:nvSpPr>
        <p:spPr>
          <a:xfrm>
            <a:off x="3403402" y="2666256"/>
            <a:ext cx="2383941" cy="114300"/>
          </a:xfrm>
          <a:prstGeom prst="rect">
            <a:avLst/>
          </a:prstGeom>
          <a:noFill/>
          <a:ln/>
        </p:spPr>
        <p:txBody>
          <a:bodyPr wrap="square" lIns="0" tIns="0" rIns="0" bIns="0" rtlCol="0" anchor="t"/>
          <a:lstStyle/>
          <a:p>
            <a:pPr algn="l" indent="0" marL="0">
              <a:buNone/>
            </a:pPr>
            <a:r>
              <a:rPr lang="en-US" sz="800" dirty="0">
                <a:solidFill>
                  <a:srgbClr val="FFFFFF"/>
                </a:solidFill>
                <a:latin typeface="Arial" pitchFamily="34" charset="0"/>
                <a:ea typeface="Arial" pitchFamily="34" charset="-122"/>
                <a:cs typeface="Arial" pitchFamily="34" charset="-120"/>
              </a:rPr>
              <a:t>15W-40 | Commercial Fleet</a:t>
            </a:r>
            <a:endParaRPr lang="en-US" sz="800" dirty="0"/>
          </a:p>
        </p:txBody>
      </p:sp>
      <p:sp>
        <p:nvSpPr>
          <p:cNvPr id="31" name="Text 29"/>
          <p:cNvSpPr/>
          <p:nvPr/>
        </p:nvSpPr>
        <p:spPr>
          <a:xfrm>
            <a:off x="3225701" y="3034457"/>
            <a:ext cx="2692598" cy="749052"/>
          </a:xfrm>
          <a:prstGeom prst="roundRect">
            <a:avLst>
              <a:gd name="adj" fmla="val 10173"/>
            </a:avLst>
          </a:prstGeom>
          <a:solidFill>
            <a:srgbClr val="E8F5EE"/>
          </a:solidFill>
          <a:ln w="9525">
            <a:solidFill>
              <a:srgbClr val="00703C"/>
            </a:solidFill>
          </a:ln>
        </p:spPr>
        <p:txBody>
          <a:bodyPr wrap="square" rtlCol="0" anchor="ctr"/>
          <a:lstStyle/>
          <a:p>
            <a:pPr indent="0" marL="0">
              <a:buNone/>
            </a:pPr>
            <a:endParaRPr lang="en-US" dirty="0"/>
          </a:p>
        </p:txBody>
      </p:sp>
      <p:sp>
        <p:nvSpPr>
          <p:cNvPr id="32" name="Text 30"/>
          <p:cNvSpPr/>
          <p:nvPr/>
        </p:nvSpPr>
        <p:spPr>
          <a:xfrm>
            <a:off x="3412927" y="3170932"/>
            <a:ext cx="2364510" cy="114300"/>
          </a:xfrm>
          <a:prstGeom prst="rect">
            <a:avLst/>
          </a:prstGeom>
          <a:noFill/>
          <a:ln/>
        </p:spPr>
        <p:txBody>
          <a:bodyPr wrap="square" lIns="0" tIns="0" rIns="0" bIns="0" rtlCol="0" anchor="t"/>
          <a:lstStyle/>
          <a:p>
            <a:pPr algn="l" indent="0" marL="0">
              <a:spcAft>
                <a:spcPts val="400"/>
              </a:spcAft>
              <a:buNone/>
            </a:pPr>
            <a:r>
              <a:rPr lang="en-US" sz="800" b="1" dirty="0">
                <a:solidFill>
                  <a:srgbClr val="023520"/>
                </a:solidFill>
                <a:latin typeface="Arial" pitchFamily="34" charset="0"/>
                <a:ea typeface="Arial" pitchFamily="34" charset="-122"/>
                <a:cs typeface="Arial" pitchFamily="34" charset="-120"/>
              </a:rPr>
              <a:t>MAINSTREAM</a:t>
            </a:r>
            <a:endParaRPr lang="en-US" sz="800" dirty="0"/>
          </a:p>
        </p:txBody>
      </p:sp>
      <p:sp>
        <p:nvSpPr>
          <p:cNvPr id="33" name="Text 31"/>
          <p:cNvSpPr/>
          <p:nvPr/>
        </p:nvSpPr>
        <p:spPr>
          <a:xfrm>
            <a:off x="3412927" y="3335982"/>
            <a:ext cx="2364510" cy="171450"/>
          </a:xfrm>
          <a:prstGeom prst="rect">
            <a:avLst/>
          </a:prstGeom>
          <a:noFill/>
          <a:ln/>
        </p:spPr>
        <p:txBody>
          <a:bodyPr wrap="square" lIns="0" tIns="0" rIns="0" bIns="0" rtlCol="0" anchor="t"/>
          <a:lstStyle/>
          <a:p>
            <a:pPr algn="l" indent="0" marL="0">
              <a:spcAft>
                <a:spcPts val="200"/>
              </a:spcAft>
              <a:buNone/>
            </a:pPr>
            <a:r>
              <a:rPr lang="en-US" sz="1200" b="1" dirty="0">
                <a:solidFill>
                  <a:srgbClr val="023520"/>
                </a:solidFill>
                <a:latin typeface="Arial" pitchFamily="34" charset="0"/>
                <a:ea typeface="Arial" pitchFamily="34" charset="-122"/>
                <a:cs typeface="Arial" pitchFamily="34" charset="-120"/>
              </a:rPr>
              <a:t>DEO 3000</a:t>
            </a:r>
            <a:endParaRPr lang="en-US" sz="1200" dirty="0"/>
          </a:p>
        </p:txBody>
      </p:sp>
      <p:sp>
        <p:nvSpPr>
          <p:cNvPr id="34" name="Text 32"/>
          <p:cNvSpPr/>
          <p:nvPr/>
        </p:nvSpPr>
        <p:spPr>
          <a:xfrm>
            <a:off x="3412927" y="3532733"/>
            <a:ext cx="2364510" cy="114300"/>
          </a:xfrm>
          <a:prstGeom prst="rect">
            <a:avLst/>
          </a:prstGeom>
          <a:noFill/>
          <a:ln/>
        </p:spPr>
        <p:txBody>
          <a:bodyPr wrap="square" lIns="0" tIns="0" rIns="0" bIns="0" rtlCol="0" anchor="t"/>
          <a:lstStyle/>
          <a:p>
            <a:pPr algn="l" indent="0" marL="0">
              <a:buNone/>
            </a:pPr>
            <a:r>
              <a:rPr lang="en-US" sz="800" dirty="0">
                <a:solidFill>
                  <a:srgbClr val="023520"/>
                </a:solidFill>
                <a:latin typeface="Arial" pitchFamily="34" charset="0"/>
                <a:ea typeface="Arial" pitchFamily="34" charset="-122"/>
                <a:cs typeface="Arial" pitchFamily="34" charset="-120"/>
              </a:rPr>
              <a:t>15W-40, 20W-50 | Light Trucks</a:t>
            </a:r>
            <a:endParaRPr lang="en-US" sz="800" dirty="0"/>
          </a:p>
        </p:txBody>
      </p:sp>
      <p:sp>
        <p:nvSpPr>
          <p:cNvPr id="35" name="Text 33"/>
          <p:cNvSpPr/>
          <p:nvPr/>
        </p:nvSpPr>
        <p:spPr>
          <a:xfrm>
            <a:off x="3225701" y="3910459"/>
            <a:ext cx="2692598" cy="749052"/>
          </a:xfrm>
          <a:prstGeom prst="roundRect">
            <a:avLst>
              <a:gd name="adj" fmla="val 10173"/>
            </a:avLst>
          </a:prstGeom>
          <a:solidFill>
            <a:srgbClr val="F5F5F5"/>
          </a:solidFill>
          <a:ln w="9525">
            <a:solidFill>
              <a:srgbClr val="AAAAAA"/>
            </a:solidFill>
          </a:ln>
        </p:spPr>
        <p:txBody>
          <a:bodyPr wrap="square" rtlCol="0" anchor="ctr"/>
          <a:lstStyle/>
          <a:p>
            <a:pPr indent="0" marL="0">
              <a:buNone/>
            </a:pPr>
            <a:endParaRPr lang="en-US" dirty="0"/>
          </a:p>
        </p:txBody>
      </p:sp>
      <p:sp>
        <p:nvSpPr>
          <p:cNvPr id="36" name="Text 34"/>
          <p:cNvSpPr/>
          <p:nvPr/>
        </p:nvSpPr>
        <p:spPr>
          <a:xfrm>
            <a:off x="3412927" y="4046934"/>
            <a:ext cx="2364510" cy="114300"/>
          </a:xfrm>
          <a:prstGeom prst="rect">
            <a:avLst/>
          </a:prstGeom>
          <a:noFill/>
          <a:ln/>
        </p:spPr>
        <p:txBody>
          <a:bodyPr wrap="square" lIns="0" tIns="0" rIns="0" bIns="0" rtlCol="0" anchor="t"/>
          <a:lstStyle/>
          <a:p>
            <a:pPr algn="l" indent="0" marL="0">
              <a:spcAft>
                <a:spcPts val="400"/>
              </a:spcAft>
              <a:buNone/>
            </a:pPr>
            <a:r>
              <a:rPr lang="en-US" sz="800" b="1" dirty="0">
                <a:solidFill>
                  <a:srgbClr val="333333"/>
                </a:solidFill>
                <a:latin typeface="Arial" pitchFamily="34" charset="0"/>
                <a:ea typeface="Arial" pitchFamily="34" charset="-122"/>
                <a:cs typeface="Arial" pitchFamily="34" charset="-120"/>
              </a:rPr>
              <a:t>ECONOMY</a:t>
            </a:r>
            <a:endParaRPr lang="en-US" sz="800" dirty="0"/>
          </a:p>
        </p:txBody>
      </p:sp>
      <p:sp>
        <p:nvSpPr>
          <p:cNvPr id="37" name="Text 35"/>
          <p:cNvSpPr/>
          <p:nvPr/>
        </p:nvSpPr>
        <p:spPr>
          <a:xfrm>
            <a:off x="3412927" y="4211985"/>
            <a:ext cx="2364510" cy="171450"/>
          </a:xfrm>
          <a:prstGeom prst="rect">
            <a:avLst/>
          </a:prstGeom>
          <a:noFill/>
          <a:ln/>
        </p:spPr>
        <p:txBody>
          <a:bodyPr wrap="square" lIns="0" tIns="0" rIns="0" bIns="0" rtlCol="0" anchor="t"/>
          <a:lstStyle/>
          <a:p>
            <a:pPr algn="l" indent="0" marL="0">
              <a:spcAft>
                <a:spcPts val="200"/>
              </a:spcAft>
              <a:buNone/>
            </a:pPr>
            <a:r>
              <a:rPr lang="en-US" sz="1200" b="1" dirty="0">
                <a:solidFill>
                  <a:srgbClr val="333333"/>
                </a:solidFill>
                <a:latin typeface="Arial" pitchFamily="34" charset="0"/>
                <a:ea typeface="Arial" pitchFamily="34" charset="-122"/>
                <a:cs typeface="Arial" pitchFamily="34" charset="-120"/>
              </a:rPr>
              <a:t>Dieselube</a:t>
            </a:r>
            <a:endParaRPr lang="en-US" sz="1200" dirty="0"/>
          </a:p>
        </p:txBody>
      </p:sp>
      <p:sp>
        <p:nvSpPr>
          <p:cNvPr id="38" name="Text 36"/>
          <p:cNvSpPr/>
          <p:nvPr/>
        </p:nvSpPr>
        <p:spPr>
          <a:xfrm>
            <a:off x="3412927" y="4408736"/>
            <a:ext cx="2364510" cy="114300"/>
          </a:xfrm>
          <a:prstGeom prst="rect">
            <a:avLst/>
          </a:prstGeom>
          <a:noFill/>
          <a:ln/>
        </p:spPr>
        <p:txBody>
          <a:bodyPr wrap="square" lIns="0" tIns="0" rIns="0" bIns="0" rtlCol="0" anchor="t"/>
          <a:lstStyle/>
          <a:p>
            <a:pPr algn="l" indent="0" marL="0">
              <a:buNone/>
            </a:pPr>
            <a:r>
              <a:rPr lang="en-US" sz="800" dirty="0">
                <a:solidFill>
                  <a:srgbClr val="333333"/>
                </a:solidFill>
                <a:latin typeface="Arial" pitchFamily="34" charset="0"/>
                <a:ea typeface="Arial" pitchFamily="34" charset="-122"/>
                <a:cs typeface="Arial" pitchFamily="34" charset="-120"/>
              </a:rPr>
              <a:t>15W-40, 20W-50 | Value Segment</a:t>
            </a:r>
            <a:endParaRPr lang="en-US" sz="800" dirty="0"/>
          </a:p>
        </p:txBody>
      </p:sp>
      <p:sp>
        <p:nvSpPr>
          <p:cNvPr id="39" name="Text 37"/>
          <p:cNvSpPr/>
          <p:nvPr/>
        </p:nvSpPr>
        <p:spPr>
          <a:xfrm>
            <a:off x="6096000" y="984052"/>
            <a:ext cx="2746299" cy="133350"/>
          </a:xfrm>
          <a:prstGeom prst="rect">
            <a:avLst/>
          </a:prstGeom>
          <a:noFill/>
          <a:ln/>
        </p:spPr>
        <p:txBody>
          <a:bodyPr wrap="square" lIns="0" tIns="0" rIns="0" bIns="0" rtlCol="0" anchor="t"/>
          <a:lstStyle/>
          <a:p>
            <a:pPr algn="l" indent="0" marL="0">
              <a:spcAft>
                <a:spcPts val="600"/>
              </a:spcAft>
              <a:buNone/>
            </a:pPr>
            <a:r>
              <a:rPr lang="en-US" sz="900" b="1" dirty="0">
                <a:solidFill>
                  <a:srgbClr val="555555"/>
                </a:solidFill>
                <a:latin typeface="Arial" pitchFamily="34" charset="0"/>
                <a:ea typeface="Arial" pitchFamily="34" charset="-122"/>
                <a:cs typeface="Arial" pitchFamily="34" charset="-120"/>
              </a:rPr>
              <a:t>MOTORCYCLE (MCO)</a:t>
            </a:r>
            <a:endParaRPr lang="en-US" sz="900" dirty="0"/>
          </a:p>
        </p:txBody>
      </p:sp>
      <p:sp>
        <p:nvSpPr>
          <p:cNvPr id="40" name="Text 38"/>
          <p:cNvSpPr/>
          <p:nvPr/>
        </p:nvSpPr>
        <p:spPr>
          <a:xfrm>
            <a:off x="6096000" y="1320552"/>
            <a:ext cx="2692450" cy="730002"/>
          </a:xfrm>
          <a:prstGeom prst="roundRect">
            <a:avLst>
              <a:gd name="adj" fmla="val 10438"/>
            </a:avLst>
          </a:prstGeom>
          <a:solidFill>
            <a:srgbClr val="00703C"/>
          </a:solidFill>
          <a:ln/>
        </p:spPr>
        <p:txBody>
          <a:bodyPr wrap="square" rtlCol="0" anchor="ctr"/>
          <a:lstStyle/>
          <a:p>
            <a:pPr indent="0" marL="0">
              <a:buNone/>
            </a:pPr>
            <a:endParaRPr lang="en-US" dirty="0"/>
          </a:p>
        </p:txBody>
      </p:sp>
      <p:sp>
        <p:nvSpPr>
          <p:cNvPr id="41" name="Text 39"/>
          <p:cNvSpPr/>
          <p:nvPr/>
        </p:nvSpPr>
        <p:spPr>
          <a:xfrm>
            <a:off x="6273701" y="1447502"/>
            <a:ext cx="2383789" cy="114300"/>
          </a:xfrm>
          <a:prstGeom prst="rect">
            <a:avLst/>
          </a:prstGeom>
          <a:noFill/>
          <a:ln/>
        </p:spPr>
        <p:txBody>
          <a:bodyPr wrap="square" lIns="0" tIns="0" rIns="0" bIns="0" rtlCol="0" anchor="t"/>
          <a:lstStyle/>
          <a:p>
            <a:pPr algn="l" indent="0" marL="0">
              <a:spcAft>
                <a:spcPts val="400"/>
              </a:spcAft>
              <a:buNone/>
            </a:pPr>
            <a:r>
              <a:rPr lang="en-US" sz="800" b="1" dirty="0">
                <a:solidFill>
                  <a:srgbClr val="FFFFFF"/>
                </a:solidFill>
                <a:latin typeface="Arial" pitchFamily="34" charset="0"/>
                <a:ea typeface="Arial" pitchFamily="34" charset="-122"/>
                <a:cs typeface="Arial" pitchFamily="34" charset="-120"/>
              </a:rPr>
              <a:t>PREMIUM</a:t>
            </a:r>
            <a:endParaRPr lang="en-US" sz="800" dirty="0"/>
          </a:p>
        </p:txBody>
      </p:sp>
      <p:sp>
        <p:nvSpPr>
          <p:cNvPr id="42" name="Text 40"/>
          <p:cNvSpPr/>
          <p:nvPr/>
        </p:nvSpPr>
        <p:spPr>
          <a:xfrm>
            <a:off x="6273701" y="1612553"/>
            <a:ext cx="2383789" cy="171450"/>
          </a:xfrm>
          <a:prstGeom prst="rect">
            <a:avLst/>
          </a:prstGeom>
          <a:noFill/>
          <a:ln/>
        </p:spPr>
        <p:txBody>
          <a:bodyPr wrap="square" lIns="0" tIns="0" rIns="0" bIns="0" rtlCol="0" anchor="t"/>
          <a:lstStyle/>
          <a:p>
            <a:pPr algn="l" indent="0" marL="0">
              <a:spcAft>
                <a:spcPts val="200"/>
              </a:spcAft>
              <a:buNone/>
            </a:pPr>
            <a:r>
              <a:rPr lang="en-US" sz="1200" b="1" dirty="0">
                <a:solidFill>
                  <a:srgbClr val="FFFFFF"/>
                </a:solidFill>
                <a:latin typeface="Arial" pitchFamily="34" charset="0"/>
                <a:ea typeface="Arial" pitchFamily="34" charset="-122"/>
                <a:cs typeface="Arial" pitchFamily="34" charset="-120"/>
              </a:rPr>
              <a:t>Blaze Xtreme</a:t>
            </a:r>
            <a:endParaRPr lang="en-US" sz="1200" dirty="0"/>
          </a:p>
        </p:txBody>
      </p:sp>
      <p:sp>
        <p:nvSpPr>
          <p:cNvPr id="43" name="Text 41"/>
          <p:cNvSpPr/>
          <p:nvPr/>
        </p:nvSpPr>
        <p:spPr>
          <a:xfrm>
            <a:off x="6273701" y="1809304"/>
            <a:ext cx="2383789" cy="114300"/>
          </a:xfrm>
          <a:prstGeom prst="rect">
            <a:avLst/>
          </a:prstGeom>
          <a:noFill/>
          <a:ln/>
        </p:spPr>
        <p:txBody>
          <a:bodyPr wrap="square" lIns="0" tIns="0" rIns="0" bIns="0" rtlCol="0" anchor="t"/>
          <a:lstStyle/>
          <a:p>
            <a:pPr algn="l" indent="0" marL="0">
              <a:buNone/>
            </a:pPr>
            <a:r>
              <a:rPr lang="en-US" sz="800" dirty="0">
                <a:solidFill>
                  <a:srgbClr val="FFFFFF"/>
                </a:solidFill>
                <a:latin typeface="Arial" pitchFamily="34" charset="0"/>
                <a:ea typeface="Arial" pitchFamily="34" charset="-122"/>
                <a:cs typeface="Arial" pitchFamily="34" charset="-120"/>
              </a:rPr>
              <a:t>10W-40 | Performance 4-Stroke</a:t>
            </a:r>
            <a:endParaRPr lang="en-US" sz="800" dirty="0"/>
          </a:p>
        </p:txBody>
      </p:sp>
      <p:sp>
        <p:nvSpPr>
          <p:cNvPr id="44" name="Text 42"/>
          <p:cNvSpPr/>
          <p:nvPr/>
        </p:nvSpPr>
        <p:spPr>
          <a:xfrm>
            <a:off x="6096000" y="2177504"/>
            <a:ext cx="2692450" cy="749052"/>
          </a:xfrm>
          <a:prstGeom prst="roundRect">
            <a:avLst>
              <a:gd name="adj" fmla="val 10173"/>
            </a:avLst>
          </a:prstGeom>
          <a:solidFill>
            <a:srgbClr val="E8F5EE"/>
          </a:solidFill>
          <a:ln w="9525">
            <a:solidFill>
              <a:srgbClr val="00703C"/>
            </a:solidFill>
          </a:ln>
        </p:spPr>
        <p:txBody>
          <a:bodyPr wrap="square" rtlCol="0" anchor="ctr"/>
          <a:lstStyle/>
          <a:p>
            <a:pPr indent="0" marL="0">
              <a:buNone/>
            </a:pPr>
            <a:endParaRPr lang="en-US" dirty="0"/>
          </a:p>
        </p:txBody>
      </p:sp>
      <p:sp>
        <p:nvSpPr>
          <p:cNvPr id="45" name="Text 43"/>
          <p:cNvSpPr/>
          <p:nvPr/>
        </p:nvSpPr>
        <p:spPr>
          <a:xfrm>
            <a:off x="6283226" y="2313980"/>
            <a:ext cx="2364358" cy="114300"/>
          </a:xfrm>
          <a:prstGeom prst="rect">
            <a:avLst/>
          </a:prstGeom>
          <a:noFill/>
          <a:ln/>
        </p:spPr>
        <p:txBody>
          <a:bodyPr wrap="square" lIns="0" tIns="0" rIns="0" bIns="0" rtlCol="0" anchor="t"/>
          <a:lstStyle/>
          <a:p>
            <a:pPr algn="l" indent="0" marL="0">
              <a:spcAft>
                <a:spcPts val="400"/>
              </a:spcAft>
              <a:buNone/>
            </a:pPr>
            <a:r>
              <a:rPr lang="en-US" sz="800" b="1" dirty="0">
                <a:solidFill>
                  <a:srgbClr val="023520"/>
                </a:solidFill>
                <a:latin typeface="Arial" pitchFamily="34" charset="0"/>
                <a:ea typeface="Arial" pitchFamily="34" charset="-122"/>
                <a:cs typeface="Arial" pitchFamily="34" charset="-120"/>
              </a:rPr>
              <a:t>MAINSTREAM</a:t>
            </a:r>
            <a:endParaRPr lang="en-US" sz="800" dirty="0"/>
          </a:p>
        </p:txBody>
      </p:sp>
      <p:sp>
        <p:nvSpPr>
          <p:cNvPr id="46" name="Text 44"/>
          <p:cNvSpPr/>
          <p:nvPr/>
        </p:nvSpPr>
        <p:spPr>
          <a:xfrm>
            <a:off x="6283226" y="2479030"/>
            <a:ext cx="2364358" cy="171450"/>
          </a:xfrm>
          <a:prstGeom prst="rect">
            <a:avLst/>
          </a:prstGeom>
          <a:noFill/>
          <a:ln/>
        </p:spPr>
        <p:txBody>
          <a:bodyPr wrap="square" lIns="0" tIns="0" rIns="0" bIns="0" rtlCol="0" anchor="t"/>
          <a:lstStyle/>
          <a:p>
            <a:pPr algn="l" indent="0" marL="0">
              <a:spcAft>
                <a:spcPts val="200"/>
              </a:spcAft>
              <a:buNone/>
            </a:pPr>
            <a:r>
              <a:rPr lang="en-US" sz="1200" b="1" dirty="0">
                <a:solidFill>
                  <a:srgbClr val="023520"/>
                </a:solidFill>
                <a:latin typeface="Arial" pitchFamily="34" charset="0"/>
                <a:ea typeface="Arial" pitchFamily="34" charset="-122"/>
                <a:cs typeface="Arial" pitchFamily="34" charset="-120"/>
              </a:rPr>
              <a:t>Blaze 4T</a:t>
            </a:r>
            <a:endParaRPr lang="en-US" sz="1200" dirty="0"/>
          </a:p>
        </p:txBody>
      </p:sp>
      <p:sp>
        <p:nvSpPr>
          <p:cNvPr id="47" name="Text 45"/>
          <p:cNvSpPr/>
          <p:nvPr/>
        </p:nvSpPr>
        <p:spPr>
          <a:xfrm>
            <a:off x="6283226" y="2675781"/>
            <a:ext cx="2364358" cy="114300"/>
          </a:xfrm>
          <a:prstGeom prst="rect">
            <a:avLst/>
          </a:prstGeom>
          <a:noFill/>
          <a:ln/>
        </p:spPr>
        <p:txBody>
          <a:bodyPr wrap="square" lIns="0" tIns="0" rIns="0" bIns="0" rtlCol="0" anchor="t"/>
          <a:lstStyle/>
          <a:p>
            <a:pPr algn="l" indent="0" marL="0">
              <a:buNone/>
            </a:pPr>
            <a:r>
              <a:rPr lang="en-US" sz="800" dirty="0">
                <a:solidFill>
                  <a:srgbClr val="023520"/>
                </a:solidFill>
                <a:latin typeface="Arial" pitchFamily="34" charset="0"/>
                <a:ea typeface="Arial" pitchFamily="34" charset="-122"/>
                <a:cs typeface="Arial" pitchFamily="34" charset="-120"/>
              </a:rPr>
              <a:t>10W-40, 20W-50 | 0.7L &amp; 1L packs</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8F8"/>
        </a:solidFill>
      </p:bgPr>
    </p:bg>
    <p:spTree>
      <p:nvGrpSpPr>
        <p:cNvPr id="1" name=""/>
        <p:cNvGrpSpPr/>
        <p:nvPr/>
      </p:nvGrpSpPr>
      <p:grpSpPr>
        <a:xfrm>
          <a:off x="0" y="0"/>
          <a:ext cx="0" cy="0"/>
          <a:chOff x="0" y="0"/>
          <a:chExt cx="0" cy="0"/>
        </a:xfrm>
      </p:grpSpPr>
      <p:sp>
        <p:nvSpPr>
          <p:cNvPr id="2" name="Text 0"/>
          <p:cNvSpPr/>
          <p:nvPr/>
        </p:nvSpPr>
        <p:spPr>
          <a:xfrm>
            <a:off x="0" y="0"/>
            <a:ext cx="9144000" cy="730151"/>
          </a:xfrm>
          <a:prstGeom prst="rect">
            <a:avLst/>
          </a:prstGeom>
          <a:solidFill>
            <a:srgbClr val="00703C"/>
          </a:solidFill>
          <a:ln/>
        </p:spPr>
        <p:txBody>
          <a:bodyPr wrap="square" rtlCol="0" anchor="ctr"/>
          <a:lstStyle/>
          <a:p>
            <a:pPr indent="0" marL="0">
              <a:buNone/>
            </a:pPr>
            <a:endParaRPr lang="en-US" dirty="0"/>
          </a:p>
        </p:txBody>
      </p:sp>
      <p:sp>
        <p:nvSpPr>
          <p:cNvPr id="3" name="Text 1"/>
          <p:cNvSpPr/>
          <p:nvPr/>
        </p:nvSpPr>
        <p:spPr>
          <a:xfrm>
            <a:off x="355550" y="152400"/>
            <a:ext cx="8601557" cy="266700"/>
          </a:xfrm>
          <a:prstGeom prst="rect">
            <a:avLst/>
          </a:prstGeom>
          <a:noFill/>
          <a:ln/>
        </p:spPr>
        <p:txBody>
          <a:bodyPr wrap="square" lIns="0" tIns="0" rIns="0" bIns="0" rtlCol="0" anchor="t"/>
          <a:lstStyle/>
          <a:p>
            <a:pPr algn="l" indent="0" marL="0">
              <a:buNone/>
            </a:pPr>
            <a:r>
              <a:rPr lang="en-US" sz="1800" b="1" dirty="0">
                <a:solidFill>
                  <a:srgbClr val="FFFFFF"/>
                </a:solidFill>
                <a:latin typeface="Arial" pitchFamily="34" charset="0"/>
                <a:ea typeface="Arial" pitchFamily="34" charset="-122"/>
                <a:cs typeface="Arial" pitchFamily="34" charset="-120"/>
              </a:rPr>
              <a:t>8 International Pricing Frameworks Applied</a:t>
            </a:r>
            <a:endParaRPr lang="en-US" sz="1800" dirty="0"/>
          </a:p>
        </p:txBody>
      </p:sp>
      <p:sp>
        <p:nvSpPr>
          <p:cNvPr id="4" name="Text 2"/>
          <p:cNvSpPr/>
          <p:nvPr/>
        </p:nvSpPr>
        <p:spPr>
          <a:xfrm>
            <a:off x="355550" y="469850"/>
            <a:ext cx="8601557" cy="133350"/>
          </a:xfrm>
          <a:prstGeom prst="rect">
            <a:avLst/>
          </a:prstGeom>
          <a:noFill/>
          <a:ln/>
        </p:spPr>
        <p:txBody>
          <a:bodyPr wrap="square" lIns="0" tIns="0" rIns="0" bIns="0" rtlCol="0" anchor="t"/>
          <a:lstStyle/>
          <a:p>
            <a:pPr algn="l" indent="0" marL="0">
              <a:spcBef>
                <a:spcPts val="400"/>
              </a:spcBef>
              <a:buNone/>
            </a:pPr>
            <a:r>
              <a:rPr lang="en-US" sz="900" b="1" dirty="0">
                <a:solidFill>
                  <a:srgbClr val="A8D5BE"/>
                </a:solidFill>
                <a:latin typeface="Arial" pitchFamily="34" charset="0"/>
                <a:ea typeface="Arial" pitchFamily="34" charset="-122"/>
                <a:cs typeface="Arial" pitchFamily="34" charset="-120"/>
              </a:rPr>
              <a:t>Each framework independently scored — combined via weighted synthesis (F1+F2 = 60% weight)</a:t>
            </a:r>
            <a:endParaRPr lang="en-US" sz="900" dirty="0"/>
          </a:p>
        </p:txBody>
      </p:sp>
      <p:sp>
        <p:nvSpPr>
          <p:cNvPr id="5" name="Text 3"/>
          <p:cNvSpPr/>
          <p:nvPr/>
        </p:nvSpPr>
        <p:spPr>
          <a:xfrm>
            <a:off x="279350" y="907852"/>
            <a:ext cx="2257127" cy="1022747"/>
          </a:xfrm>
          <a:prstGeom prst="roundRect">
            <a:avLst>
              <a:gd name="adj" fmla="val 7451"/>
            </a:avLst>
          </a:prstGeom>
          <a:solidFill>
            <a:srgbClr val="FFFFFF"/>
          </a:solidFill>
          <a:ln/>
          <a:effectLst>
            <a:outerShdw sx="100000" sy="100000" kx="0" ky="0" algn="bl" rotWithShape="0" blurRad="50800" dist="17960" dir="2700000">
              <a:srgbClr val="000000">
                <a:alpha val="8000"/>
              </a:srgbClr>
            </a:outerShdw>
          </a:effectLst>
        </p:spPr>
        <p:txBody>
          <a:bodyPr wrap="square" rtlCol="0" anchor="ctr"/>
          <a:lstStyle/>
          <a:p>
            <a:pPr indent="0" marL="0">
              <a:buNone/>
            </a:pPr>
            <a:endParaRPr lang="en-US" dirty="0"/>
          </a:p>
        </p:txBody>
      </p:sp>
      <p:sp>
        <p:nvSpPr>
          <p:cNvPr id="6" name="Shape 4"/>
          <p:cNvSpPr/>
          <p:nvPr/>
        </p:nvSpPr>
        <p:spPr>
          <a:xfrm>
            <a:off x="303163" y="907852"/>
            <a:ext cx="0" cy="1022747"/>
          </a:xfrm>
          <a:prstGeom prst="line">
            <a:avLst/>
          </a:prstGeom>
          <a:noFill/>
          <a:ln w="47625">
            <a:solidFill>
              <a:srgbClr val="00703C"/>
            </a:solidFill>
            <a:prstDash val="solid"/>
          </a:ln>
        </p:spPr>
      </p:sp>
      <p:sp>
        <p:nvSpPr>
          <p:cNvPr id="7" name="Text 5"/>
          <p:cNvSpPr/>
          <p:nvPr/>
        </p:nvSpPr>
        <p:spPr>
          <a:xfrm>
            <a:off x="466576" y="1022152"/>
            <a:ext cx="1968907" cy="133350"/>
          </a:xfrm>
          <a:prstGeom prst="rect">
            <a:avLst/>
          </a:prstGeom>
          <a:noFill/>
          <a:ln/>
        </p:spPr>
        <p:txBody>
          <a:bodyPr wrap="square" lIns="0" tIns="0" rIns="0" bIns="0" rtlCol="0" anchor="t"/>
          <a:lstStyle/>
          <a:p>
            <a:pPr algn="l" indent="0" marL="0">
              <a:spcAft>
                <a:spcPts val="300"/>
              </a:spcAft>
              <a:buNone/>
            </a:pPr>
            <a:r>
              <a:rPr lang="en-US" sz="900" b="1" dirty="0">
                <a:solidFill>
                  <a:srgbClr val="C8960C"/>
                </a:solidFill>
                <a:latin typeface="Arial" pitchFamily="34" charset="0"/>
                <a:ea typeface="Arial" pitchFamily="34" charset="-122"/>
                <a:cs typeface="Arial" pitchFamily="34" charset="-120"/>
              </a:rPr>
              <a:t>F1</a:t>
            </a:r>
            <a:endParaRPr lang="en-US" sz="900" dirty="0"/>
          </a:p>
        </p:txBody>
      </p:sp>
      <p:sp>
        <p:nvSpPr>
          <p:cNvPr id="8" name="Text 6"/>
          <p:cNvSpPr/>
          <p:nvPr/>
        </p:nvSpPr>
        <p:spPr>
          <a:xfrm>
            <a:off x="466576" y="1193602"/>
            <a:ext cx="1968907" cy="142875"/>
          </a:xfrm>
          <a:prstGeom prst="rect">
            <a:avLst/>
          </a:prstGeom>
          <a:noFill/>
          <a:ln/>
        </p:spPr>
        <p:txBody>
          <a:bodyPr wrap="square" lIns="0" tIns="0" rIns="0" bIns="0" rtlCol="0" anchor="t"/>
          <a:lstStyle/>
          <a:p>
            <a:pPr algn="l" indent="0" marL="0">
              <a:spcAft>
                <a:spcPts val="400"/>
              </a:spcAft>
              <a:buNone/>
            </a:pPr>
            <a:r>
              <a:rPr lang="en-US" sz="1000" b="1" dirty="0">
                <a:solidFill>
                  <a:srgbClr val="023520"/>
                </a:solidFill>
                <a:latin typeface="Arial" pitchFamily="34" charset="0"/>
                <a:ea typeface="Arial" pitchFamily="34" charset="-122"/>
                <a:cs typeface="Arial" pitchFamily="34" charset="-120"/>
              </a:rPr>
              <a:t>Value-Based Tiering</a:t>
            </a:r>
            <a:endParaRPr lang="en-US" sz="1000" dirty="0"/>
          </a:p>
        </p:txBody>
      </p:sp>
      <p:sp>
        <p:nvSpPr>
          <p:cNvPr id="9" name="Text 7"/>
          <p:cNvSpPr/>
          <p:nvPr/>
        </p:nvSpPr>
        <p:spPr>
          <a:xfrm>
            <a:off x="466576" y="1387227"/>
            <a:ext cx="1968907" cy="264021"/>
          </a:xfrm>
          <a:prstGeom prst="rect">
            <a:avLst/>
          </a:prstGeom>
          <a:noFill/>
          <a:ln/>
        </p:spPr>
        <p:txBody>
          <a:bodyPr wrap="square" lIns="0" tIns="0" rIns="0" bIns="0" rtlCol="0" anchor="t"/>
          <a:lstStyle/>
          <a:p>
            <a:pPr algn="l" indent="0" marL="0">
              <a:lnSpc>
                <a:spcPts val="1040"/>
              </a:lnSpc>
              <a:spcAft>
                <a:spcPts val="400"/>
              </a:spcAft>
              <a:buNone/>
            </a:pPr>
            <a:r>
              <a:rPr lang="en-US" sz="800" dirty="0">
                <a:solidFill>
                  <a:srgbClr val="555555"/>
                </a:solidFill>
                <a:latin typeface="Arial" pitchFamily="34" charset="0"/>
                <a:ea typeface="Arial" pitchFamily="34" charset="-122"/>
                <a:cs typeface="Arial" pitchFamily="34" charset="-120"/>
              </a:rPr>
              <a:t>Price anchored to tier perception vs Shell equivalent</a:t>
            </a:r>
            <a:endParaRPr lang="en-US" sz="800" dirty="0"/>
          </a:p>
        </p:txBody>
      </p:sp>
      <p:sp>
        <p:nvSpPr>
          <p:cNvPr id="10" name="Text 8"/>
          <p:cNvSpPr/>
          <p:nvPr/>
        </p:nvSpPr>
        <p:spPr>
          <a:xfrm>
            <a:off x="466576" y="1701998"/>
            <a:ext cx="1968907" cy="114300"/>
          </a:xfrm>
          <a:prstGeom prst="rect">
            <a:avLst/>
          </a:prstGeom>
          <a:noFill/>
          <a:ln/>
        </p:spPr>
        <p:txBody>
          <a:bodyPr wrap="square" lIns="0" tIns="0" rIns="0" bIns="0" rtlCol="0" anchor="t"/>
          <a:lstStyle/>
          <a:p>
            <a:pPr algn="l" indent="0" marL="0">
              <a:buNone/>
            </a:pPr>
            <a:r>
              <a:rPr lang="en-US" sz="800" b="1" dirty="0">
                <a:solidFill>
                  <a:srgbClr val="00703C"/>
                </a:solidFill>
                <a:latin typeface="Arial" pitchFamily="34" charset="0"/>
                <a:ea typeface="Arial" pitchFamily="34" charset="-122"/>
                <a:cs typeface="Arial" pitchFamily="34" charset="-120"/>
              </a:rPr>
              <a:t>Weight: 30%</a:t>
            </a:r>
            <a:endParaRPr lang="en-US" sz="800" dirty="0"/>
          </a:p>
        </p:txBody>
      </p:sp>
      <p:sp>
        <p:nvSpPr>
          <p:cNvPr id="11" name="Text 9"/>
          <p:cNvSpPr/>
          <p:nvPr/>
        </p:nvSpPr>
        <p:spPr>
          <a:xfrm>
            <a:off x="2663428" y="907852"/>
            <a:ext cx="2257127" cy="1022747"/>
          </a:xfrm>
          <a:prstGeom prst="roundRect">
            <a:avLst>
              <a:gd name="adj" fmla="val 7451"/>
            </a:avLst>
          </a:prstGeom>
          <a:solidFill>
            <a:srgbClr val="FFFFFF"/>
          </a:solidFill>
          <a:ln/>
          <a:effectLst>
            <a:outerShdw sx="100000" sy="100000" kx="0" ky="0" algn="bl" rotWithShape="0" blurRad="50800" dist="17960" dir="2700000">
              <a:srgbClr val="000000">
                <a:alpha val="8000"/>
              </a:srgbClr>
            </a:outerShdw>
          </a:effectLst>
        </p:spPr>
        <p:txBody>
          <a:bodyPr wrap="square" rtlCol="0" anchor="ctr"/>
          <a:lstStyle/>
          <a:p>
            <a:pPr indent="0" marL="0">
              <a:buNone/>
            </a:pPr>
            <a:endParaRPr lang="en-US" dirty="0"/>
          </a:p>
        </p:txBody>
      </p:sp>
      <p:sp>
        <p:nvSpPr>
          <p:cNvPr id="12" name="Shape 10"/>
          <p:cNvSpPr/>
          <p:nvPr/>
        </p:nvSpPr>
        <p:spPr>
          <a:xfrm>
            <a:off x="2687241" y="907852"/>
            <a:ext cx="0" cy="1022747"/>
          </a:xfrm>
          <a:prstGeom prst="line">
            <a:avLst/>
          </a:prstGeom>
          <a:noFill/>
          <a:ln w="47625">
            <a:solidFill>
              <a:srgbClr val="00703C"/>
            </a:solidFill>
            <a:prstDash val="solid"/>
          </a:ln>
        </p:spPr>
      </p:sp>
      <p:sp>
        <p:nvSpPr>
          <p:cNvPr id="13" name="Text 11"/>
          <p:cNvSpPr/>
          <p:nvPr/>
        </p:nvSpPr>
        <p:spPr>
          <a:xfrm>
            <a:off x="2850654" y="1022152"/>
            <a:ext cx="1968907" cy="133350"/>
          </a:xfrm>
          <a:prstGeom prst="rect">
            <a:avLst/>
          </a:prstGeom>
          <a:noFill/>
          <a:ln/>
        </p:spPr>
        <p:txBody>
          <a:bodyPr wrap="square" lIns="0" tIns="0" rIns="0" bIns="0" rtlCol="0" anchor="t"/>
          <a:lstStyle/>
          <a:p>
            <a:pPr algn="l" indent="0" marL="0">
              <a:spcAft>
                <a:spcPts val="300"/>
              </a:spcAft>
              <a:buNone/>
            </a:pPr>
            <a:r>
              <a:rPr lang="en-US" sz="900" b="1" dirty="0">
                <a:solidFill>
                  <a:srgbClr val="C8960C"/>
                </a:solidFill>
                <a:latin typeface="Arial" pitchFamily="34" charset="0"/>
                <a:ea typeface="Arial" pitchFamily="34" charset="-122"/>
                <a:cs typeface="Arial" pitchFamily="34" charset="-120"/>
              </a:rPr>
              <a:t>F2</a:t>
            </a:r>
            <a:endParaRPr lang="en-US" sz="900" dirty="0"/>
          </a:p>
        </p:txBody>
      </p:sp>
      <p:sp>
        <p:nvSpPr>
          <p:cNvPr id="14" name="Text 12"/>
          <p:cNvSpPr/>
          <p:nvPr/>
        </p:nvSpPr>
        <p:spPr>
          <a:xfrm>
            <a:off x="2850654" y="1193602"/>
            <a:ext cx="1968907" cy="142875"/>
          </a:xfrm>
          <a:prstGeom prst="rect">
            <a:avLst/>
          </a:prstGeom>
          <a:noFill/>
          <a:ln/>
        </p:spPr>
        <p:txBody>
          <a:bodyPr wrap="square" lIns="0" tIns="0" rIns="0" bIns="0" rtlCol="0" anchor="t"/>
          <a:lstStyle/>
          <a:p>
            <a:pPr algn="l" indent="0" marL="0">
              <a:spcAft>
                <a:spcPts val="400"/>
              </a:spcAft>
              <a:buNone/>
            </a:pPr>
            <a:r>
              <a:rPr lang="en-US" sz="1000" b="1" dirty="0">
                <a:solidFill>
                  <a:srgbClr val="023520"/>
                </a:solidFill>
                <a:latin typeface="Arial" pitchFamily="34" charset="0"/>
                <a:ea typeface="Arial" pitchFamily="34" charset="-122"/>
                <a:cs typeface="Arial" pitchFamily="34" charset="-120"/>
              </a:rPr>
              <a:t>Competitive Reference Price</a:t>
            </a:r>
            <a:endParaRPr lang="en-US" sz="1000" dirty="0"/>
          </a:p>
        </p:txBody>
      </p:sp>
      <p:sp>
        <p:nvSpPr>
          <p:cNvPr id="15" name="Text 13"/>
          <p:cNvSpPr/>
          <p:nvPr/>
        </p:nvSpPr>
        <p:spPr>
          <a:xfrm>
            <a:off x="2850654" y="1387227"/>
            <a:ext cx="1968907" cy="264021"/>
          </a:xfrm>
          <a:prstGeom prst="rect">
            <a:avLst/>
          </a:prstGeom>
          <a:noFill/>
          <a:ln/>
        </p:spPr>
        <p:txBody>
          <a:bodyPr wrap="square" lIns="0" tIns="0" rIns="0" bIns="0" rtlCol="0" anchor="t"/>
          <a:lstStyle/>
          <a:p>
            <a:pPr algn="l" indent="0" marL="0">
              <a:lnSpc>
                <a:spcPts val="1040"/>
              </a:lnSpc>
              <a:spcAft>
                <a:spcPts val="400"/>
              </a:spcAft>
              <a:buNone/>
            </a:pPr>
            <a:r>
              <a:rPr lang="en-US" sz="800" dirty="0">
                <a:solidFill>
                  <a:srgbClr val="555555"/>
                </a:solidFill>
                <a:latin typeface="Arial" pitchFamily="34" charset="0"/>
                <a:ea typeface="Arial" pitchFamily="34" charset="-122"/>
                <a:cs typeface="Arial" pitchFamily="34" charset="-120"/>
              </a:rPr>
              <a:t>PSO price relative to scraped Daraz.pk market median</a:t>
            </a:r>
            <a:endParaRPr lang="en-US" sz="800" dirty="0"/>
          </a:p>
        </p:txBody>
      </p:sp>
      <p:sp>
        <p:nvSpPr>
          <p:cNvPr id="16" name="Text 14"/>
          <p:cNvSpPr/>
          <p:nvPr/>
        </p:nvSpPr>
        <p:spPr>
          <a:xfrm>
            <a:off x="2850654" y="1701998"/>
            <a:ext cx="1968907" cy="114300"/>
          </a:xfrm>
          <a:prstGeom prst="rect">
            <a:avLst/>
          </a:prstGeom>
          <a:noFill/>
          <a:ln/>
        </p:spPr>
        <p:txBody>
          <a:bodyPr wrap="square" lIns="0" tIns="0" rIns="0" bIns="0" rtlCol="0" anchor="t"/>
          <a:lstStyle/>
          <a:p>
            <a:pPr algn="l" indent="0" marL="0">
              <a:buNone/>
            </a:pPr>
            <a:r>
              <a:rPr lang="en-US" sz="800" b="1" dirty="0">
                <a:solidFill>
                  <a:srgbClr val="00703C"/>
                </a:solidFill>
                <a:latin typeface="Arial" pitchFamily="34" charset="0"/>
                <a:ea typeface="Arial" pitchFamily="34" charset="-122"/>
                <a:cs typeface="Arial" pitchFamily="34" charset="-120"/>
              </a:rPr>
              <a:t>Weight: 30%</a:t>
            </a:r>
            <a:endParaRPr lang="en-US" sz="800" dirty="0"/>
          </a:p>
        </p:txBody>
      </p:sp>
      <p:sp>
        <p:nvSpPr>
          <p:cNvPr id="17" name="Text 15"/>
          <p:cNvSpPr/>
          <p:nvPr/>
        </p:nvSpPr>
        <p:spPr>
          <a:xfrm>
            <a:off x="5047506" y="907852"/>
            <a:ext cx="2257127" cy="1022747"/>
          </a:xfrm>
          <a:prstGeom prst="roundRect">
            <a:avLst>
              <a:gd name="adj" fmla="val 7451"/>
            </a:avLst>
          </a:prstGeom>
          <a:solidFill>
            <a:srgbClr val="FFFFFF"/>
          </a:solidFill>
          <a:ln/>
          <a:effectLst>
            <a:outerShdw sx="100000" sy="100000" kx="0" ky="0" algn="bl" rotWithShape="0" blurRad="50800" dist="17960" dir="2700000">
              <a:srgbClr val="000000">
                <a:alpha val="8000"/>
              </a:srgbClr>
            </a:outerShdw>
          </a:effectLst>
        </p:spPr>
        <p:txBody>
          <a:bodyPr wrap="square" rtlCol="0" anchor="ctr"/>
          <a:lstStyle/>
          <a:p>
            <a:pPr indent="0" marL="0">
              <a:buNone/>
            </a:pPr>
            <a:endParaRPr lang="en-US" dirty="0"/>
          </a:p>
        </p:txBody>
      </p:sp>
      <p:sp>
        <p:nvSpPr>
          <p:cNvPr id="18" name="Shape 16"/>
          <p:cNvSpPr/>
          <p:nvPr/>
        </p:nvSpPr>
        <p:spPr>
          <a:xfrm>
            <a:off x="5071318" y="907852"/>
            <a:ext cx="0" cy="1022747"/>
          </a:xfrm>
          <a:prstGeom prst="line">
            <a:avLst/>
          </a:prstGeom>
          <a:noFill/>
          <a:ln w="47625">
            <a:solidFill>
              <a:srgbClr val="00703C"/>
            </a:solidFill>
            <a:prstDash val="solid"/>
          </a:ln>
        </p:spPr>
      </p:sp>
      <p:sp>
        <p:nvSpPr>
          <p:cNvPr id="19" name="Text 17"/>
          <p:cNvSpPr/>
          <p:nvPr/>
        </p:nvSpPr>
        <p:spPr>
          <a:xfrm>
            <a:off x="5234732" y="1022152"/>
            <a:ext cx="1968907" cy="133350"/>
          </a:xfrm>
          <a:prstGeom prst="rect">
            <a:avLst/>
          </a:prstGeom>
          <a:noFill/>
          <a:ln/>
        </p:spPr>
        <p:txBody>
          <a:bodyPr wrap="square" lIns="0" tIns="0" rIns="0" bIns="0" rtlCol="0" anchor="t"/>
          <a:lstStyle/>
          <a:p>
            <a:pPr algn="l" indent="0" marL="0">
              <a:spcAft>
                <a:spcPts val="300"/>
              </a:spcAft>
              <a:buNone/>
            </a:pPr>
            <a:r>
              <a:rPr lang="en-US" sz="900" b="1" dirty="0">
                <a:solidFill>
                  <a:srgbClr val="C8960C"/>
                </a:solidFill>
                <a:latin typeface="Arial" pitchFamily="34" charset="0"/>
                <a:ea typeface="Arial" pitchFamily="34" charset="-122"/>
                <a:cs typeface="Arial" pitchFamily="34" charset="-120"/>
              </a:rPr>
              <a:t>F3</a:t>
            </a:r>
            <a:endParaRPr lang="en-US" sz="900" dirty="0"/>
          </a:p>
        </p:txBody>
      </p:sp>
      <p:sp>
        <p:nvSpPr>
          <p:cNvPr id="20" name="Text 18"/>
          <p:cNvSpPr/>
          <p:nvPr/>
        </p:nvSpPr>
        <p:spPr>
          <a:xfrm>
            <a:off x="5234732" y="1193602"/>
            <a:ext cx="1968907" cy="142875"/>
          </a:xfrm>
          <a:prstGeom prst="rect">
            <a:avLst/>
          </a:prstGeom>
          <a:noFill/>
          <a:ln/>
        </p:spPr>
        <p:txBody>
          <a:bodyPr wrap="square" lIns="0" tIns="0" rIns="0" bIns="0" rtlCol="0" anchor="t"/>
          <a:lstStyle/>
          <a:p>
            <a:pPr algn="l" indent="0" marL="0">
              <a:spcAft>
                <a:spcPts val="400"/>
              </a:spcAft>
              <a:buNone/>
            </a:pPr>
            <a:r>
              <a:rPr lang="en-US" sz="1000" b="1" dirty="0">
                <a:solidFill>
                  <a:srgbClr val="023520"/>
                </a:solidFill>
                <a:latin typeface="Arial" pitchFamily="34" charset="0"/>
                <a:ea typeface="Arial" pitchFamily="34" charset="-122"/>
                <a:cs typeface="Arial" pitchFamily="34" charset="-120"/>
              </a:rPr>
              <a:t>Price-Pack Architecture</a:t>
            </a:r>
            <a:endParaRPr lang="en-US" sz="1000" dirty="0"/>
          </a:p>
        </p:txBody>
      </p:sp>
      <p:sp>
        <p:nvSpPr>
          <p:cNvPr id="21" name="Text 19"/>
          <p:cNvSpPr/>
          <p:nvPr/>
        </p:nvSpPr>
        <p:spPr>
          <a:xfrm>
            <a:off x="5234732" y="1387227"/>
            <a:ext cx="1968907" cy="264021"/>
          </a:xfrm>
          <a:prstGeom prst="rect">
            <a:avLst/>
          </a:prstGeom>
          <a:noFill/>
          <a:ln/>
        </p:spPr>
        <p:txBody>
          <a:bodyPr wrap="square" lIns="0" tIns="0" rIns="0" bIns="0" rtlCol="0" anchor="t"/>
          <a:lstStyle/>
          <a:p>
            <a:pPr algn="l" indent="0" marL="0">
              <a:lnSpc>
                <a:spcPts val="1040"/>
              </a:lnSpc>
              <a:spcAft>
                <a:spcPts val="400"/>
              </a:spcAft>
              <a:buNone/>
            </a:pPr>
            <a:r>
              <a:rPr lang="en-US" sz="800" dirty="0">
                <a:solidFill>
                  <a:srgbClr val="555555"/>
                </a:solidFill>
                <a:latin typeface="Arial" pitchFamily="34" charset="0"/>
                <a:ea typeface="Arial" pitchFamily="34" charset="-122"/>
                <a:cs typeface="Arial" pitchFamily="34" charset="-120"/>
              </a:rPr>
              <a:t>Consistent per-litre premium curve across pack sizes</a:t>
            </a:r>
            <a:endParaRPr lang="en-US" sz="800" dirty="0"/>
          </a:p>
        </p:txBody>
      </p:sp>
      <p:sp>
        <p:nvSpPr>
          <p:cNvPr id="22" name="Text 20"/>
          <p:cNvSpPr/>
          <p:nvPr/>
        </p:nvSpPr>
        <p:spPr>
          <a:xfrm>
            <a:off x="5234732" y="1701998"/>
            <a:ext cx="1968907" cy="114300"/>
          </a:xfrm>
          <a:prstGeom prst="rect">
            <a:avLst/>
          </a:prstGeom>
          <a:noFill/>
          <a:ln/>
        </p:spPr>
        <p:txBody>
          <a:bodyPr wrap="square" lIns="0" tIns="0" rIns="0" bIns="0" rtlCol="0" anchor="t"/>
          <a:lstStyle/>
          <a:p>
            <a:pPr algn="l" indent="0" marL="0">
              <a:buNone/>
            </a:pPr>
            <a:r>
              <a:rPr lang="en-US" sz="800" b="1" dirty="0">
                <a:solidFill>
                  <a:srgbClr val="00703C"/>
                </a:solidFill>
                <a:latin typeface="Arial" pitchFamily="34" charset="0"/>
                <a:ea typeface="Arial" pitchFamily="34" charset="-122"/>
                <a:cs typeface="Arial" pitchFamily="34" charset="-120"/>
              </a:rPr>
              <a:t>Weight: 20%</a:t>
            </a:r>
            <a:endParaRPr lang="en-US" sz="800" dirty="0"/>
          </a:p>
        </p:txBody>
      </p:sp>
      <p:sp>
        <p:nvSpPr>
          <p:cNvPr id="23" name="Text 21"/>
          <p:cNvSpPr/>
          <p:nvPr/>
        </p:nvSpPr>
        <p:spPr>
          <a:xfrm>
            <a:off x="279350" y="2057549"/>
            <a:ext cx="2257127" cy="1022747"/>
          </a:xfrm>
          <a:prstGeom prst="roundRect">
            <a:avLst>
              <a:gd name="adj" fmla="val 7451"/>
            </a:avLst>
          </a:prstGeom>
          <a:solidFill>
            <a:srgbClr val="FFFFFF"/>
          </a:solidFill>
          <a:ln/>
          <a:effectLst>
            <a:outerShdw sx="100000" sy="100000" kx="0" ky="0" algn="bl" rotWithShape="0" blurRad="50800" dist="17960" dir="2700000">
              <a:srgbClr val="000000">
                <a:alpha val="8000"/>
              </a:srgbClr>
            </a:outerShdw>
          </a:effectLst>
        </p:spPr>
        <p:txBody>
          <a:bodyPr wrap="square" rtlCol="0" anchor="ctr"/>
          <a:lstStyle/>
          <a:p>
            <a:pPr indent="0" marL="0">
              <a:buNone/>
            </a:pPr>
            <a:endParaRPr lang="en-US" dirty="0"/>
          </a:p>
        </p:txBody>
      </p:sp>
      <p:sp>
        <p:nvSpPr>
          <p:cNvPr id="24" name="Shape 22"/>
          <p:cNvSpPr/>
          <p:nvPr/>
        </p:nvSpPr>
        <p:spPr>
          <a:xfrm>
            <a:off x="303163" y="2057549"/>
            <a:ext cx="0" cy="1022747"/>
          </a:xfrm>
          <a:prstGeom prst="line">
            <a:avLst/>
          </a:prstGeom>
          <a:noFill/>
          <a:ln w="47625">
            <a:solidFill>
              <a:srgbClr val="00703C"/>
            </a:solidFill>
            <a:prstDash val="solid"/>
          </a:ln>
        </p:spPr>
      </p:sp>
      <p:sp>
        <p:nvSpPr>
          <p:cNvPr id="25" name="Text 23"/>
          <p:cNvSpPr/>
          <p:nvPr/>
        </p:nvSpPr>
        <p:spPr>
          <a:xfrm>
            <a:off x="466576" y="2171849"/>
            <a:ext cx="1968907" cy="133350"/>
          </a:xfrm>
          <a:prstGeom prst="rect">
            <a:avLst/>
          </a:prstGeom>
          <a:noFill/>
          <a:ln/>
        </p:spPr>
        <p:txBody>
          <a:bodyPr wrap="square" lIns="0" tIns="0" rIns="0" bIns="0" rtlCol="0" anchor="t"/>
          <a:lstStyle/>
          <a:p>
            <a:pPr algn="l" indent="0" marL="0">
              <a:spcAft>
                <a:spcPts val="300"/>
              </a:spcAft>
              <a:buNone/>
            </a:pPr>
            <a:r>
              <a:rPr lang="en-US" sz="900" b="1" dirty="0">
                <a:solidFill>
                  <a:srgbClr val="C8960C"/>
                </a:solidFill>
                <a:latin typeface="Arial" pitchFamily="34" charset="0"/>
                <a:ea typeface="Arial" pitchFamily="34" charset="-122"/>
                <a:cs typeface="Arial" pitchFamily="34" charset="-120"/>
              </a:rPr>
              <a:t>F4</a:t>
            </a:r>
            <a:endParaRPr lang="en-US" sz="900" dirty="0"/>
          </a:p>
        </p:txBody>
      </p:sp>
      <p:sp>
        <p:nvSpPr>
          <p:cNvPr id="26" name="Text 24"/>
          <p:cNvSpPr/>
          <p:nvPr/>
        </p:nvSpPr>
        <p:spPr>
          <a:xfrm>
            <a:off x="466576" y="2343299"/>
            <a:ext cx="1968907" cy="142875"/>
          </a:xfrm>
          <a:prstGeom prst="rect">
            <a:avLst/>
          </a:prstGeom>
          <a:noFill/>
          <a:ln/>
        </p:spPr>
        <p:txBody>
          <a:bodyPr wrap="square" lIns="0" tIns="0" rIns="0" bIns="0" rtlCol="0" anchor="t"/>
          <a:lstStyle/>
          <a:p>
            <a:pPr algn="l" indent="0" marL="0">
              <a:spcAft>
                <a:spcPts val="400"/>
              </a:spcAft>
              <a:buNone/>
            </a:pPr>
            <a:r>
              <a:rPr lang="en-US" sz="1000" b="1" dirty="0">
                <a:solidFill>
                  <a:srgbClr val="023520"/>
                </a:solidFill>
                <a:latin typeface="Arial" pitchFamily="34" charset="0"/>
                <a:ea typeface="Arial" pitchFamily="34" charset="-122"/>
                <a:cs typeface="Arial" pitchFamily="34" charset="-120"/>
              </a:rPr>
              <a:t>Price Waterfall</a:t>
            </a:r>
            <a:endParaRPr lang="en-US" sz="1000" dirty="0"/>
          </a:p>
        </p:txBody>
      </p:sp>
      <p:sp>
        <p:nvSpPr>
          <p:cNvPr id="27" name="Text 25"/>
          <p:cNvSpPr/>
          <p:nvPr/>
        </p:nvSpPr>
        <p:spPr>
          <a:xfrm>
            <a:off x="466576" y="2536924"/>
            <a:ext cx="1968907" cy="264021"/>
          </a:xfrm>
          <a:prstGeom prst="rect">
            <a:avLst/>
          </a:prstGeom>
          <a:noFill/>
          <a:ln/>
        </p:spPr>
        <p:txBody>
          <a:bodyPr wrap="square" lIns="0" tIns="0" rIns="0" bIns="0" rtlCol="0" anchor="t"/>
          <a:lstStyle/>
          <a:p>
            <a:pPr algn="l" indent="0" marL="0">
              <a:lnSpc>
                <a:spcPts val="1040"/>
              </a:lnSpc>
              <a:spcAft>
                <a:spcPts val="400"/>
              </a:spcAft>
              <a:buNone/>
            </a:pPr>
            <a:r>
              <a:rPr lang="en-US" sz="800" dirty="0">
                <a:solidFill>
                  <a:srgbClr val="555555"/>
                </a:solidFill>
                <a:latin typeface="Arial" pitchFamily="34" charset="0"/>
                <a:ea typeface="Arial" pitchFamily="34" charset="-122"/>
                <a:cs typeface="Arial" pitchFamily="34" charset="-120"/>
              </a:rPr>
              <a:t>Hard cost-plus floor — ensures no margin inversion</a:t>
            </a:r>
            <a:endParaRPr lang="en-US" sz="800" dirty="0"/>
          </a:p>
        </p:txBody>
      </p:sp>
      <p:sp>
        <p:nvSpPr>
          <p:cNvPr id="28" name="Text 26"/>
          <p:cNvSpPr/>
          <p:nvPr/>
        </p:nvSpPr>
        <p:spPr>
          <a:xfrm>
            <a:off x="466576" y="2851696"/>
            <a:ext cx="1968907" cy="114300"/>
          </a:xfrm>
          <a:prstGeom prst="rect">
            <a:avLst/>
          </a:prstGeom>
          <a:noFill/>
          <a:ln/>
        </p:spPr>
        <p:txBody>
          <a:bodyPr wrap="square" lIns="0" tIns="0" rIns="0" bIns="0" rtlCol="0" anchor="t"/>
          <a:lstStyle/>
          <a:p>
            <a:pPr algn="l" indent="0" marL="0">
              <a:buNone/>
            </a:pPr>
            <a:r>
              <a:rPr lang="en-US" sz="800" b="1" dirty="0">
                <a:solidFill>
                  <a:srgbClr val="00703C"/>
                </a:solidFill>
                <a:latin typeface="Arial" pitchFamily="34" charset="0"/>
                <a:ea typeface="Arial" pitchFamily="34" charset="-122"/>
                <a:cs typeface="Arial" pitchFamily="34" charset="-120"/>
              </a:rPr>
              <a:t>Hard Floor</a:t>
            </a:r>
            <a:endParaRPr lang="en-US" sz="800" dirty="0"/>
          </a:p>
        </p:txBody>
      </p:sp>
      <p:sp>
        <p:nvSpPr>
          <p:cNvPr id="29" name="Text 27"/>
          <p:cNvSpPr/>
          <p:nvPr/>
        </p:nvSpPr>
        <p:spPr>
          <a:xfrm>
            <a:off x="2663428" y="2057549"/>
            <a:ext cx="2257127" cy="1022747"/>
          </a:xfrm>
          <a:prstGeom prst="roundRect">
            <a:avLst>
              <a:gd name="adj" fmla="val 7451"/>
            </a:avLst>
          </a:prstGeom>
          <a:solidFill>
            <a:srgbClr val="FFFFFF"/>
          </a:solidFill>
          <a:ln/>
          <a:effectLst>
            <a:outerShdw sx="100000" sy="100000" kx="0" ky="0" algn="bl" rotWithShape="0" blurRad="50800" dist="17960" dir="2700000">
              <a:srgbClr val="000000">
                <a:alpha val="8000"/>
              </a:srgbClr>
            </a:outerShdw>
          </a:effectLst>
        </p:spPr>
        <p:txBody>
          <a:bodyPr wrap="square" rtlCol="0" anchor="ctr"/>
          <a:lstStyle/>
          <a:p>
            <a:pPr indent="0" marL="0">
              <a:buNone/>
            </a:pPr>
            <a:endParaRPr lang="en-US" dirty="0"/>
          </a:p>
        </p:txBody>
      </p:sp>
      <p:sp>
        <p:nvSpPr>
          <p:cNvPr id="30" name="Shape 28"/>
          <p:cNvSpPr/>
          <p:nvPr/>
        </p:nvSpPr>
        <p:spPr>
          <a:xfrm>
            <a:off x="2687241" y="2057549"/>
            <a:ext cx="0" cy="1022747"/>
          </a:xfrm>
          <a:prstGeom prst="line">
            <a:avLst/>
          </a:prstGeom>
          <a:noFill/>
          <a:ln w="47625">
            <a:solidFill>
              <a:srgbClr val="00703C"/>
            </a:solidFill>
            <a:prstDash val="solid"/>
          </a:ln>
        </p:spPr>
      </p:sp>
      <p:sp>
        <p:nvSpPr>
          <p:cNvPr id="31" name="Text 29"/>
          <p:cNvSpPr/>
          <p:nvPr/>
        </p:nvSpPr>
        <p:spPr>
          <a:xfrm>
            <a:off x="2850654" y="2171849"/>
            <a:ext cx="1968907" cy="133350"/>
          </a:xfrm>
          <a:prstGeom prst="rect">
            <a:avLst/>
          </a:prstGeom>
          <a:noFill/>
          <a:ln/>
        </p:spPr>
        <p:txBody>
          <a:bodyPr wrap="square" lIns="0" tIns="0" rIns="0" bIns="0" rtlCol="0" anchor="t"/>
          <a:lstStyle/>
          <a:p>
            <a:pPr algn="l" indent="0" marL="0">
              <a:spcAft>
                <a:spcPts val="300"/>
              </a:spcAft>
              <a:buNone/>
            </a:pPr>
            <a:r>
              <a:rPr lang="en-US" sz="900" b="1" dirty="0">
                <a:solidFill>
                  <a:srgbClr val="C8960C"/>
                </a:solidFill>
                <a:latin typeface="Arial" pitchFamily="34" charset="0"/>
                <a:ea typeface="Arial" pitchFamily="34" charset="-122"/>
                <a:cs typeface="Arial" pitchFamily="34" charset="-120"/>
              </a:rPr>
              <a:t>F5</a:t>
            </a:r>
            <a:endParaRPr lang="en-US" sz="900" dirty="0"/>
          </a:p>
        </p:txBody>
      </p:sp>
      <p:sp>
        <p:nvSpPr>
          <p:cNvPr id="32" name="Text 30"/>
          <p:cNvSpPr/>
          <p:nvPr/>
        </p:nvSpPr>
        <p:spPr>
          <a:xfrm>
            <a:off x="2850654" y="2343299"/>
            <a:ext cx="1968907" cy="142875"/>
          </a:xfrm>
          <a:prstGeom prst="rect">
            <a:avLst/>
          </a:prstGeom>
          <a:noFill/>
          <a:ln/>
        </p:spPr>
        <p:txBody>
          <a:bodyPr wrap="square" lIns="0" tIns="0" rIns="0" bIns="0" rtlCol="0" anchor="t"/>
          <a:lstStyle/>
          <a:p>
            <a:pPr algn="l" indent="0" marL="0">
              <a:spcAft>
                <a:spcPts val="400"/>
              </a:spcAft>
              <a:buNone/>
            </a:pPr>
            <a:r>
              <a:rPr lang="en-US" sz="1000" b="1" dirty="0">
                <a:solidFill>
                  <a:srgbClr val="023520"/>
                </a:solidFill>
                <a:latin typeface="Arial" pitchFamily="34" charset="0"/>
                <a:ea typeface="Arial" pitchFamily="34" charset="-122"/>
                <a:cs typeface="Arial" pitchFamily="34" charset="-120"/>
              </a:rPr>
              <a:t>Spec Premium</a:t>
            </a:r>
            <a:endParaRPr lang="en-US" sz="1000" dirty="0"/>
          </a:p>
        </p:txBody>
      </p:sp>
      <p:sp>
        <p:nvSpPr>
          <p:cNvPr id="33" name="Text 31"/>
          <p:cNvSpPr/>
          <p:nvPr/>
        </p:nvSpPr>
        <p:spPr>
          <a:xfrm>
            <a:off x="2850654" y="2536924"/>
            <a:ext cx="1968907" cy="264021"/>
          </a:xfrm>
          <a:prstGeom prst="rect">
            <a:avLst/>
          </a:prstGeom>
          <a:noFill/>
          <a:ln/>
        </p:spPr>
        <p:txBody>
          <a:bodyPr wrap="square" lIns="0" tIns="0" rIns="0" bIns="0" rtlCol="0" anchor="t"/>
          <a:lstStyle/>
          <a:p>
            <a:pPr algn="l" indent="0" marL="0">
              <a:lnSpc>
                <a:spcPts val="1040"/>
              </a:lnSpc>
              <a:spcAft>
                <a:spcPts val="400"/>
              </a:spcAft>
              <a:buNone/>
            </a:pPr>
            <a:r>
              <a:rPr lang="en-US" sz="800" dirty="0">
                <a:solidFill>
                  <a:srgbClr val="555555"/>
                </a:solidFill>
                <a:latin typeface="Arial" pitchFamily="34" charset="0"/>
                <a:ea typeface="Arial" pitchFamily="34" charset="-122"/>
                <a:cs typeface="Arial" pitchFamily="34" charset="-120"/>
              </a:rPr>
              <a:t>API/ACEA spec uplift for synthetic &amp; semi-synthetic grades</a:t>
            </a:r>
            <a:endParaRPr lang="en-US" sz="800" dirty="0"/>
          </a:p>
        </p:txBody>
      </p:sp>
      <p:sp>
        <p:nvSpPr>
          <p:cNvPr id="34" name="Text 32"/>
          <p:cNvSpPr/>
          <p:nvPr/>
        </p:nvSpPr>
        <p:spPr>
          <a:xfrm>
            <a:off x="2850654" y="2851696"/>
            <a:ext cx="1968907" cy="114300"/>
          </a:xfrm>
          <a:prstGeom prst="rect">
            <a:avLst/>
          </a:prstGeom>
          <a:noFill/>
          <a:ln/>
        </p:spPr>
        <p:txBody>
          <a:bodyPr wrap="square" lIns="0" tIns="0" rIns="0" bIns="0" rtlCol="0" anchor="t"/>
          <a:lstStyle/>
          <a:p>
            <a:pPr algn="l" indent="0" marL="0">
              <a:buNone/>
            </a:pPr>
            <a:r>
              <a:rPr lang="en-US" sz="800" b="1" dirty="0">
                <a:solidFill>
                  <a:srgbClr val="00703C"/>
                </a:solidFill>
                <a:latin typeface="Arial" pitchFamily="34" charset="0"/>
                <a:ea typeface="Arial" pitchFamily="34" charset="-122"/>
                <a:cs typeface="Arial" pitchFamily="34" charset="-120"/>
              </a:rPr>
              <a:t>Weight: 10%</a:t>
            </a:r>
            <a:endParaRPr lang="en-US" sz="800" dirty="0"/>
          </a:p>
        </p:txBody>
      </p:sp>
      <p:sp>
        <p:nvSpPr>
          <p:cNvPr id="35" name="Text 33"/>
          <p:cNvSpPr/>
          <p:nvPr/>
        </p:nvSpPr>
        <p:spPr>
          <a:xfrm>
            <a:off x="5047506" y="2057549"/>
            <a:ext cx="2257127" cy="1022747"/>
          </a:xfrm>
          <a:prstGeom prst="roundRect">
            <a:avLst>
              <a:gd name="adj" fmla="val 7451"/>
            </a:avLst>
          </a:prstGeom>
          <a:solidFill>
            <a:srgbClr val="FFFFFF"/>
          </a:solidFill>
          <a:ln/>
          <a:effectLst>
            <a:outerShdw sx="100000" sy="100000" kx="0" ky="0" algn="bl" rotWithShape="0" blurRad="50800" dist="17960" dir="2700000">
              <a:srgbClr val="000000">
                <a:alpha val="8000"/>
              </a:srgbClr>
            </a:outerShdw>
          </a:effectLst>
        </p:spPr>
        <p:txBody>
          <a:bodyPr wrap="square" rtlCol="0" anchor="ctr"/>
          <a:lstStyle/>
          <a:p>
            <a:pPr indent="0" marL="0">
              <a:buNone/>
            </a:pPr>
            <a:endParaRPr lang="en-US" dirty="0"/>
          </a:p>
        </p:txBody>
      </p:sp>
      <p:sp>
        <p:nvSpPr>
          <p:cNvPr id="36" name="Shape 34"/>
          <p:cNvSpPr/>
          <p:nvPr/>
        </p:nvSpPr>
        <p:spPr>
          <a:xfrm>
            <a:off x="5071318" y="2057549"/>
            <a:ext cx="0" cy="1022747"/>
          </a:xfrm>
          <a:prstGeom prst="line">
            <a:avLst/>
          </a:prstGeom>
          <a:noFill/>
          <a:ln w="47625">
            <a:solidFill>
              <a:srgbClr val="00703C"/>
            </a:solidFill>
            <a:prstDash val="solid"/>
          </a:ln>
        </p:spPr>
      </p:sp>
      <p:sp>
        <p:nvSpPr>
          <p:cNvPr id="37" name="Text 35"/>
          <p:cNvSpPr/>
          <p:nvPr/>
        </p:nvSpPr>
        <p:spPr>
          <a:xfrm>
            <a:off x="5234732" y="2171849"/>
            <a:ext cx="1968907" cy="133350"/>
          </a:xfrm>
          <a:prstGeom prst="rect">
            <a:avLst/>
          </a:prstGeom>
          <a:noFill/>
          <a:ln/>
        </p:spPr>
        <p:txBody>
          <a:bodyPr wrap="square" lIns="0" tIns="0" rIns="0" bIns="0" rtlCol="0" anchor="t"/>
          <a:lstStyle/>
          <a:p>
            <a:pPr algn="l" indent="0" marL="0">
              <a:spcAft>
                <a:spcPts val="300"/>
              </a:spcAft>
              <a:buNone/>
            </a:pPr>
            <a:r>
              <a:rPr lang="en-US" sz="900" b="1" dirty="0">
                <a:solidFill>
                  <a:srgbClr val="C8960C"/>
                </a:solidFill>
                <a:latin typeface="Arial" pitchFamily="34" charset="0"/>
                <a:ea typeface="Arial" pitchFamily="34" charset="-122"/>
                <a:cs typeface="Arial" pitchFamily="34" charset="-120"/>
              </a:rPr>
              <a:t>F6</a:t>
            </a:r>
            <a:endParaRPr lang="en-US" sz="900" dirty="0"/>
          </a:p>
        </p:txBody>
      </p:sp>
      <p:sp>
        <p:nvSpPr>
          <p:cNvPr id="38" name="Text 36"/>
          <p:cNvSpPr/>
          <p:nvPr/>
        </p:nvSpPr>
        <p:spPr>
          <a:xfrm>
            <a:off x="5234732" y="2343299"/>
            <a:ext cx="1968907" cy="142875"/>
          </a:xfrm>
          <a:prstGeom prst="rect">
            <a:avLst/>
          </a:prstGeom>
          <a:noFill/>
          <a:ln/>
        </p:spPr>
        <p:txBody>
          <a:bodyPr wrap="square" lIns="0" tIns="0" rIns="0" bIns="0" rtlCol="0" anchor="t"/>
          <a:lstStyle/>
          <a:p>
            <a:pPr algn="l" indent="0" marL="0">
              <a:spcAft>
                <a:spcPts val="400"/>
              </a:spcAft>
              <a:buNone/>
            </a:pPr>
            <a:r>
              <a:rPr lang="en-US" sz="1000" b="1" dirty="0">
                <a:solidFill>
                  <a:srgbClr val="023520"/>
                </a:solidFill>
                <a:latin typeface="Arial" pitchFamily="34" charset="0"/>
                <a:ea typeface="Arial" pitchFamily="34" charset="-122"/>
                <a:cs typeface="Arial" pitchFamily="34" charset="-120"/>
              </a:rPr>
              <a:t>Geographic Segmentation</a:t>
            </a:r>
            <a:endParaRPr lang="en-US" sz="1000" dirty="0"/>
          </a:p>
        </p:txBody>
      </p:sp>
      <p:sp>
        <p:nvSpPr>
          <p:cNvPr id="39" name="Text 37"/>
          <p:cNvSpPr/>
          <p:nvPr/>
        </p:nvSpPr>
        <p:spPr>
          <a:xfrm>
            <a:off x="5234732" y="2536924"/>
            <a:ext cx="1968907" cy="264021"/>
          </a:xfrm>
          <a:prstGeom prst="rect">
            <a:avLst/>
          </a:prstGeom>
          <a:noFill/>
          <a:ln/>
        </p:spPr>
        <p:txBody>
          <a:bodyPr wrap="square" lIns="0" tIns="0" rIns="0" bIns="0" rtlCol="0" anchor="t"/>
          <a:lstStyle/>
          <a:p>
            <a:pPr algn="l" indent="0" marL="0">
              <a:lnSpc>
                <a:spcPts val="1040"/>
              </a:lnSpc>
              <a:spcAft>
                <a:spcPts val="400"/>
              </a:spcAft>
              <a:buNone/>
            </a:pPr>
            <a:r>
              <a:rPr lang="en-US" sz="800" dirty="0">
                <a:solidFill>
                  <a:srgbClr val="555555"/>
                </a:solidFill>
                <a:latin typeface="Arial" pitchFamily="34" charset="0"/>
                <a:ea typeface="Arial" pitchFamily="34" charset="-122"/>
                <a:cs typeface="Arial" pitchFamily="34" charset="-120"/>
              </a:rPr>
              <a:t>South / Central / North regional index adjustments</a:t>
            </a:r>
            <a:endParaRPr lang="en-US" sz="800" dirty="0"/>
          </a:p>
        </p:txBody>
      </p:sp>
      <p:sp>
        <p:nvSpPr>
          <p:cNvPr id="40" name="Text 38"/>
          <p:cNvSpPr/>
          <p:nvPr/>
        </p:nvSpPr>
        <p:spPr>
          <a:xfrm>
            <a:off x="5234732" y="2851696"/>
            <a:ext cx="1968907" cy="114300"/>
          </a:xfrm>
          <a:prstGeom prst="rect">
            <a:avLst/>
          </a:prstGeom>
          <a:noFill/>
          <a:ln/>
        </p:spPr>
        <p:txBody>
          <a:bodyPr wrap="square" lIns="0" tIns="0" rIns="0" bIns="0" rtlCol="0" anchor="t"/>
          <a:lstStyle/>
          <a:p>
            <a:pPr algn="l" indent="0" marL="0">
              <a:buNone/>
            </a:pPr>
            <a:r>
              <a:rPr lang="en-US" sz="800" b="1" dirty="0">
                <a:solidFill>
                  <a:srgbClr val="00703C"/>
                </a:solidFill>
                <a:latin typeface="Arial" pitchFamily="34" charset="0"/>
                <a:ea typeface="Arial" pitchFamily="34" charset="-122"/>
                <a:cs typeface="Arial" pitchFamily="34" charset="-120"/>
              </a:rPr>
              <a:t>Reference</a:t>
            </a:r>
            <a:endParaRPr lang="en-US" sz="800" dirty="0"/>
          </a:p>
        </p:txBody>
      </p:sp>
      <p:sp>
        <p:nvSpPr>
          <p:cNvPr id="41" name="Text 39"/>
          <p:cNvSpPr/>
          <p:nvPr/>
        </p:nvSpPr>
        <p:spPr>
          <a:xfrm>
            <a:off x="279350" y="3207246"/>
            <a:ext cx="2257127" cy="1022747"/>
          </a:xfrm>
          <a:prstGeom prst="roundRect">
            <a:avLst>
              <a:gd name="adj" fmla="val 7451"/>
            </a:avLst>
          </a:prstGeom>
          <a:solidFill>
            <a:srgbClr val="FFFFFF"/>
          </a:solidFill>
          <a:ln/>
          <a:effectLst>
            <a:outerShdw sx="100000" sy="100000" kx="0" ky="0" algn="bl" rotWithShape="0" blurRad="50800" dist="17960" dir="2700000">
              <a:srgbClr val="000000">
                <a:alpha val="8000"/>
              </a:srgbClr>
            </a:outerShdw>
          </a:effectLst>
        </p:spPr>
        <p:txBody>
          <a:bodyPr wrap="square" rtlCol="0" anchor="ctr"/>
          <a:lstStyle/>
          <a:p>
            <a:pPr indent="0" marL="0">
              <a:buNone/>
            </a:pPr>
            <a:endParaRPr lang="en-US" dirty="0"/>
          </a:p>
        </p:txBody>
      </p:sp>
      <p:sp>
        <p:nvSpPr>
          <p:cNvPr id="42" name="Shape 40"/>
          <p:cNvSpPr/>
          <p:nvPr/>
        </p:nvSpPr>
        <p:spPr>
          <a:xfrm>
            <a:off x="303163" y="3207246"/>
            <a:ext cx="0" cy="1022747"/>
          </a:xfrm>
          <a:prstGeom prst="line">
            <a:avLst/>
          </a:prstGeom>
          <a:noFill/>
          <a:ln w="47625">
            <a:solidFill>
              <a:srgbClr val="00703C"/>
            </a:solidFill>
            <a:prstDash val="solid"/>
          </a:ln>
        </p:spPr>
      </p:sp>
      <p:sp>
        <p:nvSpPr>
          <p:cNvPr id="43" name="Text 41"/>
          <p:cNvSpPr/>
          <p:nvPr/>
        </p:nvSpPr>
        <p:spPr>
          <a:xfrm>
            <a:off x="466576" y="3321546"/>
            <a:ext cx="1968907" cy="133350"/>
          </a:xfrm>
          <a:prstGeom prst="rect">
            <a:avLst/>
          </a:prstGeom>
          <a:noFill/>
          <a:ln/>
        </p:spPr>
        <p:txBody>
          <a:bodyPr wrap="square" lIns="0" tIns="0" rIns="0" bIns="0" rtlCol="0" anchor="t"/>
          <a:lstStyle/>
          <a:p>
            <a:pPr algn="l" indent="0" marL="0">
              <a:spcAft>
                <a:spcPts val="300"/>
              </a:spcAft>
              <a:buNone/>
            </a:pPr>
            <a:r>
              <a:rPr lang="en-US" sz="900" b="1" dirty="0">
                <a:solidFill>
                  <a:srgbClr val="C8960C"/>
                </a:solidFill>
                <a:latin typeface="Arial" pitchFamily="34" charset="0"/>
                <a:ea typeface="Arial" pitchFamily="34" charset="-122"/>
                <a:cs typeface="Arial" pitchFamily="34" charset="-120"/>
              </a:rPr>
              <a:t>F7</a:t>
            </a:r>
            <a:endParaRPr lang="en-US" sz="900" dirty="0"/>
          </a:p>
        </p:txBody>
      </p:sp>
      <p:sp>
        <p:nvSpPr>
          <p:cNvPr id="44" name="Text 42"/>
          <p:cNvSpPr/>
          <p:nvPr/>
        </p:nvSpPr>
        <p:spPr>
          <a:xfrm>
            <a:off x="466576" y="3492996"/>
            <a:ext cx="1968907" cy="142875"/>
          </a:xfrm>
          <a:prstGeom prst="rect">
            <a:avLst/>
          </a:prstGeom>
          <a:noFill/>
          <a:ln/>
        </p:spPr>
        <p:txBody>
          <a:bodyPr wrap="square" lIns="0" tIns="0" rIns="0" bIns="0" rtlCol="0" anchor="t"/>
          <a:lstStyle/>
          <a:p>
            <a:pPr algn="l" indent="0" marL="0">
              <a:spcAft>
                <a:spcPts val="400"/>
              </a:spcAft>
              <a:buNone/>
            </a:pPr>
            <a:r>
              <a:rPr lang="en-US" sz="1000" b="1" dirty="0">
                <a:solidFill>
                  <a:srgbClr val="023520"/>
                </a:solidFill>
                <a:latin typeface="Arial" pitchFamily="34" charset="0"/>
                <a:ea typeface="Arial" pitchFamily="34" charset="-122"/>
                <a:cs typeface="Arial" pitchFamily="34" charset="-120"/>
              </a:rPr>
              <a:t>Base Oil Index</a:t>
            </a:r>
            <a:endParaRPr lang="en-US" sz="1000" dirty="0"/>
          </a:p>
        </p:txBody>
      </p:sp>
      <p:sp>
        <p:nvSpPr>
          <p:cNvPr id="45" name="Text 43"/>
          <p:cNvSpPr/>
          <p:nvPr/>
        </p:nvSpPr>
        <p:spPr>
          <a:xfrm>
            <a:off x="466576" y="3686621"/>
            <a:ext cx="1968907" cy="264021"/>
          </a:xfrm>
          <a:prstGeom prst="rect">
            <a:avLst/>
          </a:prstGeom>
          <a:noFill/>
          <a:ln/>
        </p:spPr>
        <p:txBody>
          <a:bodyPr wrap="square" lIns="0" tIns="0" rIns="0" bIns="0" rtlCol="0" anchor="t"/>
          <a:lstStyle/>
          <a:p>
            <a:pPr algn="l" indent="0" marL="0">
              <a:lnSpc>
                <a:spcPts val="1040"/>
              </a:lnSpc>
              <a:spcAft>
                <a:spcPts val="400"/>
              </a:spcAft>
              <a:buNone/>
            </a:pPr>
            <a:r>
              <a:rPr lang="en-US" sz="800" dirty="0">
                <a:solidFill>
                  <a:srgbClr val="555555"/>
                </a:solidFill>
                <a:latin typeface="Arial" pitchFamily="34" charset="0"/>
                <a:ea typeface="Arial" pitchFamily="34" charset="-122"/>
                <a:cs typeface="Arial" pitchFamily="34" charset="-120"/>
              </a:rPr>
              <a:t>Raw material cost floor linked to Group II/III base oil</a:t>
            </a:r>
            <a:endParaRPr lang="en-US" sz="800" dirty="0"/>
          </a:p>
        </p:txBody>
      </p:sp>
      <p:sp>
        <p:nvSpPr>
          <p:cNvPr id="46" name="Text 44"/>
          <p:cNvSpPr/>
          <p:nvPr/>
        </p:nvSpPr>
        <p:spPr>
          <a:xfrm>
            <a:off x="466576" y="4001393"/>
            <a:ext cx="1968907" cy="114300"/>
          </a:xfrm>
          <a:prstGeom prst="rect">
            <a:avLst/>
          </a:prstGeom>
          <a:noFill/>
          <a:ln/>
        </p:spPr>
        <p:txBody>
          <a:bodyPr wrap="square" lIns="0" tIns="0" rIns="0" bIns="0" rtlCol="0" anchor="t"/>
          <a:lstStyle/>
          <a:p>
            <a:pPr algn="l" indent="0" marL="0">
              <a:buNone/>
            </a:pPr>
            <a:r>
              <a:rPr lang="en-US" sz="800" b="1" dirty="0">
                <a:solidFill>
                  <a:srgbClr val="00703C"/>
                </a:solidFill>
                <a:latin typeface="Arial" pitchFamily="34" charset="0"/>
                <a:ea typeface="Arial" pitchFamily="34" charset="-122"/>
                <a:cs typeface="Arial" pitchFamily="34" charset="-120"/>
              </a:rPr>
              <a:t>Reference</a:t>
            </a:r>
            <a:endParaRPr lang="en-US" sz="800" dirty="0"/>
          </a:p>
        </p:txBody>
      </p:sp>
      <p:sp>
        <p:nvSpPr>
          <p:cNvPr id="47" name="Text 45"/>
          <p:cNvSpPr/>
          <p:nvPr/>
        </p:nvSpPr>
        <p:spPr>
          <a:xfrm>
            <a:off x="2663428" y="3207246"/>
            <a:ext cx="2257127" cy="1022747"/>
          </a:xfrm>
          <a:prstGeom prst="roundRect">
            <a:avLst>
              <a:gd name="adj" fmla="val 7451"/>
            </a:avLst>
          </a:prstGeom>
          <a:solidFill>
            <a:srgbClr val="FFFFFF"/>
          </a:solidFill>
          <a:ln/>
          <a:effectLst>
            <a:outerShdw sx="100000" sy="100000" kx="0" ky="0" algn="bl" rotWithShape="0" blurRad="50800" dist="17960" dir="2700000">
              <a:srgbClr val="000000">
                <a:alpha val="8000"/>
              </a:srgbClr>
            </a:outerShdw>
          </a:effectLst>
        </p:spPr>
        <p:txBody>
          <a:bodyPr wrap="square" rtlCol="0" anchor="ctr"/>
          <a:lstStyle/>
          <a:p>
            <a:pPr indent="0" marL="0">
              <a:buNone/>
            </a:pPr>
            <a:endParaRPr lang="en-US" dirty="0"/>
          </a:p>
        </p:txBody>
      </p:sp>
      <p:sp>
        <p:nvSpPr>
          <p:cNvPr id="48" name="Shape 46"/>
          <p:cNvSpPr/>
          <p:nvPr/>
        </p:nvSpPr>
        <p:spPr>
          <a:xfrm>
            <a:off x="2687241" y="3207246"/>
            <a:ext cx="0" cy="1022747"/>
          </a:xfrm>
          <a:prstGeom prst="line">
            <a:avLst/>
          </a:prstGeom>
          <a:noFill/>
          <a:ln w="47625">
            <a:solidFill>
              <a:srgbClr val="00703C"/>
            </a:solidFill>
            <a:prstDash val="solid"/>
          </a:ln>
        </p:spPr>
      </p:sp>
      <p:sp>
        <p:nvSpPr>
          <p:cNvPr id="49" name="Text 47"/>
          <p:cNvSpPr/>
          <p:nvPr/>
        </p:nvSpPr>
        <p:spPr>
          <a:xfrm>
            <a:off x="2850654" y="3321546"/>
            <a:ext cx="1968907" cy="133350"/>
          </a:xfrm>
          <a:prstGeom prst="rect">
            <a:avLst/>
          </a:prstGeom>
          <a:noFill/>
          <a:ln/>
        </p:spPr>
        <p:txBody>
          <a:bodyPr wrap="square" lIns="0" tIns="0" rIns="0" bIns="0" rtlCol="0" anchor="t"/>
          <a:lstStyle/>
          <a:p>
            <a:pPr algn="l" indent="0" marL="0">
              <a:spcAft>
                <a:spcPts val="300"/>
              </a:spcAft>
              <a:buNone/>
            </a:pPr>
            <a:r>
              <a:rPr lang="en-US" sz="900" b="1" dirty="0">
                <a:solidFill>
                  <a:srgbClr val="C8960C"/>
                </a:solidFill>
                <a:latin typeface="Arial" pitchFamily="34" charset="0"/>
                <a:ea typeface="Arial" pitchFamily="34" charset="-122"/>
                <a:cs typeface="Arial" pitchFamily="34" charset="-120"/>
              </a:rPr>
              <a:t>F8</a:t>
            </a:r>
            <a:endParaRPr lang="en-US" sz="900" dirty="0"/>
          </a:p>
        </p:txBody>
      </p:sp>
      <p:sp>
        <p:nvSpPr>
          <p:cNvPr id="50" name="Text 48"/>
          <p:cNvSpPr/>
          <p:nvPr/>
        </p:nvSpPr>
        <p:spPr>
          <a:xfrm>
            <a:off x="2850654" y="3492996"/>
            <a:ext cx="1968907" cy="142875"/>
          </a:xfrm>
          <a:prstGeom prst="rect">
            <a:avLst/>
          </a:prstGeom>
          <a:noFill/>
          <a:ln/>
        </p:spPr>
        <p:txBody>
          <a:bodyPr wrap="square" lIns="0" tIns="0" rIns="0" bIns="0" rtlCol="0" anchor="t"/>
          <a:lstStyle/>
          <a:p>
            <a:pPr algn="l" indent="0" marL="0">
              <a:spcAft>
                <a:spcPts val="400"/>
              </a:spcAft>
              <a:buNone/>
            </a:pPr>
            <a:r>
              <a:rPr lang="en-US" sz="1000" b="1" dirty="0">
                <a:solidFill>
                  <a:srgbClr val="023520"/>
                </a:solidFill>
                <a:latin typeface="Arial" pitchFamily="34" charset="0"/>
                <a:ea typeface="Arial" pitchFamily="34" charset="-122"/>
                <a:cs typeface="Arial" pitchFamily="34" charset="-120"/>
              </a:rPr>
              <a:t>Channel Pricing</a:t>
            </a:r>
            <a:endParaRPr lang="en-US" sz="1000" dirty="0"/>
          </a:p>
        </p:txBody>
      </p:sp>
      <p:sp>
        <p:nvSpPr>
          <p:cNvPr id="51" name="Text 49"/>
          <p:cNvSpPr/>
          <p:nvPr/>
        </p:nvSpPr>
        <p:spPr>
          <a:xfrm>
            <a:off x="2850654" y="3686621"/>
            <a:ext cx="1968907" cy="264021"/>
          </a:xfrm>
          <a:prstGeom prst="rect">
            <a:avLst/>
          </a:prstGeom>
          <a:noFill/>
          <a:ln/>
        </p:spPr>
        <p:txBody>
          <a:bodyPr wrap="square" lIns="0" tIns="0" rIns="0" bIns="0" rtlCol="0" anchor="t"/>
          <a:lstStyle/>
          <a:p>
            <a:pPr algn="l" indent="0" marL="0">
              <a:lnSpc>
                <a:spcPts val="1040"/>
              </a:lnSpc>
              <a:spcAft>
                <a:spcPts val="400"/>
              </a:spcAft>
              <a:buNone/>
            </a:pPr>
            <a:r>
              <a:rPr lang="en-US" sz="800" dirty="0">
                <a:solidFill>
                  <a:srgbClr val="555555"/>
                </a:solidFill>
                <a:latin typeface="Arial" pitchFamily="34" charset="0"/>
                <a:ea typeface="Arial" pitchFamily="34" charset="-122"/>
                <a:cs typeface="Arial" pitchFamily="34" charset="-120"/>
              </a:rPr>
              <a:t>Pump / Workshop / Distributor / Fleet price waterfall</a:t>
            </a:r>
            <a:endParaRPr lang="en-US" sz="800" dirty="0"/>
          </a:p>
        </p:txBody>
      </p:sp>
      <p:sp>
        <p:nvSpPr>
          <p:cNvPr id="52" name="Text 50"/>
          <p:cNvSpPr/>
          <p:nvPr/>
        </p:nvSpPr>
        <p:spPr>
          <a:xfrm>
            <a:off x="2850654" y="4001393"/>
            <a:ext cx="1968907" cy="114300"/>
          </a:xfrm>
          <a:prstGeom prst="rect">
            <a:avLst/>
          </a:prstGeom>
          <a:noFill/>
          <a:ln/>
        </p:spPr>
        <p:txBody>
          <a:bodyPr wrap="square" lIns="0" tIns="0" rIns="0" bIns="0" rtlCol="0" anchor="t"/>
          <a:lstStyle/>
          <a:p>
            <a:pPr algn="l" indent="0" marL="0">
              <a:buNone/>
            </a:pPr>
            <a:r>
              <a:rPr lang="en-US" sz="800" b="1" dirty="0">
                <a:solidFill>
                  <a:srgbClr val="00703C"/>
                </a:solidFill>
                <a:latin typeface="Arial" pitchFamily="34" charset="0"/>
                <a:ea typeface="Arial" pitchFamily="34" charset="-122"/>
                <a:cs typeface="Arial" pitchFamily="34" charset="-120"/>
              </a:rPr>
              <a:t>Reference</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36525"/>
          </a:xfrm>
          <a:prstGeom prst="rect">
            <a:avLst/>
          </a:prstGeom>
          <a:solidFill>
            <a:srgbClr val="00703C"/>
          </a:solidFill>
          <a:ln/>
        </p:spPr>
        <p:txBody>
          <a:bodyPr wrap="square" rtlCol="0" anchor="ctr"/>
          <a:lstStyle/>
          <a:p>
            <a:pPr indent="0" marL="0">
              <a:buNone/>
            </a:pPr>
            <a:endParaRPr lang="en-US" dirty="0"/>
          </a:p>
        </p:txBody>
      </p:sp>
      <p:sp>
        <p:nvSpPr>
          <p:cNvPr id="3" name="Text 1"/>
          <p:cNvSpPr/>
          <p:nvPr/>
        </p:nvSpPr>
        <p:spPr>
          <a:xfrm>
            <a:off x="355550" y="152400"/>
            <a:ext cx="3347901" cy="257175"/>
          </a:xfrm>
          <a:prstGeom prst="rect">
            <a:avLst/>
          </a:prstGeom>
          <a:noFill/>
          <a:ln/>
        </p:spPr>
        <p:txBody>
          <a:bodyPr wrap="square" lIns="0" tIns="0" rIns="0" bIns="0" rtlCol="0" anchor="t"/>
          <a:lstStyle/>
          <a:p>
            <a:pPr algn="l" indent="0" marL="0">
              <a:buNone/>
            </a:pPr>
            <a:r>
              <a:rPr lang="en-US" sz="1700" b="1" dirty="0">
                <a:solidFill>
                  <a:srgbClr val="FFFFFF"/>
                </a:solidFill>
                <a:latin typeface="Arial" pitchFamily="34" charset="0"/>
                <a:ea typeface="Arial" pitchFamily="34" charset="-122"/>
                <a:cs typeface="Arial" pitchFamily="34" charset="-120"/>
              </a:rPr>
              <a:t>F1 — Value-Based Tiering (VBT)</a:t>
            </a:r>
            <a:endParaRPr lang="en-US" sz="1700" dirty="0"/>
          </a:p>
        </p:txBody>
      </p:sp>
      <p:sp>
        <p:nvSpPr>
          <p:cNvPr id="4" name="Text 2"/>
          <p:cNvSpPr/>
          <p:nvPr/>
        </p:nvSpPr>
        <p:spPr>
          <a:xfrm>
            <a:off x="7842349" y="176213"/>
            <a:ext cx="946100" cy="209550"/>
          </a:xfrm>
          <a:prstGeom prst="roundRect">
            <a:avLst>
              <a:gd name="adj" fmla="val 18182"/>
            </a:avLst>
          </a:prstGeom>
          <a:solidFill>
            <a:srgbClr val="C8960C"/>
          </a:solidFill>
          <a:ln/>
        </p:spPr>
        <p:txBody>
          <a:bodyPr wrap="square" rtlCol="0" anchor="ctr"/>
          <a:lstStyle/>
          <a:p>
            <a:pPr indent="0" marL="0">
              <a:buNone/>
            </a:pPr>
            <a:endParaRPr lang="en-US" dirty="0"/>
          </a:p>
        </p:txBody>
      </p:sp>
      <p:sp>
        <p:nvSpPr>
          <p:cNvPr id="5" name="Text 3"/>
          <p:cNvSpPr/>
          <p:nvPr/>
        </p:nvSpPr>
        <p:spPr>
          <a:xfrm>
            <a:off x="7943850" y="214313"/>
            <a:ext cx="757961" cy="133350"/>
          </a:xfrm>
          <a:prstGeom prst="rect">
            <a:avLst/>
          </a:prstGeom>
          <a:noFill/>
          <a:ln/>
        </p:spPr>
        <p:txBody>
          <a:bodyPr wrap="square" lIns="0" tIns="0" rIns="0" bIns="0" rtlCol="0" anchor="t"/>
          <a:lstStyle/>
          <a:p>
            <a:pPr algn="l" indent="0" marL="0">
              <a:buNone/>
            </a:pPr>
            <a:r>
              <a:rPr lang="en-US" sz="900" b="1" dirty="0">
                <a:solidFill>
                  <a:srgbClr val="FFFFFF"/>
                </a:solidFill>
                <a:latin typeface="Arial" pitchFamily="34" charset="0"/>
                <a:ea typeface="Arial" pitchFamily="34" charset="-122"/>
                <a:cs typeface="Arial" pitchFamily="34" charset="-120"/>
              </a:rPr>
              <a:t>WEIGHT: 30%</a:t>
            </a:r>
            <a:endParaRPr lang="en-US" sz="900" dirty="0"/>
          </a:p>
        </p:txBody>
      </p:sp>
      <p:sp>
        <p:nvSpPr>
          <p:cNvPr id="6" name="Text 4"/>
          <p:cNvSpPr/>
          <p:nvPr/>
        </p:nvSpPr>
        <p:spPr>
          <a:xfrm>
            <a:off x="304800" y="739676"/>
            <a:ext cx="5337149" cy="114300"/>
          </a:xfrm>
          <a:prstGeom prst="rect">
            <a:avLst/>
          </a:prstGeom>
          <a:noFill/>
          <a:ln/>
        </p:spPr>
        <p:txBody>
          <a:bodyPr wrap="square" lIns="0" tIns="0" rIns="0" bIns="0" rtlCol="0" anchor="t"/>
          <a:lstStyle/>
          <a:p>
            <a:pPr algn="l" indent="0" marL="0">
              <a:spcAft>
                <a:spcPts val="1000"/>
              </a:spcAft>
              <a:buNone/>
            </a:pPr>
            <a:r>
              <a:rPr lang="en-US" sz="800" b="1" dirty="0">
                <a:solidFill>
                  <a:srgbClr val="C8960C"/>
                </a:solidFill>
                <a:latin typeface="Arial" pitchFamily="34" charset="0"/>
                <a:ea typeface="Arial" pitchFamily="34" charset="-122"/>
                <a:cs typeface="Arial" pitchFamily="34" charset="-120"/>
              </a:rPr>
              <a:t>TIER DISCOUNT APPLIED vs SHELL BENCHMARK</a:t>
            </a:r>
            <a:endParaRPr lang="en-US" sz="800" dirty="0"/>
          </a:p>
        </p:txBody>
      </p:sp>
      <p:sp>
        <p:nvSpPr>
          <p:cNvPr id="7" name="Text 5"/>
          <p:cNvSpPr/>
          <p:nvPr/>
        </p:nvSpPr>
        <p:spPr>
          <a:xfrm>
            <a:off x="304800" y="980926"/>
            <a:ext cx="5232499" cy="599777"/>
          </a:xfrm>
          <a:prstGeom prst="roundRect">
            <a:avLst>
              <a:gd name="adj" fmla="val 10587"/>
            </a:avLst>
          </a:prstGeom>
          <a:solidFill>
            <a:srgbClr val="023520"/>
          </a:solidFill>
          <a:ln/>
        </p:spPr>
        <p:txBody>
          <a:bodyPr wrap="square" rtlCol="0" anchor="ctr"/>
          <a:lstStyle/>
          <a:p>
            <a:pPr indent="0" marL="0">
              <a:buNone/>
            </a:pPr>
            <a:endParaRPr lang="en-US" dirty="0"/>
          </a:p>
        </p:txBody>
      </p:sp>
      <p:sp>
        <p:nvSpPr>
          <p:cNvPr id="8" name="Text 6"/>
          <p:cNvSpPr/>
          <p:nvPr/>
        </p:nvSpPr>
        <p:spPr>
          <a:xfrm>
            <a:off x="457200" y="1209377"/>
            <a:ext cx="4789590" cy="142875"/>
          </a:xfrm>
          <a:prstGeom prst="rect">
            <a:avLst/>
          </a:prstGeom>
          <a:noFill/>
          <a:ln/>
        </p:spPr>
        <p:txBody>
          <a:bodyPr wrap="square" lIns="0" tIns="0" rIns="0" bIns="0" rtlCol="0" anchor="t"/>
          <a:lstStyle/>
          <a:p>
            <a:pPr algn="l" indent="0" marL="0">
              <a:spcBef>
                <a:spcPts val="1000"/>
              </a:spcBef>
              <a:spcAft>
                <a:spcPts val="1000"/>
              </a:spcAft>
              <a:buNone/>
            </a:pPr>
            <a:r>
              <a:rPr lang="en-US" sz="1000" b="1" dirty="0">
                <a:solidFill>
                  <a:srgbClr val="FFFFFF"/>
                </a:solidFill>
                <a:latin typeface="Arial" pitchFamily="34" charset="0"/>
                <a:ea typeface="Arial" pitchFamily="34" charset="-122"/>
                <a:cs typeface="Arial" pitchFamily="34" charset="-120"/>
              </a:rPr>
              <a:t>Super Premium (Carient Ultra, DEO Max, DEO 8000)</a:t>
            </a:r>
            <a:endParaRPr lang="en-US" sz="1000" dirty="0"/>
          </a:p>
        </p:txBody>
      </p:sp>
      <p:sp>
        <p:nvSpPr>
          <p:cNvPr id="9" name="Text 7"/>
          <p:cNvSpPr/>
          <p:nvPr/>
        </p:nvSpPr>
        <p:spPr>
          <a:xfrm>
            <a:off x="5152876" y="1214140"/>
            <a:ext cx="236664" cy="133350"/>
          </a:xfrm>
          <a:prstGeom prst="rect">
            <a:avLst/>
          </a:prstGeom>
          <a:noFill/>
          <a:ln/>
        </p:spPr>
        <p:txBody>
          <a:bodyPr wrap="square" lIns="0" tIns="0" rIns="0" bIns="0" rtlCol="0" anchor="t"/>
          <a:lstStyle/>
          <a:p>
            <a:pPr algn="l" indent="0" marL="0">
              <a:spcBef>
                <a:spcPts val="900"/>
              </a:spcBef>
              <a:spcAft>
                <a:spcPts val="900"/>
              </a:spcAft>
              <a:buNone/>
            </a:pPr>
            <a:r>
              <a:rPr lang="en-US" sz="900" b="1" dirty="0">
                <a:solidFill>
                  <a:srgbClr val="C8960C"/>
                </a:solidFill>
                <a:latin typeface="Arial" pitchFamily="34" charset="0"/>
                <a:ea typeface="Arial" pitchFamily="34" charset="-122"/>
                <a:cs typeface="Arial" pitchFamily="34" charset="-120"/>
              </a:rPr>
              <a:t>−8%</a:t>
            </a:r>
            <a:endParaRPr lang="en-US" sz="900" dirty="0"/>
          </a:p>
        </p:txBody>
      </p:sp>
      <p:sp>
        <p:nvSpPr>
          <p:cNvPr id="10" name="Text 8"/>
          <p:cNvSpPr/>
          <p:nvPr/>
        </p:nvSpPr>
        <p:spPr>
          <a:xfrm>
            <a:off x="304800" y="1707654"/>
            <a:ext cx="5232499" cy="599777"/>
          </a:xfrm>
          <a:prstGeom prst="roundRect">
            <a:avLst>
              <a:gd name="adj" fmla="val 10587"/>
            </a:avLst>
          </a:prstGeom>
          <a:solidFill>
            <a:srgbClr val="00703C"/>
          </a:solidFill>
          <a:ln/>
        </p:spPr>
        <p:txBody>
          <a:bodyPr wrap="square" rtlCol="0" anchor="ctr"/>
          <a:lstStyle/>
          <a:p>
            <a:pPr indent="0" marL="0">
              <a:buNone/>
            </a:pPr>
            <a:endParaRPr lang="en-US" dirty="0"/>
          </a:p>
        </p:txBody>
      </p:sp>
      <p:sp>
        <p:nvSpPr>
          <p:cNvPr id="11" name="Text 9"/>
          <p:cNvSpPr/>
          <p:nvPr/>
        </p:nvSpPr>
        <p:spPr>
          <a:xfrm>
            <a:off x="457200" y="1936105"/>
            <a:ext cx="4789590" cy="142875"/>
          </a:xfrm>
          <a:prstGeom prst="rect">
            <a:avLst/>
          </a:prstGeom>
          <a:noFill/>
          <a:ln/>
        </p:spPr>
        <p:txBody>
          <a:bodyPr wrap="square" lIns="0" tIns="0" rIns="0" bIns="0" rtlCol="0" anchor="t"/>
          <a:lstStyle/>
          <a:p>
            <a:pPr algn="l" indent="0" marL="0">
              <a:spcBef>
                <a:spcPts val="1000"/>
              </a:spcBef>
              <a:spcAft>
                <a:spcPts val="1000"/>
              </a:spcAft>
              <a:buNone/>
            </a:pPr>
            <a:r>
              <a:rPr lang="en-US" sz="1000" b="1" dirty="0">
                <a:solidFill>
                  <a:srgbClr val="FFFFFF"/>
                </a:solidFill>
                <a:latin typeface="Arial" pitchFamily="34" charset="0"/>
                <a:ea typeface="Arial" pitchFamily="34" charset="-122"/>
                <a:cs typeface="Arial" pitchFamily="34" charset="-120"/>
              </a:rPr>
              <a:t>Premium (Carient FS, DEO 6000, Blaze Xtreme)</a:t>
            </a:r>
            <a:endParaRPr lang="en-US" sz="1000" dirty="0"/>
          </a:p>
        </p:txBody>
      </p:sp>
      <p:sp>
        <p:nvSpPr>
          <p:cNvPr id="12" name="Text 10"/>
          <p:cNvSpPr/>
          <p:nvPr/>
        </p:nvSpPr>
        <p:spPr>
          <a:xfrm>
            <a:off x="5152876" y="1940868"/>
            <a:ext cx="236664" cy="133350"/>
          </a:xfrm>
          <a:prstGeom prst="rect">
            <a:avLst/>
          </a:prstGeom>
          <a:noFill/>
          <a:ln/>
        </p:spPr>
        <p:txBody>
          <a:bodyPr wrap="square" lIns="0" tIns="0" rIns="0" bIns="0" rtlCol="0" anchor="t"/>
          <a:lstStyle/>
          <a:p>
            <a:pPr algn="l" indent="0" marL="0">
              <a:spcBef>
                <a:spcPts val="900"/>
              </a:spcBef>
              <a:spcAft>
                <a:spcPts val="900"/>
              </a:spcAft>
              <a:buNone/>
            </a:pPr>
            <a:r>
              <a:rPr lang="en-US" sz="900" b="1" dirty="0">
                <a:solidFill>
                  <a:srgbClr val="C8960C"/>
                </a:solidFill>
                <a:latin typeface="Arial" pitchFamily="34" charset="0"/>
                <a:ea typeface="Arial" pitchFamily="34" charset="-122"/>
                <a:cs typeface="Arial" pitchFamily="34" charset="-120"/>
              </a:rPr>
              <a:t>−6%</a:t>
            </a:r>
            <a:endParaRPr lang="en-US" sz="900" dirty="0"/>
          </a:p>
        </p:txBody>
      </p:sp>
      <p:sp>
        <p:nvSpPr>
          <p:cNvPr id="13" name="Text 11"/>
          <p:cNvSpPr/>
          <p:nvPr/>
        </p:nvSpPr>
        <p:spPr>
          <a:xfrm>
            <a:off x="304800" y="2434382"/>
            <a:ext cx="5232499" cy="618827"/>
          </a:xfrm>
          <a:prstGeom prst="roundRect">
            <a:avLst>
              <a:gd name="adj" fmla="val 10261"/>
            </a:avLst>
          </a:prstGeom>
          <a:solidFill>
            <a:srgbClr val="E8F5EE"/>
          </a:solidFill>
          <a:ln w="9525">
            <a:solidFill>
              <a:srgbClr val="00703C"/>
            </a:solidFill>
          </a:ln>
        </p:spPr>
        <p:txBody>
          <a:bodyPr wrap="square" rtlCol="0" anchor="ctr"/>
          <a:lstStyle/>
          <a:p>
            <a:pPr indent="0" marL="0">
              <a:buNone/>
            </a:pPr>
            <a:endParaRPr lang="en-US" dirty="0"/>
          </a:p>
        </p:txBody>
      </p:sp>
      <p:sp>
        <p:nvSpPr>
          <p:cNvPr id="14" name="Text 12"/>
          <p:cNvSpPr/>
          <p:nvPr/>
        </p:nvSpPr>
        <p:spPr>
          <a:xfrm>
            <a:off x="466725" y="2672358"/>
            <a:ext cx="4770159" cy="142875"/>
          </a:xfrm>
          <a:prstGeom prst="rect">
            <a:avLst/>
          </a:prstGeom>
          <a:noFill/>
          <a:ln/>
        </p:spPr>
        <p:txBody>
          <a:bodyPr wrap="square" lIns="0" tIns="0" rIns="0" bIns="0" rtlCol="0" anchor="t"/>
          <a:lstStyle/>
          <a:p>
            <a:pPr algn="l" indent="0" marL="0">
              <a:spcBef>
                <a:spcPts val="1000"/>
              </a:spcBef>
              <a:spcAft>
                <a:spcPts val="1000"/>
              </a:spcAft>
              <a:buNone/>
            </a:pPr>
            <a:r>
              <a:rPr lang="en-US" sz="1000" b="1" dirty="0">
                <a:solidFill>
                  <a:srgbClr val="023520"/>
                </a:solidFill>
                <a:latin typeface="Arial" pitchFamily="34" charset="0"/>
                <a:ea typeface="Arial" pitchFamily="34" charset="-122"/>
                <a:cs typeface="Arial" pitchFamily="34" charset="-120"/>
              </a:rPr>
              <a:t>Mainstream (Carient Plus, DEO 3000, Blaze 4T)</a:t>
            </a:r>
            <a:endParaRPr lang="en-US" sz="1000" dirty="0"/>
          </a:p>
        </p:txBody>
      </p:sp>
      <p:sp>
        <p:nvSpPr>
          <p:cNvPr id="15" name="Text 13"/>
          <p:cNvSpPr/>
          <p:nvPr/>
        </p:nvSpPr>
        <p:spPr>
          <a:xfrm>
            <a:off x="5143351" y="2677120"/>
            <a:ext cx="236664" cy="133350"/>
          </a:xfrm>
          <a:prstGeom prst="rect">
            <a:avLst/>
          </a:prstGeom>
          <a:noFill/>
          <a:ln/>
        </p:spPr>
        <p:txBody>
          <a:bodyPr wrap="square" lIns="0" tIns="0" rIns="0" bIns="0" rtlCol="0" anchor="t"/>
          <a:lstStyle/>
          <a:p>
            <a:pPr algn="l" indent="0" marL="0">
              <a:spcBef>
                <a:spcPts val="900"/>
              </a:spcBef>
              <a:spcAft>
                <a:spcPts val="900"/>
              </a:spcAft>
              <a:buNone/>
            </a:pPr>
            <a:r>
              <a:rPr lang="en-US" sz="900" b="1" dirty="0">
                <a:solidFill>
                  <a:srgbClr val="00703C"/>
                </a:solidFill>
                <a:latin typeface="Arial" pitchFamily="34" charset="0"/>
                <a:ea typeface="Arial" pitchFamily="34" charset="-122"/>
                <a:cs typeface="Arial" pitchFamily="34" charset="-120"/>
              </a:rPr>
              <a:t>−4%</a:t>
            </a:r>
            <a:endParaRPr lang="en-US" sz="900" dirty="0"/>
          </a:p>
        </p:txBody>
      </p:sp>
      <p:sp>
        <p:nvSpPr>
          <p:cNvPr id="16" name="Text 14"/>
          <p:cNvSpPr/>
          <p:nvPr/>
        </p:nvSpPr>
        <p:spPr>
          <a:xfrm>
            <a:off x="304800" y="3180159"/>
            <a:ext cx="5232499" cy="618827"/>
          </a:xfrm>
          <a:prstGeom prst="roundRect">
            <a:avLst>
              <a:gd name="adj" fmla="val 10261"/>
            </a:avLst>
          </a:prstGeom>
          <a:solidFill>
            <a:srgbClr val="F5F5F5"/>
          </a:solidFill>
          <a:ln w="9525">
            <a:solidFill>
              <a:srgbClr val="AAAAAA"/>
            </a:solidFill>
          </a:ln>
        </p:spPr>
        <p:txBody>
          <a:bodyPr wrap="square" rtlCol="0" anchor="ctr"/>
          <a:lstStyle/>
          <a:p>
            <a:pPr indent="0" marL="0">
              <a:buNone/>
            </a:pPr>
            <a:endParaRPr lang="en-US" dirty="0"/>
          </a:p>
        </p:txBody>
      </p:sp>
      <p:sp>
        <p:nvSpPr>
          <p:cNvPr id="17" name="Text 15"/>
          <p:cNvSpPr/>
          <p:nvPr/>
        </p:nvSpPr>
        <p:spPr>
          <a:xfrm>
            <a:off x="466725" y="3418136"/>
            <a:ext cx="4770159" cy="142875"/>
          </a:xfrm>
          <a:prstGeom prst="rect">
            <a:avLst/>
          </a:prstGeom>
          <a:noFill/>
          <a:ln/>
        </p:spPr>
        <p:txBody>
          <a:bodyPr wrap="square" lIns="0" tIns="0" rIns="0" bIns="0" rtlCol="0" anchor="t"/>
          <a:lstStyle/>
          <a:p>
            <a:pPr algn="l" indent="0" marL="0">
              <a:spcBef>
                <a:spcPts val="1000"/>
              </a:spcBef>
              <a:spcAft>
                <a:spcPts val="1000"/>
              </a:spcAft>
              <a:buNone/>
            </a:pPr>
            <a:r>
              <a:rPr lang="en-US" sz="1000" b="1" dirty="0">
                <a:solidFill>
                  <a:srgbClr val="023520"/>
                </a:solidFill>
                <a:latin typeface="Arial" pitchFamily="34" charset="0"/>
                <a:ea typeface="Arial" pitchFamily="34" charset="-122"/>
                <a:cs typeface="Arial" pitchFamily="34" charset="-120"/>
              </a:rPr>
              <a:t>Economy (Carient SPRO, Dieselube)</a:t>
            </a:r>
            <a:endParaRPr lang="en-US" sz="1000" dirty="0"/>
          </a:p>
        </p:txBody>
      </p:sp>
      <p:sp>
        <p:nvSpPr>
          <p:cNvPr id="18" name="Text 16"/>
          <p:cNvSpPr/>
          <p:nvPr/>
        </p:nvSpPr>
        <p:spPr>
          <a:xfrm>
            <a:off x="5143351" y="3422898"/>
            <a:ext cx="236664" cy="133350"/>
          </a:xfrm>
          <a:prstGeom prst="rect">
            <a:avLst/>
          </a:prstGeom>
          <a:noFill/>
          <a:ln/>
        </p:spPr>
        <p:txBody>
          <a:bodyPr wrap="square" lIns="0" tIns="0" rIns="0" bIns="0" rtlCol="0" anchor="t"/>
          <a:lstStyle/>
          <a:p>
            <a:pPr algn="l" indent="0" marL="0">
              <a:spcBef>
                <a:spcPts val="900"/>
              </a:spcBef>
              <a:spcAft>
                <a:spcPts val="900"/>
              </a:spcAft>
              <a:buNone/>
            </a:pPr>
            <a:r>
              <a:rPr lang="en-US" sz="900" b="1" dirty="0">
                <a:solidFill>
                  <a:srgbClr val="00703C"/>
                </a:solidFill>
                <a:latin typeface="Arial" pitchFamily="34" charset="0"/>
                <a:ea typeface="Arial" pitchFamily="34" charset="-122"/>
                <a:cs typeface="Arial" pitchFamily="34" charset="-120"/>
              </a:rPr>
              <a:t>−2%</a:t>
            </a:r>
            <a:endParaRPr lang="en-US" sz="900" dirty="0"/>
          </a:p>
        </p:txBody>
      </p:sp>
      <p:sp>
        <p:nvSpPr>
          <p:cNvPr id="19" name="Text 17"/>
          <p:cNvSpPr/>
          <p:nvPr/>
        </p:nvSpPr>
        <p:spPr>
          <a:xfrm>
            <a:off x="5791200" y="739676"/>
            <a:ext cx="3108960" cy="114300"/>
          </a:xfrm>
          <a:prstGeom prst="rect">
            <a:avLst/>
          </a:prstGeom>
          <a:noFill/>
          <a:ln/>
        </p:spPr>
        <p:txBody>
          <a:bodyPr wrap="square" lIns="0" tIns="0" rIns="0" bIns="0" rtlCol="0" anchor="t"/>
          <a:lstStyle/>
          <a:p>
            <a:pPr algn="l" indent="0" marL="0">
              <a:spcAft>
                <a:spcPts val="1000"/>
              </a:spcAft>
              <a:buNone/>
            </a:pPr>
            <a:r>
              <a:rPr lang="en-US" sz="800" b="1" dirty="0">
                <a:solidFill>
                  <a:srgbClr val="C8960C"/>
                </a:solidFill>
                <a:latin typeface="Arial" pitchFamily="34" charset="0"/>
                <a:ea typeface="Arial" pitchFamily="34" charset="-122"/>
                <a:cs typeface="Arial" pitchFamily="34" charset="-120"/>
              </a:rPr>
              <a:t>KEY INSIGHT</a:t>
            </a:r>
            <a:endParaRPr lang="en-US" sz="800" dirty="0"/>
          </a:p>
        </p:txBody>
      </p:sp>
      <p:sp>
        <p:nvSpPr>
          <p:cNvPr id="20" name="Text 18"/>
          <p:cNvSpPr/>
          <p:nvPr/>
        </p:nvSpPr>
        <p:spPr>
          <a:xfrm>
            <a:off x="5791200" y="980926"/>
            <a:ext cx="3048000" cy="1720602"/>
          </a:xfrm>
          <a:prstGeom prst="roundRect">
            <a:avLst>
              <a:gd name="adj" fmla="val 4429"/>
            </a:avLst>
          </a:prstGeom>
          <a:solidFill>
            <a:srgbClr val="023520"/>
          </a:solidFill>
          <a:ln/>
        </p:spPr>
        <p:txBody>
          <a:bodyPr wrap="square" rtlCol="0" anchor="ctr"/>
          <a:lstStyle/>
          <a:p>
            <a:pPr indent="0" marL="0">
              <a:buNone/>
            </a:pPr>
            <a:endParaRPr lang="en-US" dirty="0"/>
          </a:p>
        </p:txBody>
      </p:sp>
      <p:sp>
        <p:nvSpPr>
          <p:cNvPr id="21" name="Text 19"/>
          <p:cNvSpPr/>
          <p:nvPr/>
        </p:nvSpPr>
        <p:spPr>
          <a:xfrm>
            <a:off x="5968901" y="1158627"/>
            <a:ext cx="2746450" cy="114300"/>
          </a:xfrm>
          <a:prstGeom prst="rect">
            <a:avLst/>
          </a:prstGeom>
          <a:noFill/>
          <a:ln/>
        </p:spPr>
        <p:txBody>
          <a:bodyPr wrap="square" lIns="0" tIns="0" rIns="0" bIns="0" rtlCol="0" anchor="t"/>
          <a:lstStyle/>
          <a:p>
            <a:pPr algn="l" indent="0" marL="0">
              <a:spcAft>
                <a:spcPts val="600"/>
              </a:spcAft>
              <a:buNone/>
            </a:pPr>
            <a:r>
              <a:rPr lang="en-US" sz="800" b="1" dirty="0">
                <a:solidFill>
                  <a:srgbClr val="C8960C"/>
                </a:solidFill>
                <a:latin typeface="Arial" pitchFamily="34" charset="0"/>
                <a:ea typeface="Arial" pitchFamily="34" charset="-122"/>
                <a:cs typeface="Arial" pitchFamily="34" charset="-120"/>
              </a:rPr>
              <a:t>WHY THIS MATTERS</a:t>
            </a:r>
            <a:endParaRPr lang="en-US" sz="800" dirty="0"/>
          </a:p>
        </p:txBody>
      </p:sp>
      <p:sp>
        <p:nvSpPr>
          <p:cNvPr id="22" name="Text 20"/>
          <p:cNvSpPr/>
          <p:nvPr/>
        </p:nvSpPr>
        <p:spPr>
          <a:xfrm>
            <a:off x="5968901" y="1349127"/>
            <a:ext cx="2746450" cy="844600"/>
          </a:xfrm>
          <a:prstGeom prst="rect">
            <a:avLst/>
          </a:prstGeom>
          <a:noFill/>
          <a:ln/>
        </p:spPr>
        <p:txBody>
          <a:bodyPr wrap="square" lIns="0" tIns="0" rIns="0" bIns="0" rtlCol="0" anchor="t"/>
          <a:lstStyle/>
          <a:p>
            <a:pPr algn="l" indent="0" marL="0">
              <a:lnSpc>
                <a:spcPts val="1330"/>
              </a:lnSpc>
              <a:spcAft>
                <a:spcPts val="800"/>
              </a:spcAft>
              <a:buNone/>
            </a:pPr>
            <a:r>
              <a:rPr lang="en-US" sz="950" dirty="0">
                <a:solidFill>
                  <a:srgbClr val="FFFFFF"/>
                </a:solidFill>
                <a:latin typeface="Arial" pitchFamily="34" charset="0"/>
                <a:ea typeface="Arial" pitchFamily="34" charset="-122"/>
                <a:cs typeface="Arial" pitchFamily="34" charset="-120"/>
              </a:rPr>
              <a:t>PSO has a measurable brand perception gap vs Shell. VBT anchors PSO's recommended price at a consistent discount to Shell's equivalent grade — preserving value perception while staying competitive.</a:t>
            </a:r>
            <a:endParaRPr lang="en-US" sz="950" dirty="0"/>
          </a:p>
        </p:txBody>
      </p:sp>
      <p:sp>
        <p:nvSpPr>
          <p:cNvPr id="23" name="Text 21"/>
          <p:cNvSpPr/>
          <p:nvPr/>
        </p:nvSpPr>
        <p:spPr>
          <a:xfrm>
            <a:off x="5968901" y="2295227"/>
            <a:ext cx="2746450" cy="228600"/>
          </a:xfrm>
          <a:prstGeom prst="rect">
            <a:avLst/>
          </a:prstGeom>
          <a:noFill/>
          <a:ln/>
        </p:spPr>
        <p:txBody>
          <a:bodyPr wrap="square" lIns="0" tIns="0" rIns="0" bIns="0" rtlCol="0" anchor="t"/>
          <a:lstStyle/>
          <a:p>
            <a:pPr algn="l" indent="0" marL="0">
              <a:buNone/>
            </a:pPr>
            <a:r>
              <a:rPr lang="en-US" sz="800" dirty="0">
                <a:solidFill>
                  <a:srgbClr val="A8D5BE"/>
                </a:solidFill>
                <a:latin typeface="Arial" pitchFamily="34" charset="0"/>
                <a:ea typeface="Arial" pitchFamily="34" charset="-122"/>
                <a:cs typeface="Arial" pitchFamily="34" charset="-120"/>
              </a:rPr>
              <a:t>Discounts calibrated from consumer research benchmarks and Daraz.pk listing data (n=365 SKUs).</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36525"/>
          </a:xfrm>
          <a:prstGeom prst="rect">
            <a:avLst/>
          </a:prstGeom>
          <a:solidFill>
            <a:srgbClr val="00703C"/>
          </a:solidFill>
          <a:ln/>
        </p:spPr>
        <p:txBody>
          <a:bodyPr wrap="square" rtlCol="0" anchor="ctr"/>
          <a:lstStyle/>
          <a:p>
            <a:pPr indent="0" marL="0">
              <a:buNone/>
            </a:pPr>
            <a:endParaRPr lang="en-US" dirty="0"/>
          </a:p>
        </p:txBody>
      </p:sp>
      <p:sp>
        <p:nvSpPr>
          <p:cNvPr id="3" name="Text 1"/>
          <p:cNvSpPr/>
          <p:nvPr/>
        </p:nvSpPr>
        <p:spPr>
          <a:xfrm>
            <a:off x="355550" y="152400"/>
            <a:ext cx="4257514" cy="257175"/>
          </a:xfrm>
          <a:prstGeom prst="rect">
            <a:avLst/>
          </a:prstGeom>
          <a:noFill/>
          <a:ln/>
        </p:spPr>
        <p:txBody>
          <a:bodyPr wrap="square" lIns="0" tIns="0" rIns="0" bIns="0" rtlCol="0" anchor="t"/>
          <a:lstStyle/>
          <a:p>
            <a:pPr algn="l" indent="0" marL="0">
              <a:buNone/>
            </a:pPr>
            <a:r>
              <a:rPr lang="en-US" sz="1700" b="1" dirty="0">
                <a:solidFill>
                  <a:srgbClr val="FFFFFF"/>
                </a:solidFill>
                <a:latin typeface="Arial" pitchFamily="34" charset="0"/>
                <a:ea typeface="Arial" pitchFamily="34" charset="-122"/>
                <a:cs typeface="Arial" pitchFamily="34" charset="-120"/>
              </a:rPr>
              <a:t>F2 — Competitive Reference Price (CRP)</a:t>
            </a:r>
            <a:endParaRPr lang="en-US" sz="1700" dirty="0"/>
          </a:p>
        </p:txBody>
      </p:sp>
      <p:sp>
        <p:nvSpPr>
          <p:cNvPr id="4" name="Text 2"/>
          <p:cNvSpPr/>
          <p:nvPr/>
        </p:nvSpPr>
        <p:spPr>
          <a:xfrm>
            <a:off x="7842349" y="176213"/>
            <a:ext cx="946100" cy="209550"/>
          </a:xfrm>
          <a:prstGeom prst="roundRect">
            <a:avLst>
              <a:gd name="adj" fmla="val 18182"/>
            </a:avLst>
          </a:prstGeom>
          <a:solidFill>
            <a:srgbClr val="C8960C"/>
          </a:solidFill>
          <a:ln/>
        </p:spPr>
        <p:txBody>
          <a:bodyPr wrap="square" rtlCol="0" anchor="ctr"/>
          <a:lstStyle/>
          <a:p>
            <a:pPr indent="0" marL="0">
              <a:buNone/>
            </a:pPr>
            <a:endParaRPr lang="en-US" dirty="0"/>
          </a:p>
        </p:txBody>
      </p:sp>
      <p:sp>
        <p:nvSpPr>
          <p:cNvPr id="5" name="Text 3"/>
          <p:cNvSpPr/>
          <p:nvPr/>
        </p:nvSpPr>
        <p:spPr>
          <a:xfrm>
            <a:off x="7943850" y="214313"/>
            <a:ext cx="757961" cy="133350"/>
          </a:xfrm>
          <a:prstGeom prst="rect">
            <a:avLst/>
          </a:prstGeom>
          <a:noFill/>
          <a:ln/>
        </p:spPr>
        <p:txBody>
          <a:bodyPr wrap="square" lIns="0" tIns="0" rIns="0" bIns="0" rtlCol="0" anchor="t"/>
          <a:lstStyle/>
          <a:p>
            <a:pPr algn="l" indent="0" marL="0">
              <a:buNone/>
            </a:pPr>
            <a:r>
              <a:rPr lang="en-US" sz="900" b="1" dirty="0">
                <a:solidFill>
                  <a:srgbClr val="FFFFFF"/>
                </a:solidFill>
                <a:latin typeface="Arial" pitchFamily="34" charset="0"/>
                <a:ea typeface="Arial" pitchFamily="34" charset="-122"/>
                <a:cs typeface="Arial" pitchFamily="34" charset="-120"/>
              </a:rPr>
              <a:t>WEIGHT: 30%</a:t>
            </a:r>
            <a:endParaRPr lang="en-US" sz="900" dirty="0"/>
          </a:p>
        </p:txBody>
      </p:sp>
      <p:sp>
        <p:nvSpPr>
          <p:cNvPr id="6" name="Text 4"/>
          <p:cNvSpPr/>
          <p:nvPr/>
        </p:nvSpPr>
        <p:spPr>
          <a:xfrm>
            <a:off x="304800" y="1273522"/>
            <a:ext cx="2720340" cy="114300"/>
          </a:xfrm>
          <a:prstGeom prst="rect">
            <a:avLst/>
          </a:prstGeom>
          <a:noFill/>
          <a:ln/>
        </p:spPr>
        <p:txBody>
          <a:bodyPr wrap="square" lIns="0" tIns="0" rIns="0" bIns="0" rtlCol="0" anchor="t"/>
          <a:lstStyle/>
          <a:p>
            <a:pPr algn="l" indent="0" marL="0">
              <a:spcAft>
                <a:spcPts val="1000"/>
              </a:spcAft>
              <a:buNone/>
            </a:pPr>
            <a:r>
              <a:rPr lang="en-US" sz="800" b="1" dirty="0">
                <a:solidFill>
                  <a:srgbClr val="C8960C"/>
                </a:solidFill>
                <a:latin typeface="Arial" pitchFamily="34" charset="0"/>
                <a:ea typeface="Arial" pitchFamily="34" charset="-122"/>
                <a:cs typeface="Arial" pitchFamily="34" charset="-120"/>
              </a:rPr>
              <a:t>MARKET BENCHMARK</a:t>
            </a:r>
            <a:endParaRPr lang="en-US" sz="800" dirty="0"/>
          </a:p>
        </p:txBody>
      </p:sp>
      <p:sp>
        <p:nvSpPr>
          <p:cNvPr id="7" name="Text 5"/>
          <p:cNvSpPr/>
          <p:nvPr/>
        </p:nvSpPr>
        <p:spPr>
          <a:xfrm>
            <a:off x="304800" y="1514773"/>
            <a:ext cx="2720340" cy="723900"/>
          </a:xfrm>
          <a:prstGeom prst="rect">
            <a:avLst/>
          </a:prstGeom>
          <a:noFill/>
          <a:ln/>
        </p:spPr>
        <p:txBody>
          <a:bodyPr wrap="square" lIns="0" tIns="0" rIns="0" bIns="0" rtlCol="0" anchor="t"/>
          <a:lstStyle/>
          <a:p>
            <a:pPr algn="l" indent="0" marL="0">
              <a:lnSpc>
                <a:spcPts val="1425"/>
              </a:lnSpc>
              <a:spcAft>
                <a:spcPts val="1400"/>
              </a:spcAft>
              <a:buNone/>
            </a:pPr>
            <a:r>
              <a:rPr lang="en-US" sz="950" dirty="0">
                <a:solidFill>
                  <a:srgbClr val="333333"/>
                </a:solidFill>
                <a:latin typeface="Arial" pitchFamily="34" charset="0"/>
                <a:ea typeface="Arial" pitchFamily="34" charset="-122"/>
                <a:cs typeface="Arial" pitchFamily="34" charset="-120"/>
              </a:rPr>
              <a:t>PSO's recommended price targets the market median minus a brand-perception discount. Where PSO already leads on price, the CRP framework protects margin.</a:t>
            </a:r>
            <a:endParaRPr lang="en-US" sz="950" dirty="0"/>
          </a:p>
        </p:txBody>
      </p:sp>
      <p:sp>
        <p:nvSpPr>
          <p:cNvPr id="8" name="Text 6"/>
          <p:cNvSpPr/>
          <p:nvPr/>
        </p:nvSpPr>
        <p:spPr>
          <a:xfrm>
            <a:off x="304800" y="2416373"/>
            <a:ext cx="2667000" cy="536377"/>
          </a:xfrm>
          <a:prstGeom prst="roundRect">
            <a:avLst>
              <a:gd name="adj" fmla="val 7103"/>
            </a:avLst>
          </a:prstGeom>
          <a:solidFill>
            <a:srgbClr val="E8F5EE"/>
          </a:solidFill>
          <a:ln/>
        </p:spPr>
        <p:txBody>
          <a:bodyPr wrap="square" rtlCol="0" anchor="ctr"/>
          <a:lstStyle/>
          <a:p>
            <a:pPr indent="0" marL="0">
              <a:buNone/>
            </a:pPr>
            <a:endParaRPr lang="en-US" dirty="0"/>
          </a:p>
        </p:txBody>
      </p:sp>
      <p:sp>
        <p:nvSpPr>
          <p:cNvPr id="9" name="Shape 7"/>
          <p:cNvSpPr/>
          <p:nvPr/>
        </p:nvSpPr>
        <p:spPr>
          <a:xfrm>
            <a:off x="323850" y="2416373"/>
            <a:ext cx="0" cy="536377"/>
          </a:xfrm>
          <a:prstGeom prst="line">
            <a:avLst/>
          </a:prstGeom>
          <a:noFill/>
          <a:ln w="38100">
            <a:solidFill>
              <a:srgbClr val="00703C"/>
            </a:solidFill>
            <a:prstDash val="solid"/>
          </a:ln>
        </p:spPr>
      </p:sp>
      <p:sp>
        <p:nvSpPr>
          <p:cNvPr id="10" name="Text 8"/>
          <p:cNvSpPr/>
          <p:nvPr/>
        </p:nvSpPr>
        <p:spPr>
          <a:xfrm>
            <a:off x="469850" y="2517874"/>
            <a:ext cx="2422499" cy="219075"/>
          </a:xfrm>
          <a:prstGeom prst="rect">
            <a:avLst/>
          </a:prstGeom>
          <a:noFill/>
          <a:ln/>
        </p:spPr>
        <p:txBody>
          <a:bodyPr wrap="square" lIns="0" tIns="0" rIns="0" bIns="0" rtlCol="0" anchor="t"/>
          <a:lstStyle/>
          <a:p>
            <a:pPr algn="l" indent="0" marL="0">
              <a:buNone/>
            </a:pPr>
            <a:r>
              <a:rPr lang="en-US" sz="1500" b="1" dirty="0">
                <a:solidFill>
                  <a:srgbClr val="023520"/>
                </a:solidFill>
                <a:latin typeface="Arial" pitchFamily="34" charset="0"/>
                <a:ea typeface="Arial" pitchFamily="34" charset="-122"/>
                <a:cs typeface="Arial" pitchFamily="34" charset="-120"/>
              </a:rPr>
              <a:t>Rs 1,750</a:t>
            </a:r>
            <a:endParaRPr lang="en-US" sz="1500" dirty="0"/>
          </a:p>
        </p:txBody>
      </p:sp>
      <p:sp>
        <p:nvSpPr>
          <p:cNvPr id="11" name="Text 9"/>
          <p:cNvSpPr/>
          <p:nvPr/>
        </p:nvSpPr>
        <p:spPr>
          <a:xfrm>
            <a:off x="469850" y="2736949"/>
            <a:ext cx="2422499" cy="114300"/>
          </a:xfrm>
          <a:prstGeom prst="rect">
            <a:avLst/>
          </a:prstGeom>
          <a:noFill/>
          <a:ln/>
        </p:spPr>
        <p:txBody>
          <a:bodyPr wrap="square" lIns="0" tIns="0" rIns="0" bIns="0" rtlCol="0" anchor="t"/>
          <a:lstStyle/>
          <a:p>
            <a:pPr algn="l" indent="0" marL="0">
              <a:buNone/>
            </a:pPr>
            <a:r>
              <a:rPr lang="en-US" sz="800" dirty="0">
                <a:solidFill>
                  <a:srgbClr val="555555"/>
                </a:solidFill>
                <a:latin typeface="Arial" pitchFamily="34" charset="0"/>
                <a:ea typeface="Arial" pitchFamily="34" charset="-122"/>
                <a:cs typeface="Arial" pitchFamily="34" charset="-120"/>
              </a:rPr>
              <a:t>Median market price/L (15W-40)</a:t>
            </a:r>
            <a:endParaRPr lang="en-US" sz="800" dirty="0"/>
          </a:p>
        </p:txBody>
      </p:sp>
      <p:sp>
        <p:nvSpPr>
          <p:cNvPr id="12" name="Text 10"/>
          <p:cNvSpPr/>
          <p:nvPr/>
        </p:nvSpPr>
        <p:spPr>
          <a:xfrm>
            <a:off x="304800" y="3079700"/>
            <a:ext cx="2667000" cy="536377"/>
          </a:xfrm>
          <a:prstGeom prst="roundRect">
            <a:avLst>
              <a:gd name="adj" fmla="val 7103"/>
            </a:avLst>
          </a:prstGeom>
          <a:solidFill>
            <a:srgbClr val="E8F5EE"/>
          </a:solidFill>
          <a:ln/>
        </p:spPr>
        <p:txBody>
          <a:bodyPr wrap="square" rtlCol="0" anchor="ctr"/>
          <a:lstStyle/>
          <a:p>
            <a:pPr indent="0" marL="0">
              <a:buNone/>
            </a:pPr>
            <a:endParaRPr lang="en-US" dirty="0"/>
          </a:p>
        </p:txBody>
      </p:sp>
      <p:sp>
        <p:nvSpPr>
          <p:cNvPr id="13" name="Shape 11"/>
          <p:cNvSpPr/>
          <p:nvPr/>
        </p:nvSpPr>
        <p:spPr>
          <a:xfrm>
            <a:off x="323850" y="3079700"/>
            <a:ext cx="0" cy="536377"/>
          </a:xfrm>
          <a:prstGeom prst="line">
            <a:avLst/>
          </a:prstGeom>
          <a:noFill/>
          <a:ln w="38100">
            <a:solidFill>
              <a:srgbClr val="00703C"/>
            </a:solidFill>
            <a:prstDash val="solid"/>
          </a:ln>
        </p:spPr>
      </p:sp>
      <p:sp>
        <p:nvSpPr>
          <p:cNvPr id="14" name="Text 12"/>
          <p:cNvSpPr/>
          <p:nvPr/>
        </p:nvSpPr>
        <p:spPr>
          <a:xfrm>
            <a:off x="469850" y="3181201"/>
            <a:ext cx="2422499" cy="219075"/>
          </a:xfrm>
          <a:prstGeom prst="rect">
            <a:avLst/>
          </a:prstGeom>
          <a:noFill/>
          <a:ln/>
        </p:spPr>
        <p:txBody>
          <a:bodyPr wrap="square" lIns="0" tIns="0" rIns="0" bIns="0" rtlCol="0" anchor="t"/>
          <a:lstStyle/>
          <a:p>
            <a:pPr algn="l" indent="0" marL="0">
              <a:buNone/>
            </a:pPr>
            <a:r>
              <a:rPr lang="en-US" sz="1500" b="1" dirty="0">
                <a:solidFill>
                  <a:srgbClr val="023520"/>
                </a:solidFill>
                <a:latin typeface="Arial" pitchFamily="34" charset="0"/>
                <a:ea typeface="Arial" pitchFamily="34" charset="-122"/>
                <a:cs typeface="Arial" pitchFamily="34" charset="-120"/>
              </a:rPr>
              <a:t>365</a:t>
            </a:r>
            <a:endParaRPr lang="en-US" sz="1500" dirty="0"/>
          </a:p>
        </p:txBody>
      </p:sp>
      <p:sp>
        <p:nvSpPr>
          <p:cNvPr id="15" name="Text 13"/>
          <p:cNvSpPr/>
          <p:nvPr/>
        </p:nvSpPr>
        <p:spPr>
          <a:xfrm>
            <a:off x="469850" y="3400276"/>
            <a:ext cx="2422499" cy="114300"/>
          </a:xfrm>
          <a:prstGeom prst="rect">
            <a:avLst/>
          </a:prstGeom>
          <a:noFill/>
          <a:ln/>
        </p:spPr>
        <p:txBody>
          <a:bodyPr wrap="square" lIns="0" tIns="0" rIns="0" bIns="0" rtlCol="0" anchor="t"/>
          <a:lstStyle/>
          <a:p>
            <a:pPr algn="l" indent="0" marL="0">
              <a:buNone/>
            </a:pPr>
            <a:r>
              <a:rPr lang="en-US" sz="800" dirty="0">
                <a:solidFill>
                  <a:srgbClr val="555555"/>
                </a:solidFill>
                <a:latin typeface="Arial" pitchFamily="34" charset="0"/>
                <a:ea typeface="Arial" pitchFamily="34" charset="-122"/>
                <a:cs typeface="Arial" pitchFamily="34" charset="-120"/>
              </a:rPr>
              <a:t>Live listings benchmarked on Daraz.pk</a:t>
            </a:r>
            <a:endParaRPr lang="en-US" sz="800" dirty="0"/>
          </a:p>
        </p:txBody>
      </p:sp>
      <p:sp>
        <p:nvSpPr>
          <p:cNvPr id="16" name="Text 14"/>
          <p:cNvSpPr/>
          <p:nvPr/>
        </p:nvSpPr>
        <p:spPr>
          <a:xfrm>
            <a:off x="304800" y="3743027"/>
            <a:ext cx="2667000" cy="536377"/>
          </a:xfrm>
          <a:prstGeom prst="roundRect">
            <a:avLst>
              <a:gd name="adj" fmla="val 7103"/>
            </a:avLst>
          </a:prstGeom>
          <a:solidFill>
            <a:srgbClr val="E8F5EE"/>
          </a:solidFill>
          <a:ln/>
        </p:spPr>
        <p:txBody>
          <a:bodyPr wrap="square" rtlCol="0" anchor="ctr"/>
          <a:lstStyle/>
          <a:p>
            <a:pPr indent="0" marL="0">
              <a:buNone/>
            </a:pPr>
            <a:endParaRPr lang="en-US" dirty="0"/>
          </a:p>
        </p:txBody>
      </p:sp>
      <p:sp>
        <p:nvSpPr>
          <p:cNvPr id="17" name="Shape 15"/>
          <p:cNvSpPr/>
          <p:nvPr/>
        </p:nvSpPr>
        <p:spPr>
          <a:xfrm>
            <a:off x="323850" y="3743027"/>
            <a:ext cx="0" cy="536377"/>
          </a:xfrm>
          <a:prstGeom prst="line">
            <a:avLst/>
          </a:prstGeom>
          <a:noFill/>
          <a:ln w="38100">
            <a:solidFill>
              <a:srgbClr val="00703C"/>
            </a:solidFill>
            <a:prstDash val="solid"/>
          </a:ln>
        </p:spPr>
      </p:sp>
      <p:sp>
        <p:nvSpPr>
          <p:cNvPr id="18" name="Text 16"/>
          <p:cNvSpPr/>
          <p:nvPr/>
        </p:nvSpPr>
        <p:spPr>
          <a:xfrm>
            <a:off x="469850" y="3844528"/>
            <a:ext cx="2422499" cy="219075"/>
          </a:xfrm>
          <a:prstGeom prst="rect">
            <a:avLst/>
          </a:prstGeom>
          <a:noFill/>
          <a:ln/>
        </p:spPr>
        <p:txBody>
          <a:bodyPr wrap="square" lIns="0" tIns="0" rIns="0" bIns="0" rtlCol="0" anchor="t"/>
          <a:lstStyle/>
          <a:p>
            <a:pPr algn="l" indent="0" marL="0">
              <a:buNone/>
            </a:pPr>
            <a:r>
              <a:rPr lang="en-US" sz="1500" b="1" dirty="0">
                <a:solidFill>
                  <a:srgbClr val="023520"/>
                </a:solidFill>
                <a:latin typeface="Arial" pitchFamily="34" charset="0"/>
                <a:ea typeface="Arial" pitchFamily="34" charset="-122"/>
                <a:cs typeface="Arial" pitchFamily="34" charset="-120"/>
              </a:rPr>
              <a:t>7</a:t>
            </a:r>
            <a:endParaRPr lang="en-US" sz="1500" dirty="0"/>
          </a:p>
        </p:txBody>
      </p:sp>
      <p:sp>
        <p:nvSpPr>
          <p:cNvPr id="19" name="Text 17"/>
          <p:cNvSpPr/>
          <p:nvPr/>
        </p:nvSpPr>
        <p:spPr>
          <a:xfrm>
            <a:off x="469850" y="4063603"/>
            <a:ext cx="2422499" cy="114300"/>
          </a:xfrm>
          <a:prstGeom prst="rect">
            <a:avLst/>
          </a:prstGeom>
          <a:noFill/>
          <a:ln/>
        </p:spPr>
        <p:txBody>
          <a:bodyPr wrap="square" lIns="0" tIns="0" rIns="0" bIns="0" rtlCol="0" anchor="t"/>
          <a:lstStyle/>
          <a:p>
            <a:pPr algn="l" indent="0" marL="0">
              <a:buNone/>
            </a:pPr>
            <a:r>
              <a:rPr lang="en-US" sz="800" dirty="0">
                <a:solidFill>
                  <a:srgbClr val="555555"/>
                </a:solidFill>
                <a:latin typeface="Arial" pitchFamily="34" charset="0"/>
                <a:ea typeface="Arial" pitchFamily="34" charset="-122"/>
                <a:cs typeface="Arial" pitchFamily="34" charset="-120"/>
              </a:rPr>
              <a:t>Competitor brands tracked</a:t>
            </a:r>
            <a:endParaRPr lang="en-US" sz="800" dirty="0"/>
          </a:p>
        </p:txBody>
      </p:sp>
      <p:sp>
        <p:nvSpPr>
          <p:cNvPr id="20" name="Text 18"/>
          <p:cNvSpPr/>
          <p:nvPr/>
        </p:nvSpPr>
        <p:spPr>
          <a:xfrm>
            <a:off x="3174950" y="714226"/>
            <a:ext cx="5855259" cy="114300"/>
          </a:xfrm>
          <a:prstGeom prst="rect">
            <a:avLst/>
          </a:prstGeom>
          <a:noFill/>
          <a:ln/>
        </p:spPr>
        <p:txBody>
          <a:bodyPr wrap="square" lIns="0" tIns="0" rIns="0" bIns="0" rtlCol="0" anchor="t"/>
          <a:lstStyle/>
          <a:p>
            <a:pPr algn="l" indent="0" marL="0">
              <a:spcAft>
                <a:spcPts val="800"/>
              </a:spcAft>
              <a:buNone/>
            </a:pPr>
            <a:r>
              <a:rPr lang="en-US" sz="800" dirty="0">
                <a:solidFill>
                  <a:srgbClr val="555555"/>
                </a:solidFill>
                <a:latin typeface="Arial" pitchFamily="34" charset="0"/>
                <a:ea typeface="Arial" pitchFamily="34" charset="-122"/>
                <a:cs typeface="Arial" pitchFamily="34" charset="-120"/>
              </a:rPr>
              <a:t>Market Median Price/L (PKR) vs PSO Recommended Price — by Brand Group</a:t>
            </a:r>
            <a:endParaRPr lang="en-US" sz="800" dirty="0"/>
          </a:p>
        </p:txBody>
      </p:sp>
      <p:sp>
        <p:nvSpPr>
          <p:cNvPr id="21" name="Text 19"/>
          <p:cNvSpPr/>
          <p:nvPr/>
        </p:nvSpPr>
        <p:spPr>
          <a:xfrm>
            <a:off x="3174950" y="930027"/>
            <a:ext cx="5740450" cy="4035772"/>
          </a:xfrm>
          <a:prstGeom prst="roundRect">
            <a:avLst>
              <a:gd name="adj" fmla="val 1259"/>
            </a:avLst>
          </a:prstGeom>
          <a:solidFill>
            <a:srgbClr val="F0F8F4"/>
          </a:solidFill>
          <a:ln w="9525">
            <a:solidFill>
              <a:srgbClr val="00703C"/>
            </a:solidFill>
          </a:ln>
        </p:spPr>
        <p:txBody>
          <a:bodyPr wrap="square" rtlCol="0" anchor="ctr"/>
          <a:lstStyle/>
          <a:p>
            <a:pPr indent="0" marL="0">
              <a:buNone/>
            </a:pP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36525"/>
          </a:xfrm>
          <a:prstGeom prst="rect">
            <a:avLst/>
          </a:prstGeom>
          <a:solidFill>
            <a:srgbClr val="00703C"/>
          </a:solidFill>
          <a:ln/>
        </p:spPr>
        <p:txBody>
          <a:bodyPr wrap="square" rtlCol="0" anchor="ctr"/>
          <a:lstStyle/>
          <a:p>
            <a:pPr indent="0" marL="0">
              <a:buNone/>
            </a:pPr>
            <a:endParaRPr lang="en-US" dirty="0"/>
          </a:p>
        </p:txBody>
      </p:sp>
      <p:sp>
        <p:nvSpPr>
          <p:cNvPr id="3" name="Text 1"/>
          <p:cNvSpPr/>
          <p:nvPr/>
        </p:nvSpPr>
        <p:spPr>
          <a:xfrm>
            <a:off x="355550" y="152400"/>
            <a:ext cx="3719518" cy="257175"/>
          </a:xfrm>
          <a:prstGeom prst="rect">
            <a:avLst/>
          </a:prstGeom>
          <a:noFill/>
          <a:ln/>
        </p:spPr>
        <p:txBody>
          <a:bodyPr wrap="square" lIns="0" tIns="0" rIns="0" bIns="0" rtlCol="0" anchor="t"/>
          <a:lstStyle/>
          <a:p>
            <a:pPr algn="l" indent="0" marL="0">
              <a:buNone/>
            </a:pPr>
            <a:r>
              <a:rPr lang="en-US" sz="1700" b="1" dirty="0">
                <a:solidFill>
                  <a:srgbClr val="FFFFFF"/>
                </a:solidFill>
                <a:latin typeface="Arial" pitchFamily="34" charset="0"/>
                <a:ea typeface="Arial" pitchFamily="34" charset="-122"/>
                <a:cs typeface="Arial" pitchFamily="34" charset="-120"/>
              </a:rPr>
              <a:t>F3 — Price-Pack Architecture (PPA)</a:t>
            </a:r>
            <a:endParaRPr lang="en-US" sz="1700" dirty="0"/>
          </a:p>
        </p:txBody>
      </p:sp>
      <p:sp>
        <p:nvSpPr>
          <p:cNvPr id="4" name="Text 2"/>
          <p:cNvSpPr/>
          <p:nvPr/>
        </p:nvSpPr>
        <p:spPr>
          <a:xfrm>
            <a:off x="7842349" y="176213"/>
            <a:ext cx="946100" cy="209550"/>
          </a:xfrm>
          <a:prstGeom prst="roundRect">
            <a:avLst>
              <a:gd name="adj" fmla="val 18182"/>
            </a:avLst>
          </a:prstGeom>
          <a:solidFill>
            <a:srgbClr val="C8960C"/>
          </a:solidFill>
          <a:ln/>
        </p:spPr>
        <p:txBody>
          <a:bodyPr wrap="square" rtlCol="0" anchor="ctr"/>
          <a:lstStyle/>
          <a:p>
            <a:pPr indent="0" marL="0">
              <a:buNone/>
            </a:pPr>
            <a:endParaRPr lang="en-US" dirty="0"/>
          </a:p>
        </p:txBody>
      </p:sp>
      <p:sp>
        <p:nvSpPr>
          <p:cNvPr id="5" name="Text 3"/>
          <p:cNvSpPr/>
          <p:nvPr/>
        </p:nvSpPr>
        <p:spPr>
          <a:xfrm>
            <a:off x="7943850" y="214313"/>
            <a:ext cx="757961" cy="133350"/>
          </a:xfrm>
          <a:prstGeom prst="rect">
            <a:avLst/>
          </a:prstGeom>
          <a:noFill/>
          <a:ln/>
        </p:spPr>
        <p:txBody>
          <a:bodyPr wrap="square" lIns="0" tIns="0" rIns="0" bIns="0" rtlCol="0" anchor="t"/>
          <a:lstStyle/>
          <a:p>
            <a:pPr algn="l" indent="0" marL="0">
              <a:buNone/>
            </a:pPr>
            <a:r>
              <a:rPr lang="en-US" sz="900" b="1" dirty="0">
                <a:solidFill>
                  <a:srgbClr val="FFFFFF"/>
                </a:solidFill>
                <a:latin typeface="Arial" pitchFamily="34" charset="0"/>
                <a:ea typeface="Arial" pitchFamily="34" charset="-122"/>
                <a:cs typeface="Arial" pitchFamily="34" charset="-120"/>
              </a:rPr>
              <a:t>WEIGHT: 20%</a:t>
            </a:r>
            <a:endParaRPr lang="en-US" sz="900" dirty="0"/>
          </a:p>
        </p:txBody>
      </p:sp>
      <p:sp>
        <p:nvSpPr>
          <p:cNvPr id="6" name="Text 4"/>
          <p:cNvSpPr/>
          <p:nvPr/>
        </p:nvSpPr>
        <p:spPr>
          <a:xfrm>
            <a:off x="304800" y="739676"/>
            <a:ext cx="5078170" cy="114300"/>
          </a:xfrm>
          <a:prstGeom prst="rect">
            <a:avLst/>
          </a:prstGeom>
          <a:noFill/>
          <a:ln/>
        </p:spPr>
        <p:txBody>
          <a:bodyPr wrap="square" lIns="0" tIns="0" rIns="0" bIns="0" rtlCol="0" anchor="t"/>
          <a:lstStyle/>
          <a:p>
            <a:pPr algn="l" indent="0" marL="0">
              <a:spcAft>
                <a:spcPts val="1000"/>
              </a:spcAft>
              <a:buNone/>
            </a:pPr>
            <a:r>
              <a:rPr lang="en-US" sz="800" b="1" dirty="0">
                <a:solidFill>
                  <a:srgbClr val="C8960C"/>
                </a:solidFill>
                <a:latin typeface="Arial" pitchFamily="34" charset="0"/>
                <a:ea typeface="Arial" pitchFamily="34" charset="-122"/>
                <a:cs typeface="Arial" pitchFamily="34" charset="-120"/>
              </a:rPr>
              <a:t>PACK PREMIUM LOGIC</a:t>
            </a:r>
            <a:endParaRPr lang="en-US" sz="800" dirty="0"/>
          </a:p>
        </p:txBody>
      </p:sp>
      <p:sp>
        <p:nvSpPr>
          <p:cNvPr id="7" name="Text 5"/>
          <p:cNvSpPr/>
          <p:nvPr/>
        </p:nvSpPr>
        <p:spPr>
          <a:xfrm>
            <a:off x="304800" y="980926"/>
            <a:ext cx="5078170" cy="361950"/>
          </a:xfrm>
          <a:prstGeom prst="rect">
            <a:avLst/>
          </a:prstGeom>
          <a:noFill/>
          <a:ln/>
        </p:spPr>
        <p:txBody>
          <a:bodyPr wrap="square" lIns="0" tIns="0" rIns="0" bIns="0" rtlCol="0" anchor="t"/>
          <a:lstStyle/>
          <a:p>
            <a:pPr algn="l" indent="0" marL="0">
              <a:lnSpc>
                <a:spcPts val="1425"/>
              </a:lnSpc>
              <a:spcAft>
                <a:spcPts val="1200"/>
              </a:spcAft>
              <a:buNone/>
            </a:pPr>
            <a:r>
              <a:rPr lang="en-US" sz="950" dirty="0">
                <a:solidFill>
                  <a:srgbClr val="333333"/>
                </a:solidFill>
                <a:latin typeface="Arial" pitchFamily="34" charset="0"/>
                <a:ea typeface="Arial" pitchFamily="34" charset="-122"/>
                <a:cs typeface="Arial" pitchFamily="34" charset="-120"/>
              </a:rPr>
              <a:t>Larger packs should carry a lower price-per-litre — rewarding bulk buyers while protecting per-unit margin on small packs. PPA enforces a consistent step-down curve.</a:t>
            </a:r>
            <a:endParaRPr lang="en-US" sz="950" dirty="0"/>
          </a:p>
        </p:txBody>
      </p:sp>
      <p:sp>
        <p:nvSpPr>
          <p:cNvPr id="8" name="Text 6"/>
          <p:cNvSpPr/>
          <p:nvPr/>
        </p:nvSpPr>
        <p:spPr>
          <a:xfrm>
            <a:off x="304800" y="1495276"/>
            <a:ext cx="4978598" cy="606921"/>
          </a:xfrm>
          <a:prstGeom prst="roundRect">
            <a:avLst>
              <a:gd name="adj" fmla="val 10463"/>
            </a:avLst>
          </a:prstGeom>
          <a:solidFill>
            <a:srgbClr val="023520"/>
          </a:solidFill>
          <a:ln/>
        </p:spPr>
        <p:txBody>
          <a:bodyPr wrap="square" rtlCol="0" anchor="ctr"/>
          <a:lstStyle/>
          <a:p>
            <a:pPr indent="0" marL="0">
              <a:buNone/>
            </a:pPr>
            <a:endParaRPr lang="en-US" dirty="0"/>
          </a:p>
        </p:txBody>
      </p:sp>
      <p:sp>
        <p:nvSpPr>
          <p:cNvPr id="9" name="Text 7"/>
          <p:cNvSpPr/>
          <p:nvPr/>
        </p:nvSpPr>
        <p:spPr>
          <a:xfrm>
            <a:off x="482501" y="1622227"/>
            <a:ext cx="4715661" cy="142280"/>
          </a:xfrm>
          <a:prstGeom prst="rect">
            <a:avLst/>
          </a:prstGeom>
          <a:noFill/>
          <a:ln/>
        </p:spPr>
        <p:txBody>
          <a:bodyPr wrap="square" lIns="0" tIns="0" rIns="0" bIns="0" rtlCol="0" anchor="t"/>
          <a:lstStyle/>
          <a:p>
            <a:pPr algn="l" indent="0" marL="0">
              <a:lnSpc>
                <a:spcPts val="1120"/>
              </a:lnSpc>
              <a:spcAft>
                <a:spcPts val="400"/>
              </a:spcAft>
              <a:buNone/>
            </a:pPr>
            <a:r>
              <a:rPr lang="en-US" sz="800" b="1" dirty="0">
                <a:solidFill>
                  <a:srgbClr val="C8960C"/>
                </a:solidFill>
                <a:latin typeface="Arial" pitchFamily="34" charset="0"/>
                <a:ea typeface="Arial" pitchFamily="34" charset="-122"/>
                <a:cs typeface="Arial" pitchFamily="34" charset="-120"/>
              </a:rPr>
              <a:t>STEP-DOWN RULE APPLIED</a:t>
            </a:r>
            <a:endParaRPr lang="en-US" sz="800" dirty="0"/>
          </a:p>
        </p:txBody>
      </p:sp>
      <p:sp>
        <p:nvSpPr>
          <p:cNvPr id="10" name="Text 8"/>
          <p:cNvSpPr/>
          <p:nvPr/>
        </p:nvSpPr>
        <p:spPr>
          <a:xfrm>
            <a:off x="482501" y="1815257"/>
            <a:ext cx="4715661" cy="159990"/>
          </a:xfrm>
          <a:prstGeom prst="rect">
            <a:avLst/>
          </a:prstGeom>
          <a:noFill/>
          <a:ln/>
        </p:spPr>
        <p:txBody>
          <a:bodyPr wrap="square" lIns="0" tIns="0" rIns="0" bIns="0" rtlCol="0" anchor="t"/>
          <a:lstStyle/>
          <a:p>
            <a:pPr algn="l" indent="0" marL="0">
              <a:lnSpc>
                <a:spcPts val="1260"/>
              </a:lnSpc>
              <a:buNone/>
            </a:pPr>
            <a:r>
              <a:rPr lang="en-US" sz="900" dirty="0">
                <a:solidFill>
                  <a:srgbClr val="FFFFFF"/>
                </a:solidFill>
                <a:latin typeface="Arial" pitchFamily="34" charset="0"/>
                <a:ea typeface="Arial" pitchFamily="34" charset="-122"/>
                <a:cs typeface="Arial" pitchFamily="34" charset="-120"/>
              </a:rPr>
              <a:t>0.7L → 1L: flat premium (convenience premium justified)</a:t>
            </a:r>
            <a:endParaRPr lang="en-US" sz="900" dirty="0"/>
          </a:p>
        </p:txBody>
      </p:sp>
      <p:sp>
        <p:nvSpPr>
          <p:cNvPr id="11" name="Text 9"/>
          <p:cNvSpPr/>
          <p:nvPr/>
        </p:nvSpPr>
        <p:spPr>
          <a:xfrm>
            <a:off x="304800" y="2229148"/>
            <a:ext cx="4978598" cy="606921"/>
          </a:xfrm>
          <a:prstGeom prst="roundRect">
            <a:avLst>
              <a:gd name="adj" fmla="val 10463"/>
            </a:avLst>
          </a:prstGeom>
          <a:solidFill>
            <a:srgbClr val="023520"/>
          </a:solidFill>
          <a:ln/>
        </p:spPr>
        <p:txBody>
          <a:bodyPr wrap="square" rtlCol="0" anchor="ctr"/>
          <a:lstStyle/>
          <a:p>
            <a:pPr indent="0" marL="0">
              <a:buNone/>
            </a:pPr>
            <a:endParaRPr lang="en-US" dirty="0"/>
          </a:p>
        </p:txBody>
      </p:sp>
      <p:sp>
        <p:nvSpPr>
          <p:cNvPr id="12" name="Text 10"/>
          <p:cNvSpPr/>
          <p:nvPr/>
        </p:nvSpPr>
        <p:spPr>
          <a:xfrm>
            <a:off x="482501" y="2356098"/>
            <a:ext cx="4715661" cy="142280"/>
          </a:xfrm>
          <a:prstGeom prst="rect">
            <a:avLst/>
          </a:prstGeom>
          <a:noFill/>
          <a:ln/>
        </p:spPr>
        <p:txBody>
          <a:bodyPr wrap="square" lIns="0" tIns="0" rIns="0" bIns="0" rtlCol="0" anchor="t"/>
          <a:lstStyle/>
          <a:p>
            <a:pPr algn="l" indent="0" marL="0">
              <a:lnSpc>
                <a:spcPts val="1120"/>
              </a:lnSpc>
              <a:spcAft>
                <a:spcPts val="400"/>
              </a:spcAft>
              <a:buNone/>
            </a:pPr>
            <a:r>
              <a:rPr lang="en-US" sz="800" b="1" dirty="0">
                <a:solidFill>
                  <a:srgbClr val="C8960C"/>
                </a:solidFill>
                <a:latin typeface="Arial" pitchFamily="34" charset="0"/>
                <a:ea typeface="Arial" pitchFamily="34" charset="-122"/>
                <a:cs typeface="Arial" pitchFamily="34" charset="-120"/>
              </a:rPr>
              <a:t>BULK DISCOUNT APPLIED</a:t>
            </a:r>
            <a:endParaRPr lang="en-US" sz="800" dirty="0"/>
          </a:p>
        </p:txBody>
      </p:sp>
      <p:sp>
        <p:nvSpPr>
          <p:cNvPr id="13" name="Text 11"/>
          <p:cNvSpPr/>
          <p:nvPr/>
        </p:nvSpPr>
        <p:spPr>
          <a:xfrm>
            <a:off x="482501" y="2549128"/>
            <a:ext cx="4715661" cy="159990"/>
          </a:xfrm>
          <a:prstGeom prst="rect">
            <a:avLst/>
          </a:prstGeom>
          <a:noFill/>
          <a:ln/>
        </p:spPr>
        <p:txBody>
          <a:bodyPr wrap="square" lIns="0" tIns="0" rIns="0" bIns="0" rtlCol="0" anchor="t"/>
          <a:lstStyle/>
          <a:p>
            <a:pPr algn="l" indent="0" marL="0">
              <a:lnSpc>
                <a:spcPts val="1260"/>
              </a:lnSpc>
              <a:buNone/>
            </a:pPr>
            <a:r>
              <a:rPr lang="en-US" sz="900" dirty="0">
                <a:solidFill>
                  <a:srgbClr val="FFFFFF"/>
                </a:solidFill>
                <a:latin typeface="Arial" pitchFamily="34" charset="0"/>
                <a:ea typeface="Arial" pitchFamily="34" charset="-122"/>
                <a:cs typeface="Arial" pitchFamily="34" charset="-120"/>
              </a:rPr>
              <a:t>1L → 3L: −8% per litre | 3L → 4L: −4% per litre</a:t>
            </a:r>
            <a:endParaRPr lang="en-US" sz="900" dirty="0"/>
          </a:p>
        </p:txBody>
      </p:sp>
      <p:sp>
        <p:nvSpPr>
          <p:cNvPr id="14" name="Text 12"/>
          <p:cNvSpPr/>
          <p:nvPr/>
        </p:nvSpPr>
        <p:spPr>
          <a:xfrm>
            <a:off x="5537299" y="739676"/>
            <a:ext cx="3367939" cy="114300"/>
          </a:xfrm>
          <a:prstGeom prst="rect">
            <a:avLst/>
          </a:prstGeom>
          <a:noFill/>
          <a:ln/>
        </p:spPr>
        <p:txBody>
          <a:bodyPr wrap="square" lIns="0" tIns="0" rIns="0" bIns="0" rtlCol="0" anchor="t"/>
          <a:lstStyle/>
          <a:p>
            <a:pPr algn="l" indent="0" marL="0">
              <a:spcAft>
                <a:spcPts val="600"/>
              </a:spcAft>
              <a:buNone/>
            </a:pPr>
            <a:r>
              <a:rPr lang="en-US" sz="800" dirty="0">
                <a:solidFill>
                  <a:srgbClr val="555555"/>
                </a:solidFill>
                <a:latin typeface="Arial" pitchFamily="34" charset="0"/>
                <a:ea typeface="Arial" pitchFamily="34" charset="-122"/>
                <a:cs typeface="Arial" pitchFamily="34" charset="-120"/>
              </a:rPr>
              <a:t>Carient Ultra: Recommended Price/L vs Pack Size (PKR)</a:t>
            </a:r>
            <a:endParaRPr lang="en-US" sz="800" dirty="0"/>
          </a:p>
        </p:txBody>
      </p:sp>
      <p:sp>
        <p:nvSpPr>
          <p:cNvPr id="15" name="Text 13"/>
          <p:cNvSpPr/>
          <p:nvPr/>
        </p:nvSpPr>
        <p:spPr>
          <a:xfrm>
            <a:off x="5537299" y="930176"/>
            <a:ext cx="3301901" cy="19050"/>
          </a:xfrm>
          <a:prstGeom prst="roundRect">
            <a:avLst>
              <a:gd name="adj" fmla="val 266667"/>
            </a:avLst>
          </a:prstGeom>
          <a:solidFill>
            <a:srgbClr val="F0F8F4"/>
          </a:solidFill>
          <a:ln w="9525">
            <a:solidFill>
              <a:srgbClr val="00703C"/>
            </a:solidFill>
          </a:ln>
        </p:spPr>
        <p:txBody>
          <a:bodyPr wrap="square" rtlCol="0" anchor="ctr"/>
          <a:lstStyle/>
          <a:p>
            <a:pPr indent="0" marL="0">
              <a:buNone/>
            </a:pP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36525"/>
          </a:xfrm>
          <a:prstGeom prst="rect">
            <a:avLst/>
          </a:prstGeom>
          <a:solidFill>
            <a:srgbClr val="00703C"/>
          </a:solidFill>
          <a:ln/>
        </p:spPr>
        <p:txBody>
          <a:bodyPr wrap="square" rtlCol="0" anchor="ctr"/>
          <a:lstStyle/>
          <a:p>
            <a:pPr indent="0" marL="0">
              <a:buNone/>
            </a:pPr>
            <a:endParaRPr lang="en-US" dirty="0"/>
          </a:p>
        </p:txBody>
      </p:sp>
      <p:sp>
        <p:nvSpPr>
          <p:cNvPr id="3" name="Text 1"/>
          <p:cNvSpPr/>
          <p:nvPr/>
        </p:nvSpPr>
        <p:spPr>
          <a:xfrm>
            <a:off x="355550" y="152400"/>
            <a:ext cx="3992008" cy="257175"/>
          </a:xfrm>
          <a:prstGeom prst="rect">
            <a:avLst/>
          </a:prstGeom>
          <a:noFill/>
          <a:ln/>
        </p:spPr>
        <p:txBody>
          <a:bodyPr wrap="square" lIns="0" tIns="0" rIns="0" bIns="0" rtlCol="0" anchor="t"/>
          <a:lstStyle/>
          <a:p>
            <a:pPr algn="l" indent="0" marL="0">
              <a:buNone/>
            </a:pPr>
            <a:r>
              <a:rPr lang="en-US" sz="1700" b="1" dirty="0">
                <a:solidFill>
                  <a:srgbClr val="FFFFFF"/>
                </a:solidFill>
                <a:latin typeface="Arial" pitchFamily="34" charset="0"/>
                <a:ea typeface="Arial" pitchFamily="34" charset="-122"/>
                <a:cs typeface="Arial" pitchFamily="34" charset="-120"/>
              </a:rPr>
              <a:t>F4 — Price Waterfall (Hard Cost Floor)</a:t>
            </a:r>
            <a:endParaRPr lang="en-US" sz="1700" dirty="0"/>
          </a:p>
        </p:txBody>
      </p:sp>
      <p:sp>
        <p:nvSpPr>
          <p:cNvPr id="4" name="Text 2"/>
          <p:cNvSpPr/>
          <p:nvPr/>
        </p:nvSpPr>
        <p:spPr>
          <a:xfrm>
            <a:off x="7194649" y="176213"/>
            <a:ext cx="1593800" cy="209550"/>
          </a:xfrm>
          <a:prstGeom prst="roundRect">
            <a:avLst>
              <a:gd name="adj" fmla="val 18182"/>
            </a:avLst>
          </a:prstGeom>
          <a:solidFill>
            <a:srgbClr val="555555"/>
          </a:solidFill>
          <a:ln/>
        </p:spPr>
        <p:txBody>
          <a:bodyPr wrap="square" rtlCol="0" anchor="ctr"/>
          <a:lstStyle/>
          <a:p>
            <a:pPr indent="0" marL="0">
              <a:buNone/>
            </a:pPr>
            <a:endParaRPr lang="en-US" dirty="0"/>
          </a:p>
        </p:txBody>
      </p:sp>
      <p:sp>
        <p:nvSpPr>
          <p:cNvPr id="5" name="Text 3"/>
          <p:cNvSpPr/>
          <p:nvPr/>
        </p:nvSpPr>
        <p:spPr>
          <a:xfrm>
            <a:off x="7296150" y="214313"/>
            <a:ext cx="1418615" cy="133350"/>
          </a:xfrm>
          <a:prstGeom prst="rect">
            <a:avLst/>
          </a:prstGeom>
          <a:noFill/>
          <a:ln/>
        </p:spPr>
        <p:txBody>
          <a:bodyPr wrap="square" lIns="0" tIns="0" rIns="0" bIns="0" rtlCol="0" anchor="t"/>
          <a:lstStyle/>
          <a:p>
            <a:pPr algn="l" indent="0" marL="0">
              <a:buNone/>
            </a:pPr>
            <a:r>
              <a:rPr lang="en-US" sz="900" b="1" dirty="0">
                <a:solidFill>
                  <a:srgbClr val="FFFFFF"/>
                </a:solidFill>
                <a:latin typeface="Arial" pitchFamily="34" charset="0"/>
                <a:ea typeface="Arial" pitchFamily="34" charset="-122"/>
                <a:cs typeface="Arial" pitchFamily="34" charset="-120"/>
              </a:rPr>
              <a:t>HARD FLOOR OVERRIDE</a:t>
            </a:r>
            <a:endParaRPr lang="en-US" sz="900" dirty="0"/>
          </a:p>
        </p:txBody>
      </p:sp>
      <p:sp>
        <p:nvSpPr>
          <p:cNvPr id="6" name="Text 4"/>
          <p:cNvSpPr/>
          <p:nvPr/>
        </p:nvSpPr>
        <p:spPr>
          <a:xfrm>
            <a:off x="355550" y="1030932"/>
            <a:ext cx="5181701" cy="114300"/>
          </a:xfrm>
          <a:prstGeom prst="rect">
            <a:avLst/>
          </a:prstGeom>
          <a:noFill/>
          <a:ln/>
        </p:spPr>
        <p:txBody>
          <a:bodyPr wrap="square" lIns="0" tIns="0" rIns="0" bIns="0" rtlCol="0" anchor="t"/>
          <a:lstStyle/>
          <a:p>
            <a:pPr algn="l" indent="0" marL="0">
              <a:spcAft>
                <a:spcPts val="1200"/>
              </a:spcAft>
              <a:buNone/>
            </a:pPr>
            <a:r>
              <a:rPr lang="en-US" sz="800" b="1" dirty="0">
                <a:solidFill>
                  <a:srgbClr val="C8960C"/>
                </a:solidFill>
                <a:latin typeface="Arial" pitchFamily="34" charset="0"/>
                <a:ea typeface="Arial" pitchFamily="34" charset="-122"/>
                <a:cs typeface="Arial" pitchFamily="34" charset="-120"/>
              </a:rPr>
              <a:t>WATERFALL STRUCTURE (EXAMPLE: CARIENT PLUS 15W-40)</a:t>
            </a:r>
            <a:endParaRPr lang="en-US" sz="800" dirty="0"/>
          </a:p>
        </p:txBody>
      </p:sp>
      <p:sp>
        <p:nvSpPr>
          <p:cNvPr id="7" name="Text 5"/>
          <p:cNvSpPr/>
          <p:nvPr/>
        </p:nvSpPr>
        <p:spPr>
          <a:xfrm>
            <a:off x="355550" y="1297632"/>
            <a:ext cx="5080099" cy="564952"/>
          </a:xfrm>
          <a:prstGeom prst="roundRect">
            <a:avLst>
              <a:gd name="adj" fmla="val 8992"/>
            </a:avLst>
          </a:prstGeom>
          <a:solidFill>
            <a:srgbClr val="E8F5EE"/>
          </a:solidFill>
          <a:ln w="9525">
            <a:solidFill>
              <a:srgbClr val="00703C"/>
            </a:solidFill>
          </a:ln>
        </p:spPr>
        <p:txBody>
          <a:bodyPr wrap="square" rtlCol="0" anchor="ctr"/>
          <a:lstStyle/>
          <a:p>
            <a:pPr indent="0" marL="0">
              <a:buNone/>
            </a:pPr>
            <a:endParaRPr lang="en-US" dirty="0"/>
          </a:p>
        </p:txBody>
      </p:sp>
      <p:sp>
        <p:nvSpPr>
          <p:cNvPr id="8" name="Text 6"/>
          <p:cNvSpPr/>
          <p:nvPr/>
        </p:nvSpPr>
        <p:spPr>
          <a:xfrm>
            <a:off x="517475" y="1408658"/>
            <a:ext cx="4851374" cy="133350"/>
          </a:xfrm>
          <a:prstGeom prst="rect">
            <a:avLst/>
          </a:prstGeom>
          <a:noFill/>
          <a:ln/>
        </p:spPr>
        <p:txBody>
          <a:bodyPr wrap="square" lIns="0" tIns="0" rIns="0" bIns="0" rtlCol="0" anchor="t"/>
          <a:lstStyle/>
          <a:p>
            <a:pPr algn="l" indent="0" marL="0">
              <a:buNone/>
            </a:pPr>
            <a:r>
              <a:rPr lang="en-US" sz="900" dirty="0">
                <a:solidFill>
                  <a:srgbClr val="023520"/>
                </a:solidFill>
                <a:latin typeface="Arial" pitchFamily="34" charset="0"/>
                <a:ea typeface="Arial" pitchFamily="34" charset="-122"/>
                <a:cs typeface="Arial" pitchFamily="34" charset="-120"/>
              </a:rPr>
              <a:t>Base Oil + Additives Cost</a:t>
            </a:r>
            <a:endParaRPr lang="en-US" sz="900" dirty="0"/>
          </a:p>
        </p:txBody>
      </p:sp>
      <p:sp>
        <p:nvSpPr>
          <p:cNvPr id="9" name="Text 7"/>
          <p:cNvSpPr/>
          <p:nvPr/>
        </p:nvSpPr>
        <p:spPr>
          <a:xfrm>
            <a:off x="517475" y="1580108"/>
            <a:ext cx="4851374" cy="171450"/>
          </a:xfrm>
          <a:prstGeom prst="rect">
            <a:avLst/>
          </a:prstGeom>
          <a:noFill/>
          <a:ln/>
        </p:spPr>
        <p:txBody>
          <a:bodyPr wrap="square" lIns="0" tIns="0" rIns="0" bIns="0" rtlCol="0" anchor="t"/>
          <a:lstStyle/>
          <a:p>
            <a:pPr algn="l" indent="0" marL="0">
              <a:spcBef>
                <a:spcPts val="300"/>
              </a:spcBef>
              <a:buNone/>
            </a:pPr>
            <a:r>
              <a:rPr lang="en-US" sz="1200" b="1" dirty="0">
                <a:solidFill>
                  <a:srgbClr val="023520"/>
                </a:solidFill>
                <a:latin typeface="Arial" pitchFamily="34" charset="0"/>
                <a:ea typeface="Arial" pitchFamily="34" charset="-122"/>
                <a:cs typeface="Arial" pitchFamily="34" charset="-120"/>
              </a:rPr>
              <a:t>Rs 850/L</a:t>
            </a:r>
            <a:endParaRPr lang="en-US" sz="1200" dirty="0"/>
          </a:p>
        </p:txBody>
      </p:sp>
      <p:sp>
        <p:nvSpPr>
          <p:cNvPr id="10" name="Text 8"/>
          <p:cNvSpPr/>
          <p:nvPr/>
        </p:nvSpPr>
        <p:spPr>
          <a:xfrm>
            <a:off x="304749" y="1964085"/>
            <a:ext cx="5181701" cy="209550"/>
          </a:xfrm>
          <a:prstGeom prst="rect">
            <a:avLst/>
          </a:prstGeom>
          <a:noFill/>
          <a:ln/>
        </p:spPr>
        <p:txBody>
          <a:bodyPr wrap="square" lIns="0" tIns="0" rIns="0" bIns="0" rtlCol="0" anchor="t"/>
          <a:lstStyle/>
          <a:p>
            <a:pPr algn="ctr" indent="0" marL="0">
              <a:buNone/>
            </a:pPr>
            <a:r>
              <a:rPr lang="en-US" sz="1400" dirty="0">
                <a:solidFill>
                  <a:srgbClr val="AAAAAA"/>
                </a:solidFill>
                <a:latin typeface="Arial" pitchFamily="34" charset="0"/>
                <a:ea typeface="Arial" pitchFamily="34" charset="-122"/>
                <a:cs typeface="Arial" pitchFamily="34" charset="-120"/>
              </a:rPr>
              <a:t>+</a:t>
            </a:r>
            <a:endParaRPr lang="en-US" sz="1400" dirty="0"/>
          </a:p>
        </p:txBody>
      </p:sp>
      <p:sp>
        <p:nvSpPr>
          <p:cNvPr id="11" name="Text 9"/>
          <p:cNvSpPr/>
          <p:nvPr/>
        </p:nvSpPr>
        <p:spPr>
          <a:xfrm>
            <a:off x="355550" y="2198936"/>
            <a:ext cx="5080099" cy="564952"/>
          </a:xfrm>
          <a:prstGeom prst="roundRect">
            <a:avLst>
              <a:gd name="adj" fmla="val 8992"/>
            </a:avLst>
          </a:prstGeom>
          <a:solidFill>
            <a:srgbClr val="F0F0F0"/>
          </a:solidFill>
          <a:ln w="9525">
            <a:solidFill>
              <a:srgbClr val="AAAAAA"/>
            </a:solidFill>
          </a:ln>
        </p:spPr>
        <p:txBody>
          <a:bodyPr wrap="square" rtlCol="0" anchor="ctr"/>
          <a:lstStyle/>
          <a:p>
            <a:pPr indent="0" marL="0">
              <a:buNone/>
            </a:pPr>
            <a:endParaRPr lang="en-US" dirty="0"/>
          </a:p>
        </p:txBody>
      </p:sp>
      <p:sp>
        <p:nvSpPr>
          <p:cNvPr id="12" name="Text 10"/>
          <p:cNvSpPr/>
          <p:nvPr/>
        </p:nvSpPr>
        <p:spPr>
          <a:xfrm>
            <a:off x="517475" y="2309961"/>
            <a:ext cx="4851374" cy="133350"/>
          </a:xfrm>
          <a:prstGeom prst="rect">
            <a:avLst/>
          </a:prstGeom>
          <a:noFill/>
          <a:ln/>
        </p:spPr>
        <p:txBody>
          <a:bodyPr wrap="square" lIns="0" tIns="0" rIns="0" bIns="0" rtlCol="0" anchor="t"/>
          <a:lstStyle/>
          <a:p>
            <a:pPr algn="l" indent="0" marL="0">
              <a:buNone/>
            </a:pPr>
            <a:r>
              <a:rPr lang="en-US" sz="900" dirty="0">
                <a:solidFill>
                  <a:srgbClr val="444444"/>
                </a:solidFill>
                <a:latin typeface="Arial" pitchFamily="34" charset="0"/>
                <a:ea typeface="Arial" pitchFamily="34" charset="-122"/>
                <a:cs typeface="Arial" pitchFamily="34" charset="-120"/>
              </a:rPr>
              <a:t>Manufacturing + Fixed Overheads</a:t>
            </a:r>
            <a:endParaRPr lang="en-US" sz="900" dirty="0"/>
          </a:p>
        </p:txBody>
      </p:sp>
      <p:sp>
        <p:nvSpPr>
          <p:cNvPr id="13" name="Text 11"/>
          <p:cNvSpPr/>
          <p:nvPr/>
        </p:nvSpPr>
        <p:spPr>
          <a:xfrm>
            <a:off x="517475" y="2481411"/>
            <a:ext cx="4851374" cy="171450"/>
          </a:xfrm>
          <a:prstGeom prst="rect">
            <a:avLst/>
          </a:prstGeom>
          <a:noFill/>
          <a:ln/>
        </p:spPr>
        <p:txBody>
          <a:bodyPr wrap="square" lIns="0" tIns="0" rIns="0" bIns="0" rtlCol="0" anchor="t"/>
          <a:lstStyle/>
          <a:p>
            <a:pPr algn="l" indent="0" marL="0">
              <a:spcBef>
                <a:spcPts val="300"/>
              </a:spcBef>
              <a:buNone/>
            </a:pPr>
            <a:r>
              <a:rPr lang="en-US" sz="1200" b="1" dirty="0">
                <a:solidFill>
                  <a:srgbClr val="444444"/>
                </a:solidFill>
                <a:latin typeface="Arial" pitchFamily="34" charset="0"/>
                <a:ea typeface="Arial" pitchFamily="34" charset="-122"/>
                <a:cs typeface="Arial" pitchFamily="34" charset="-120"/>
              </a:rPr>
              <a:t>Rs 180/L</a:t>
            </a:r>
            <a:endParaRPr lang="en-US" sz="1200" dirty="0"/>
          </a:p>
        </p:txBody>
      </p:sp>
      <p:sp>
        <p:nvSpPr>
          <p:cNvPr id="14" name="Text 12"/>
          <p:cNvSpPr/>
          <p:nvPr/>
        </p:nvSpPr>
        <p:spPr>
          <a:xfrm>
            <a:off x="304749" y="2865388"/>
            <a:ext cx="5181701" cy="209550"/>
          </a:xfrm>
          <a:prstGeom prst="rect">
            <a:avLst/>
          </a:prstGeom>
          <a:noFill/>
          <a:ln/>
        </p:spPr>
        <p:txBody>
          <a:bodyPr wrap="square" lIns="0" tIns="0" rIns="0" bIns="0" rtlCol="0" anchor="t"/>
          <a:lstStyle/>
          <a:p>
            <a:pPr algn="ctr" indent="0" marL="0">
              <a:buNone/>
            </a:pPr>
            <a:r>
              <a:rPr lang="en-US" sz="1400" dirty="0">
                <a:solidFill>
                  <a:srgbClr val="AAAAAA"/>
                </a:solidFill>
                <a:latin typeface="Arial" pitchFamily="34" charset="0"/>
                <a:ea typeface="Arial" pitchFamily="34" charset="-122"/>
                <a:cs typeface="Arial" pitchFamily="34" charset="-120"/>
              </a:rPr>
              <a:t>+</a:t>
            </a:r>
            <a:endParaRPr lang="en-US" sz="1400" dirty="0"/>
          </a:p>
        </p:txBody>
      </p:sp>
      <p:sp>
        <p:nvSpPr>
          <p:cNvPr id="15" name="Text 13"/>
          <p:cNvSpPr/>
          <p:nvPr/>
        </p:nvSpPr>
        <p:spPr>
          <a:xfrm>
            <a:off x="355550" y="3100239"/>
            <a:ext cx="5080099" cy="564952"/>
          </a:xfrm>
          <a:prstGeom prst="roundRect">
            <a:avLst>
              <a:gd name="adj" fmla="val 8992"/>
            </a:avLst>
          </a:prstGeom>
          <a:solidFill>
            <a:srgbClr val="FFF8E6"/>
          </a:solidFill>
          <a:ln w="9525">
            <a:solidFill>
              <a:srgbClr val="C8960C"/>
            </a:solidFill>
          </a:ln>
        </p:spPr>
        <p:txBody>
          <a:bodyPr wrap="square" rtlCol="0" anchor="ctr"/>
          <a:lstStyle/>
          <a:p>
            <a:pPr indent="0" marL="0">
              <a:buNone/>
            </a:pPr>
            <a:endParaRPr lang="en-US" dirty="0"/>
          </a:p>
        </p:txBody>
      </p:sp>
      <p:sp>
        <p:nvSpPr>
          <p:cNvPr id="16" name="Text 14"/>
          <p:cNvSpPr/>
          <p:nvPr/>
        </p:nvSpPr>
        <p:spPr>
          <a:xfrm>
            <a:off x="517475" y="3211264"/>
            <a:ext cx="4851374" cy="133350"/>
          </a:xfrm>
          <a:prstGeom prst="rect">
            <a:avLst/>
          </a:prstGeom>
          <a:noFill/>
          <a:ln/>
        </p:spPr>
        <p:txBody>
          <a:bodyPr wrap="square" lIns="0" tIns="0" rIns="0" bIns="0" rtlCol="0" anchor="t"/>
          <a:lstStyle/>
          <a:p>
            <a:pPr algn="l" indent="0" marL="0">
              <a:buNone/>
            </a:pPr>
            <a:r>
              <a:rPr lang="en-US" sz="900" dirty="0">
                <a:solidFill>
                  <a:srgbClr val="7A5C00"/>
                </a:solidFill>
                <a:latin typeface="Arial" pitchFamily="34" charset="0"/>
                <a:ea typeface="Arial" pitchFamily="34" charset="-122"/>
                <a:cs typeface="Arial" pitchFamily="34" charset="-120"/>
              </a:rPr>
              <a:t>Target Gross Margin (20–30%)</a:t>
            </a:r>
            <a:endParaRPr lang="en-US" sz="900" dirty="0"/>
          </a:p>
        </p:txBody>
      </p:sp>
      <p:sp>
        <p:nvSpPr>
          <p:cNvPr id="17" name="Text 15"/>
          <p:cNvSpPr/>
          <p:nvPr/>
        </p:nvSpPr>
        <p:spPr>
          <a:xfrm>
            <a:off x="517475" y="3382714"/>
            <a:ext cx="4851374" cy="171450"/>
          </a:xfrm>
          <a:prstGeom prst="rect">
            <a:avLst/>
          </a:prstGeom>
          <a:noFill/>
          <a:ln/>
        </p:spPr>
        <p:txBody>
          <a:bodyPr wrap="square" lIns="0" tIns="0" rIns="0" bIns="0" rtlCol="0" anchor="t"/>
          <a:lstStyle/>
          <a:p>
            <a:pPr algn="l" indent="0" marL="0">
              <a:spcBef>
                <a:spcPts val="300"/>
              </a:spcBef>
              <a:buNone/>
            </a:pPr>
            <a:r>
              <a:rPr lang="en-US" sz="1200" b="1" dirty="0">
                <a:solidFill>
                  <a:srgbClr val="7A5C00"/>
                </a:solidFill>
                <a:latin typeface="Arial" pitchFamily="34" charset="0"/>
                <a:ea typeface="Arial" pitchFamily="34" charset="-122"/>
                <a:cs typeface="Arial" pitchFamily="34" charset="-120"/>
              </a:rPr>
              <a:t>Rs 230/L</a:t>
            </a:r>
            <a:endParaRPr lang="en-US" sz="1200" dirty="0"/>
          </a:p>
        </p:txBody>
      </p:sp>
      <p:sp>
        <p:nvSpPr>
          <p:cNvPr id="18" name="Text 16"/>
          <p:cNvSpPr/>
          <p:nvPr/>
        </p:nvSpPr>
        <p:spPr>
          <a:xfrm>
            <a:off x="304749" y="3766691"/>
            <a:ext cx="5181701" cy="209550"/>
          </a:xfrm>
          <a:prstGeom prst="rect">
            <a:avLst/>
          </a:prstGeom>
          <a:noFill/>
          <a:ln/>
        </p:spPr>
        <p:txBody>
          <a:bodyPr wrap="square" lIns="0" tIns="0" rIns="0" bIns="0" rtlCol="0" anchor="t"/>
          <a:lstStyle/>
          <a:p>
            <a:pPr algn="ctr" indent="0" marL="0">
              <a:buNone/>
            </a:pPr>
            <a:r>
              <a:rPr lang="en-US" sz="1400" dirty="0">
                <a:solidFill>
                  <a:srgbClr val="AAAAAA"/>
                </a:solidFill>
                <a:latin typeface="Arial" pitchFamily="34" charset="0"/>
                <a:ea typeface="Arial" pitchFamily="34" charset="-122"/>
                <a:cs typeface="Arial" pitchFamily="34" charset="-120"/>
              </a:rPr>
              <a:t>↓</a:t>
            </a:r>
            <a:endParaRPr lang="en-US" sz="1400" dirty="0"/>
          </a:p>
        </p:txBody>
      </p:sp>
      <p:sp>
        <p:nvSpPr>
          <p:cNvPr id="19" name="Text 17"/>
          <p:cNvSpPr/>
          <p:nvPr/>
        </p:nvSpPr>
        <p:spPr>
          <a:xfrm>
            <a:off x="355550" y="4001542"/>
            <a:ext cx="5080099" cy="545902"/>
          </a:xfrm>
          <a:prstGeom prst="roundRect">
            <a:avLst>
              <a:gd name="adj" fmla="val 9306"/>
            </a:avLst>
          </a:prstGeom>
          <a:solidFill>
            <a:srgbClr val="023520"/>
          </a:solidFill>
          <a:ln/>
        </p:spPr>
        <p:txBody>
          <a:bodyPr wrap="square" rtlCol="0" anchor="ctr"/>
          <a:lstStyle/>
          <a:p>
            <a:pPr indent="0" marL="0">
              <a:buNone/>
            </a:pPr>
            <a:endParaRPr lang="en-US" dirty="0"/>
          </a:p>
        </p:txBody>
      </p:sp>
      <p:sp>
        <p:nvSpPr>
          <p:cNvPr id="20" name="Text 18"/>
          <p:cNvSpPr/>
          <p:nvPr/>
        </p:nvSpPr>
        <p:spPr>
          <a:xfrm>
            <a:off x="507950" y="4103043"/>
            <a:ext cx="4870805" cy="133350"/>
          </a:xfrm>
          <a:prstGeom prst="rect">
            <a:avLst/>
          </a:prstGeom>
          <a:noFill/>
          <a:ln/>
        </p:spPr>
        <p:txBody>
          <a:bodyPr wrap="square" lIns="0" tIns="0" rIns="0" bIns="0" rtlCol="0" anchor="t"/>
          <a:lstStyle/>
          <a:p>
            <a:pPr algn="l" indent="0" marL="0">
              <a:buNone/>
            </a:pPr>
            <a:r>
              <a:rPr lang="en-US" sz="900" dirty="0">
                <a:solidFill>
                  <a:srgbClr val="A8D5BE"/>
                </a:solidFill>
                <a:latin typeface="Arial" pitchFamily="34" charset="0"/>
                <a:ea typeface="Arial" pitchFamily="34" charset="-122"/>
                <a:cs typeface="Arial" pitchFamily="34" charset="-120"/>
              </a:rPr>
              <a:t>Price Waterfall Floor</a:t>
            </a:r>
            <a:endParaRPr lang="en-US" sz="900" dirty="0"/>
          </a:p>
        </p:txBody>
      </p:sp>
      <p:sp>
        <p:nvSpPr>
          <p:cNvPr id="21" name="Text 19"/>
          <p:cNvSpPr/>
          <p:nvPr/>
        </p:nvSpPr>
        <p:spPr>
          <a:xfrm>
            <a:off x="507950" y="4274493"/>
            <a:ext cx="4870805" cy="171450"/>
          </a:xfrm>
          <a:prstGeom prst="rect">
            <a:avLst/>
          </a:prstGeom>
          <a:noFill/>
          <a:ln/>
        </p:spPr>
        <p:txBody>
          <a:bodyPr wrap="square" lIns="0" tIns="0" rIns="0" bIns="0" rtlCol="0" anchor="t"/>
          <a:lstStyle/>
          <a:p>
            <a:pPr algn="l" indent="0" marL="0">
              <a:spcBef>
                <a:spcPts val="300"/>
              </a:spcBef>
              <a:buNone/>
            </a:pPr>
            <a:r>
              <a:rPr lang="en-US" sz="1200" b="1" dirty="0">
                <a:solidFill>
                  <a:srgbClr val="FFFFFF"/>
                </a:solidFill>
                <a:latin typeface="Arial" pitchFamily="34" charset="0"/>
                <a:ea typeface="Arial" pitchFamily="34" charset="-122"/>
                <a:cs typeface="Arial" pitchFamily="34" charset="-120"/>
              </a:rPr>
              <a:t>Rs 1,260/L minimum</a:t>
            </a:r>
            <a:endParaRPr lang="en-US" sz="1200" dirty="0"/>
          </a:p>
        </p:txBody>
      </p:sp>
      <p:sp>
        <p:nvSpPr>
          <p:cNvPr id="22" name="Text 20"/>
          <p:cNvSpPr/>
          <p:nvPr/>
        </p:nvSpPr>
        <p:spPr>
          <a:xfrm>
            <a:off x="5740450" y="2112318"/>
            <a:ext cx="3048000" cy="1455241"/>
          </a:xfrm>
          <a:prstGeom prst="roundRect">
            <a:avLst>
              <a:gd name="adj" fmla="val 2618"/>
            </a:avLst>
          </a:prstGeom>
          <a:solidFill>
            <a:srgbClr val="F8F8F8"/>
          </a:solidFill>
          <a:ln/>
        </p:spPr>
        <p:txBody>
          <a:bodyPr wrap="square" rtlCol="0" anchor="ctr"/>
          <a:lstStyle/>
          <a:p>
            <a:pPr indent="0" marL="0">
              <a:buNone/>
            </a:pPr>
            <a:endParaRPr lang="en-US" dirty="0"/>
          </a:p>
        </p:txBody>
      </p:sp>
      <p:sp>
        <p:nvSpPr>
          <p:cNvPr id="23" name="Shape 21"/>
          <p:cNvSpPr/>
          <p:nvPr/>
        </p:nvSpPr>
        <p:spPr>
          <a:xfrm>
            <a:off x="5764262" y="2112318"/>
            <a:ext cx="0" cy="1455241"/>
          </a:xfrm>
          <a:prstGeom prst="line">
            <a:avLst/>
          </a:prstGeom>
          <a:noFill/>
          <a:ln w="47625">
            <a:solidFill>
              <a:srgbClr val="C8960C"/>
            </a:solidFill>
            <a:prstDash val="solid"/>
          </a:ln>
        </p:spPr>
      </p:sp>
      <p:sp>
        <p:nvSpPr>
          <p:cNvPr id="24" name="Text 22"/>
          <p:cNvSpPr/>
          <p:nvPr/>
        </p:nvSpPr>
        <p:spPr>
          <a:xfrm>
            <a:off x="5965775" y="2264718"/>
            <a:ext cx="2697873" cy="114300"/>
          </a:xfrm>
          <a:prstGeom prst="rect">
            <a:avLst/>
          </a:prstGeom>
          <a:noFill/>
          <a:ln/>
        </p:spPr>
        <p:txBody>
          <a:bodyPr wrap="square" lIns="0" tIns="0" rIns="0" bIns="0" rtlCol="0" anchor="t"/>
          <a:lstStyle/>
          <a:p>
            <a:pPr algn="l" indent="0" marL="0">
              <a:spcAft>
                <a:spcPts val="600"/>
              </a:spcAft>
              <a:buNone/>
            </a:pPr>
            <a:r>
              <a:rPr lang="en-US" sz="800" b="1" dirty="0">
                <a:solidFill>
                  <a:srgbClr val="C8960C"/>
                </a:solidFill>
                <a:latin typeface="Arial" pitchFamily="34" charset="0"/>
                <a:ea typeface="Arial" pitchFamily="34" charset="-122"/>
                <a:cs typeface="Arial" pitchFamily="34" charset="-120"/>
              </a:rPr>
              <a:t>WHY A HARD FLOOR?</a:t>
            </a:r>
            <a:endParaRPr lang="en-US" sz="800" dirty="0"/>
          </a:p>
        </p:txBody>
      </p:sp>
      <p:sp>
        <p:nvSpPr>
          <p:cNvPr id="25" name="Text 23"/>
          <p:cNvSpPr/>
          <p:nvPr/>
        </p:nvSpPr>
        <p:spPr>
          <a:xfrm>
            <a:off x="5965775" y="2455218"/>
            <a:ext cx="2697873" cy="959941"/>
          </a:xfrm>
          <a:prstGeom prst="rect">
            <a:avLst/>
          </a:prstGeom>
          <a:noFill/>
          <a:ln/>
        </p:spPr>
        <p:txBody>
          <a:bodyPr wrap="square" lIns="0" tIns="0" rIns="0" bIns="0" rtlCol="0" anchor="t"/>
          <a:lstStyle/>
          <a:p>
            <a:pPr algn="l" indent="0" marL="0">
              <a:lnSpc>
                <a:spcPts val="1260"/>
              </a:lnSpc>
              <a:buNone/>
            </a:pPr>
            <a:r>
              <a:rPr lang="en-US" sz="900" dirty="0">
                <a:solidFill>
                  <a:srgbClr val="333333"/>
                </a:solidFill>
                <a:latin typeface="Arial" pitchFamily="34" charset="0"/>
                <a:ea typeface="Arial" pitchFamily="34" charset="-122"/>
                <a:cs typeface="Arial" pitchFamily="34" charset="-120"/>
              </a:rPr>
              <a:t>The F4 waterfall is not a weighted input — it is an absolute override. No recommended price can fall below the cost-plus floor, regardless of what other frameworks suggest. This prevents margin inversion especially in the economy tier where competitive pressure is highest.</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36525"/>
          </a:xfrm>
          <a:prstGeom prst="rect">
            <a:avLst/>
          </a:prstGeom>
          <a:solidFill>
            <a:srgbClr val="00703C"/>
          </a:solidFill>
          <a:ln/>
        </p:spPr>
        <p:txBody>
          <a:bodyPr wrap="square" rtlCol="0" anchor="ctr"/>
          <a:lstStyle/>
          <a:p>
            <a:pPr indent="0" marL="0">
              <a:buNone/>
            </a:pPr>
            <a:endParaRPr lang="en-US" dirty="0"/>
          </a:p>
        </p:txBody>
      </p:sp>
      <p:sp>
        <p:nvSpPr>
          <p:cNvPr id="3" name="Text 1"/>
          <p:cNvSpPr/>
          <p:nvPr/>
        </p:nvSpPr>
        <p:spPr>
          <a:xfrm>
            <a:off x="355550" y="152400"/>
            <a:ext cx="2972943" cy="257175"/>
          </a:xfrm>
          <a:prstGeom prst="rect">
            <a:avLst/>
          </a:prstGeom>
          <a:noFill/>
          <a:ln/>
        </p:spPr>
        <p:txBody>
          <a:bodyPr wrap="square" lIns="0" tIns="0" rIns="0" bIns="0" rtlCol="0" anchor="t"/>
          <a:lstStyle/>
          <a:p>
            <a:pPr algn="l" indent="0" marL="0">
              <a:buNone/>
            </a:pPr>
            <a:r>
              <a:rPr lang="en-US" sz="1700" b="1" dirty="0">
                <a:solidFill>
                  <a:srgbClr val="FFFFFF"/>
                </a:solidFill>
                <a:latin typeface="Arial" pitchFamily="34" charset="0"/>
                <a:ea typeface="Arial" pitchFamily="34" charset="-122"/>
                <a:cs typeface="Arial" pitchFamily="34" charset="-120"/>
              </a:rPr>
              <a:t>F5 — Specification Premium</a:t>
            </a:r>
            <a:endParaRPr lang="en-US" sz="1700" dirty="0"/>
          </a:p>
        </p:txBody>
      </p:sp>
      <p:sp>
        <p:nvSpPr>
          <p:cNvPr id="4" name="Text 2"/>
          <p:cNvSpPr/>
          <p:nvPr/>
        </p:nvSpPr>
        <p:spPr>
          <a:xfrm>
            <a:off x="7842349" y="176213"/>
            <a:ext cx="946100" cy="209550"/>
          </a:xfrm>
          <a:prstGeom prst="roundRect">
            <a:avLst>
              <a:gd name="adj" fmla="val 18182"/>
            </a:avLst>
          </a:prstGeom>
          <a:solidFill>
            <a:srgbClr val="C8960C"/>
          </a:solidFill>
          <a:ln/>
        </p:spPr>
        <p:txBody>
          <a:bodyPr wrap="square" rtlCol="0" anchor="ctr"/>
          <a:lstStyle/>
          <a:p>
            <a:pPr indent="0" marL="0">
              <a:buNone/>
            </a:pPr>
            <a:endParaRPr lang="en-US" dirty="0"/>
          </a:p>
        </p:txBody>
      </p:sp>
      <p:sp>
        <p:nvSpPr>
          <p:cNvPr id="5" name="Text 3"/>
          <p:cNvSpPr/>
          <p:nvPr/>
        </p:nvSpPr>
        <p:spPr>
          <a:xfrm>
            <a:off x="7943850" y="214313"/>
            <a:ext cx="757961" cy="133350"/>
          </a:xfrm>
          <a:prstGeom prst="rect">
            <a:avLst/>
          </a:prstGeom>
          <a:noFill/>
          <a:ln/>
        </p:spPr>
        <p:txBody>
          <a:bodyPr wrap="square" lIns="0" tIns="0" rIns="0" bIns="0" rtlCol="0" anchor="t"/>
          <a:lstStyle/>
          <a:p>
            <a:pPr algn="l" indent="0" marL="0">
              <a:buNone/>
            </a:pPr>
            <a:r>
              <a:rPr lang="en-US" sz="900" b="1" dirty="0">
                <a:solidFill>
                  <a:srgbClr val="FFFFFF"/>
                </a:solidFill>
                <a:latin typeface="Arial" pitchFamily="34" charset="0"/>
                <a:ea typeface="Arial" pitchFamily="34" charset="-122"/>
                <a:cs typeface="Arial" pitchFamily="34" charset="-120"/>
              </a:rPr>
              <a:t>WEIGHT: 10%</a:t>
            </a:r>
            <a:endParaRPr lang="en-US" sz="900" dirty="0"/>
          </a:p>
        </p:txBody>
      </p:sp>
      <p:sp>
        <p:nvSpPr>
          <p:cNvPr id="6" name="Text 4"/>
          <p:cNvSpPr/>
          <p:nvPr/>
        </p:nvSpPr>
        <p:spPr>
          <a:xfrm>
            <a:off x="355550" y="739676"/>
            <a:ext cx="4974640" cy="114300"/>
          </a:xfrm>
          <a:prstGeom prst="rect">
            <a:avLst/>
          </a:prstGeom>
          <a:noFill/>
          <a:ln/>
        </p:spPr>
        <p:txBody>
          <a:bodyPr wrap="square" lIns="0" tIns="0" rIns="0" bIns="0" rtlCol="0" anchor="t"/>
          <a:lstStyle/>
          <a:p>
            <a:pPr algn="l" indent="0" marL="0">
              <a:spcAft>
                <a:spcPts val="1000"/>
              </a:spcAft>
              <a:buNone/>
            </a:pPr>
            <a:r>
              <a:rPr lang="en-US" sz="800" b="1" dirty="0">
                <a:solidFill>
                  <a:srgbClr val="C8960C"/>
                </a:solidFill>
                <a:latin typeface="Arial" pitchFamily="34" charset="0"/>
                <a:ea typeface="Arial" pitchFamily="34" charset="-122"/>
                <a:cs typeface="Arial" pitchFamily="34" charset="-120"/>
              </a:rPr>
              <a:t>SPEC UPLIFT TABLE</a:t>
            </a:r>
            <a:endParaRPr lang="en-US" sz="800" dirty="0"/>
          </a:p>
        </p:txBody>
      </p:sp>
      <p:sp>
        <p:nvSpPr>
          <p:cNvPr id="7" name="Text 5"/>
          <p:cNvSpPr/>
          <p:nvPr/>
        </p:nvSpPr>
        <p:spPr>
          <a:xfrm>
            <a:off x="355550" y="980926"/>
            <a:ext cx="4877098" cy="320576"/>
          </a:xfrm>
          <a:prstGeom prst="roundRect">
            <a:avLst>
              <a:gd name="adj" fmla="val 15846"/>
            </a:avLst>
          </a:prstGeom>
          <a:solidFill>
            <a:srgbClr val="F8F8F8"/>
          </a:solidFill>
          <a:ln/>
        </p:spPr>
        <p:txBody>
          <a:bodyPr wrap="square" rtlCol="0" anchor="ctr"/>
          <a:lstStyle/>
          <a:p>
            <a:pPr indent="0" marL="0">
              <a:buNone/>
            </a:pPr>
            <a:endParaRPr lang="en-US" dirty="0"/>
          </a:p>
        </p:txBody>
      </p:sp>
      <p:sp>
        <p:nvSpPr>
          <p:cNvPr id="8" name="Shape 6"/>
          <p:cNvSpPr/>
          <p:nvPr/>
        </p:nvSpPr>
        <p:spPr>
          <a:xfrm>
            <a:off x="374600" y="980926"/>
            <a:ext cx="0" cy="320576"/>
          </a:xfrm>
          <a:prstGeom prst="line">
            <a:avLst/>
          </a:prstGeom>
          <a:noFill/>
          <a:ln w="38100">
            <a:solidFill>
              <a:srgbClr val="00703C"/>
            </a:solidFill>
            <a:prstDash val="solid"/>
          </a:ln>
        </p:spPr>
      </p:sp>
      <p:sp>
        <p:nvSpPr>
          <p:cNvPr id="9" name="Text 7"/>
          <p:cNvSpPr/>
          <p:nvPr/>
        </p:nvSpPr>
        <p:spPr>
          <a:xfrm>
            <a:off x="520601" y="1074539"/>
            <a:ext cx="4125748" cy="133350"/>
          </a:xfrm>
          <a:prstGeom prst="rect">
            <a:avLst/>
          </a:prstGeom>
          <a:noFill/>
          <a:ln/>
        </p:spPr>
        <p:txBody>
          <a:bodyPr wrap="square" lIns="0" tIns="0" rIns="0" bIns="0" rtlCol="0" anchor="t"/>
          <a:lstStyle/>
          <a:p>
            <a:pPr algn="l" indent="0" marL="0">
              <a:buNone/>
            </a:pPr>
            <a:r>
              <a:rPr lang="en-US" sz="900" b="1" dirty="0">
                <a:solidFill>
                  <a:srgbClr val="023520"/>
                </a:solidFill>
                <a:latin typeface="Arial" pitchFamily="34" charset="0"/>
                <a:ea typeface="Arial" pitchFamily="34" charset="-122"/>
                <a:cs typeface="Arial" pitchFamily="34" charset="-120"/>
              </a:rPr>
              <a:t>Full Synthetic (0W-20, 5W-20)</a:t>
            </a:r>
            <a:endParaRPr lang="en-US" sz="900" dirty="0"/>
          </a:p>
        </p:txBody>
      </p:sp>
      <p:sp>
        <p:nvSpPr>
          <p:cNvPr id="10" name="Text 8"/>
          <p:cNvSpPr/>
          <p:nvPr/>
        </p:nvSpPr>
        <p:spPr>
          <a:xfrm>
            <a:off x="4565452" y="1069777"/>
            <a:ext cx="551051" cy="142875"/>
          </a:xfrm>
          <a:prstGeom prst="rect">
            <a:avLst/>
          </a:prstGeom>
          <a:noFill/>
          <a:ln/>
        </p:spPr>
        <p:txBody>
          <a:bodyPr wrap="square" lIns="0" tIns="0" rIns="0" bIns="0" rtlCol="0" anchor="t"/>
          <a:lstStyle/>
          <a:p>
            <a:pPr algn="l" indent="0" marL="0">
              <a:buNone/>
            </a:pPr>
            <a:r>
              <a:rPr lang="en-US" sz="1000" b="1" dirty="0">
                <a:solidFill>
                  <a:srgbClr val="C8960C"/>
                </a:solidFill>
                <a:latin typeface="Arial" pitchFamily="34" charset="0"/>
                <a:ea typeface="Arial" pitchFamily="34" charset="-122"/>
                <a:cs typeface="Arial" pitchFamily="34" charset="-120"/>
              </a:rPr>
              <a:t>+25–30%</a:t>
            </a:r>
            <a:endParaRPr lang="en-US" sz="1000" dirty="0"/>
          </a:p>
        </p:txBody>
      </p:sp>
      <p:sp>
        <p:nvSpPr>
          <p:cNvPr id="11" name="Text 9"/>
          <p:cNvSpPr/>
          <p:nvPr/>
        </p:nvSpPr>
        <p:spPr>
          <a:xfrm>
            <a:off x="355550" y="1403003"/>
            <a:ext cx="4877098" cy="320576"/>
          </a:xfrm>
          <a:prstGeom prst="roundRect">
            <a:avLst>
              <a:gd name="adj" fmla="val 15846"/>
            </a:avLst>
          </a:prstGeom>
          <a:solidFill>
            <a:srgbClr val="F8F8F8"/>
          </a:solidFill>
          <a:ln/>
        </p:spPr>
        <p:txBody>
          <a:bodyPr wrap="square" rtlCol="0" anchor="ctr"/>
          <a:lstStyle/>
          <a:p>
            <a:pPr indent="0" marL="0">
              <a:buNone/>
            </a:pPr>
            <a:endParaRPr lang="en-US" dirty="0"/>
          </a:p>
        </p:txBody>
      </p:sp>
      <p:sp>
        <p:nvSpPr>
          <p:cNvPr id="12" name="Shape 10"/>
          <p:cNvSpPr/>
          <p:nvPr/>
        </p:nvSpPr>
        <p:spPr>
          <a:xfrm>
            <a:off x="374600" y="1403003"/>
            <a:ext cx="0" cy="320576"/>
          </a:xfrm>
          <a:prstGeom prst="line">
            <a:avLst/>
          </a:prstGeom>
          <a:noFill/>
          <a:ln w="38100">
            <a:solidFill>
              <a:srgbClr val="00703C"/>
            </a:solidFill>
            <a:prstDash val="solid"/>
          </a:ln>
        </p:spPr>
      </p:sp>
      <p:sp>
        <p:nvSpPr>
          <p:cNvPr id="13" name="Text 11"/>
          <p:cNvSpPr/>
          <p:nvPr/>
        </p:nvSpPr>
        <p:spPr>
          <a:xfrm>
            <a:off x="520601" y="1496616"/>
            <a:ext cx="4125748" cy="133350"/>
          </a:xfrm>
          <a:prstGeom prst="rect">
            <a:avLst/>
          </a:prstGeom>
          <a:noFill/>
          <a:ln/>
        </p:spPr>
        <p:txBody>
          <a:bodyPr wrap="square" lIns="0" tIns="0" rIns="0" bIns="0" rtlCol="0" anchor="t"/>
          <a:lstStyle/>
          <a:p>
            <a:pPr algn="l" indent="0" marL="0">
              <a:buNone/>
            </a:pPr>
            <a:r>
              <a:rPr lang="en-US" sz="900" b="1" dirty="0">
                <a:solidFill>
                  <a:srgbClr val="023520"/>
                </a:solidFill>
                <a:latin typeface="Arial" pitchFamily="34" charset="0"/>
                <a:ea typeface="Arial" pitchFamily="34" charset="-122"/>
                <a:cs typeface="Arial" pitchFamily="34" charset="-120"/>
              </a:rPr>
              <a:t>Full Synthetic (5W-30, 5W-40)</a:t>
            </a:r>
            <a:endParaRPr lang="en-US" sz="900" dirty="0"/>
          </a:p>
        </p:txBody>
      </p:sp>
      <p:sp>
        <p:nvSpPr>
          <p:cNvPr id="14" name="Text 12"/>
          <p:cNvSpPr/>
          <p:nvPr/>
        </p:nvSpPr>
        <p:spPr>
          <a:xfrm>
            <a:off x="4565452" y="1491853"/>
            <a:ext cx="551051" cy="142875"/>
          </a:xfrm>
          <a:prstGeom prst="rect">
            <a:avLst/>
          </a:prstGeom>
          <a:noFill/>
          <a:ln/>
        </p:spPr>
        <p:txBody>
          <a:bodyPr wrap="square" lIns="0" tIns="0" rIns="0" bIns="0" rtlCol="0" anchor="t"/>
          <a:lstStyle/>
          <a:p>
            <a:pPr algn="l" indent="0" marL="0">
              <a:buNone/>
            </a:pPr>
            <a:r>
              <a:rPr lang="en-US" sz="1000" b="1" dirty="0">
                <a:solidFill>
                  <a:srgbClr val="C8960C"/>
                </a:solidFill>
                <a:latin typeface="Arial" pitchFamily="34" charset="0"/>
                <a:ea typeface="Arial" pitchFamily="34" charset="-122"/>
                <a:cs typeface="Arial" pitchFamily="34" charset="-120"/>
              </a:rPr>
              <a:t>+18–22%</a:t>
            </a:r>
            <a:endParaRPr lang="en-US" sz="1000" dirty="0"/>
          </a:p>
        </p:txBody>
      </p:sp>
      <p:sp>
        <p:nvSpPr>
          <p:cNvPr id="15" name="Text 13"/>
          <p:cNvSpPr/>
          <p:nvPr/>
        </p:nvSpPr>
        <p:spPr>
          <a:xfrm>
            <a:off x="355550" y="1825079"/>
            <a:ext cx="4877098" cy="320576"/>
          </a:xfrm>
          <a:prstGeom prst="roundRect">
            <a:avLst>
              <a:gd name="adj" fmla="val 15846"/>
            </a:avLst>
          </a:prstGeom>
          <a:solidFill>
            <a:srgbClr val="F8F8F8"/>
          </a:solidFill>
          <a:ln/>
        </p:spPr>
        <p:txBody>
          <a:bodyPr wrap="square" rtlCol="0" anchor="ctr"/>
          <a:lstStyle/>
          <a:p>
            <a:pPr indent="0" marL="0">
              <a:buNone/>
            </a:pPr>
            <a:endParaRPr lang="en-US" dirty="0"/>
          </a:p>
        </p:txBody>
      </p:sp>
      <p:sp>
        <p:nvSpPr>
          <p:cNvPr id="16" name="Shape 14"/>
          <p:cNvSpPr/>
          <p:nvPr/>
        </p:nvSpPr>
        <p:spPr>
          <a:xfrm>
            <a:off x="374600" y="1825079"/>
            <a:ext cx="0" cy="320576"/>
          </a:xfrm>
          <a:prstGeom prst="line">
            <a:avLst/>
          </a:prstGeom>
          <a:noFill/>
          <a:ln w="38100">
            <a:solidFill>
              <a:srgbClr val="00703C"/>
            </a:solidFill>
            <a:prstDash val="solid"/>
          </a:ln>
        </p:spPr>
      </p:sp>
      <p:sp>
        <p:nvSpPr>
          <p:cNvPr id="17" name="Text 15"/>
          <p:cNvSpPr/>
          <p:nvPr/>
        </p:nvSpPr>
        <p:spPr>
          <a:xfrm>
            <a:off x="520601" y="1918692"/>
            <a:ext cx="4125748" cy="133350"/>
          </a:xfrm>
          <a:prstGeom prst="rect">
            <a:avLst/>
          </a:prstGeom>
          <a:noFill/>
          <a:ln/>
        </p:spPr>
        <p:txBody>
          <a:bodyPr wrap="square" lIns="0" tIns="0" rIns="0" bIns="0" rtlCol="0" anchor="t"/>
          <a:lstStyle/>
          <a:p>
            <a:pPr algn="l" indent="0" marL="0">
              <a:buNone/>
            </a:pPr>
            <a:r>
              <a:rPr lang="en-US" sz="900" b="1" dirty="0">
                <a:solidFill>
                  <a:srgbClr val="023520"/>
                </a:solidFill>
                <a:latin typeface="Arial" pitchFamily="34" charset="0"/>
                <a:ea typeface="Arial" pitchFamily="34" charset="-122"/>
                <a:cs typeface="Arial" pitchFamily="34" charset="-120"/>
              </a:rPr>
              <a:t>Semi-Synthetic (10W-40)</a:t>
            </a:r>
            <a:endParaRPr lang="en-US" sz="900" dirty="0"/>
          </a:p>
        </p:txBody>
      </p:sp>
      <p:sp>
        <p:nvSpPr>
          <p:cNvPr id="18" name="Text 16"/>
          <p:cNvSpPr/>
          <p:nvPr/>
        </p:nvSpPr>
        <p:spPr>
          <a:xfrm>
            <a:off x="4565452" y="1913930"/>
            <a:ext cx="551051" cy="142875"/>
          </a:xfrm>
          <a:prstGeom prst="rect">
            <a:avLst/>
          </a:prstGeom>
          <a:noFill/>
          <a:ln/>
        </p:spPr>
        <p:txBody>
          <a:bodyPr wrap="square" lIns="0" tIns="0" rIns="0" bIns="0" rtlCol="0" anchor="t"/>
          <a:lstStyle/>
          <a:p>
            <a:pPr algn="l" indent="0" marL="0">
              <a:buNone/>
            </a:pPr>
            <a:r>
              <a:rPr lang="en-US" sz="1000" b="1" dirty="0">
                <a:solidFill>
                  <a:srgbClr val="C8960C"/>
                </a:solidFill>
                <a:latin typeface="Arial" pitchFamily="34" charset="0"/>
                <a:ea typeface="Arial" pitchFamily="34" charset="-122"/>
                <a:cs typeface="Arial" pitchFamily="34" charset="-120"/>
              </a:rPr>
              <a:t>+10–14%</a:t>
            </a:r>
            <a:endParaRPr lang="en-US" sz="1000" dirty="0"/>
          </a:p>
        </p:txBody>
      </p:sp>
      <p:sp>
        <p:nvSpPr>
          <p:cNvPr id="19" name="Text 17"/>
          <p:cNvSpPr/>
          <p:nvPr/>
        </p:nvSpPr>
        <p:spPr>
          <a:xfrm>
            <a:off x="355550" y="2247156"/>
            <a:ext cx="4877098" cy="320576"/>
          </a:xfrm>
          <a:prstGeom prst="roundRect">
            <a:avLst>
              <a:gd name="adj" fmla="val 15846"/>
            </a:avLst>
          </a:prstGeom>
          <a:solidFill>
            <a:srgbClr val="F8F8F8"/>
          </a:solidFill>
          <a:ln/>
        </p:spPr>
        <p:txBody>
          <a:bodyPr wrap="square" rtlCol="0" anchor="ctr"/>
          <a:lstStyle/>
          <a:p>
            <a:pPr indent="0" marL="0">
              <a:buNone/>
            </a:pPr>
            <a:endParaRPr lang="en-US" dirty="0"/>
          </a:p>
        </p:txBody>
      </p:sp>
      <p:sp>
        <p:nvSpPr>
          <p:cNvPr id="20" name="Shape 18"/>
          <p:cNvSpPr/>
          <p:nvPr/>
        </p:nvSpPr>
        <p:spPr>
          <a:xfrm>
            <a:off x="374600" y="2247156"/>
            <a:ext cx="0" cy="320576"/>
          </a:xfrm>
          <a:prstGeom prst="line">
            <a:avLst/>
          </a:prstGeom>
          <a:noFill/>
          <a:ln w="38100">
            <a:solidFill>
              <a:srgbClr val="00703C"/>
            </a:solidFill>
            <a:prstDash val="solid"/>
          </a:ln>
        </p:spPr>
      </p:sp>
      <p:sp>
        <p:nvSpPr>
          <p:cNvPr id="21" name="Text 19"/>
          <p:cNvSpPr/>
          <p:nvPr/>
        </p:nvSpPr>
        <p:spPr>
          <a:xfrm>
            <a:off x="520601" y="2340769"/>
            <a:ext cx="4143964" cy="133350"/>
          </a:xfrm>
          <a:prstGeom prst="rect">
            <a:avLst/>
          </a:prstGeom>
          <a:noFill/>
          <a:ln/>
        </p:spPr>
        <p:txBody>
          <a:bodyPr wrap="square" lIns="0" tIns="0" rIns="0" bIns="0" rtlCol="0" anchor="t"/>
          <a:lstStyle/>
          <a:p>
            <a:pPr algn="l" indent="0" marL="0">
              <a:buNone/>
            </a:pPr>
            <a:r>
              <a:rPr lang="en-US" sz="900" b="1" dirty="0">
                <a:solidFill>
                  <a:srgbClr val="023520"/>
                </a:solidFill>
                <a:latin typeface="Arial" pitchFamily="34" charset="0"/>
                <a:ea typeface="Arial" pitchFamily="34" charset="-122"/>
                <a:cs typeface="Arial" pitchFamily="34" charset="-120"/>
              </a:rPr>
              <a:t>Mineral (15W-40)</a:t>
            </a:r>
            <a:endParaRPr lang="en-US" sz="900" dirty="0"/>
          </a:p>
        </p:txBody>
      </p:sp>
      <p:sp>
        <p:nvSpPr>
          <p:cNvPr id="22" name="Text 20"/>
          <p:cNvSpPr/>
          <p:nvPr/>
        </p:nvSpPr>
        <p:spPr>
          <a:xfrm>
            <a:off x="4583311" y="2336006"/>
            <a:ext cx="532834" cy="142875"/>
          </a:xfrm>
          <a:prstGeom prst="rect">
            <a:avLst/>
          </a:prstGeom>
          <a:noFill/>
          <a:ln/>
        </p:spPr>
        <p:txBody>
          <a:bodyPr wrap="square" lIns="0" tIns="0" rIns="0" bIns="0" rtlCol="0" anchor="t"/>
          <a:lstStyle/>
          <a:p>
            <a:pPr algn="l" indent="0" marL="0">
              <a:buNone/>
            </a:pPr>
            <a:r>
              <a:rPr lang="en-US" sz="1000" b="1" dirty="0">
                <a:solidFill>
                  <a:srgbClr val="C8960C"/>
                </a:solidFill>
                <a:latin typeface="Arial" pitchFamily="34" charset="0"/>
                <a:ea typeface="Arial" pitchFamily="34" charset="-122"/>
                <a:cs typeface="Arial" pitchFamily="34" charset="-120"/>
              </a:rPr>
              <a:t>Baseline</a:t>
            </a:r>
            <a:endParaRPr lang="en-US" sz="1000" dirty="0"/>
          </a:p>
        </p:txBody>
      </p:sp>
      <p:sp>
        <p:nvSpPr>
          <p:cNvPr id="23" name="Text 21"/>
          <p:cNvSpPr/>
          <p:nvPr/>
        </p:nvSpPr>
        <p:spPr>
          <a:xfrm>
            <a:off x="355550" y="2669232"/>
            <a:ext cx="4877098" cy="320576"/>
          </a:xfrm>
          <a:prstGeom prst="roundRect">
            <a:avLst>
              <a:gd name="adj" fmla="val 15846"/>
            </a:avLst>
          </a:prstGeom>
          <a:solidFill>
            <a:srgbClr val="F8F8F8"/>
          </a:solidFill>
          <a:ln/>
        </p:spPr>
        <p:txBody>
          <a:bodyPr wrap="square" rtlCol="0" anchor="ctr"/>
          <a:lstStyle/>
          <a:p>
            <a:pPr indent="0" marL="0">
              <a:buNone/>
            </a:pPr>
            <a:endParaRPr lang="en-US" dirty="0"/>
          </a:p>
        </p:txBody>
      </p:sp>
      <p:sp>
        <p:nvSpPr>
          <p:cNvPr id="24" name="Shape 22"/>
          <p:cNvSpPr/>
          <p:nvPr/>
        </p:nvSpPr>
        <p:spPr>
          <a:xfrm>
            <a:off x="374600" y="2669232"/>
            <a:ext cx="0" cy="320576"/>
          </a:xfrm>
          <a:prstGeom prst="line">
            <a:avLst/>
          </a:prstGeom>
          <a:noFill/>
          <a:ln w="38100">
            <a:solidFill>
              <a:srgbClr val="00703C"/>
            </a:solidFill>
            <a:prstDash val="solid"/>
          </a:ln>
        </p:spPr>
      </p:sp>
      <p:sp>
        <p:nvSpPr>
          <p:cNvPr id="25" name="Text 23"/>
          <p:cNvSpPr/>
          <p:nvPr/>
        </p:nvSpPr>
        <p:spPr>
          <a:xfrm>
            <a:off x="520601" y="2762845"/>
            <a:ext cx="4197855" cy="133350"/>
          </a:xfrm>
          <a:prstGeom prst="rect">
            <a:avLst/>
          </a:prstGeom>
          <a:noFill/>
          <a:ln/>
        </p:spPr>
        <p:txBody>
          <a:bodyPr wrap="square" lIns="0" tIns="0" rIns="0" bIns="0" rtlCol="0" anchor="t"/>
          <a:lstStyle/>
          <a:p>
            <a:pPr algn="l" indent="0" marL="0">
              <a:buNone/>
            </a:pPr>
            <a:r>
              <a:rPr lang="en-US" sz="900" b="1" dirty="0">
                <a:solidFill>
                  <a:srgbClr val="023520"/>
                </a:solidFill>
                <a:latin typeface="Arial" pitchFamily="34" charset="0"/>
                <a:ea typeface="Arial" pitchFamily="34" charset="-122"/>
                <a:cs typeface="Arial" pitchFamily="34" charset="-120"/>
              </a:rPr>
              <a:t>Mineral (20W-50)</a:t>
            </a:r>
            <a:endParaRPr lang="en-US" sz="900" dirty="0"/>
          </a:p>
        </p:txBody>
      </p:sp>
      <p:sp>
        <p:nvSpPr>
          <p:cNvPr id="26" name="Text 24"/>
          <p:cNvSpPr/>
          <p:nvPr/>
        </p:nvSpPr>
        <p:spPr>
          <a:xfrm>
            <a:off x="4636145" y="2758083"/>
            <a:ext cx="478944" cy="142875"/>
          </a:xfrm>
          <a:prstGeom prst="rect">
            <a:avLst/>
          </a:prstGeom>
          <a:noFill/>
          <a:ln/>
        </p:spPr>
        <p:txBody>
          <a:bodyPr wrap="square" lIns="0" tIns="0" rIns="0" bIns="0" rtlCol="0" anchor="t"/>
          <a:lstStyle/>
          <a:p>
            <a:pPr algn="l" indent="0" marL="0">
              <a:buNone/>
            </a:pPr>
            <a:r>
              <a:rPr lang="en-US" sz="1000" b="1" dirty="0">
                <a:solidFill>
                  <a:srgbClr val="C8960C"/>
                </a:solidFill>
                <a:latin typeface="Arial" pitchFamily="34" charset="0"/>
                <a:ea typeface="Arial" pitchFamily="34" charset="-122"/>
                <a:cs typeface="Arial" pitchFamily="34" charset="-120"/>
              </a:rPr>
              <a:t>−8–10%</a:t>
            </a:r>
            <a:endParaRPr lang="en-US" sz="1000" dirty="0"/>
          </a:p>
        </p:txBody>
      </p:sp>
      <p:sp>
        <p:nvSpPr>
          <p:cNvPr id="27" name="Text 25"/>
          <p:cNvSpPr/>
          <p:nvPr/>
        </p:nvSpPr>
        <p:spPr>
          <a:xfrm>
            <a:off x="355550" y="3116759"/>
            <a:ext cx="4974640" cy="114300"/>
          </a:xfrm>
          <a:prstGeom prst="rect">
            <a:avLst/>
          </a:prstGeom>
          <a:noFill/>
          <a:ln/>
        </p:spPr>
        <p:txBody>
          <a:bodyPr wrap="square" lIns="0" tIns="0" rIns="0" bIns="0" rtlCol="0" anchor="t"/>
          <a:lstStyle/>
          <a:p>
            <a:pPr algn="l" indent="0" marL="0">
              <a:spcBef>
                <a:spcPts val="1000"/>
              </a:spcBef>
              <a:buNone/>
            </a:pPr>
            <a:r>
              <a:rPr lang="en-US" sz="800" dirty="0">
                <a:solidFill>
                  <a:srgbClr val="555555"/>
                </a:solidFill>
                <a:latin typeface="Arial" pitchFamily="34" charset="0"/>
                <a:ea typeface="Arial" pitchFamily="34" charset="-122"/>
                <a:cs typeface="Arial" pitchFamily="34" charset="-120"/>
              </a:rPr>
              <a:t>Uplift vs mineral 15W-40 baseline. Source: API/ACEA production cost ratios.</a:t>
            </a:r>
            <a:endParaRPr lang="en-US" sz="800" dirty="0"/>
          </a:p>
        </p:txBody>
      </p:sp>
      <p:sp>
        <p:nvSpPr>
          <p:cNvPr id="28" name="Text 26"/>
          <p:cNvSpPr/>
          <p:nvPr/>
        </p:nvSpPr>
        <p:spPr>
          <a:xfrm>
            <a:off x="5486549" y="739676"/>
            <a:ext cx="3367939" cy="114300"/>
          </a:xfrm>
          <a:prstGeom prst="rect">
            <a:avLst/>
          </a:prstGeom>
          <a:noFill/>
          <a:ln/>
        </p:spPr>
        <p:txBody>
          <a:bodyPr wrap="square" lIns="0" tIns="0" rIns="0" bIns="0" rtlCol="0" anchor="t"/>
          <a:lstStyle/>
          <a:p>
            <a:pPr algn="l" indent="0" marL="0">
              <a:spcAft>
                <a:spcPts val="600"/>
              </a:spcAft>
              <a:buNone/>
            </a:pPr>
            <a:r>
              <a:rPr lang="en-US" sz="800" dirty="0">
                <a:solidFill>
                  <a:srgbClr val="555555"/>
                </a:solidFill>
                <a:latin typeface="Arial" pitchFamily="34" charset="0"/>
                <a:ea typeface="Arial" pitchFamily="34" charset="-122"/>
                <a:cs typeface="Arial" pitchFamily="34" charset="-120"/>
              </a:rPr>
              <a:t>Spec Premium Impact on Carient Ultra Price/L (PKR)</a:t>
            </a:r>
            <a:endParaRPr lang="en-US" sz="800" dirty="0"/>
          </a:p>
        </p:txBody>
      </p:sp>
      <p:sp>
        <p:nvSpPr>
          <p:cNvPr id="29" name="Text 27"/>
          <p:cNvSpPr/>
          <p:nvPr/>
        </p:nvSpPr>
        <p:spPr>
          <a:xfrm>
            <a:off x="5486549" y="930176"/>
            <a:ext cx="3301901" cy="19050"/>
          </a:xfrm>
          <a:prstGeom prst="roundRect">
            <a:avLst>
              <a:gd name="adj" fmla="val 266667"/>
            </a:avLst>
          </a:prstGeom>
          <a:solidFill>
            <a:srgbClr val="F0F8F4"/>
          </a:solidFill>
          <a:ln w="9525">
            <a:solidFill>
              <a:srgbClr val="00703C"/>
            </a:solidFill>
          </a:ln>
        </p:spPr>
        <p:txBody>
          <a:bodyPr wrap="square" rtlCol="0" anchor="ctr"/>
          <a:lstStyle/>
          <a:p>
            <a:pPr indent="0" marL="0">
              <a:buNone/>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36525"/>
          </a:xfrm>
          <a:prstGeom prst="rect">
            <a:avLst/>
          </a:prstGeom>
          <a:solidFill>
            <a:srgbClr val="00703C"/>
          </a:solidFill>
          <a:ln/>
        </p:spPr>
        <p:txBody>
          <a:bodyPr wrap="square" rtlCol="0" anchor="ctr"/>
          <a:lstStyle/>
          <a:p>
            <a:pPr indent="0" marL="0">
              <a:buNone/>
            </a:pPr>
            <a:endParaRPr lang="en-US" dirty="0"/>
          </a:p>
        </p:txBody>
      </p:sp>
      <p:sp>
        <p:nvSpPr>
          <p:cNvPr id="3" name="Text 1"/>
          <p:cNvSpPr/>
          <p:nvPr/>
        </p:nvSpPr>
        <p:spPr>
          <a:xfrm>
            <a:off x="355550" y="152400"/>
            <a:ext cx="3339551" cy="257175"/>
          </a:xfrm>
          <a:prstGeom prst="rect">
            <a:avLst/>
          </a:prstGeom>
          <a:noFill/>
          <a:ln/>
        </p:spPr>
        <p:txBody>
          <a:bodyPr wrap="square" lIns="0" tIns="0" rIns="0" bIns="0" rtlCol="0" anchor="t"/>
          <a:lstStyle/>
          <a:p>
            <a:pPr algn="l" indent="0" marL="0">
              <a:buNone/>
            </a:pPr>
            <a:r>
              <a:rPr lang="en-US" sz="1700" b="1" dirty="0">
                <a:solidFill>
                  <a:srgbClr val="FFFFFF"/>
                </a:solidFill>
                <a:latin typeface="Arial" pitchFamily="34" charset="0"/>
                <a:ea typeface="Arial" pitchFamily="34" charset="-122"/>
                <a:cs typeface="Arial" pitchFamily="34" charset="-120"/>
              </a:rPr>
              <a:t>F6 — Geographic Segmentation</a:t>
            </a:r>
            <a:endParaRPr lang="en-US" sz="1700" dirty="0"/>
          </a:p>
        </p:txBody>
      </p:sp>
      <p:sp>
        <p:nvSpPr>
          <p:cNvPr id="4" name="Text 2"/>
          <p:cNvSpPr/>
          <p:nvPr/>
        </p:nvSpPr>
        <p:spPr>
          <a:xfrm>
            <a:off x="7080498" y="176213"/>
            <a:ext cx="1707952" cy="209550"/>
          </a:xfrm>
          <a:prstGeom prst="roundRect">
            <a:avLst>
              <a:gd name="adj" fmla="val 18182"/>
            </a:avLst>
          </a:prstGeom>
          <a:solidFill>
            <a:srgbClr val="555555"/>
          </a:solidFill>
          <a:ln/>
        </p:spPr>
        <p:txBody>
          <a:bodyPr wrap="square" rtlCol="0" anchor="ctr"/>
          <a:lstStyle/>
          <a:p>
            <a:pPr indent="0" marL="0">
              <a:buNone/>
            </a:pPr>
            <a:endParaRPr lang="en-US" dirty="0"/>
          </a:p>
        </p:txBody>
      </p:sp>
      <p:sp>
        <p:nvSpPr>
          <p:cNvPr id="5" name="Text 3"/>
          <p:cNvSpPr/>
          <p:nvPr/>
        </p:nvSpPr>
        <p:spPr>
          <a:xfrm>
            <a:off x="7181999" y="214313"/>
            <a:ext cx="1535049" cy="133350"/>
          </a:xfrm>
          <a:prstGeom prst="rect">
            <a:avLst/>
          </a:prstGeom>
          <a:noFill/>
          <a:ln/>
        </p:spPr>
        <p:txBody>
          <a:bodyPr wrap="square" lIns="0" tIns="0" rIns="0" bIns="0" rtlCol="0" anchor="t"/>
          <a:lstStyle/>
          <a:p>
            <a:pPr algn="l" indent="0" marL="0">
              <a:buNone/>
            </a:pPr>
            <a:r>
              <a:rPr lang="en-US" sz="900" b="1" dirty="0">
                <a:solidFill>
                  <a:srgbClr val="FFFFFF"/>
                </a:solidFill>
                <a:latin typeface="Arial" pitchFamily="34" charset="0"/>
                <a:ea typeface="Arial" pitchFamily="34" charset="-122"/>
                <a:cs typeface="Arial" pitchFamily="34" charset="-120"/>
              </a:rPr>
              <a:t>REFERENCE FRAMEWORK</a:t>
            </a:r>
            <a:endParaRPr lang="en-US" sz="900" dirty="0"/>
          </a:p>
        </p:txBody>
      </p:sp>
      <p:sp>
        <p:nvSpPr>
          <p:cNvPr id="6" name="Text 4"/>
          <p:cNvSpPr/>
          <p:nvPr/>
        </p:nvSpPr>
        <p:spPr>
          <a:xfrm>
            <a:off x="304800" y="1646634"/>
            <a:ext cx="2539901" cy="704552"/>
          </a:xfrm>
          <a:prstGeom prst="roundRect">
            <a:avLst>
              <a:gd name="adj" fmla="val 10815"/>
            </a:avLst>
          </a:prstGeom>
          <a:solidFill>
            <a:srgbClr val="023520"/>
          </a:solidFill>
          <a:ln/>
        </p:spPr>
        <p:txBody>
          <a:bodyPr wrap="square" rtlCol="0" anchor="ctr"/>
          <a:lstStyle/>
          <a:p>
            <a:pPr indent="0" marL="0">
              <a:buNone/>
            </a:pPr>
            <a:endParaRPr lang="en-US" dirty="0"/>
          </a:p>
        </p:txBody>
      </p:sp>
      <p:sp>
        <p:nvSpPr>
          <p:cNvPr id="7" name="Text 5"/>
          <p:cNvSpPr/>
          <p:nvPr/>
        </p:nvSpPr>
        <p:spPr>
          <a:xfrm>
            <a:off x="482501" y="1773585"/>
            <a:ext cx="2228189" cy="152400"/>
          </a:xfrm>
          <a:prstGeom prst="rect">
            <a:avLst/>
          </a:prstGeom>
          <a:noFill/>
          <a:ln/>
        </p:spPr>
        <p:txBody>
          <a:bodyPr wrap="square" lIns="0" tIns="0" rIns="0" bIns="0" rtlCol="0" anchor="t"/>
          <a:lstStyle/>
          <a:p>
            <a:pPr algn="l" indent="0" marL="0">
              <a:spcAft>
                <a:spcPts val="200"/>
              </a:spcAft>
              <a:buNone/>
            </a:pPr>
            <a:r>
              <a:rPr lang="en-US" sz="1100" b="1" dirty="0">
                <a:solidFill>
                  <a:srgbClr val="FFFFFF"/>
                </a:solidFill>
                <a:latin typeface="Arial" pitchFamily="34" charset="0"/>
                <a:ea typeface="Arial" pitchFamily="34" charset="-122"/>
                <a:cs typeface="Arial" pitchFamily="34" charset="-120"/>
              </a:rPr>
              <a:t>South</a:t>
            </a:r>
            <a:endParaRPr lang="en-US" sz="1100" dirty="0"/>
          </a:p>
        </p:txBody>
      </p:sp>
      <p:sp>
        <p:nvSpPr>
          <p:cNvPr id="8" name="Text 6"/>
          <p:cNvSpPr/>
          <p:nvPr/>
        </p:nvSpPr>
        <p:spPr>
          <a:xfrm>
            <a:off x="482501" y="1951286"/>
            <a:ext cx="2228189" cy="133350"/>
          </a:xfrm>
          <a:prstGeom prst="rect">
            <a:avLst/>
          </a:prstGeom>
          <a:noFill/>
          <a:ln/>
        </p:spPr>
        <p:txBody>
          <a:bodyPr wrap="square" lIns="0" tIns="0" rIns="0" bIns="0" rtlCol="0" anchor="t"/>
          <a:lstStyle/>
          <a:p>
            <a:pPr algn="l" indent="0" marL="0">
              <a:spcAft>
                <a:spcPts val="200"/>
              </a:spcAft>
              <a:buNone/>
            </a:pPr>
            <a:r>
              <a:rPr lang="en-US" sz="900" dirty="0">
                <a:solidFill>
                  <a:srgbClr val="FFFFFF"/>
                </a:solidFill>
                <a:latin typeface="Arial" pitchFamily="34" charset="0"/>
                <a:ea typeface="Arial" pitchFamily="34" charset="-122"/>
                <a:cs typeface="Arial" pitchFamily="34" charset="-120"/>
              </a:rPr>
              <a:t>Index: 0.97 (−3%)</a:t>
            </a:r>
            <a:endParaRPr lang="en-US" sz="900" dirty="0"/>
          </a:p>
        </p:txBody>
      </p:sp>
      <p:sp>
        <p:nvSpPr>
          <p:cNvPr id="9" name="Text 7"/>
          <p:cNvSpPr/>
          <p:nvPr/>
        </p:nvSpPr>
        <p:spPr>
          <a:xfrm>
            <a:off x="482501" y="2109936"/>
            <a:ext cx="2228189" cy="114300"/>
          </a:xfrm>
          <a:prstGeom prst="rect">
            <a:avLst/>
          </a:prstGeom>
          <a:noFill/>
          <a:ln/>
        </p:spPr>
        <p:txBody>
          <a:bodyPr wrap="square" lIns="0" tIns="0" rIns="0" bIns="0" rtlCol="0" anchor="t"/>
          <a:lstStyle/>
          <a:p>
            <a:pPr algn="l" indent="0" marL="0">
              <a:buNone/>
            </a:pPr>
            <a:r>
              <a:rPr lang="en-US" sz="800" dirty="0">
                <a:solidFill>
                  <a:srgbClr val="FFFFFF"/>
                </a:solidFill>
                <a:latin typeface="Arial" pitchFamily="34" charset="0"/>
                <a:ea typeface="Arial" pitchFamily="34" charset="-122"/>
                <a:cs typeface="Arial" pitchFamily="34" charset="-120"/>
              </a:rPr>
              <a:t>Karachi, Hyderabad, Sukkur</a:t>
            </a:r>
            <a:endParaRPr lang="en-US" sz="800" dirty="0"/>
          </a:p>
        </p:txBody>
      </p:sp>
      <p:sp>
        <p:nvSpPr>
          <p:cNvPr id="10" name="Text 8"/>
          <p:cNvSpPr/>
          <p:nvPr/>
        </p:nvSpPr>
        <p:spPr>
          <a:xfrm>
            <a:off x="304800" y="2478137"/>
            <a:ext cx="2539901" cy="704552"/>
          </a:xfrm>
          <a:prstGeom prst="roundRect">
            <a:avLst>
              <a:gd name="adj" fmla="val 10815"/>
            </a:avLst>
          </a:prstGeom>
          <a:solidFill>
            <a:srgbClr val="00703C"/>
          </a:solidFill>
          <a:ln/>
        </p:spPr>
        <p:txBody>
          <a:bodyPr wrap="square" rtlCol="0" anchor="ctr"/>
          <a:lstStyle/>
          <a:p>
            <a:pPr indent="0" marL="0">
              <a:buNone/>
            </a:pPr>
            <a:endParaRPr lang="en-US" dirty="0"/>
          </a:p>
        </p:txBody>
      </p:sp>
      <p:sp>
        <p:nvSpPr>
          <p:cNvPr id="11" name="Text 9"/>
          <p:cNvSpPr/>
          <p:nvPr/>
        </p:nvSpPr>
        <p:spPr>
          <a:xfrm>
            <a:off x="482501" y="2605088"/>
            <a:ext cx="2228189" cy="152400"/>
          </a:xfrm>
          <a:prstGeom prst="rect">
            <a:avLst/>
          </a:prstGeom>
          <a:noFill/>
          <a:ln/>
        </p:spPr>
        <p:txBody>
          <a:bodyPr wrap="square" lIns="0" tIns="0" rIns="0" bIns="0" rtlCol="0" anchor="t"/>
          <a:lstStyle/>
          <a:p>
            <a:pPr algn="l" indent="0" marL="0">
              <a:spcAft>
                <a:spcPts val="200"/>
              </a:spcAft>
              <a:buNone/>
            </a:pPr>
            <a:r>
              <a:rPr lang="en-US" sz="1100" b="1" dirty="0">
                <a:solidFill>
                  <a:srgbClr val="FFFFFF"/>
                </a:solidFill>
                <a:latin typeface="Arial" pitchFamily="34" charset="0"/>
                <a:ea typeface="Arial" pitchFamily="34" charset="-122"/>
                <a:cs typeface="Arial" pitchFamily="34" charset="-120"/>
              </a:rPr>
              <a:t>Central</a:t>
            </a:r>
            <a:endParaRPr lang="en-US" sz="1100" dirty="0"/>
          </a:p>
        </p:txBody>
      </p:sp>
      <p:sp>
        <p:nvSpPr>
          <p:cNvPr id="12" name="Text 10"/>
          <p:cNvSpPr/>
          <p:nvPr/>
        </p:nvSpPr>
        <p:spPr>
          <a:xfrm>
            <a:off x="482501" y="2782788"/>
            <a:ext cx="2228189" cy="133350"/>
          </a:xfrm>
          <a:prstGeom prst="rect">
            <a:avLst/>
          </a:prstGeom>
          <a:noFill/>
          <a:ln/>
        </p:spPr>
        <p:txBody>
          <a:bodyPr wrap="square" lIns="0" tIns="0" rIns="0" bIns="0" rtlCol="0" anchor="t"/>
          <a:lstStyle/>
          <a:p>
            <a:pPr algn="l" indent="0" marL="0">
              <a:spcAft>
                <a:spcPts val="200"/>
              </a:spcAft>
              <a:buNone/>
            </a:pPr>
            <a:r>
              <a:rPr lang="en-US" sz="900" dirty="0">
                <a:solidFill>
                  <a:srgbClr val="FFFFFF"/>
                </a:solidFill>
                <a:latin typeface="Arial" pitchFamily="34" charset="0"/>
                <a:ea typeface="Arial" pitchFamily="34" charset="-122"/>
                <a:cs typeface="Arial" pitchFamily="34" charset="-120"/>
              </a:rPr>
              <a:t>Index: 1.00 (Baseline)</a:t>
            </a:r>
            <a:endParaRPr lang="en-US" sz="900" dirty="0"/>
          </a:p>
        </p:txBody>
      </p:sp>
      <p:sp>
        <p:nvSpPr>
          <p:cNvPr id="13" name="Text 11"/>
          <p:cNvSpPr/>
          <p:nvPr/>
        </p:nvSpPr>
        <p:spPr>
          <a:xfrm>
            <a:off x="482501" y="2941439"/>
            <a:ext cx="2228189" cy="114300"/>
          </a:xfrm>
          <a:prstGeom prst="rect">
            <a:avLst/>
          </a:prstGeom>
          <a:noFill/>
          <a:ln/>
        </p:spPr>
        <p:txBody>
          <a:bodyPr wrap="square" lIns="0" tIns="0" rIns="0" bIns="0" rtlCol="0" anchor="t"/>
          <a:lstStyle/>
          <a:p>
            <a:pPr algn="l" indent="0" marL="0">
              <a:buNone/>
            </a:pPr>
            <a:r>
              <a:rPr lang="en-US" sz="800" dirty="0">
                <a:solidFill>
                  <a:srgbClr val="FFFFFF"/>
                </a:solidFill>
                <a:latin typeface="Arial" pitchFamily="34" charset="0"/>
                <a:ea typeface="Arial" pitchFamily="34" charset="-122"/>
                <a:cs typeface="Arial" pitchFamily="34" charset="-120"/>
              </a:rPr>
              <a:t>Lahore, Faisalabad, Multan</a:t>
            </a:r>
            <a:endParaRPr lang="en-US" sz="800" dirty="0"/>
          </a:p>
        </p:txBody>
      </p:sp>
      <p:sp>
        <p:nvSpPr>
          <p:cNvPr id="14" name="Text 12"/>
          <p:cNvSpPr/>
          <p:nvPr/>
        </p:nvSpPr>
        <p:spPr>
          <a:xfrm>
            <a:off x="304800" y="3309640"/>
            <a:ext cx="2539901" cy="723602"/>
          </a:xfrm>
          <a:prstGeom prst="roundRect">
            <a:avLst>
              <a:gd name="adj" fmla="val 10531"/>
            </a:avLst>
          </a:prstGeom>
          <a:solidFill>
            <a:srgbClr val="E8F5EE"/>
          </a:solidFill>
          <a:ln w="9525">
            <a:solidFill>
              <a:srgbClr val="00703C"/>
            </a:solidFill>
          </a:ln>
        </p:spPr>
        <p:txBody>
          <a:bodyPr wrap="square" rtlCol="0" anchor="ctr"/>
          <a:lstStyle/>
          <a:p>
            <a:pPr indent="0" marL="0">
              <a:buNone/>
            </a:pPr>
            <a:endParaRPr lang="en-US" dirty="0"/>
          </a:p>
        </p:txBody>
      </p:sp>
      <p:sp>
        <p:nvSpPr>
          <p:cNvPr id="15" name="Text 13"/>
          <p:cNvSpPr/>
          <p:nvPr/>
        </p:nvSpPr>
        <p:spPr>
          <a:xfrm>
            <a:off x="492026" y="3446115"/>
            <a:ext cx="2208758" cy="152400"/>
          </a:xfrm>
          <a:prstGeom prst="rect">
            <a:avLst/>
          </a:prstGeom>
          <a:noFill/>
          <a:ln/>
        </p:spPr>
        <p:txBody>
          <a:bodyPr wrap="square" lIns="0" tIns="0" rIns="0" bIns="0" rtlCol="0" anchor="t"/>
          <a:lstStyle/>
          <a:p>
            <a:pPr algn="l" indent="0" marL="0">
              <a:spcAft>
                <a:spcPts val="200"/>
              </a:spcAft>
              <a:buNone/>
            </a:pPr>
            <a:r>
              <a:rPr lang="en-US" sz="1100" b="1" dirty="0">
                <a:solidFill>
                  <a:srgbClr val="023520"/>
                </a:solidFill>
                <a:latin typeface="Arial" pitchFamily="34" charset="0"/>
                <a:ea typeface="Arial" pitchFamily="34" charset="-122"/>
                <a:cs typeface="Arial" pitchFamily="34" charset="-120"/>
              </a:rPr>
              <a:t>North</a:t>
            </a:r>
            <a:endParaRPr lang="en-US" sz="1100" dirty="0"/>
          </a:p>
        </p:txBody>
      </p:sp>
      <p:sp>
        <p:nvSpPr>
          <p:cNvPr id="16" name="Text 14"/>
          <p:cNvSpPr/>
          <p:nvPr/>
        </p:nvSpPr>
        <p:spPr>
          <a:xfrm>
            <a:off x="492026" y="3623816"/>
            <a:ext cx="2208758" cy="133350"/>
          </a:xfrm>
          <a:prstGeom prst="rect">
            <a:avLst/>
          </a:prstGeom>
          <a:noFill/>
          <a:ln/>
        </p:spPr>
        <p:txBody>
          <a:bodyPr wrap="square" lIns="0" tIns="0" rIns="0" bIns="0" rtlCol="0" anchor="t"/>
          <a:lstStyle/>
          <a:p>
            <a:pPr algn="l" indent="0" marL="0">
              <a:spcAft>
                <a:spcPts val="200"/>
              </a:spcAft>
              <a:buNone/>
            </a:pPr>
            <a:r>
              <a:rPr lang="en-US" sz="900" dirty="0">
                <a:solidFill>
                  <a:srgbClr val="023520"/>
                </a:solidFill>
                <a:latin typeface="Arial" pitchFamily="34" charset="0"/>
                <a:ea typeface="Arial" pitchFamily="34" charset="-122"/>
                <a:cs typeface="Arial" pitchFamily="34" charset="-120"/>
              </a:rPr>
              <a:t>Index: 0.95 (−5%)</a:t>
            </a:r>
            <a:endParaRPr lang="en-US" sz="900" dirty="0"/>
          </a:p>
        </p:txBody>
      </p:sp>
      <p:sp>
        <p:nvSpPr>
          <p:cNvPr id="17" name="Text 15"/>
          <p:cNvSpPr/>
          <p:nvPr/>
        </p:nvSpPr>
        <p:spPr>
          <a:xfrm>
            <a:off x="492026" y="3782467"/>
            <a:ext cx="2208758" cy="114300"/>
          </a:xfrm>
          <a:prstGeom prst="rect">
            <a:avLst/>
          </a:prstGeom>
          <a:noFill/>
          <a:ln/>
        </p:spPr>
        <p:txBody>
          <a:bodyPr wrap="square" lIns="0" tIns="0" rIns="0" bIns="0" rtlCol="0" anchor="t"/>
          <a:lstStyle/>
          <a:p>
            <a:pPr algn="l" indent="0" marL="0">
              <a:buNone/>
            </a:pPr>
            <a:r>
              <a:rPr lang="en-US" sz="800" dirty="0">
                <a:solidFill>
                  <a:srgbClr val="023520"/>
                </a:solidFill>
                <a:latin typeface="Arial" pitchFamily="34" charset="0"/>
                <a:ea typeface="Arial" pitchFamily="34" charset="-122"/>
                <a:cs typeface="Arial" pitchFamily="34" charset="-120"/>
              </a:rPr>
              <a:t>Islamabad, Peshawar, Rawalpindi</a:t>
            </a:r>
            <a:endParaRPr lang="en-US" sz="800" dirty="0"/>
          </a:p>
        </p:txBody>
      </p:sp>
      <p:sp>
        <p:nvSpPr>
          <p:cNvPr id="18" name="Text 16"/>
          <p:cNvSpPr/>
          <p:nvPr/>
        </p:nvSpPr>
        <p:spPr>
          <a:xfrm>
            <a:off x="3098602" y="714226"/>
            <a:ext cx="5855410" cy="114300"/>
          </a:xfrm>
          <a:prstGeom prst="rect">
            <a:avLst/>
          </a:prstGeom>
          <a:noFill/>
          <a:ln/>
        </p:spPr>
        <p:txBody>
          <a:bodyPr wrap="square" lIns="0" tIns="0" rIns="0" bIns="0" rtlCol="0" anchor="t"/>
          <a:lstStyle/>
          <a:p>
            <a:pPr algn="l" indent="0" marL="0">
              <a:spcAft>
                <a:spcPts val="800"/>
              </a:spcAft>
              <a:buNone/>
            </a:pPr>
            <a:r>
              <a:rPr lang="en-US" sz="800" b="1" dirty="0">
                <a:solidFill>
                  <a:srgbClr val="C8960C"/>
                </a:solidFill>
                <a:latin typeface="Arial" pitchFamily="34" charset="0"/>
                <a:ea typeface="Arial" pitchFamily="34" charset="-122"/>
                <a:cs typeface="Arial" pitchFamily="34" charset="-120"/>
              </a:rPr>
              <a:t>REGIONAL PRICE COMPARISON — CARIENT ULTRA 5W-40 (PKR/L)</a:t>
            </a:r>
            <a:endParaRPr lang="en-US" sz="800" dirty="0"/>
          </a:p>
        </p:txBody>
      </p:sp>
      <p:sp>
        <p:nvSpPr>
          <p:cNvPr id="19" name="Text 17"/>
          <p:cNvSpPr/>
          <p:nvPr/>
        </p:nvSpPr>
        <p:spPr>
          <a:xfrm>
            <a:off x="3098602" y="930027"/>
            <a:ext cx="5740598" cy="3320951"/>
          </a:xfrm>
          <a:prstGeom prst="roundRect">
            <a:avLst>
              <a:gd name="adj" fmla="val 1530"/>
            </a:avLst>
          </a:prstGeom>
          <a:solidFill>
            <a:srgbClr val="F0F8F4"/>
          </a:solidFill>
          <a:ln w="9525">
            <a:solidFill>
              <a:srgbClr val="00703C"/>
            </a:solidFill>
          </a:ln>
        </p:spPr>
        <p:txBody>
          <a:bodyPr wrap="square" rtlCol="0" anchor="ctr"/>
          <a:lstStyle/>
          <a:p>
            <a:pPr indent="0" marL="0">
              <a:buNone/>
            </a:pPr>
            <a:endParaRPr lang="en-US" dirty="0"/>
          </a:p>
        </p:txBody>
      </p:sp>
      <p:sp>
        <p:nvSpPr>
          <p:cNvPr id="20" name="Text 18"/>
          <p:cNvSpPr/>
          <p:nvPr/>
        </p:nvSpPr>
        <p:spPr>
          <a:xfrm>
            <a:off x="3098602" y="4352479"/>
            <a:ext cx="5855410" cy="114300"/>
          </a:xfrm>
          <a:prstGeom prst="rect">
            <a:avLst/>
          </a:prstGeom>
          <a:noFill/>
          <a:ln/>
        </p:spPr>
        <p:txBody>
          <a:bodyPr wrap="square" lIns="0" tIns="0" rIns="0" bIns="0" rtlCol="0" anchor="t"/>
          <a:lstStyle/>
          <a:p>
            <a:pPr algn="l" indent="0" marL="0">
              <a:spcBef>
                <a:spcPts val="800"/>
              </a:spcBef>
              <a:buNone/>
            </a:pPr>
            <a:r>
              <a:rPr lang="en-US" sz="800" dirty="0">
                <a:solidFill>
                  <a:srgbClr val="555555"/>
                </a:solidFill>
                <a:latin typeface="Arial" pitchFamily="34" charset="0"/>
                <a:ea typeface="Arial" pitchFamily="34" charset="-122"/>
                <a:cs typeface="Arial" pitchFamily="34" charset="-120"/>
              </a:rPr>
              <a:t>Regional indices reflect logistics cost differential and income-level elasticity. Central = base price reference.</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36525"/>
          </a:xfrm>
          <a:prstGeom prst="rect">
            <a:avLst/>
          </a:prstGeom>
          <a:solidFill>
            <a:srgbClr val="00703C"/>
          </a:solidFill>
          <a:ln/>
        </p:spPr>
        <p:txBody>
          <a:bodyPr wrap="square" rtlCol="0" anchor="ctr"/>
          <a:lstStyle/>
          <a:p>
            <a:pPr indent="0" marL="0">
              <a:buNone/>
            </a:pPr>
            <a:endParaRPr lang="en-US" dirty="0"/>
          </a:p>
        </p:txBody>
      </p:sp>
      <p:sp>
        <p:nvSpPr>
          <p:cNvPr id="3" name="Text 1"/>
          <p:cNvSpPr/>
          <p:nvPr/>
        </p:nvSpPr>
        <p:spPr>
          <a:xfrm>
            <a:off x="355550" y="152400"/>
            <a:ext cx="2715938" cy="257175"/>
          </a:xfrm>
          <a:prstGeom prst="rect">
            <a:avLst/>
          </a:prstGeom>
          <a:noFill/>
          <a:ln/>
        </p:spPr>
        <p:txBody>
          <a:bodyPr wrap="square" lIns="0" tIns="0" rIns="0" bIns="0" rtlCol="0" anchor="t"/>
          <a:lstStyle/>
          <a:p>
            <a:pPr algn="l" indent="0" marL="0">
              <a:buNone/>
            </a:pPr>
            <a:r>
              <a:rPr lang="en-US" sz="1700" b="1" dirty="0">
                <a:solidFill>
                  <a:srgbClr val="FFFFFF"/>
                </a:solidFill>
                <a:latin typeface="Arial" pitchFamily="34" charset="0"/>
                <a:ea typeface="Arial" pitchFamily="34" charset="-122"/>
                <a:cs typeface="Arial" pitchFamily="34" charset="-120"/>
              </a:rPr>
              <a:t>F7 — Base Oil Index (BOI)</a:t>
            </a:r>
            <a:endParaRPr lang="en-US" sz="1700" dirty="0"/>
          </a:p>
        </p:txBody>
      </p:sp>
      <p:sp>
        <p:nvSpPr>
          <p:cNvPr id="4" name="Text 2"/>
          <p:cNvSpPr/>
          <p:nvPr/>
        </p:nvSpPr>
        <p:spPr>
          <a:xfrm>
            <a:off x="7080498" y="176213"/>
            <a:ext cx="1707952" cy="209550"/>
          </a:xfrm>
          <a:prstGeom prst="roundRect">
            <a:avLst>
              <a:gd name="adj" fmla="val 18182"/>
            </a:avLst>
          </a:prstGeom>
          <a:solidFill>
            <a:srgbClr val="555555"/>
          </a:solidFill>
          <a:ln/>
        </p:spPr>
        <p:txBody>
          <a:bodyPr wrap="square" rtlCol="0" anchor="ctr"/>
          <a:lstStyle/>
          <a:p>
            <a:pPr indent="0" marL="0">
              <a:buNone/>
            </a:pPr>
            <a:endParaRPr lang="en-US" dirty="0"/>
          </a:p>
        </p:txBody>
      </p:sp>
      <p:sp>
        <p:nvSpPr>
          <p:cNvPr id="5" name="Text 3"/>
          <p:cNvSpPr/>
          <p:nvPr/>
        </p:nvSpPr>
        <p:spPr>
          <a:xfrm>
            <a:off x="7181999" y="214313"/>
            <a:ext cx="1535049" cy="133350"/>
          </a:xfrm>
          <a:prstGeom prst="rect">
            <a:avLst/>
          </a:prstGeom>
          <a:noFill/>
          <a:ln/>
        </p:spPr>
        <p:txBody>
          <a:bodyPr wrap="square" lIns="0" tIns="0" rIns="0" bIns="0" rtlCol="0" anchor="t"/>
          <a:lstStyle/>
          <a:p>
            <a:pPr algn="l" indent="0" marL="0">
              <a:buNone/>
            </a:pPr>
            <a:r>
              <a:rPr lang="en-US" sz="900" b="1" dirty="0">
                <a:solidFill>
                  <a:srgbClr val="FFFFFF"/>
                </a:solidFill>
                <a:latin typeface="Arial" pitchFamily="34" charset="0"/>
                <a:ea typeface="Arial" pitchFamily="34" charset="-122"/>
                <a:cs typeface="Arial" pitchFamily="34" charset="-120"/>
              </a:rPr>
              <a:t>REFERENCE FRAMEWORK</a:t>
            </a:r>
            <a:endParaRPr lang="en-US" sz="900" dirty="0"/>
          </a:p>
        </p:txBody>
      </p:sp>
      <p:sp>
        <p:nvSpPr>
          <p:cNvPr id="6" name="Text 4"/>
          <p:cNvSpPr/>
          <p:nvPr/>
        </p:nvSpPr>
        <p:spPr>
          <a:xfrm>
            <a:off x="355550" y="739676"/>
            <a:ext cx="5181701" cy="114300"/>
          </a:xfrm>
          <a:prstGeom prst="rect">
            <a:avLst/>
          </a:prstGeom>
          <a:noFill/>
          <a:ln/>
        </p:spPr>
        <p:txBody>
          <a:bodyPr wrap="square" lIns="0" tIns="0" rIns="0" bIns="0" rtlCol="0" anchor="t"/>
          <a:lstStyle/>
          <a:p>
            <a:pPr algn="l" indent="0" marL="0">
              <a:spcAft>
                <a:spcPts val="1000"/>
              </a:spcAft>
              <a:buNone/>
            </a:pPr>
            <a:r>
              <a:rPr lang="en-US" sz="800" b="1" dirty="0">
                <a:solidFill>
                  <a:srgbClr val="C8960C"/>
                </a:solidFill>
                <a:latin typeface="Arial" pitchFamily="34" charset="0"/>
                <a:ea typeface="Arial" pitchFamily="34" charset="-122"/>
                <a:cs typeface="Arial" pitchFamily="34" charset="-120"/>
              </a:rPr>
              <a:t>BASE OIL COST FLOOR BY GROUP</a:t>
            </a:r>
            <a:endParaRPr lang="en-US" sz="800" dirty="0"/>
          </a:p>
        </p:txBody>
      </p:sp>
      <p:sp>
        <p:nvSpPr>
          <p:cNvPr id="7" name="Text 5"/>
          <p:cNvSpPr/>
          <p:nvPr/>
        </p:nvSpPr>
        <p:spPr>
          <a:xfrm>
            <a:off x="355550" y="980926"/>
            <a:ext cx="5080099" cy="355402"/>
          </a:xfrm>
          <a:prstGeom prst="roundRect">
            <a:avLst>
              <a:gd name="adj" fmla="val 14294"/>
            </a:avLst>
          </a:prstGeom>
          <a:solidFill>
            <a:srgbClr val="023520"/>
          </a:solidFill>
          <a:ln/>
        </p:spPr>
        <p:txBody>
          <a:bodyPr wrap="square" rtlCol="0" anchor="ctr"/>
          <a:lstStyle/>
          <a:p>
            <a:pPr indent="0" marL="0">
              <a:buNone/>
            </a:pPr>
            <a:endParaRPr lang="en-US" dirty="0"/>
          </a:p>
        </p:txBody>
      </p:sp>
      <p:sp>
        <p:nvSpPr>
          <p:cNvPr id="8" name="Text 6"/>
          <p:cNvSpPr/>
          <p:nvPr/>
        </p:nvSpPr>
        <p:spPr>
          <a:xfrm>
            <a:off x="507950" y="1091952"/>
            <a:ext cx="4201650" cy="133350"/>
          </a:xfrm>
          <a:prstGeom prst="rect">
            <a:avLst/>
          </a:prstGeom>
          <a:noFill/>
          <a:ln/>
        </p:spPr>
        <p:txBody>
          <a:bodyPr wrap="square" lIns="0" tIns="0" rIns="0" bIns="0" rtlCol="0" anchor="t"/>
          <a:lstStyle/>
          <a:p>
            <a:pPr algn="l" indent="0" marL="0">
              <a:buNone/>
            </a:pPr>
            <a:r>
              <a:rPr lang="en-US" sz="900" b="1" dirty="0">
                <a:solidFill>
                  <a:srgbClr val="FFFFFF"/>
                </a:solidFill>
                <a:latin typeface="Arial" pitchFamily="34" charset="0"/>
                <a:ea typeface="Arial" pitchFamily="34" charset="-122"/>
                <a:cs typeface="Arial" pitchFamily="34" charset="-120"/>
              </a:rPr>
              <a:t>Group III (Full Synthetic)</a:t>
            </a:r>
            <a:endParaRPr lang="en-US" sz="900" dirty="0"/>
          </a:p>
        </p:txBody>
      </p:sp>
      <p:sp>
        <p:nvSpPr>
          <p:cNvPr id="9" name="Text 7"/>
          <p:cNvSpPr/>
          <p:nvPr/>
        </p:nvSpPr>
        <p:spPr>
          <a:xfrm>
            <a:off x="4627215" y="1082427"/>
            <a:ext cx="669155" cy="152400"/>
          </a:xfrm>
          <a:prstGeom prst="rect">
            <a:avLst/>
          </a:prstGeom>
          <a:noFill/>
          <a:ln/>
        </p:spPr>
        <p:txBody>
          <a:bodyPr wrap="square" lIns="0" tIns="0" rIns="0" bIns="0" rtlCol="0" anchor="t"/>
          <a:lstStyle/>
          <a:p>
            <a:pPr algn="l" indent="0" marL="0">
              <a:buNone/>
            </a:pPr>
            <a:r>
              <a:rPr lang="en-US" sz="1100" b="1" dirty="0">
                <a:solidFill>
                  <a:srgbClr val="FFFFFF"/>
                </a:solidFill>
                <a:latin typeface="Arial" pitchFamily="34" charset="0"/>
                <a:ea typeface="Arial" pitchFamily="34" charset="-122"/>
                <a:cs typeface="Arial" pitchFamily="34" charset="-120"/>
              </a:rPr>
              <a:t>~Rs 650/L</a:t>
            </a:r>
            <a:endParaRPr lang="en-US" sz="1100" dirty="0"/>
          </a:p>
        </p:txBody>
      </p:sp>
      <p:sp>
        <p:nvSpPr>
          <p:cNvPr id="10" name="Text 8"/>
          <p:cNvSpPr/>
          <p:nvPr/>
        </p:nvSpPr>
        <p:spPr>
          <a:xfrm>
            <a:off x="355550" y="1437829"/>
            <a:ext cx="5080099" cy="355402"/>
          </a:xfrm>
          <a:prstGeom prst="roundRect">
            <a:avLst>
              <a:gd name="adj" fmla="val 14294"/>
            </a:avLst>
          </a:prstGeom>
          <a:solidFill>
            <a:srgbClr val="00703C"/>
          </a:solidFill>
          <a:ln/>
        </p:spPr>
        <p:txBody>
          <a:bodyPr wrap="square" rtlCol="0" anchor="ctr"/>
          <a:lstStyle/>
          <a:p>
            <a:pPr indent="0" marL="0">
              <a:buNone/>
            </a:pPr>
            <a:endParaRPr lang="en-US" dirty="0"/>
          </a:p>
        </p:txBody>
      </p:sp>
      <p:sp>
        <p:nvSpPr>
          <p:cNvPr id="11" name="Text 9"/>
          <p:cNvSpPr/>
          <p:nvPr/>
        </p:nvSpPr>
        <p:spPr>
          <a:xfrm>
            <a:off x="507950" y="1548854"/>
            <a:ext cx="4201650" cy="133350"/>
          </a:xfrm>
          <a:prstGeom prst="rect">
            <a:avLst/>
          </a:prstGeom>
          <a:noFill/>
          <a:ln/>
        </p:spPr>
        <p:txBody>
          <a:bodyPr wrap="square" lIns="0" tIns="0" rIns="0" bIns="0" rtlCol="0" anchor="t"/>
          <a:lstStyle/>
          <a:p>
            <a:pPr algn="l" indent="0" marL="0">
              <a:buNone/>
            </a:pPr>
            <a:r>
              <a:rPr lang="en-US" sz="900" b="1" dirty="0">
                <a:solidFill>
                  <a:srgbClr val="FFFFFF"/>
                </a:solidFill>
                <a:latin typeface="Arial" pitchFamily="34" charset="0"/>
                <a:ea typeface="Arial" pitchFamily="34" charset="-122"/>
                <a:cs typeface="Arial" pitchFamily="34" charset="-120"/>
              </a:rPr>
              <a:t>Group II (Semi-Synthetic)</a:t>
            </a:r>
            <a:endParaRPr lang="en-US" sz="900" dirty="0"/>
          </a:p>
        </p:txBody>
      </p:sp>
      <p:sp>
        <p:nvSpPr>
          <p:cNvPr id="12" name="Text 10"/>
          <p:cNvSpPr/>
          <p:nvPr/>
        </p:nvSpPr>
        <p:spPr>
          <a:xfrm>
            <a:off x="4627215" y="1539329"/>
            <a:ext cx="669155" cy="152400"/>
          </a:xfrm>
          <a:prstGeom prst="rect">
            <a:avLst/>
          </a:prstGeom>
          <a:noFill/>
          <a:ln/>
        </p:spPr>
        <p:txBody>
          <a:bodyPr wrap="square" lIns="0" tIns="0" rIns="0" bIns="0" rtlCol="0" anchor="t"/>
          <a:lstStyle/>
          <a:p>
            <a:pPr algn="l" indent="0" marL="0">
              <a:buNone/>
            </a:pPr>
            <a:r>
              <a:rPr lang="en-US" sz="1100" b="1" dirty="0">
                <a:solidFill>
                  <a:srgbClr val="FFFFFF"/>
                </a:solidFill>
                <a:latin typeface="Arial" pitchFamily="34" charset="0"/>
                <a:ea typeface="Arial" pitchFamily="34" charset="-122"/>
                <a:cs typeface="Arial" pitchFamily="34" charset="-120"/>
              </a:rPr>
              <a:t>~Rs 480/L</a:t>
            </a:r>
            <a:endParaRPr lang="en-US" sz="1100" dirty="0"/>
          </a:p>
        </p:txBody>
      </p:sp>
      <p:sp>
        <p:nvSpPr>
          <p:cNvPr id="13" name="Text 11"/>
          <p:cNvSpPr/>
          <p:nvPr/>
        </p:nvSpPr>
        <p:spPr>
          <a:xfrm>
            <a:off x="355550" y="1894731"/>
            <a:ext cx="5080099" cy="374452"/>
          </a:xfrm>
          <a:prstGeom prst="roundRect">
            <a:avLst>
              <a:gd name="adj" fmla="val 13566"/>
            </a:avLst>
          </a:prstGeom>
          <a:solidFill>
            <a:srgbClr val="E8F5EE"/>
          </a:solidFill>
          <a:ln w="9525">
            <a:solidFill>
              <a:srgbClr val="00703C"/>
            </a:solidFill>
          </a:ln>
        </p:spPr>
        <p:txBody>
          <a:bodyPr wrap="square" rtlCol="0" anchor="ctr"/>
          <a:lstStyle/>
          <a:p>
            <a:pPr indent="0" marL="0">
              <a:buNone/>
            </a:pPr>
            <a:endParaRPr lang="en-US" dirty="0"/>
          </a:p>
        </p:txBody>
      </p:sp>
      <p:sp>
        <p:nvSpPr>
          <p:cNvPr id="14" name="Text 12"/>
          <p:cNvSpPr/>
          <p:nvPr/>
        </p:nvSpPr>
        <p:spPr>
          <a:xfrm>
            <a:off x="517475" y="2015282"/>
            <a:ext cx="4182219" cy="133350"/>
          </a:xfrm>
          <a:prstGeom prst="rect">
            <a:avLst/>
          </a:prstGeom>
          <a:noFill/>
          <a:ln/>
        </p:spPr>
        <p:txBody>
          <a:bodyPr wrap="square" lIns="0" tIns="0" rIns="0" bIns="0" rtlCol="0" anchor="t"/>
          <a:lstStyle/>
          <a:p>
            <a:pPr algn="l" indent="0" marL="0">
              <a:buNone/>
            </a:pPr>
            <a:r>
              <a:rPr lang="en-US" sz="900" b="1" dirty="0">
                <a:solidFill>
                  <a:srgbClr val="023520"/>
                </a:solidFill>
                <a:latin typeface="Arial" pitchFamily="34" charset="0"/>
                <a:ea typeface="Arial" pitchFamily="34" charset="-122"/>
                <a:cs typeface="Arial" pitchFamily="34" charset="-120"/>
              </a:rPr>
              <a:t>Group I (Mineral)</a:t>
            </a:r>
            <a:endParaRPr lang="en-US" sz="900" dirty="0"/>
          </a:p>
        </p:txBody>
      </p:sp>
      <p:sp>
        <p:nvSpPr>
          <p:cNvPr id="15" name="Text 13"/>
          <p:cNvSpPr/>
          <p:nvPr/>
        </p:nvSpPr>
        <p:spPr>
          <a:xfrm>
            <a:off x="4617690" y="2005757"/>
            <a:ext cx="669155" cy="152400"/>
          </a:xfrm>
          <a:prstGeom prst="rect">
            <a:avLst/>
          </a:prstGeom>
          <a:noFill/>
          <a:ln/>
        </p:spPr>
        <p:txBody>
          <a:bodyPr wrap="square" lIns="0" tIns="0" rIns="0" bIns="0" rtlCol="0" anchor="t"/>
          <a:lstStyle/>
          <a:p>
            <a:pPr algn="l" indent="0" marL="0">
              <a:buNone/>
            </a:pPr>
            <a:r>
              <a:rPr lang="en-US" sz="1100" b="1" dirty="0">
                <a:solidFill>
                  <a:srgbClr val="023520"/>
                </a:solidFill>
                <a:latin typeface="Arial" pitchFamily="34" charset="0"/>
                <a:ea typeface="Arial" pitchFamily="34" charset="-122"/>
                <a:cs typeface="Arial" pitchFamily="34" charset="-120"/>
              </a:rPr>
              <a:t>~Rs 320/L</a:t>
            </a:r>
            <a:endParaRPr lang="en-US" sz="1100" dirty="0"/>
          </a:p>
        </p:txBody>
      </p:sp>
      <p:sp>
        <p:nvSpPr>
          <p:cNvPr id="16" name="Text 14"/>
          <p:cNvSpPr/>
          <p:nvPr/>
        </p:nvSpPr>
        <p:spPr>
          <a:xfrm>
            <a:off x="355550" y="2396133"/>
            <a:ext cx="5181701" cy="228600"/>
          </a:xfrm>
          <a:prstGeom prst="rect">
            <a:avLst/>
          </a:prstGeom>
          <a:noFill/>
          <a:ln/>
        </p:spPr>
        <p:txBody>
          <a:bodyPr wrap="square" lIns="0" tIns="0" rIns="0" bIns="0" rtlCol="0" anchor="t"/>
          <a:lstStyle/>
          <a:p>
            <a:pPr algn="l" indent="0" marL="0">
              <a:spcBef>
                <a:spcPts val="1000"/>
              </a:spcBef>
              <a:buNone/>
            </a:pPr>
            <a:r>
              <a:rPr lang="en-US" sz="800" dirty="0">
                <a:solidFill>
                  <a:srgbClr val="555555"/>
                </a:solidFill>
                <a:latin typeface="Arial" pitchFamily="34" charset="0"/>
                <a:ea typeface="Arial" pitchFamily="34" charset="-122"/>
                <a:cs typeface="Arial" pitchFamily="34" charset="-120"/>
              </a:rPr>
              <a:t>BOI floor = base oil cost + additives (25–35%) + blending. Acts as absolute price ceiling from below. When crude/$/PKR moves ±10%, recommended prices are re-indexed proportionally.</a:t>
            </a:r>
            <a:endParaRPr lang="en-US" sz="800" dirty="0"/>
          </a:p>
        </p:txBody>
      </p:sp>
      <p:sp>
        <p:nvSpPr>
          <p:cNvPr id="17" name="Text 15"/>
          <p:cNvSpPr/>
          <p:nvPr/>
        </p:nvSpPr>
        <p:spPr>
          <a:xfrm>
            <a:off x="5740450" y="1627138"/>
            <a:ext cx="3048000" cy="723900"/>
          </a:xfrm>
          <a:prstGeom prst="roundRect">
            <a:avLst>
              <a:gd name="adj" fmla="val 8772"/>
            </a:avLst>
          </a:prstGeom>
          <a:solidFill>
            <a:srgbClr val="F8F8F8"/>
          </a:solidFill>
          <a:ln/>
        </p:spPr>
        <p:txBody>
          <a:bodyPr wrap="square" rtlCol="0" anchor="ctr"/>
          <a:lstStyle/>
          <a:p>
            <a:pPr indent="0" marL="0">
              <a:buNone/>
            </a:pPr>
            <a:endParaRPr lang="en-US" dirty="0"/>
          </a:p>
        </p:txBody>
      </p:sp>
      <p:sp>
        <p:nvSpPr>
          <p:cNvPr id="18" name="Shape 16"/>
          <p:cNvSpPr/>
          <p:nvPr/>
        </p:nvSpPr>
        <p:spPr>
          <a:xfrm>
            <a:off x="5764262" y="1627138"/>
            <a:ext cx="0" cy="723900"/>
          </a:xfrm>
          <a:prstGeom prst="line">
            <a:avLst/>
          </a:prstGeom>
          <a:noFill/>
          <a:ln w="47625">
            <a:solidFill>
              <a:srgbClr val="C8960C"/>
            </a:solidFill>
            <a:prstDash val="solid"/>
          </a:ln>
        </p:spPr>
      </p:sp>
      <p:sp>
        <p:nvSpPr>
          <p:cNvPr id="19" name="Text 17"/>
          <p:cNvSpPr/>
          <p:nvPr/>
        </p:nvSpPr>
        <p:spPr>
          <a:xfrm>
            <a:off x="5940475" y="1779538"/>
            <a:ext cx="2749487" cy="266700"/>
          </a:xfrm>
          <a:prstGeom prst="rect">
            <a:avLst/>
          </a:prstGeom>
          <a:noFill/>
          <a:ln/>
        </p:spPr>
        <p:txBody>
          <a:bodyPr wrap="square" lIns="0" tIns="0" rIns="0" bIns="0" rtlCol="0" anchor="t"/>
          <a:lstStyle/>
          <a:p>
            <a:pPr algn="l" indent="0" marL="0">
              <a:spcAft>
                <a:spcPts val="300"/>
              </a:spcAft>
              <a:buNone/>
            </a:pPr>
            <a:r>
              <a:rPr lang="en-US" sz="1800" b="1" dirty="0">
                <a:solidFill>
                  <a:srgbClr val="023520"/>
                </a:solidFill>
                <a:latin typeface="Arial" pitchFamily="34" charset="0"/>
                <a:ea typeface="Arial" pitchFamily="34" charset="-122"/>
                <a:cs typeface="Arial" pitchFamily="34" charset="-120"/>
              </a:rPr>
              <a:t>+12%</a:t>
            </a:r>
            <a:endParaRPr lang="en-US" sz="1800" dirty="0"/>
          </a:p>
        </p:txBody>
      </p:sp>
      <p:sp>
        <p:nvSpPr>
          <p:cNvPr id="20" name="Text 18"/>
          <p:cNvSpPr/>
          <p:nvPr/>
        </p:nvSpPr>
        <p:spPr>
          <a:xfrm>
            <a:off x="5940475" y="2084338"/>
            <a:ext cx="2749487" cy="114300"/>
          </a:xfrm>
          <a:prstGeom prst="rect">
            <a:avLst/>
          </a:prstGeom>
          <a:noFill/>
          <a:ln/>
        </p:spPr>
        <p:txBody>
          <a:bodyPr wrap="square" lIns="0" tIns="0" rIns="0" bIns="0" rtlCol="0" anchor="t"/>
          <a:lstStyle/>
          <a:p>
            <a:pPr algn="l" indent="0" marL="0">
              <a:buNone/>
            </a:pPr>
            <a:r>
              <a:rPr lang="en-US" sz="800" dirty="0">
                <a:solidFill>
                  <a:srgbClr val="555555"/>
                </a:solidFill>
                <a:latin typeface="Arial" pitchFamily="34" charset="0"/>
                <a:ea typeface="Arial" pitchFamily="34" charset="-122"/>
                <a:cs typeface="Arial" pitchFamily="34" charset="-120"/>
              </a:rPr>
              <a:t>Base oil cost increase YoY (Group III, 2025)</a:t>
            </a:r>
            <a:endParaRPr lang="en-US" sz="800" dirty="0"/>
          </a:p>
        </p:txBody>
      </p:sp>
      <p:sp>
        <p:nvSpPr>
          <p:cNvPr id="21" name="Text 19"/>
          <p:cNvSpPr/>
          <p:nvPr/>
        </p:nvSpPr>
        <p:spPr>
          <a:xfrm>
            <a:off x="5740450" y="2477988"/>
            <a:ext cx="3048000" cy="723900"/>
          </a:xfrm>
          <a:prstGeom prst="roundRect">
            <a:avLst>
              <a:gd name="adj" fmla="val 8772"/>
            </a:avLst>
          </a:prstGeom>
          <a:solidFill>
            <a:srgbClr val="F8F8F8"/>
          </a:solidFill>
          <a:ln/>
        </p:spPr>
        <p:txBody>
          <a:bodyPr wrap="square" rtlCol="0" anchor="ctr"/>
          <a:lstStyle/>
          <a:p>
            <a:pPr indent="0" marL="0">
              <a:buNone/>
            </a:pPr>
            <a:endParaRPr lang="en-US" dirty="0"/>
          </a:p>
        </p:txBody>
      </p:sp>
      <p:sp>
        <p:nvSpPr>
          <p:cNvPr id="22" name="Shape 20"/>
          <p:cNvSpPr/>
          <p:nvPr/>
        </p:nvSpPr>
        <p:spPr>
          <a:xfrm>
            <a:off x="5764262" y="2477988"/>
            <a:ext cx="0" cy="723900"/>
          </a:xfrm>
          <a:prstGeom prst="line">
            <a:avLst/>
          </a:prstGeom>
          <a:noFill/>
          <a:ln w="47625">
            <a:solidFill>
              <a:srgbClr val="C8960C"/>
            </a:solidFill>
            <a:prstDash val="solid"/>
          </a:ln>
        </p:spPr>
      </p:sp>
      <p:sp>
        <p:nvSpPr>
          <p:cNvPr id="23" name="Text 21"/>
          <p:cNvSpPr/>
          <p:nvPr/>
        </p:nvSpPr>
        <p:spPr>
          <a:xfrm>
            <a:off x="5940475" y="2630388"/>
            <a:ext cx="2749487" cy="266700"/>
          </a:xfrm>
          <a:prstGeom prst="rect">
            <a:avLst/>
          </a:prstGeom>
          <a:noFill/>
          <a:ln/>
        </p:spPr>
        <p:txBody>
          <a:bodyPr wrap="square" lIns="0" tIns="0" rIns="0" bIns="0" rtlCol="0" anchor="t"/>
          <a:lstStyle/>
          <a:p>
            <a:pPr algn="l" indent="0" marL="0">
              <a:spcAft>
                <a:spcPts val="300"/>
              </a:spcAft>
              <a:buNone/>
            </a:pPr>
            <a:r>
              <a:rPr lang="en-US" sz="1800" b="1" dirty="0">
                <a:solidFill>
                  <a:srgbClr val="023520"/>
                </a:solidFill>
                <a:latin typeface="Arial" pitchFamily="34" charset="0"/>
                <a:ea typeface="Arial" pitchFamily="34" charset="-122"/>
                <a:cs typeface="Arial" pitchFamily="34" charset="-120"/>
              </a:rPr>
              <a:t>55–60%</a:t>
            </a:r>
            <a:endParaRPr lang="en-US" sz="1800" dirty="0"/>
          </a:p>
        </p:txBody>
      </p:sp>
      <p:sp>
        <p:nvSpPr>
          <p:cNvPr id="24" name="Text 22"/>
          <p:cNvSpPr/>
          <p:nvPr/>
        </p:nvSpPr>
        <p:spPr>
          <a:xfrm>
            <a:off x="5940475" y="2935188"/>
            <a:ext cx="2749487" cy="114300"/>
          </a:xfrm>
          <a:prstGeom prst="rect">
            <a:avLst/>
          </a:prstGeom>
          <a:noFill/>
          <a:ln/>
        </p:spPr>
        <p:txBody>
          <a:bodyPr wrap="square" lIns="0" tIns="0" rIns="0" bIns="0" rtlCol="0" anchor="t"/>
          <a:lstStyle/>
          <a:p>
            <a:pPr algn="l" indent="0" marL="0">
              <a:buNone/>
            </a:pPr>
            <a:r>
              <a:rPr lang="en-US" sz="800" dirty="0">
                <a:solidFill>
                  <a:srgbClr val="555555"/>
                </a:solidFill>
                <a:latin typeface="Arial" pitchFamily="34" charset="0"/>
                <a:ea typeface="Arial" pitchFamily="34" charset="-122"/>
                <a:cs typeface="Arial" pitchFamily="34" charset="-120"/>
              </a:rPr>
              <a:t>Base oil as share of finished lubricant cost</a:t>
            </a:r>
            <a:endParaRPr lang="en-US" sz="800" dirty="0"/>
          </a:p>
        </p:txBody>
      </p:sp>
      <p:sp>
        <p:nvSpPr>
          <p:cNvPr id="25" name="Text 23"/>
          <p:cNvSpPr/>
          <p:nvPr/>
        </p:nvSpPr>
        <p:spPr>
          <a:xfrm>
            <a:off x="5740450" y="3328839"/>
            <a:ext cx="3048000" cy="723900"/>
          </a:xfrm>
          <a:prstGeom prst="roundRect">
            <a:avLst>
              <a:gd name="adj" fmla="val 8772"/>
            </a:avLst>
          </a:prstGeom>
          <a:solidFill>
            <a:srgbClr val="F8F8F8"/>
          </a:solidFill>
          <a:ln/>
        </p:spPr>
        <p:txBody>
          <a:bodyPr wrap="square" rtlCol="0" anchor="ctr"/>
          <a:lstStyle/>
          <a:p>
            <a:pPr indent="0" marL="0">
              <a:buNone/>
            </a:pPr>
            <a:endParaRPr lang="en-US" dirty="0"/>
          </a:p>
        </p:txBody>
      </p:sp>
      <p:sp>
        <p:nvSpPr>
          <p:cNvPr id="26" name="Shape 24"/>
          <p:cNvSpPr/>
          <p:nvPr/>
        </p:nvSpPr>
        <p:spPr>
          <a:xfrm>
            <a:off x="5764262" y="3328839"/>
            <a:ext cx="0" cy="723900"/>
          </a:xfrm>
          <a:prstGeom prst="line">
            <a:avLst/>
          </a:prstGeom>
          <a:noFill/>
          <a:ln w="47625">
            <a:solidFill>
              <a:srgbClr val="C8960C"/>
            </a:solidFill>
            <a:prstDash val="solid"/>
          </a:ln>
        </p:spPr>
      </p:sp>
      <p:sp>
        <p:nvSpPr>
          <p:cNvPr id="27" name="Text 25"/>
          <p:cNvSpPr/>
          <p:nvPr/>
        </p:nvSpPr>
        <p:spPr>
          <a:xfrm>
            <a:off x="5940475" y="3481239"/>
            <a:ext cx="2749487" cy="266700"/>
          </a:xfrm>
          <a:prstGeom prst="rect">
            <a:avLst/>
          </a:prstGeom>
          <a:noFill/>
          <a:ln/>
        </p:spPr>
        <p:txBody>
          <a:bodyPr wrap="square" lIns="0" tIns="0" rIns="0" bIns="0" rtlCol="0" anchor="t"/>
          <a:lstStyle/>
          <a:p>
            <a:pPr algn="l" indent="0" marL="0">
              <a:spcAft>
                <a:spcPts val="300"/>
              </a:spcAft>
              <a:buNone/>
            </a:pPr>
            <a:r>
              <a:rPr lang="en-US" sz="1800" b="1" dirty="0">
                <a:solidFill>
                  <a:srgbClr val="023520"/>
                </a:solidFill>
                <a:latin typeface="Arial" pitchFamily="34" charset="0"/>
                <a:ea typeface="Arial" pitchFamily="34" charset="-122"/>
                <a:cs typeface="Arial" pitchFamily="34" charset="-120"/>
              </a:rPr>
              <a:t>Rs/USD</a:t>
            </a:r>
            <a:endParaRPr lang="en-US" sz="1800" dirty="0"/>
          </a:p>
        </p:txBody>
      </p:sp>
      <p:sp>
        <p:nvSpPr>
          <p:cNvPr id="28" name="Text 26"/>
          <p:cNvSpPr/>
          <p:nvPr/>
        </p:nvSpPr>
        <p:spPr>
          <a:xfrm>
            <a:off x="5940475" y="3786039"/>
            <a:ext cx="2749487" cy="114300"/>
          </a:xfrm>
          <a:prstGeom prst="rect">
            <a:avLst/>
          </a:prstGeom>
          <a:noFill/>
          <a:ln/>
        </p:spPr>
        <p:txBody>
          <a:bodyPr wrap="square" lIns="0" tIns="0" rIns="0" bIns="0" rtlCol="0" anchor="t"/>
          <a:lstStyle/>
          <a:p>
            <a:pPr algn="l" indent="0" marL="0">
              <a:buNone/>
            </a:pPr>
            <a:r>
              <a:rPr lang="en-US" sz="800" dirty="0">
                <a:solidFill>
                  <a:srgbClr val="555555"/>
                </a:solidFill>
                <a:latin typeface="Arial" pitchFamily="34" charset="0"/>
                <a:ea typeface="Arial" pitchFamily="34" charset="-122"/>
                <a:cs typeface="Arial" pitchFamily="34" charset="-120"/>
              </a:rPr>
              <a:t>Exchange rate risk embedded in BOI indexation</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36525"/>
          </a:xfrm>
          <a:prstGeom prst="rect">
            <a:avLst/>
          </a:prstGeom>
          <a:solidFill>
            <a:srgbClr val="00703C"/>
          </a:solidFill>
          <a:ln/>
        </p:spPr>
        <p:txBody>
          <a:bodyPr wrap="square" rtlCol="0" anchor="ctr"/>
          <a:lstStyle/>
          <a:p>
            <a:pPr indent="0" marL="0">
              <a:buNone/>
            </a:pPr>
            <a:endParaRPr lang="en-US" dirty="0"/>
          </a:p>
        </p:txBody>
      </p:sp>
      <p:sp>
        <p:nvSpPr>
          <p:cNvPr id="3" name="Text 1"/>
          <p:cNvSpPr/>
          <p:nvPr/>
        </p:nvSpPr>
        <p:spPr>
          <a:xfrm>
            <a:off x="355550" y="152400"/>
            <a:ext cx="3625248" cy="257175"/>
          </a:xfrm>
          <a:prstGeom prst="rect">
            <a:avLst/>
          </a:prstGeom>
          <a:noFill/>
          <a:ln/>
        </p:spPr>
        <p:txBody>
          <a:bodyPr wrap="square" lIns="0" tIns="0" rIns="0" bIns="0" rtlCol="0" anchor="t"/>
          <a:lstStyle/>
          <a:p>
            <a:pPr algn="l" indent="0" marL="0">
              <a:buNone/>
            </a:pPr>
            <a:r>
              <a:rPr lang="en-US" sz="1700" b="1" dirty="0">
                <a:solidFill>
                  <a:srgbClr val="FFFFFF"/>
                </a:solidFill>
                <a:latin typeface="Arial" pitchFamily="34" charset="0"/>
                <a:ea typeface="Arial" pitchFamily="34" charset="-122"/>
                <a:cs typeface="Arial" pitchFamily="34" charset="-120"/>
              </a:rPr>
              <a:t>F8 — Channel Pricing Architecture</a:t>
            </a:r>
            <a:endParaRPr lang="en-US" sz="1700" dirty="0"/>
          </a:p>
        </p:txBody>
      </p:sp>
      <p:sp>
        <p:nvSpPr>
          <p:cNvPr id="4" name="Text 2"/>
          <p:cNvSpPr/>
          <p:nvPr/>
        </p:nvSpPr>
        <p:spPr>
          <a:xfrm>
            <a:off x="7080498" y="176213"/>
            <a:ext cx="1707952" cy="209550"/>
          </a:xfrm>
          <a:prstGeom prst="roundRect">
            <a:avLst>
              <a:gd name="adj" fmla="val 18182"/>
            </a:avLst>
          </a:prstGeom>
          <a:solidFill>
            <a:srgbClr val="555555"/>
          </a:solidFill>
          <a:ln/>
        </p:spPr>
        <p:txBody>
          <a:bodyPr wrap="square" rtlCol="0" anchor="ctr"/>
          <a:lstStyle/>
          <a:p>
            <a:pPr indent="0" marL="0">
              <a:buNone/>
            </a:pPr>
            <a:endParaRPr lang="en-US" dirty="0"/>
          </a:p>
        </p:txBody>
      </p:sp>
      <p:sp>
        <p:nvSpPr>
          <p:cNvPr id="5" name="Text 3"/>
          <p:cNvSpPr/>
          <p:nvPr/>
        </p:nvSpPr>
        <p:spPr>
          <a:xfrm>
            <a:off x="7181999" y="214313"/>
            <a:ext cx="1535049" cy="133350"/>
          </a:xfrm>
          <a:prstGeom prst="rect">
            <a:avLst/>
          </a:prstGeom>
          <a:noFill/>
          <a:ln/>
        </p:spPr>
        <p:txBody>
          <a:bodyPr wrap="square" lIns="0" tIns="0" rIns="0" bIns="0" rtlCol="0" anchor="t"/>
          <a:lstStyle/>
          <a:p>
            <a:pPr algn="l" indent="0" marL="0">
              <a:buNone/>
            </a:pPr>
            <a:r>
              <a:rPr lang="en-US" sz="900" b="1" dirty="0">
                <a:solidFill>
                  <a:srgbClr val="FFFFFF"/>
                </a:solidFill>
                <a:latin typeface="Arial" pitchFamily="34" charset="0"/>
                <a:ea typeface="Arial" pitchFamily="34" charset="-122"/>
                <a:cs typeface="Arial" pitchFamily="34" charset="-120"/>
              </a:rPr>
              <a:t>REFERENCE FRAMEWORK</a:t>
            </a:r>
            <a:endParaRPr lang="en-US" sz="900" dirty="0"/>
          </a:p>
        </p:txBody>
      </p:sp>
      <p:sp>
        <p:nvSpPr>
          <p:cNvPr id="6" name="Text 4"/>
          <p:cNvSpPr/>
          <p:nvPr/>
        </p:nvSpPr>
        <p:spPr>
          <a:xfrm>
            <a:off x="304800" y="714226"/>
            <a:ext cx="8705088" cy="114300"/>
          </a:xfrm>
          <a:prstGeom prst="rect">
            <a:avLst/>
          </a:prstGeom>
          <a:noFill/>
          <a:ln/>
        </p:spPr>
        <p:txBody>
          <a:bodyPr wrap="square" lIns="0" tIns="0" rIns="0" bIns="0" rtlCol="0" anchor="t"/>
          <a:lstStyle/>
          <a:p>
            <a:pPr algn="l" indent="0" marL="0">
              <a:spcAft>
                <a:spcPts val="800"/>
              </a:spcAft>
              <a:buNone/>
            </a:pPr>
            <a:r>
              <a:rPr lang="en-US" sz="800" b="1" dirty="0">
                <a:solidFill>
                  <a:srgbClr val="C8960C"/>
                </a:solidFill>
                <a:latin typeface="Arial" pitchFamily="34" charset="0"/>
                <a:ea typeface="Arial" pitchFamily="34" charset="-122"/>
                <a:cs typeface="Arial" pitchFamily="34" charset="-120"/>
              </a:rPr>
              <a:t>PRICE WATERFALL BY CHANNEL — CARIENT ULTRA, 1L PACKS (PKR/L)</a:t>
            </a:r>
            <a:endParaRPr lang="en-US" sz="800" dirty="0"/>
          </a:p>
        </p:txBody>
      </p:sp>
      <p:sp>
        <p:nvSpPr>
          <p:cNvPr id="7" name="Text 5"/>
          <p:cNvSpPr/>
          <p:nvPr/>
        </p:nvSpPr>
        <p:spPr>
          <a:xfrm>
            <a:off x="304800" y="930027"/>
            <a:ext cx="8534400" cy="3819971"/>
          </a:xfrm>
          <a:prstGeom prst="roundRect">
            <a:avLst>
              <a:gd name="adj" fmla="val 1330"/>
            </a:avLst>
          </a:prstGeom>
          <a:solidFill>
            <a:srgbClr val="F0F8F4"/>
          </a:solidFill>
          <a:ln w="9525">
            <a:solidFill>
              <a:srgbClr val="00703C"/>
            </a:solidFill>
          </a:ln>
        </p:spPr>
        <p:txBody>
          <a:bodyPr wrap="square" rtlCol="0" anchor="ctr"/>
          <a:lstStyle/>
          <a:p>
            <a:pPr indent="0" marL="0">
              <a:buNone/>
            </a:pPr>
            <a:endParaRPr lang="en-US" dirty="0"/>
          </a:p>
        </p:txBody>
      </p:sp>
      <p:sp>
        <p:nvSpPr>
          <p:cNvPr id="8" name="Text 6"/>
          <p:cNvSpPr/>
          <p:nvPr/>
        </p:nvSpPr>
        <p:spPr>
          <a:xfrm>
            <a:off x="304800" y="4851499"/>
            <a:ext cx="8705088" cy="114300"/>
          </a:xfrm>
          <a:prstGeom prst="rect">
            <a:avLst/>
          </a:prstGeom>
          <a:noFill/>
          <a:ln/>
        </p:spPr>
        <p:txBody>
          <a:bodyPr wrap="square" lIns="0" tIns="0" rIns="0" bIns="0" rtlCol="0" anchor="t"/>
          <a:lstStyle/>
          <a:p>
            <a:pPr algn="l" indent="0" marL="0">
              <a:spcBef>
                <a:spcPts val="800"/>
              </a:spcBef>
              <a:buNone/>
            </a:pPr>
            <a:r>
              <a:rPr lang="en-US" sz="800" dirty="0">
                <a:solidFill>
                  <a:srgbClr val="555555"/>
                </a:solidFill>
                <a:latin typeface="Arial" pitchFamily="34" charset="0"/>
                <a:ea typeface="Arial" pitchFamily="34" charset="-122"/>
                <a:cs typeface="Arial" pitchFamily="34" charset="-120"/>
              </a:rPr>
              <a:t>Channel discounts applied to recommended retail price: Workshop −12% | Distributor −15% | Fleet Contract −20%. Reflects standard trade term structure for Pakistan lubricants market.</a:t>
            </a:r>
            <a:endParaRPr lang="en-US" sz="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274320" y="1325880"/>
          <a:ext cx="8595360" cy="3383280"/>
        </p:xfrm>
        <a:graphic>
          <a:graphicData uri="http://schemas.openxmlformats.org/drawingml/2006/table">
            <a:tbl>
              <a:tblPr/>
              <a:tblGrid>
                <a:gridCol w="1645920"/>
                <a:gridCol w="914400"/>
                <a:gridCol w="1554480"/>
                <a:gridCol w="1554480"/>
                <a:gridCol w="1554480"/>
                <a:gridCol w="1554480"/>
              </a:tblGrid>
              <a:tr h="384048">
                <a:tc>
                  <a:txBody>
                    <a:bodyPr/>
                    <a:lstStyle/>
                    <a:p>
                      <a:pPr algn="ctr" indent="0" marL="0">
                        <a:buNone/>
                      </a:pPr>
                      <a:r>
                        <a:rPr lang="en-US" sz="900" b="1" dirty="0">
                          <a:solidFill>
                            <a:srgbClr val="FFFFFF"/>
                          </a:solidFill>
                        </a:rPr>
                        <a:t>Brand</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900" b="1" dirty="0">
                          <a:solidFill>
                            <a:srgbClr val="FFFFFF"/>
                          </a:solidFill>
                        </a:rPr>
                        <a:t>Grade</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900" b="1" dirty="0">
                          <a:solidFill>
                            <a:srgbClr val="FFFFFF"/>
                          </a:solidFill>
                        </a:rPr>
                        <a:t>Retail Pump</a:t>
                      </a:r>
                      <a:endParaRPr lang="en-US" sz="900" dirty="0"/>
                    </a:p>
                    <a:p>
                      <a:pPr algn="ctr" indent="0" marL="0">
                        <a:buNone/>
                      </a:pPr>
                      <a:r>
                        <a:rPr lang="en-US" sz="900" b="1" dirty="0">
                          <a:solidFill>
                            <a:srgbClr val="FFFFFF"/>
                          </a:solidFill>
                        </a:rPr>
                        <a:t>(PKR/L)</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900" b="1" dirty="0">
                          <a:solidFill>
                            <a:srgbClr val="FFFFFF"/>
                          </a:solidFill>
                        </a:rPr>
                        <a:t>Workshop</a:t>
                      </a:r>
                      <a:endParaRPr lang="en-US" sz="900" dirty="0"/>
                    </a:p>
                    <a:p>
                      <a:pPr algn="ctr" indent="0" marL="0">
                        <a:buNone/>
                      </a:pPr>
                      <a:r>
                        <a:rPr lang="en-US" sz="900" b="1" dirty="0">
                          <a:solidFill>
                            <a:srgbClr val="FFFFFF"/>
                          </a:solidFill>
                        </a:rPr>
                        <a:t>(−12%)</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900" b="1" dirty="0">
                          <a:solidFill>
                            <a:srgbClr val="FFFFFF"/>
                          </a:solidFill>
                        </a:rPr>
                        <a:t>Distributor</a:t>
                      </a:r>
                      <a:endParaRPr lang="en-US" sz="900" dirty="0"/>
                    </a:p>
                    <a:p>
                      <a:pPr algn="ctr" indent="0" marL="0">
                        <a:buNone/>
                      </a:pPr>
                      <a:r>
                        <a:rPr lang="en-US" sz="900" b="1" dirty="0">
                          <a:solidFill>
                            <a:srgbClr val="FFFFFF"/>
                          </a:solidFill>
                        </a:rPr>
                        <a:t>(−15%)</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900" b="1" dirty="0">
                          <a:solidFill>
                            <a:srgbClr val="FFFFFF"/>
                          </a:solidFill>
                        </a:rPr>
                        <a:t>Fleet Contract</a:t>
                      </a:r>
                      <a:endParaRPr lang="en-US" sz="900" dirty="0"/>
                    </a:p>
                    <a:p>
                      <a:pPr algn="ctr" indent="0" marL="0">
                        <a:buNone/>
                      </a:pPr>
                      <a:r>
                        <a:rPr lang="en-US" sz="900" b="1" dirty="0">
                          <a:solidFill>
                            <a:srgbClr val="FFFFFF"/>
                          </a:solidFill>
                        </a:rPr>
                        <a:t>(−20%)</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r>
              <a:tr h="384048">
                <a:tc>
                  <a:txBody>
                    <a:bodyPr/>
                    <a:lstStyle/>
                    <a:p>
                      <a:pPr algn="ctr" indent="0" marL="0">
                        <a:buNone/>
                      </a:pPr>
                      <a:r>
                        <a:rPr lang="en-US" sz="800" dirty="0">
                          <a:solidFill>
                            <a:srgbClr val="000000"/>
                          </a:solidFill>
                        </a:rPr>
                        <a:t>Carient Ultra</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0W-20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3,745</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3,296</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3,183</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2,996</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84048">
                <a:tc>
                  <a:txBody>
                    <a:bodyPr/>
                    <a:lstStyle/>
                    <a:p>
                      <a:pPr algn="ctr" indent="0" marL="0">
                        <a:buNone/>
                      </a:pPr>
                      <a:r>
                        <a:rPr lang="en-US" sz="800" dirty="0">
                          <a:solidFill>
                            <a:srgbClr val="000000"/>
                          </a:solidFill>
                        </a:rPr>
                        <a:t>Carient Ultra</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5W-40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3,287</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2,893</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2,794</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2,630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84048">
                <a:tc>
                  <a:txBody>
                    <a:bodyPr/>
                    <a:lstStyle/>
                    <a:p>
                      <a:pPr algn="ctr" indent="0" marL="0">
                        <a:buNone/>
                      </a:pPr>
                      <a:r>
                        <a:rPr lang="en-US" sz="800" dirty="0">
                          <a:solidFill>
                            <a:srgbClr val="000000"/>
                          </a:solidFill>
                        </a:rPr>
                        <a:t>Carient FS</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5W-30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2,006</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1,765</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1,705</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1,605</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84048">
                <a:tc>
                  <a:txBody>
                    <a:bodyPr/>
                    <a:lstStyle/>
                    <a:p>
                      <a:pPr algn="ctr" indent="0" marL="0">
                        <a:buNone/>
                      </a:pPr>
                      <a:r>
                        <a:rPr lang="en-US" sz="800" dirty="0">
                          <a:solidFill>
                            <a:srgbClr val="000000"/>
                          </a:solidFill>
                        </a:rPr>
                        <a:t>Carient FS</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5W-40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3,138</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2,761</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2,667</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2,510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84048">
                <a:tc>
                  <a:txBody>
                    <a:bodyPr/>
                    <a:lstStyle/>
                    <a:p>
                      <a:pPr algn="ctr" indent="0" marL="0">
                        <a:buNone/>
                      </a:pPr>
                      <a:r>
                        <a:rPr lang="en-US" sz="800" dirty="0">
                          <a:solidFill>
                            <a:srgbClr val="000000"/>
                          </a:solidFill>
                        </a:rPr>
                        <a:t>Carient Plus</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15W-40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1,749</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1,539</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1,487</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1,399</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84048">
                <a:tc>
                  <a:txBody>
                    <a:bodyPr/>
                    <a:lstStyle/>
                    <a:p>
                      <a:pPr algn="ctr" indent="0" marL="0">
                        <a:buNone/>
                      </a:pPr>
                      <a:r>
                        <a:rPr lang="en-US" sz="800" dirty="0">
                          <a:solidFill>
                            <a:srgbClr val="000000"/>
                          </a:solidFill>
                        </a:rPr>
                        <a:t>Carient Plus</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20W-50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1,287</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1,133</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1,094</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1,030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84048">
                <a:tc>
                  <a:txBody>
                    <a:bodyPr/>
                    <a:lstStyle/>
                    <a:p>
                      <a:pPr algn="ctr" indent="0" marL="0">
                        <a:buNone/>
                      </a:pPr>
                      <a:r>
                        <a:rPr lang="en-US" sz="800" dirty="0">
                          <a:solidFill>
                            <a:srgbClr val="000000"/>
                          </a:solidFill>
                        </a:rPr>
                        <a:t>Carient SPRO</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15W-40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1,575</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1,386</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1,339</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1,260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84048">
                <a:tc>
                  <a:txBody>
                    <a:bodyPr/>
                    <a:lstStyle/>
                    <a:p>
                      <a:pPr algn="ctr" indent="0" marL="0">
                        <a:buNone/>
                      </a:pPr>
                      <a:r>
                        <a:rPr lang="en-US" sz="800" dirty="0">
                          <a:solidFill>
                            <a:srgbClr val="000000"/>
                          </a:solidFill>
                        </a:rPr>
                        <a:t>Carient SPRO</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20W-50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1,026</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903</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872</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821</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730151"/>
          </a:xfrm>
          <a:prstGeom prst="rect">
            <a:avLst/>
          </a:prstGeom>
          <a:solidFill>
            <a:srgbClr val="00703C"/>
          </a:solidFill>
          <a:ln/>
        </p:spPr>
        <p:txBody>
          <a:bodyPr wrap="square" rtlCol="0" anchor="ctr"/>
          <a:lstStyle/>
          <a:p>
            <a:pPr indent="0" marL="0">
              <a:buNone/>
            </a:pPr>
            <a:endParaRPr lang="en-US" dirty="0"/>
          </a:p>
        </p:txBody>
      </p:sp>
      <p:sp>
        <p:nvSpPr>
          <p:cNvPr id="3" name="Text 1"/>
          <p:cNvSpPr/>
          <p:nvPr/>
        </p:nvSpPr>
        <p:spPr>
          <a:xfrm>
            <a:off x="355550" y="152400"/>
            <a:ext cx="8601557" cy="266700"/>
          </a:xfrm>
          <a:prstGeom prst="rect">
            <a:avLst/>
          </a:prstGeom>
          <a:noFill/>
          <a:ln/>
        </p:spPr>
        <p:txBody>
          <a:bodyPr wrap="square" lIns="0" tIns="0" rIns="0" bIns="0" rtlCol="0" anchor="t"/>
          <a:lstStyle/>
          <a:p>
            <a:pPr algn="l" indent="0" marL="0">
              <a:buNone/>
            </a:pPr>
            <a:r>
              <a:rPr lang="en-US" sz="1800" b="1" dirty="0">
                <a:solidFill>
                  <a:srgbClr val="FFFFFF"/>
                </a:solidFill>
                <a:latin typeface="Arial" pitchFamily="34" charset="0"/>
                <a:ea typeface="Arial" pitchFamily="34" charset="-122"/>
                <a:cs typeface="Arial" pitchFamily="34" charset="-120"/>
              </a:rPr>
              <a:t>Recommended Prices — PCMO (Petrol Engine)</a:t>
            </a:r>
            <a:endParaRPr lang="en-US" sz="1800" dirty="0"/>
          </a:p>
        </p:txBody>
      </p:sp>
      <p:sp>
        <p:nvSpPr>
          <p:cNvPr id="4" name="Text 2"/>
          <p:cNvSpPr/>
          <p:nvPr/>
        </p:nvSpPr>
        <p:spPr>
          <a:xfrm>
            <a:off x="355550" y="469850"/>
            <a:ext cx="8601557" cy="133350"/>
          </a:xfrm>
          <a:prstGeom prst="rect">
            <a:avLst/>
          </a:prstGeom>
          <a:noFill/>
          <a:ln/>
        </p:spPr>
        <p:txBody>
          <a:bodyPr wrap="square" lIns="0" tIns="0" rIns="0" bIns="0" rtlCol="0" anchor="t"/>
          <a:lstStyle/>
          <a:p>
            <a:pPr algn="l" indent="0" marL="0">
              <a:spcBef>
                <a:spcPts val="400"/>
              </a:spcBef>
              <a:buNone/>
            </a:pPr>
            <a:r>
              <a:rPr lang="en-US" sz="900" b="1" dirty="0">
                <a:solidFill>
                  <a:srgbClr val="A8D5BE"/>
                </a:solidFill>
                <a:latin typeface="Arial" pitchFamily="34" charset="0"/>
                <a:ea typeface="Arial" pitchFamily="34" charset="-122"/>
                <a:cs typeface="Arial" pitchFamily="34" charset="-120"/>
              </a:rPr>
              <a:t>28 SKUs | Carient Ultra, FS, Plus &amp; SPRO | Weighted synthesis across F1–F5 frameworks</a:t>
            </a:r>
            <a:endParaRPr lang="en-US" sz="900" dirty="0"/>
          </a:p>
        </p:txBody>
      </p:sp>
      <p:sp>
        <p:nvSpPr>
          <p:cNvPr id="5" name="Text 3"/>
          <p:cNvSpPr/>
          <p:nvPr/>
        </p:nvSpPr>
        <p:spPr>
          <a:xfrm>
            <a:off x="304800" y="907852"/>
            <a:ext cx="8705088" cy="114300"/>
          </a:xfrm>
          <a:prstGeom prst="rect">
            <a:avLst/>
          </a:prstGeom>
          <a:noFill/>
          <a:ln/>
        </p:spPr>
        <p:txBody>
          <a:bodyPr wrap="square" lIns="0" tIns="0" rIns="0" bIns="0" rtlCol="0" anchor="t"/>
          <a:lstStyle/>
          <a:p>
            <a:pPr algn="l" indent="0" marL="0">
              <a:spcAft>
                <a:spcPts val="800"/>
              </a:spcAft>
              <a:buNone/>
            </a:pPr>
            <a:r>
              <a:rPr lang="en-US" sz="800" dirty="0">
                <a:solidFill>
                  <a:srgbClr val="555555"/>
                </a:solidFill>
                <a:latin typeface="Arial" pitchFamily="34" charset="0"/>
                <a:ea typeface="Arial" pitchFamily="34" charset="-122"/>
                <a:cs typeface="Arial" pitchFamily="34" charset="-120"/>
              </a:rPr>
              <a:t>All prices in PKR/Litre. Signal: PREMIUM (+&gt;10% vs market) | AT MARKET (±10%) | VALUE POSITION (−&gt;10% below market)</a:t>
            </a:r>
            <a:endParaRPr lang="en-US" sz="800" dirty="0"/>
          </a:p>
        </p:txBody>
      </p:sp>
      <p:sp>
        <p:nvSpPr>
          <p:cNvPr id="6" name="Text 4"/>
          <p:cNvSpPr/>
          <p:nvPr/>
        </p:nvSpPr>
        <p:spPr>
          <a:xfrm>
            <a:off x="304800" y="1123652"/>
            <a:ext cx="8534400" cy="3842147"/>
          </a:xfrm>
          <a:prstGeom prst="roundRect">
            <a:avLst>
              <a:gd name="adj" fmla="val 1322"/>
            </a:avLst>
          </a:prstGeom>
          <a:solidFill>
            <a:srgbClr val="F0F8F4"/>
          </a:solidFill>
          <a:ln w="9525">
            <a:solidFill>
              <a:srgbClr val="00703C"/>
            </a:solidFill>
          </a:ln>
        </p:spPr>
        <p:txBody>
          <a:bodyPr wrap="square" rtlCol="0" anchor="ctr"/>
          <a:lstStyle/>
          <a:p>
            <a:pPr indent="0" marL="0">
              <a:buNone/>
            </a:pPr>
            <a:endParaRPr lang="en-US"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274320" y="1325880"/>
          <a:ext cx="8595360" cy="3383280"/>
        </p:xfrm>
        <a:graphic>
          <a:graphicData uri="http://schemas.openxmlformats.org/drawingml/2006/table">
            <a:tbl>
              <a:tblPr/>
              <a:tblGrid>
                <a:gridCol w="1417320"/>
                <a:gridCol w="777240"/>
                <a:gridCol w="640080"/>
                <a:gridCol w="914400"/>
                <a:gridCol w="1005840"/>
                <a:gridCol w="777240"/>
                <a:gridCol w="1280160"/>
                <a:gridCol w="640080"/>
              </a:tblGrid>
              <a:tr h="160020">
                <a:tc>
                  <a:txBody>
                    <a:bodyPr/>
                    <a:lstStyle/>
                    <a:p>
                      <a:pPr algn="ctr" indent="0" marL="0">
                        <a:buNone/>
                      </a:pPr>
                      <a:r>
                        <a:rPr lang="en-US" sz="900" b="1" dirty="0">
                          <a:solidFill>
                            <a:srgbClr val="FFFFFF"/>
                          </a:solidFill>
                        </a:rPr>
                        <a:t>Brand</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900" b="1" dirty="0">
                          <a:solidFill>
                            <a:srgbClr val="FFFFFF"/>
                          </a:solidFill>
                        </a:rPr>
                        <a:t>Grade</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900" b="1" dirty="0">
                          <a:solidFill>
                            <a:srgbClr val="FFFFFF"/>
                          </a:solidFill>
                        </a:rPr>
                        <a:t>Pack (L)</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900" b="1" dirty="0">
                          <a:solidFill>
                            <a:srgbClr val="FFFFFF"/>
                          </a:solidFill>
                        </a:rPr>
                        <a:t>Rec Price/L</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900" b="1" dirty="0">
                          <a:solidFill>
                            <a:srgbClr val="FFFFFF"/>
                          </a:solidFill>
                        </a:rPr>
                        <a:t>Rec PKR</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900" b="1" dirty="0">
                          <a:solidFill>
                            <a:srgbClr val="FFFFFF"/>
                          </a:solidFill>
                        </a:rPr>
                        <a:t>vs Market</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900" b="1" dirty="0">
                          <a:solidFill>
                            <a:srgbClr val="FFFFFF"/>
                          </a:solidFill>
                        </a:rPr>
                        <a:t>Signal</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900" b="1" dirty="0">
                          <a:solidFill>
                            <a:srgbClr val="FFFFFF"/>
                          </a:solidFill>
                        </a:rPr>
                        <a:t>Conf.</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r>
              <a:tr h="160020">
                <a:tc>
                  <a:txBody>
                    <a:bodyPr/>
                    <a:lstStyle/>
                    <a:p>
                      <a:pPr algn="ctr" indent="0" marL="0">
                        <a:buNone/>
                      </a:pPr>
                      <a:r>
                        <a:rPr lang="en-US" sz="800" dirty="0">
                          <a:solidFill>
                            <a:srgbClr val="000000"/>
                          </a:solidFill>
                        </a:rPr>
                        <a:t>Carient Ultra</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0W-20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3,745</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3,745</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+9.8%</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444444"/>
                          </a:solidFill>
                        </a:rPr>
                        <a:t>AT MARKET</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HIGH</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160020">
                <a:tc>
                  <a:txBody>
                    <a:bodyPr/>
                    <a:lstStyle/>
                    <a:p>
                      <a:pPr algn="ctr" indent="0" marL="0">
                        <a:buNone/>
                      </a:pPr>
                      <a:r>
                        <a:rPr lang="en-US" sz="800" dirty="0">
                          <a:solidFill>
                            <a:srgbClr val="000000"/>
                          </a:solidFill>
                        </a:rPr>
                        <a:t>Carient Ultra</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5W-20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1L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Rs 2,364</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Rs 2,364</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+24.4%</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b="1" dirty="0">
                          <a:solidFill>
                            <a:srgbClr val="023520"/>
                          </a:solidFill>
                        </a:rPr>
                        <a:t>PREMIUM</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HIGH</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r>
              <a:tr h="160020">
                <a:tc>
                  <a:txBody>
                    <a:bodyPr/>
                    <a:lstStyle/>
                    <a:p>
                      <a:pPr algn="ctr" indent="0" marL="0">
                        <a:buNone/>
                      </a:pPr>
                      <a:r>
                        <a:rPr lang="en-US" sz="800" dirty="0">
                          <a:solidFill>
                            <a:srgbClr val="000000"/>
                          </a:solidFill>
                        </a:rPr>
                        <a:t>Carient Ultra</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5W-30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1L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Rs 2,319</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Rs 2,319</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+127.6%</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b="1" dirty="0">
                          <a:solidFill>
                            <a:srgbClr val="023520"/>
                          </a:solidFill>
                        </a:rPr>
                        <a:t>PREMIUM</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HIGH</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r>
              <a:tr h="160020">
                <a:tc>
                  <a:txBody>
                    <a:bodyPr/>
                    <a:lstStyle/>
                    <a:p>
                      <a:pPr algn="ctr" indent="0" marL="0">
                        <a:buNone/>
                      </a:pPr>
                      <a:r>
                        <a:rPr lang="en-US" sz="800" dirty="0">
                          <a:solidFill>
                            <a:srgbClr val="000000"/>
                          </a:solidFill>
                        </a:rPr>
                        <a:t>Carient Ultra</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5W-40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3,287</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3,287</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-3.7%</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444444"/>
                          </a:solidFill>
                        </a:rPr>
                        <a:t>AT MARKET</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HIGH</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160020">
                <a:tc>
                  <a:txBody>
                    <a:bodyPr/>
                    <a:lstStyle/>
                    <a:p>
                      <a:pPr algn="ctr" indent="0" marL="0">
                        <a:buNone/>
                      </a:pPr>
                      <a:r>
                        <a:rPr lang="en-US" sz="800" dirty="0">
                          <a:solidFill>
                            <a:srgbClr val="000000"/>
                          </a:solidFill>
                        </a:rPr>
                        <a:t>Carient Ultra</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0W-20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3L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3,463</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10,389</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+1.5%</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444444"/>
                          </a:solidFill>
                        </a:rPr>
                        <a:t>AT MARKET</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HIGH</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160020">
                <a:tc>
                  <a:txBody>
                    <a:bodyPr/>
                    <a:lstStyle/>
                    <a:p>
                      <a:pPr algn="ctr" indent="0" marL="0">
                        <a:buNone/>
                      </a:pPr>
                      <a:r>
                        <a:rPr lang="en-US" sz="800" dirty="0">
                          <a:solidFill>
                            <a:srgbClr val="000000"/>
                          </a:solidFill>
                        </a:rPr>
                        <a:t>Carient Ultra</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5W-40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3L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3,090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9,270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-9.4%</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444444"/>
                          </a:solidFill>
                        </a:rPr>
                        <a:t>AT MARKET</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HIGH</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160020">
                <a:tc>
                  <a:txBody>
                    <a:bodyPr/>
                    <a:lstStyle/>
                    <a:p>
                      <a:pPr algn="ctr" indent="0" marL="0">
                        <a:buNone/>
                      </a:pPr>
                      <a:r>
                        <a:rPr lang="en-US" sz="800" dirty="0">
                          <a:solidFill>
                            <a:srgbClr val="000000"/>
                          </a:solidFill>
                        </a:rPr>
                        <a:t>Carient Ultra</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0W-20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4L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3,347</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13,388</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-1.9%</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444444"/>
                          </a:solidFill>
                        </a:rPr>
                        <a:t>AT MARKET</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HIGH</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160020">
                <a:tc>
                  <a:txBody>
                    <a:bodyPr/>
                    <a:lstStyle/>
                    <a:p>
                      <a:pPr algn="ctr" indent="0" marL="0">
                        <a:buNone/>
                      </a:pPr>
                      <a:r>
                        <a:rPr lang="en-US" sz="800" dirty="0">
                          <a:solidFill>
                            <a:srgbClr val="000000"/>
                          </a:solidFill>
                        </a:rPr>
                        <a:t>Carient Ultra</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5W-40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4L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3,008</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12,032</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-11.8%</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b="1" dirty="0">
                          <a:solidFill>
                            <a:srgbClr val="7A5C00"/>
                          </a:solidFill>
                        </a:rPr>
                        <a:t>VALUE POSITION</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HIGH</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r>
              <a:tr h="160020">
                <a:tc>
                  <a:txBody>
                    <a:bodyPr/>
                    <a:lstStyle/>
                    <a:p>
                      <a:pPr algn="ctr" indent="0" marL="0">
                        <a:buNone/>
                      </a:pPr>
                      <a:r>
                        <a:rPr lang="en-US" sz="800" dirty="0">
                          <a:solidFill>
                            <a:srgbClr val="000000"/>
                          </a:solidFill>
                        </a:rPr>
                        <a:t>Carient FS</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5W-30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4L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Rs 2,006</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Rs 8,024</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+96.9%</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b="1" dirty="0">
                          <a:solidFill>
                            <a:srgbClr val="023520"/>
                          </a:solidFill>
                        </a:rPr>
                        <a:t>PREMIUM</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HIGH</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r>
              <a:tr h="160020">
                <a:tc>
                  <a:txBody>
                    <a:bodyPr/>
                    <a:lstStyle/>
                    <a:p>
                      <a:pPr algn="ctr" indent="0" marL="0">
                        <a:buNone/>
                      </a:pPr>
                      <a:r>
                        <a:rPr lang="en-US" sz="800" dirty="0">
                          <a:solidFill>
                            <a:srgbClr val="000000"/>
                          </a:solidFill>
                        </a:rPr>
                        <a:t>Carient FS</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5W-40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4L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3,138</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12,552</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-8.0%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444444"/>
                          </a:solidFill>
                        </a:rPr>
                        <a:t>AT MARKET</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HIGH</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160020">
                <a:tc>
                  <a:txBody>
                    <a:bodyPr/>
                    <a:lstStyle/>
                    <a:p>
                      <a:pPr algn="ctr" indent="0" marL="0">
                        <a:buNone/>
                      </a:pPr>
                      <a:r>
                        <a:rPr lang="en-US" sz="800" dirty="0">
                          <a:solidFill>
                            <a:srgbClr val="000000"/>
                          </a:solidFill>
                        </a:rPr>
                        <a:t>Carient FS</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10W-40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4L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Rs 1,200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Rs 4,800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+17.1%</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b="1" dirty="0">
                          <a:solidFill>
                            <a:srgbClr val="023520"/>
                          </a:solidFill>
                        </a:rPr>
                        <a:t>PREMIUM</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HIGH</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r>
              <a:tr h="160020">
                <a:tc>
                  <a:txBody>
                    <a:bodyPr/>
                    <a:lstStyle/>
                    <a:p>
                      <a:pPr algn="ctr" indent="0" marL="0">
                        <a:buNone/>
                      </a:pPr>
                      <a:r>
                        <a:rPr lang="en-US" sz="800" dirty="0">
                          <a:solidFill>
                            <a:srgbClr val="000000"/>
                          </a:solidFill>
                        </a:rPr>
                        <a:t>Carient Plus</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10W-40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1L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1,665</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1,665</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-27.6%</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b="1" dirty="0">
                          <a:solidFill>
                            <a:srgbClr val="7A5C00"/>
                          </a:solidFill>
                        </a:rPr>
                        <a:t>VALUE POSITION</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HIGH</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r>
              <a:tr h="160020">
                <a:tc>
                  <a:txBody>
                    <a:bodyPr/>
                    <a:lstStyle/>
                    <a:p>
                      <a:pPr algn="ctr" indent="0" marL="0">
                        <a:buNone/>
                      </a:pPr>
                      <a:r>
                        <a:rPr lang="en-US" sz="800" dirty="0">
                          <a:solidFill>
                            <a:srgbClr val="000000"/>
                          </a:solidFill>
                        </a:rPr>
                        <a:t>Carient Plus</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15W-40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1,749</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1,749</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-0.1%</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444444"/>
                          </a:solidFill>
                        </a:rPr>
                        <a:t>AT MARKET</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HIGH</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160020">
                <a:tc>
                  <a:txBody>
                    <a:bodyPr/>
                    <a:lstStyle/>
                    <a:p>
                      <a:pPr algn="ctr" indent="0" marL="0">
                        <a:buNone/>
                      </a:pPr>
                      <a:r>
                        <a:rPr lang="en-US" sz="800" dirty="0">
                          <a:solidFill>
                            <a:srgbClr val="000000"/>
                          </a:solidFill>
                        </a:rPr>
                        <a:t>Carient Plus</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20W-50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1L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1,287</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1,287</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-17.0%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b="1" dirty="0">
                          <a:solidFill>
                            <a:srgbClr val="7A5C00"/>
                          </a:solidFill>
                        </a:rPr>
                        <a:t>VALUE POSITION</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HIGH</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r>
              <a:tr h="160020">
                <a:tc>
                  <a:txBody>
                    <a:bodyPr/>
                    <a:lstStyle/>
                    <a:p>
                      <a:pPr algn="ctr" indent="0" marL="0">
                        <a:buNone/>
                      </a:pPr>
                      <a:r>
                        <a:rPr lang="en-US" sz="800" dirty="0">
                          <a:solidFill>
                            <a:srgbClr val="000000"/>
                          </a:solidFill>
                        </a:rPr>
                        <a:t>Carient Plus</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15W-40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3L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1,602</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4,806</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-8.5%</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444444"/>
                          </a:solidFill>
                        </a:rPr>
                        <a:t>AT MARKET</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HIGH</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160020">
                <a:tc>
                  <a:txBody>
                    <a:bodyPr/>
                    <a:lstStyle/>
                    <a:p>
                      <a:pPr algn="ctr" indent="0" marL="0">
                        <a:buNone/>
                      </a:pPr>
                      <a:r>
                        <a:rPr lang="en-US" sz="800" dirty="0">
                          <a:solidFill>
                            <a:srgbClr val="000000"/>
                          </a:solidFill>
                        </a:rPr>
                        <a:t>Carient Plus</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15W-40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4L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1,542</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6,168</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-11.9%</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b="1" dirty="0">
                          <a:solidFill>
                            <a:srgbClr val="7A5C00"/>
                          </a:solidFill>
                        </a:rPr>
                        <a:t>VALUE POSITION</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HIGH</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r>
              <a:tr h="160020">
                <a:tc>
                  <a:txBody>
                    <a:bodyPr/>
                    <a:lstStyle/>
                    <a:p>
                      <a:pPr algn="ctr" indent="0" marL="0">
                        <a:buNone/>
                      </a:pPr>
                      <a:r>
                        <a:rPr lang="en-US" sz="800" dirty="0">
                          <a:solidFill>
                            <a:srgbClr val="000000"/>
                          </a:solidFill>
                        </a:rPr>
                        <a:t>Carient SPRO</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15W-40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3L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1,575</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4,725</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-10.0%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b="1" dirty="0">
                          <a:solidFill>
                            <a:srgbClr val="7A5C00"/>
                          </a:solidFill>
                        </a:rPr>
                        <a:t>VALUE POSITION</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HIGH</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r>
              <a:tr h="160020">
                <a:tc>
                  <a:txBody>
                    <a:bodyPr/>
                    <a:lstStyle/>
                    <a:p>
                      <a:pPr algn="ctr" indent="0" marL="0">
                        <a:buNone/>
                      </a:pPr>
                      <a:r>
                        <a:rPr lang="en-US" sz="800" dirty="0">
                          <a:solidFill>
                            <a:srgbClr val="000000"/>
                          </a:solidFill>
                        </a:rPr>
                        <a:t>Carient SPRO</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20W-50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3L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1,026</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3,078</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-13.3%</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b="1" dirty="0">
                          <a:solidFill>
                            <a:srgbClr val="7A5C00"/>
                          </a:solidFill>
                        </a:rPr>
                        <a:t>VALUE POSITION</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HIGH</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r>
              <a:tr h="160020">
                <a:tc>
                  <a:txBody>
                    <a:bodyPr/>
                    <a:lstStyle/>
                    <a:p>
                      <a:pPr algn="ctr" indent="0" marL="0">
                        <a:buNone/>
                      </a:pPr>
                      <a:r>
                        <a:rPr lang="en-US" sz="800" dirty="0">
                          <a:solidFill>
                            <a:srgbClr val="000000"/>
                          </a:solidFill>
                        </a:rPr>
                        <a:t>Carient SPRO</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15W-40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4L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1,515</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6,060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-13.4%</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b="1" dirty="0">
                          <a:solidFill>
                            <a:srgbClr val="7A5C00"/>
                          </a:solidFill>
                        </a:rPr>
                        <a:t>VALUE POSITION</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HIGH</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r>
              <a:tr h="160020">
                <a:tc>
                  <a:txBody>
                    <a:bodyPr/>
                    <a:lstStyle/>
                    <a:p>
                      <a:pPr algn="ctr" indent="0" marL="0">
                        <a:buNone/>
                      </a:pPr>
                      <a:r>
                        <a:rPr lang="en-US" sz="800" dirty="0">
                          <a:solidFill>
                            <a:srgbClr val="000000"/>
                          </a:solidFill>
                        </a:rPr>
                        <a:t>Carient SPRO</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20W-50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4L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925</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3,700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-9.8%</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444444"/>
                          </a:solidFill>
                        </a:rPr>
                        <a:t>AT MARKET</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HIGH</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730151"/>
          </a:xfrm>
          <a:prstGeom prst="rect">
            <a:avLst/>
          </a:prstGeom>
          <a:solidFill>
            <a:srgbClr val="00703C"/>
          </a:solidFill>
          <a:ln/>
        </p:spPr>
        <p:txBody>
          <a:bodyPr wrap="square" rtlCol="0" anchor="ctr"/>
          <a:lstStyle/>
          <a:p>
            <a:pPr indent="0" marL="0">
              <a:buNone/>
            </a:pPr>
            <a:endParaRPr lang="en-US" dirty="0"/>
          </a:p>
        </p:txBody>
      </p:sp>
      <p:sp>
        <p:nvSpPr>
          <p:cNvPr id="3" name="Text 1"/>
          <p:cNvSpPr/>
          <p:nvPr/>
        </p:nvSpPr>
        <p:spPr>
          <a:xfrm>
            <a:off x="355550" y="152400"/>
            <a:ext cx="8601557" cy="266700"/>
          </a:xfrm>
          <a:prstGeom prst="rect">
            <a:avLst/>
          </a:prstGeom>
          <a:noFill/>
          <a:ln/>
        </p:spPr>
        <p:txBody>
          <a:bodyPr wrap="square" lIns="0" tIns="0" rIns="0" bIns="0" rtlCol="0" anchor="t"/>
          <a:lstStyle/>
          <a:p>
            <a:pPr algn="l" indent="0" marL="0">
              <a:buNone/>
            </a:pPr>
            <a:r>
              <a:rPr lang="en-US" sz="1800" b="1" dirty="0">
                <a:solidFill>
                  <a:srgbClr val="FFFFFF"/>
                </a:solidFill>
                <a:latin typeface="Arial" pitchFamily="34" charset="0"/>
                <a:ea typeface="Arial" pitchFamily="34" charset="-122"/>
                <a:cs typeface="Arial" pitchFamily="34" charset="-120"/>
              </a:rPr>
              <a:t>Recommended Prices — HDEO &amp; MCO</a:t>
            </a:r>
            <a:endParaRPr lang="en-US" sz="1800" dirty="0"/>
          </a:p>
        </p:txBody>
      </p:sp>
      <p:sp>
        <p:nvSpPr>
          <p:cNvPr id="4" name="Text 2"/>
          <p:cNvSpPr/>
          <p:nvPr/>
        </p:nvSpPr>
        <p:spPr>
          <a:xfrm>
            <a:off x="355550" y="469850"/>
            <a:ext cx="8601557" cy="133350"/>
          </a:xfrm>
          <a:prstGeom prst="rect">
            <a:avLst/>
          </a:prstGeom>
          <a:noFill/>
          <a:ln/>
        </p:spPr>
        <p:txBody>
          <a:bodyPr wrap="square" lIns="0" tIns="0" rIns="0" bIns="0" rtlCol="0" anchor="t"/>
          <a:lstStyle/>
          <a:p>
            <a:pPr algn="l" indent="0" marL="0">
              <a:spcBef>
                <a:spcPts val="400"/>
              </a:spcBef>
              <a:buNone/>
            </a:pPr>
            <a:r>
              <a:rPr lang="en-US" sz="900" b="1" dirty="0">
                <a:solidFill>
                  <a:srgbClr val="A8D5BE"/>
                </a:solidFill>
                <a:latin typeface="Arial" pitchFamily="34" charset="0"/>
                <a:ea typeface="Arial" pitchFamily="34" charset="-122"/>
                <a:cs typeface="Arial" pitchFamily="34" charset="-120"/>
              </a:rPr>
              <a:t>12 HDEO SKUs (DEO 3000 – DEO Max, Dieselube) | 5 MCO SKUs (Blaze 4T, Blaze Xtreme)</a:t>
            </a:r>
            <a:endParaRPr lang="en-US" sz="900" dirty="0"/>
          </a:p>
        </p:txBody>
      </p:sp>
      <p:sp>
        <p:nvSpPr>
          <p:cNvPr id="5" name="Text 3"/>
          <p:cNvSpPr/>
          <p:nvPr/>
        </p:nvSpPr>
        <p:spPr>
          <a:xfrm>
            <a:off x="304800" y="907852"/>
            <a:ext cx="4248861" cy="114300"/>
          </a:xfrm>
          <a:prstGeom prst="rect">
            <a:avLst/>
          </a:prstGeom>
          <a:noFill/>
          <a:ln/>
        </p:spPr>
        <p:txBody>
          <a:bodyPr wrap="square" lIns="0" tIns="0" rIns="0" bIns="0" rtlCol="0" anchor="t"/>
          <a:lstStyle/>
          <a:p>
            <a:pPr algn="l" indent="0" marL="0">
              <a:spcAft>
                <a:spcPts val="600"/>
              </a:spcAft>
              <a:buNone/>
            </a:pPr>
            <a:r>
              <a:rPr lang="en-US" sz="800" b="1" dirty="0">
                <a:solidFill>
                  <a:srgbClr val="C8960C"/>
                </a:solidFill>
                <a:latin typeface="Arial" pitchFamily="34" charset="0"/>
                <a:ea typeface="Arial" pitchFamily="34" charset="-122"/>
                <a:cs typeface="Arial" pitchFamily="34" charset="-120"/>
              </a:rPr>
              <a:t>DIESEL ENGINE OIL (HDEO)</a:t>
            </a:r>
            <a:endParaRPr lang="en-US" sz="800" dirty="0"/>
          </a:p>
        </p:txBody>
      </p:sp>
      <p:sp>
        <p:nvSpPr>
          <p:cNvPr id="6" name="Text 4"/>
          <p:cNvSpPr/>
          <p:nvPr/>
        </p:nvSpPr>
        <p:spPr>
          <a:xfrm>
            <a:off x="304800" y="1098352"/>
            <a:ext cx="4165550" cy="3867448"/>
          </a:xfrm>
          <a:prstGeom prst="roundRect">
            <a:avLst>
              <a:gd name="adj" fmla="val 1314"/>
            </a:avLst>
          </a:prstGeom>
          <a:solidFill>
            <a:srgbClr val="F0F8F4"/>
          </a:solidFill>
          <a:ln w="9525">
            <a:solidFill>
              <a:srgbClr val="00703C"/>
            </a:solidFill>
          </a:ln>
        </p:spPr>
        <p:txBody>
          <a:bodyPr wrap="square" rtlCol="0" anchor="ctr"/>
          <a:lstStyle/>
          <a:p>
            <a:pPr indent="0" marL="0">
              <a:buNone/>
            </a:pPr>
            <a:endParaRPr lang="en-US" dirty="0"/>
          </a:p>
        </p:txBody>
      </p:sp>
      <p:sp>
        <p:nvSpPr>
          <p:cNvPr id="7" name="Text 5"/>
          <p:cNvSpPr/>
          <p:nvPr/>
        </p:nvSpPr>
        <p:spPr>
          <a:xfrm>
            <a:off x="4673501" y="907852"/>
            <a:ext cx="4249013" cy="114300"/>
          </a:xfrm>
          <a:prstGeom prst="rect">
            <a:avLst/>
          </a:prstGeom>
          <a:noFill/>
          <a:ln/>
        </p:spPr>
        <p:txBody>
          <a:bodyPr wrap="square" lIns="0" tIns="0" rIns="0" bIns="0" rtlCol="0" anchor="t"/>
          <a:lstStyle/>
          <a:p>
            <a:pPr algn="l" indent="0" marL="0">
              <a:spcAft>
                <a:spcPts val="600"/>
              </a:spcAft>
              <a:buNone/>
            </a:pPr>
            <a:r>
              <a:rPr lang="en-US" sz="800" b="1" dirty="0">
                <a:solidFill>
                  <a:srgbClr val="C8960C"/>
                </a:solidFill>
                <a:latin typeface="Arial" pitchFamily="34" charset="0"/>
                <a:ea typeface="Arial" pitchFamily="34" charset="-122"/>
                <a:cs typeface="Arial" pitchFamily="34" charset="-120"/>
              </a:rPr>
              <a:t>MOTORCYCLE OIL (MCO)</a:t>
            </a:r>
            <a:endParaRPr lang="en-US" sz="800" dirty="0"/>
          </a:p>
        </p:txBody>
      </p:sp>
      <p:sp>
        <p:nvSpPr>
          <p:cNvPr id="8" name="Text 6"/>
          <p:cNvSpPr/>
          <p:nvPr/>
        </p:nvSpPr>
        <p:spPr>
          <a:xfrm>
            <a:off x="4673501" y="1098352"/>
            <a:ext cx="4165699" cy="3867448"/>
          </a:xfrm>
          <a:prstGeom prst="roundRect">
            <a:avLst>
              <a:gd name="adj" fmla="val 1314"/>
            </a:avLst>
          </a:prstGeom>
          <a:solidFill>
            <a:srgbClr val="F0F8F4"/>
          </a:solidFill>
          <a:ln w="9525">
            <a:solidFill>
              <a:srgbClr val="00703C"/>
            </a:solidFill>
          </a:ln>
        </p:spPr>
        <p:txBody>
          <a:bodyPr wrap="square" rtlCol="0" anchor="ctr"/>
          <a:lstStyle/>
          <a:p>
            <a:pPr indent="0" marL="0">
              <a:buNone/>
            </a:pPr>
            <a:endParaRPr lang="en-US"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274320" y="1325880"/>
          <a:ext cx="4297680" cy="3383280"/>
        </p:xfrm>
        <a:graphic>
          <a:graphicData uri="http://schemas.openxmlformats.org/drawingml/2006/table">
            <a:tbl>
              <a:tblPr/>
              <a:tblGrid>
                <a:gridCol w="1005840"/>
                <a:gridCol w="731520"/>
                <a:gridCol w="457200"/>
                <a:gridCol w="822960"/>
                <a:gridCol w="822960"/>
                <a:gridCol w="640080"/>
                <a:gridCol w="1097280"/>
              </a:tblGrid>
              <a:tr h="242316">
                <a:tc>
                  <a:txBody>
                    <a:bodyPr/>
                    <a:lstStyle/>
                    <a:p>
                      <a:pPr algn="ctr" indent="0" marL="0">
                        <a:buNone/>
                      </a:pPr>
                      <a:r>
                        <a:rPr lang="en-US" sz="900" b="1" dirty="0">
                          <a:solidFill>
                            <a:srgbClr val="FFFFFF"/>
                          </a:solidFill>
                        </a:rPr>
                        <a:t>Brand</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900" b="1" dirty="0">
                          <a:solidFill>
                            <a:srgbClr val="FFFFFF"/>
                          </a:solidFill>
                        </a:rPr>
                        <a:t>Grade</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900" b="1" dirty="0">
                          <a:solidFill>
                            <a:srgbClr val="FFFFFF"/>
                          </a:solidFill>
                        </a:rPr>
                        <a:t>Pack</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900" b="1" dirty="0">
                          <a:solidFill>
                            <a:srgbClr val="FFFFFF"/>
                          </a:solidFill>
                        </a:rPr>
                        <a:t>Rec/L</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900" b="1" dirty="0">
                          <a:solidFill>
                            <a:srgbClr val="FFFFFF"/>
                          </a:solidFill>
                        </a:rPr>
                        <a:t>Rec PKR</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900" b="1" dirty="0">
                          <a:solidFill>
                            <a:srgbClr val="FFFFFF"/>
                          </a:solidFill>
                        </a:rPr>
                        <a:t>vs Mkt</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900" b="1" dirty="0">
                          <a:solidFill>
                            <a:srgbClr val="FFFFFF"/>
                          </a:solidFill>
                        </a:rPr>
                        <a:t>Signal</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r>
              <a:tr h="242316">
                <a:tc>
                  <a:txBody>
                    <a:bodyPr/>
                    <a:lstStyle/>
                    <a:p>
                      <a:pPr algn="ctr" indent="0" marL="0">
                        <a:buNone/>
                      </a:pPr>
                      <a:r>
                        <a:rPr lang="en-US" sz="800" dirty="0">
                          <a:solidFill>
                            <a:srgbClr val="000000"/>
                          </a:solidFill>
                        </a:rPr>
                        <a:t>DEO 3000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15W-40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4L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1,542</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6,168</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-11.9%</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b="1" dirty="0">
                          <a:solidFill>
                            <a:srgbClr val="7A5C00"/>
                          </a:solidFill>
                        </a:rPr>
                        <a:t>VALUE POSITION</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r>
              <a:tr h="242316">
                <a:tc>
                  <a:txBody>
                    <a:bodyPr/>
                    <a:lstStyle/>
                    <a:p>
                      <a:pPr algn="ctr" indent="0" marL="0">
                        <a:buNone/>
                      </a:pPr>
                      <a:r>
                        <a:rPr lang="en-US" sz="800" dirty="0">
                          <a:solidFill>
                            <a:srgbClr val="000000"/>
                          </a:solidFill>
                        </a:rPr>
                        <a:t>DEO 3000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20W-50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4L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945</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3,780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-7.8%</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444444"/>
                          </a:solidFill>
                        </a:rPr>
                        <a:t>AT MARKET</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42316">
                <a:tc>
                  <a:txBody>
                    <a:bodyPr/>
                    <a:lstStyle/>
                    <a:p>
                      <a:pPr algn="ctr" indent="0" marL="0">
                        <a:buNone/>
                      </a:pPr>
                      <a:r>
                        <a:rPr lang="en-US" sz="800" dirty="0">
                          <a:solidFill>
                            <a:srgbClr val="000000"/>
                          </a:solidFill>
                        </a:rPr>
                        <a:t>DEO 6000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15W-40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1,784</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1,784</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+1.9%</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444444"/>
                          </a:solidFill>
                        </a:rPr>
                        <a:t>AT MARKET</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42316">
                <a:tc>
                  <a:txBody>
                    <a:bodyPr/>
                    <a:lstStyle/>
                    <a:p>
                      <a:pPr algn="ctr" indent="0" marL="0">
                        <a:buNone/>
                      </a:pPr>
                      <a:r>
                        <a:rPr lang="en-US" sz="800" dirty="0">
                          <a:solidFill>
                            <a:srgbClr val="000000"/>
                          </a:solidFill>
                        </a:rPr>
                        <a:t>DEO 6000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15W-40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4L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1,577</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6,308</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-9.9%</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444444"/>
                          </a:solidFill>
                        </a:rPr>
                        <a:t>AT MARKET</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42316">
                <a:tc>
                  <a:txBody>
                    <a:bodyPr/>
                    <a:lstStyle/>
                    <a:p>
                      <a:pPr algn="ctr" indent="0" marL="0">
                        <a:buNone/>
                      </a:pPr>
                      <a:r>
                        <a:rPr lang="en-US" sz="800" dirty="0">
                          <a:solidFill>
                            <a:srgbClr val="000000"/>
                          </a:solidFill>
                        </a:rPr>
                        <a:t>DEO 8000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10W-40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1L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1,734</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1,734</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-24.6%</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b="1" dirty="0">
                          <a:solidFill>
                            <a:srgbClr val="7A5C00"/>
                          </a:solidFill>
                        </a:rPr>
                        <a:t>VALUE POSITION</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r>
              <a:tr h="242316">
                <a:tc>
                  <a:txBody>
                    <a:bodyPr/>
                    <a:lstStyle/>
                    <a:p>
                      <a:pPr algn="ctr" indent="0" marL="0">
                        <a:buNone/>
                      </a:pPr>
                      <a:r>
                        <a:rPr lang="en-US" sz="800" dirty="0">
                          <a:solidFill>
                            <a:srgbClr val="000000"/>
                          </a:solidFill>
                        </a:rPr>
                        <a:t>DEO 8000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15W-40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1,822</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1,822</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+4.1%</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444444"/>
                          </a:solidFill>
                        </a:rPr>
                        <a:t>AT MARKET</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42316">
                <a:tc>
                  <a:txBody>
                    <a:bodyPr/>
                    <a:lstStyle/>
                    <a:p>
                      <a:pPr algn="ctr" indent="0" marL="0">
                        <a:buNone/>
                      </a:pPr>
                      <a:r>
                        <a:rPr lang="en-US" sz="800" dirty="0">
                          <a:solidFill>
                            <a:srgbClr val="000000"/>
                          </a:solidFill>
                        </a:rPr>
                        <a:t>DEO 8000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10W-40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4L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Rs 1,352</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Rs 5,408</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+31.9%</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b="1" dirty="0">
                          <a:solidFill>
                            <a:srgbClr val="023520"/>
                          </a:solidFill>
                        </a:rPr>
                        <a:t>PREMIUM</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r>
              <a:tr h="242316">
                <a:tc>
                  <a:txBody>
                    <a:bodyPr/>
                    <a:lstStyle/>
                    <a:p>
                      <a:pPr algn="ctr" indent="0" marL="0">
                        <a:buNone/>
                      </a:pPr>
                      <a:r>
                        <a:rPr lang="en-US" sz="800" dirty="0">
                          <a:solidFill>
                            <a:srgbClr val="000000"/>
                          </a:solidFill>
                        </a:rPr>
                        <a:t>DEO 8000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15W-40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4L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1,613</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6,452</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-7.8%</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444444"/>
                          </a:solidFill>
                        </a:rPr>
                        <a:t>AT MARKET</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42316">
                <a:tc>
                  <a:txBody>
                    <a:bodyPr/>
                    <a:lstStyle/>
                    <a:p>
                      <a:pPr algn="ctr" indent="0" marL="0">
                        <a:buNone/>
                      </a:pPr>
                      <a:r>
                        <a:rPr lang="en-US" sz="800" dirty="0">
                          <a:solidFill>
                            <a:srgbClr val="000000"/>
                          </a:solidFill>
                        </a:rPr>
                        <a:t>DEO Max</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10W-40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4L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Rs 1,352</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Rs 5,408</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+31.9%</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b="1" dirty="0">
                          <a:solidFill>
                            <a:srgbClr val="023520"/>
                          </a:solidFill>
                        </a:rPr>
                        <a:t>PREMIUM</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r>
              <a:tr h="242316">
                <a:tc>
                  <a:txBody>
                    <a:bodyPr/>
                    <a:lstStyle/>
                    <a:p>
                      <a:pPr algn="ctr" indent="0" marL="0">
                        <a:buNone/>
                      </a:pPr>
                      <a:r>
                        <a:rPr lang="en-US" sz="800" dirty="0">
                          <a:solidFill>
                            <a:srgbClr val="000000"/>
                          </a:solidFill>
                        </a:rPr>
                        <a:t>DEO Max</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15W-40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4L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1,613</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6,452</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-7.8%</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444444"/>
                          </a:solidFill>
                        </a:rPr>
                        <a:t>AT MARKET</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42316">
                <a:tc>
                  <a:txBody>
                    <a:bodyPr/>
                    <a:lstStyle/>
                    <a:p>
                      <a:pPr algn="ctr" indent="0" marL="0">
                        <a:buNone/>
                      </a:pPr>
                      <a:r>
                        <a:rPr lang="en-US" sz="800" dirty="0">
                          <a:solidFill>
                            <a:srgbClr val="000000"/>
                          </a:solidFill>
                        </a:rPr>
                        <a:t>Dieselube</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15W-40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4L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1,515</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6,060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-13.4%</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b="1" dirty="0">
                          <a:solidFill>
                            <a:srgbClr val="7A5C00"/>
                          </a:solidFill>
                        </a:rPr>
                        <a:t>VALUE POSITION</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r>
              <a:tr h="242316">
                <a:tc>
                  <a:txBody>
                    <a:bodyPr/>
                    <a:lstStyle/>
                    <a:p>
                      <a:pPr algn="ctr" indent="0" marL="0">
                        <a:buNone/>
                      </a:pPr>
                      <a:r>
                        <a:rPr lang="en-US" sz="800" dirty="0">
                          <a:solidFill>
                            <a:srgbClr val="000000"/>
                          </a:solidFill>
                        </a:rPr>
                        <a:t>Dieselube</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20W-50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4L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925</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3,700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-9.8%</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444444"/>
                          </a:solidFill>
                        </a:rPr>
                        <a:t>AT MARKET</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4663440" y="1325880"/>
          <a:ext cx="4206240" cy="3383280"/>
        </p:xfrm>
        <a:graphic>
          <a:graphicData uri="http://schemas.openxmlformats.org/drawingml/2006/table">
            <a:tbl>
              <a:tblPr/>
              <a:tblGrid>
                <a:gridCol w="1005840"/>
                <a:gridCol w="731520"/>
                <a:gridCol w="548640"/>
                <a:gridCol w="822960"/>
                <a:gridCol w="822960"/>
                <a:gridCol w="640080"/>
                <a:gridCol w="1097280"/>
              </a:tblGrid>
              <a:tr h="484632">
                <a:tc>
                  <a:txBody>
                    <a:bodyPr/>
                    <a:lstStyle/>
                    <a:p>
                      <a:pPr algn="ctr" indent="0" marL="0">
                        <a:buNone/>
                      </a:pPr>
                      <a:r>
                        <a:rPr lang="en-US" sz="900" b="1" dirty="0">
                          <a:solidFill>
                            <a:srgbClr val="FFFFFF"/>
                          </a:solidFill>
                        </a:rPr>
                        <a:t>Brand</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900" b="1" dirty="0">
                          <a:solidFill>
                            <a:srgbClr val="FFFFFF"/>
                          </a:solidFill>
                        </a:rPr>
                        <a:t>Grade</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900" b="1" dirty="0">
                          <a:solidFill>
                            <a:srgbClr val="FFFFFF"/>
                          </a:solidFill>
                        </a:rPr>
                        <a:t>Pack</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900" b="1" dirty="0">
                          <a:solidFill>
                            <a:srgbClr val="FFFFFF"/>
                          </a:solidFill>
                        </a:rPr>
                        <a:t>Rec/L</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900" b="1" dirty="0">
                          <a:solidFill>
                            <a:srgbClr val="FFFFFF"/>
                          </a:solidFill>
                        </a:rPr>
                        <a:t>Rec PKR</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900" b="1" dirty="0">
                          <a:solidFill>
                            <a:srgbClr val="FFFFFF"/>
                          </a:solidFill>
                        </a:rPr>
                        <a:t>vs Mkt</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900" b="1" dirty="0">
                          <a:solidFill>
                            <a:srgbClr val="FFFFFF"/>
                          </a:solidFill>
                        </a:rPr>
                        <a:t>Signal</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r>
              <a:tr h="484632">
                <a:tc>
                  <a:txBody>
                    <a:bodyPr/>
                    <a:lstStyle/>
                    <a:p>
                      <a:pPr algn="ctr" indent="0" marL="0">
                        <a:buNone/>
                      </a:pPr>
                      <a:r>
                        <a:rPr lang="en-US" sz="800" dirty="0">
                          <a:solidFill>
                            <a:srgbClr val="000000"/>
                          </a:solidFill>
                        </a:rPr>
                        <a:t>Blaze 4T</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10W-40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1.0L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1,665</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1,665</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-27.6%</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b="1" dirty="0">
                          <a:solidFill>
                            <a:srgbClr val="7A5C00"/>
                          </a:solidFill>
                        </a:rPr>
                        <a:t>VALUE POSITION</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r>
              <a:tr h="484632">
                <a:tc>
                  <a:txBody>
                    <a:bodyPr/>
                    <a:lstStyle/>
                    <a:p>
                      <a:pPr algn="ctr" indent="0" marL="0">
                        <a:buNone/>
                      </a:pPr>
                      <a:r>
                        <a:rPr lang="en-US" sz="800" dirty="0">
                          <a:solidFill>
                            <a:srgbClr val="000000"/>
                          </a:solidFill>
                        </a:rPr>
                        <a:t>Blaze 4T</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20W-50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1.0L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1,287</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1,287</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-17.0%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b="1" dirty="0">
                          <a:solidFill>
                            <a:srgbClr val="7A5C00"/>
                          </a:solidFill>
                        </a:rPr>
                        <a:t>VALUE POSITION</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r>
              <a:tr h="484632">
                <a:tc>
                  <a:txBody>
                    <a:bodyPr/>
                    <a:lstStyle/>
                    <a:p>
                      <a:pPr algn="ctr" indent="0" marL="0">
                        <a:buNone/>
                      </a:pPr>
                      <a:r>
                        <a:rPr lang="en-US" sz="800" dirty="0">
                          <a:solidFill>
                            <a:srgbClr val="000000"/>
                          </a:solidFill>
                        </a:rPr>
                        <a:t>Blaze 4T</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10W-40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0.7L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1,108</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776</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-1.5%</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444444"/>
                          </a:solidFill>
                        </a:rPr>
                        <a:t>AT MARKET</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484632">
                <a:tc>
                  <a:txBody>
                    <a:bodyPr/>
                    <a:lstStyle/>
                    <a:p>
                      <a:pPr algn="ctr" indent="0" marL="0">
                        <a:buNone/>
                      </a:pPr>
                      <a:r>
                        <a:rPr lang="en-US" sz="800" dirty="0">
                          <a:solidFill>
                            <a:srgbClr val="000000"/>
                          </a:solidFill>
                        </a:rPr>
                        <a:t>Blaze 4T</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20W-50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0.7L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996</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697</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-12.1%</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b="1" dirty="0">
                          <a:solidFill>
                            <a:srgbClr val="7A5C00"/>
                          </a:solidFill>
                        </a:rPr>
                        <a:t>VALUE POSITION</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r>
              <a:tr h="484632">
                <a:tc>
                  <a:txBody>
                    <a:bodyPr/>
                    <a:lstStyle/>
                    <a:p>
                      <a:pPr algn="ctr" indent="0" marL="0">
                        <a:buNone/>
                      </a:pPr>
                      <a:r>
                        <a:rPr lang="en-US" sz="800" dirty="0">
                          <a:solidFill>
                            <a:srgbClr val="000000"/>
                          </a:solidFill>
                        </a:rPr>
                        <a:t>Blaze Xtreme</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10W-40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1.0L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1,698</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1,698</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-26.2%</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b="1" dirty="0">
                          <a:solidFill>
                            <a:srgbClr val="7A5C00"/>
                          </a:solidFill>
                        </a:rPr>
                        <a:t>VALUE POSITION</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730151"/>
          </a:xfrm>
          <a:prstGeom prst="rect">
            <a:avLst/>
          </a:prstGeom>
          <a:solidFill>
            <a:srgbClr val="00703C"/>
          </a:solidFill>
          <a:ln/>
        </p:spPr>
        <p:txBody>
          <a:bodyPr wrap="square" rtlCol="0" anchor="ctr"/>
          <a:lstStyle/>
          <a:p>
            <a:pPr indent="0" marL="0">
              <a:buNone/>
            </a:pPr>
            <a:endParaRPr lang="en-US" dirty="0"/>
          </a:p>
        </p:txBody>
      </p:sp>
      <p:sp>
        <p:nvSpPr>
          <p:cNvPr id="3" name="Text 1"/>
          <p:cNvSpPr/>
          <p:nvPr/>
        </p:nvSpPr>
        <p:spPr>
          <a:xfrm>
            <a:off x="355550" y="152400"/>
            <a:ext cx="8601557" cy="266700"/>
          </a:xfrm>
          <a:prstGeom prst="rect">
            <a:avLst/>
          </a:prstGeom>
          <a:noFill/>
          <a:ln/>
        </p:spPr>
        <p:txBody>
          <a:bodyPr wrap="square" lIns="0" tIns="0" rIns="0" bIns="0" rtlCol="0" anchor="t"/>
          <a:lstStyle/>
          <a:p>
            <a:pPr algn="l" indent="0" marL="0">
              <a:buNone/>
            </a:pPr>
            <a:r>
              <a:rPr lang="en-US" sz="1800" b="1" dirty="0">
                <a:solidFill>
                  <a:srgbClr val="FFFFFF"/>
                </a:solidFill>
                <a:latin typeface="Arial" pitchFamily="34" charset="0"/>
                <a:ea typeface="Arial" pitchFamily="34" charset="-122"/>
                <a:cs typeface="Arial" pitchFamily="34" charset="-120"/>
              </a:rPr>
              <a:t>Market Position — Where PSO Stands vs Market</a:t>
            </a:r>
            <a:endParaRPr lang="en-US" sz="1800" dirty="0"/>
          </a:p>
        </p:txBody>
      </p:sp>
      <p:sp>
        <p:nvSpPr>
          <p:cNvPr id="4" name="Text 2"/>
          <p:cNvSpPr/>
          <p:nvPr/>
        </p:nvSpPr>
        <p:spPr>
          <a:xfrm>
            <a:off x="355550" y="469850"/>
            <a:ext cx="8601557" cy="133350"/>
          </a:xfrm>
          <a:prstGeom prst="rect">
            <a:avLst/>
          </a:prstGeom>
          <a:noFill/>
          <a:ln/>
        </p:spPr>
        <p:txBody>
          <a:bodyPr wrap="square" lIns="0" tIns="0" rIns="0" bIns="0" rtlCol="0" anchor="t"/>
          <a:lstStyle/>
          <a:p>
            <a:pPr algn="l" indent="0" marL="0">
              <a:spcBef>
                <a:spcPts val="400"/>
              </a:spcBef>
              <a:buNone/>
            </a:pPr>
            <a:r>
              <a:rPr lang="en-US" sz="900" b="1" dirty="0">
                <a:solidFill>
                  <a:srgbClr val="A8D5BE"/>
                </a:solidFill>
                <a:latin typeface="Arial" pitchFamily="34" charset="0"/>
                <a:ea typeface="Arial" pitchFamily="34" charset="-122"/>
                <a:cs typeface="Arial" pitchFamily="34" charset="-120"/>
              </a:rPr>
              <a:t>45 SKUs benchmarked | % deviation from market median price/L (Daraz.pk, July 2026)</a:t>
            </a:r>
            <a:endParaRPr lang="en-US" sz="900" dirty="0"/>
          </a:p>
        </p:txBody>
      </p:sp>
      <p:sp>
        <p:nvSpPr>
          <p:cNvPr id="5" name="Text 3"/>
          <p:cNvSpPr/>
          <p:nvPr/>
        </p:nvSpPr>
        <p:spPr>
          <a:xfrm>
            <a:off x="304800" y="1224260"/>
            <a:ext cx="2412950" cy="1050727"/>
          </a:xfrm>
          <a:prstGeom prst="roundRect">
            <a:avLst>
              <a:gd name="adj" fmla="val 6043"/>
            </a:avLst>
          </a:prstGeom>
          <a:solidFill>
            <a:srgbClr val="023520"/>
          </a:solidFill>
          <a:ln/>
        </p:spPr>
        <p:txBody>
          <a:bodyPr wrap="square" rtlCol="0" anchor="ctr"/>
          <a:lstStyle/>
          <a:p>
            <a:pPr indent="0" marL="0">
              <a:buNone/>
            </a:pPr>
            <a:endParaRPr lang="en-US" dirty="0"/>
          </a:p>
        </p:txBody>
      </p:sp>
      <p:sp>
        <p:nvSpPr>
          <p:cNvPr id="6" name="Text 4"/>
          <p:cNvSpPr/>
          <p:nvPr/>
        </p:nvSpPr>
        <p:spPr>
          <a:xfrm>
            <a:off x="482501" y="1351211"/>
            <a:ext cx="2098700" cy="371475"/>
          </a:xfrm>
          <a:prstGeom prst="rect">
            <a:avLst/>
          </a:prstGeom>
          <a:noFill/>
          <a:ln/>
        </p:spPr>
        <p:txBody>
          <a:bodyPr wrap="square" lIns="0" tIns="0" rIns="0" bIns="0" rtlCol="0" anchor="t"/>
          <a:lstStyle/>
          <a:p>
            <a:pPr algn="l" indent="0" marL="0">
              <a:buNone/>
            </a:pPr>
            <a:r>
              <a:rPr lang="en-US" sz="2600" b="1" dirty="0">
                <a:solidFill>
                  <a:srgbClr val="FFFFFF"/>
                </a:solidFill>
                <a:latin typeface="Arial" pitchFamily="34" charset="0"/>
                <a:ea typeface="Arial" pitchFamily="34" charset="-122"/>
                <a:cs typeface="Arial" pitchFamily="34" charset="-120"/>
              </a:rPr>
              <a:t>10</a:t>
            </a:r>
            <a:endParaRPr lang="en-US" sz="2600" dirty="0"/>
          </a:p>
        </p:txBody>
      </p:sp>
      <p:sp>
        <p:nvSpPr>
          <p:cNvPr id="7" name="Text 5"/>
          <p:cNvSpPr/>
          <p:nvPr/>
        </p:nvSpPr>
        <p:spPr>
          <a:xfrm>
            <a:off x="482501" y="1747986"/>
            <a:ext cx="2098700" cy="133350"/>
          </a:xfrm>
          <a:prstGeom prst="rect">
            <a:avLst/>
          </a:prstGeom>
          <a:noFill/>
          <a:ln/>
        </p:spPr>
        <p:txBody>
          <a:bodyPr wrap="square" lIns="0" tIns="0" rIns="0" bIns="0" rtlCol="0" anchor="t"/>
          <a:lstStyle/>
          <a:p>
            <a:pPr algn="l" indent="0" marL="0">
              <a:spcBef>
                <a:spcPts val="200"/>
              </a:spcBef>
              <a:buNone/>
            </a:pPr>
            <a:r>
              <a:rPr lang="en-US" sz="900" b="1" dirty="0">
                <a:solidFill>
                  <a:srgbClr val="FFFFFF"/>
                </a:solidFill>
                <a:latin typeface="Arial" pitchFamily="34" charset="0"/>
                <a:ea typeface="Arial" pitchFamily="34" charset="-122"/>
                <a:cs typeface="Arial" pitchFamily="34" charset="-120"/>
              </a:rPr>
              <a:t>PREMIUM SKUs</a:t>
            </a:r>
            <a:endParaRPr lang="en-US" sz="900" dirty="0"/>
          </a:p>
        </p:txBody>
      </p:sp>
      <p:sp>
        <p:nvSpPr>
          <p:cNvPr id="8" name="Text 6"/>
          <p:cNvSpPr/>
          <p:nvPr/>
        </p:nvSpPr>
        <p:spPr>
          <a:xfrm>
            <a:off x="482501" y="1919436"/>
            <a:ext cx="2098700" cy="228600"/>
          </a:xfrm>
          <a:prstGeom prst="rect">
            <a:avLst/>
          </a:prstGeom>
          <a:noFill/>
          <a:ln/>
        </p:spPr>
        <p:txBody>
          <a:bodyPr wrap="square" lIns="0" tIns="0" rIns="0" bIns="0" rtlCol="0" anchor="t"/>
          <a:lstStyle/>
          <a:p>
            <a:pPr algn="l" indent="0" marL="0">
              <a:spcBef>
                <a:spcPts val="300"/>
              </a:spcBef>
              <a:buNone/>
            </a:pPr>
            <a:r>
              <a:rPr lang="en-US" sz="800" dirty="0">
                <a:solidFill>
                  <a:srgbClr val="FFFFFF"/>
                </a:solidFill>
                <a:latin typeface="Arial" pitchFamily="34" charset="0"/>
                <a:ea typeface="Arial" pitchFamily="34" charset="-122"/>
                <a:cs typeface="Arial" pitchFamily="34" charset="-120"/>
              </a:rPr>
              <a:t>Priced &gt;10% above market — justify with spec premium communication</a:t>
            </a:r>
            <a:endParaRPr lang="en-US" sz="800" dirty="0"/>
          </a:p>
        </p:txBody>
      </p:sp>
      <p:sp>
        <p:nvSpPr>
          <p:cNvPr id="9" name="Text 7"/>
          <p:cNvSpPr/>
          <p:nvPr/>
        </p:nvSpPr>
        <p:spPr>
          <a:xfrm>
            <a:off x="304800" y="2401937"/>
            <a:ext cx="2412950" cy="1050727"/>
          </a:xfrm>
          <a:prstGeom prst="roundRect">
            <a:avLst>
              <a:gd name="adj" fmla="val 6043"/>
            </a:avLst>
          </a:prstGeom>
          <a:solidFill>
            <a:srgbClr val="00703C"/>
          </a:solidFill>
          <a:ln/>
        </p:spPr>
        <p:txBody>
          <a:bodyPr wrap="square" rtlCol="0" anchor="ctr"/>
          <a:lstStyle/>
          <a:p>
            <a:pPr indent="0" marL="0">
              <a:buNone/>
            </a:pPr>
            <a:endParaRPr lang="en-US" dirty="0"/>
          </a:p>
        </p:txBody>
      </p:sp>
      <p:sp>
        <p:nvSpPr>
          <p:cNvPr id="10" name="Text 8"/>
          <p:cNvSpPr/>
          <p:nvPr/>
        </p:nvSpPr>
        <p:spPr>
          <a:xfrm>
            <a:off x="482501" y="2528888"/>
            <a:ext cx="2098700" cy="371475"/>
          </a:xfrm>
          <a:prstGeom prst="rect">
            <a:avLst/>
          </a:prstGeom>
          <a:noFill/>
          <a:ln/>
        </p:spPr>
        <p:txBody>
          <a:bodyPr wrap="square" lIns="0" tIns="0" rIns="0" bIns="0" rtlCol="0" anchor="t"/>
          <a:lstStyle/>
          <a:p>
            <a:pPr algn="l" indent="0" marL="0">
              <a:buNone/>
            </a:pPr>
            <a:r>
              <a:rPr lang="en-US" sz="2600" b="1" dirty="0">
                <a:solidFill>
                  <a:srgbClr val="FFFFFF"/>
                </a:solidFill>
                <a:latin typeface="Arial" pitchFamily="34" charset="0"/>
                <a:ea typeface="Arial" pitchFamily="34" charset="-122"/>
                <a:cs typeface="Arial" pitchFamily="34" charset="-120"/>
              </a:rPr>
              <a:t>19</a:t>
            </a:r>
            <a:endParaRPr lang="en-US" sz="2600" dirty="0"/>
          </a:p>
        </p:txBody>
      </p:sp>
      <p:sp>
        <p:nvSpPr>
          <p:cNvPr id="11" name="Text 9"/>
          <p:cNvSpPr/>
          <p:nvPr/>
        </p:nvSpPr>
        <p:spPr>
          <a:xfrm>
            <a:off x="482501" y="2925663"/>
            <a:ext cx="2098700" cy="133350"/>
          </a:xfrm>
          <a:prstGeom prst="rect">
            <a:avLst/>
          </a:prstGeom>
          <a:noFill/>
          <a:ln/>
        </p:spPr>
        <p:txBody>
          <a:bodyPr wrap="square" lIns="0" tIns="0" rIns="0" bIns="0" rtlCol="0" anchor="t"/>
          <a:lstStyle/>
          <a:p>
            <a:pPr algn="l" indent="0" marL="0">
              <a:spcBef>
                <a:spcPts val="200"/>
              </a:spcBef>
              <a:buNone/>
            </a:pPr>
            <a:r>
              <a:rPr lang="en-US" sz="900" b="1" dirty="0">
                <a:solidFill>
                  <a:srgbClr val="FFFFFF"/>
                </a:solidFill>
                <a:latin typeface="Arial" pitchFamily="34" charset="0"/>
                <a:ea typeface="Arial" pitchFamily="34" charset="-122"/>
                <a:cs typeface="Arial" pitchFamily="34" charset="-120"/>
              </a:rPr>
              <a:t>AT MARKET SKUs</a:t>
            </a:r>
            <a:endParaRPr lang="en-US" sz="900" dirty="0"/>
          </a:p>
        </p:txBody>
      </p:sp>
      <p:sp>
        <p:nvSpPr>
          <p:cNvPr id="12" name="Text 10"/>
          <p:cNvSpPr/>
          <p:nvPr/>
        </p:nvSpPr>
        <p:spPr>
          <a:xfrm>
            <a:off x="482501" y="3097113"/>
            <a:ext cx="2098700" cy="228600"/>
          </a:xfrm>
          <a:prstGeom prst="rect">
            <a:avLst/>
          </a:prstGeom>
          <a:noFill/>
          <a:ln/>
        </p:spPr>
        <p:txBody>
          <a:bodyPr wrap="square" lIns="0" tIns="0" rIns="0" bIns="0" rtlCol="0" anchor="t"/>
          <a:lstStyle/>
          <a:p>
            <a:pPr algn="l" indent="0" marL="0">
              <a:spcBef>
                <a:spcPts val="300"/>
              </a:spcBef>
              <a:buNone/>
            </a:pPr>
            <a:r>
              <a:rPr lang="en-US" sz="800" dirty="0">
                <a:solidFill>
                  <a:srgbClr val="FFFFFF"/>
                </a:solidFill>
                <a:latin typeface="Arial" pitchFamily="34" charset="0"/>
                <a:ea typeface="Arial" pitchFamily="34" charset="-122"/>
                <a:cs typeface="Arial" pitchFamily="34" charset="-120"/>
              </a:rPr>
              <a:t>Within ±10% of market median — correctly positioned</a:t>
            </a:r>
            <a:endParaRPr lang="en-US" sz="800" dirty="0"/>
          </a:p>
        </p:txBody>
      </p:sp>
      <p:sp>
        <p:nvSpPr>
          <p:cNvPr id="13" name="Text 11"/>
          <p:cNvSpPr/>
          <p:nvPr/>
        </p:nvSpPr>
        <p:spPr>
          <a:xfrm>
            <a:off x="304800" y="3579614"/>
            <a:ext cx="2412950" cy="1069777"/>
          </a:xfrm>
          <a:prstGeom prst="roundRect">
            <a:avLst>
              <a:gd name="adj" fmla="val 5936"/>
            </a:avLst>
          </a:prstGeom>
          <a:solidFill>
            <a:srgbClr val="FFF8E6"/>
          </a:solidFill>
          <a:ln w="9525">
            <a:solidFill>
              <a:srgbClr val="C8960C"/>
            </a:solidFill>
          </a:ln>
        </p:spPr>
        <p:txBody>
          <a:bodyPr wrap="square" rtlCol="0" anchor="ctr"/>
          <a:lstStyle/>
          <a:p>
            <a:pPr indent="0" marL="0">
              <a:buNone/>
            </a:pPr>
            <a:endParaRPr lang="en-US" dirty="0"/>
          </a:p>
        </p:txBody>
      </p:sp>
      <p:sp>
        <p:nvSpPr>
          <p:cNvPr id="14" name="Text 12"/>
          <p:cNvSpPr/>
          <p:nvPr/>
        </p:nvSpPr>
        <p:spPr>
          <a:xfrm>
            <a:off x="492026" y="3716089"/>
            <a:ext cx="2079269" cy="371475"/>
          </a:xfrm>
          <a:prstGeom prst="rect">
            <a:avLst/>
          </a:prstGeom>
          <a:noFill/>
          <a:ln/>
        </p:spPr>
        <p:txBody>
          <a:bodyPr wrap="square" lIns="0" tIns="0" rIns="0" bIns="0" rtlCol="0" anchor="t"/>
          <a:lstStyle/>
          <a:p>
            <a:pPr algn="l" indent="0" marL="0">
              <a:buNone/>
            </a:pPr>
            <a:r>
              <a:rPr lang="en-US" sz="2600" b="1" dirty="0">
                <a:solidFill>
                  <a:srgbClr val="7A5C00"/>
                </a:solidFill>
                <a:latin typeface="Arial" pitchFamily="34" charset="0"/>
                <a:ea typeface="Arial" pitchFamily="34" charset="-122"/>
                <a:cs typeface="Arial" pitchFamily="34" charset="-120"/>
              </a:rPr>
              <a:t>16</a:t>
            </a:r>
            <a:endParaRPr lang="en-US" sz="2600" dirty="0"/>
          </a:p>
        </p:txBody>
      </p:sp>
      <p:sp>
        <p:nvSpPr>
          <p:cNvPr id="15" name="Text 13"/>
          <p:cNvSpPr/>
          <p:nvPr/>
        </p:nvSpPr>
        <p:spPr>
          <a:xfrm>
            <a:off x="492026" y="4112865"/>
            <a:ext cx="2079269" cy="133350"/>
          </a:xfrm>
          <a:prstGeom prst="rect">
            <a:avLst/>
          </a:prstGeom>
          <a:noFill/>
          <a:ln/>
        </p:spPr>
        <p:txBody>
          <a:bodyPr wrap="square" lIns="0" tIns="0" rIns="0" bIns="0" rtlCol="0" anchor="t"/>
          <a:lstStyle/>
          <a:p>
            <a:pPr algn="l" indent="0" marL="0">
              <a:spcBef>
                <a:spcPts val="200"/>
              </a:spcBef>
              <a:buNone/>
            </a:pPr>
            <a:r>
              <a:rPr lang="en-US" sz="900" b="1" dirty="0">
                <a:solidFill>
                  <a:srgbClr val="7A5C00"/>
                </a:solidFill>
                <a:latin typeface="Arial" pitchFamily="34" charset="0"/>
                <a:ea typeface="Arial" pitchFamily="34" charset="-122"/>
                <a:cs typeface="Arial" pitchFamily="34" charset="-120"/>
              </a:rPr>
              <a:t>VALUE POSITION SKUs</a:t>
            </a:r>
            <a:endParaRPr lang="en-US" sz="900" dirty="0"/>
          </a:p>
        </p:txBody>
      </p:sp>
      <p:sp>
        <p:nvSpPr>
          <p:cNvPr id="16" name="Text 14"/>
          <p:cNvSpPr/>
          <p:nvPr/>
        </p:nvSpPr>
        <p:spPr>
          <a:xfrm>
            <a:off x="492026" y="4284315"/>
            <a:ext cx="2079269" cy="228600"/>
          </a:xfrm>
          <a:prstGeom prst="rect">
            <a:avLst/>
          </a:prstGeom>
          <a:noFill/>
          <a:ln/>
        </p:spPr>
        <p:txBody>
          <a:bodyPr wrap="square" lIns="0" tIns="0" rIns="0" bIns="0" rtlCol="0" anchor="t"/>
          <a:lstStyle/>
          <a:p>
            <a:pPr algn="l" indent="0" marL="0">
              <a:spcBef>
                <a:spcPts val="300"/>
              </a:spcBef>
              <a:buNone/>
            </a:pPr>
            <a:r>
              <a:rPr lang="en-US" sz="800" dirty="0">
                <a:solidFill>
                  <a:srgbClr val="7A5C00"/>
                </a:solidFill>
                <a:latin typeface="Arial" pitchFamily="34" charset="0"/>
                <a:ea typeface="Arial" pitchFamily="34" charset="-122"/>
                <a:cs typeface="Arial" pitchFamily="34" charset="-120"/>
              </a:rPr>
              <a:t>Priced &gt;10% below market — revenue upside opportunity</a:t>
            </a:r>
            <a:endParaRPr lang="en-US" sz="800" dirty="0"/>
          </a:p>
        </p:txBody>
      </p:sp>
      <p:sp>
        <p:nvSpPr>
          <p:cNvPr id="17" name="Text 15"/>
          <p:cNvSpPr/>
          <p:nvPr/>
        </p:nvSpPr>
        <p:spPr>
          <a:xfrm>
            <a:off x="2971651" y="907852"/>
            <a:ext cx="5984900" cy="114300"/>
          </a:xfrm>
          <a:prstGeom prst="rect">
            <a:avLst/>
          </a:prstGeom>
          <a:noFill/>
          <a:ln/>
        </p:spPr>
        <p:txBody>
          <a:bodyPr wrap="square" lIns="0" tIns="0" rIns="0" bIns="0" rtlCol="0" anchor="t"/>
          <a:lstStyle/>
          <a:p>
            <a:pPr algn="l" indent="0" marL="0">
              <a:spcAft>
                <a:spcPts val="800"/>
              </a:spcAft>
              <a:buNone/>
            </a:pPr>
            <a:r>
              <a:rPr lang="en-US" sz="800" dirty="0">
                <a:solidFill>
                  <a:srgbClr val="555555"/>
                </a:solidFill>
                <a:latin typeface="Arial" pitchFamily="34" charset="0"/>
                <a:ea typeface="Arial" pitchFamily="34" charset="-122"/>
                <a:cs typeface="Arial" pitchFamily="34" charset="-120"/>
              </a:rPr>
              <a:t>% Deviation from Market Median (PKR/L) — Recommended Price by Brand × Grade</a:t>
            </a:r>
            <a:endParaRPr lang="en-US" sz="800" dirty="0"/>
          </a:p>
        </p:txBody>
      </p:sp>
      <p:sp>
        <p:nvSpPr>
          <p:cNvPr id="18" name="Text 16"/>
          <p:cNvSpPr/>
          <p:nvPr/>
        </p:nvSpPr>
        <p:spPr>
          <a:xfrm>
            <a:off x="2971651" y="1123652"/>
            <a:ext cx="5867549" cy="3842147"/>
          </a:xfrm>
          <a:prstGeom prst="roundRect">
            <a:avLst>
              <a:gd name="adj" fmla="val 1322"/>
            </a:avLst>
          </a:prstGeom>
          <a:solidFill>
            <a:srgbClr val="F0F8F4"/>
          </a:solidFill>
          <a:ln w="9525">
            <a:solidFill>
              <a:srgbClr val="00703C"/>
            </a:solidFill>
          </a:ln>
        </p:spPr>
        <p:txBody>
          <a:bodyPr wrap="square" rtlCol="0" anchor="ctr"/>
          <a:lstStyle/>
          <a:p>
            <a:pPr indent="0" marL="0">
              <a:buNone/>
            </a:pP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8F8"/>
        </a:solidFill>
      </p:bgPr>
    </p:bg>
    <p:spTree>
      <p:nvGrpSpPr>
        <p:cNvPr id="1" name=""/>
        <p:cNvGrpSpPr/>
        <p:nvPr/>
      </p:nvGrpSpPr>
      <p:grpSpPr>
        <a:xfrm>
          <a:off x="0" y="0"/>
          <a:ext cx="0" cy="0"/>
          <a:chOff x="0" y="0"/>
          <a:chExt cx="0" cy="0"/>
        </a:xfrm>
      </p:grpSpPr>
      <p:sp>
        <p:nvSpPr>
          <p:cNvPr id="2" name="Text 0"/>
          <p:cNvSpPr/>
          <p:nvPr/>
        </p:nvSpPr>
        <p:spPr>
          <a:xfrm>
            <a:off x="0" y="0"/>
            <a:ext cx="9144000" cy="466576"/>
          </a:xfrm>
          <a:prstGeom prst="rect">
            <a:avLst/>
          </a:prstGeom>
          <a:solidFill>
            <a:srgbClr val="00703C"/>
          </a:solidFill>
          <a:ln/>
        </p:spPr>
        <p:txBody>
          <a:bodyPr wrap="square" rtlCol="0" anchor="ctr"/>
          <a:lstStyle/>
          <a:p>
            <a:pPr indent="0" marL="0">
              <a:buNone/>
            </a:pPr>
            <a:endParaRPr lang="en-US" dirty="0"/>
          </a:p>
        </p:txBody>
      </p:sp>
      <p:sp>
        <p:nvSpPr>
          <p:cNvPr id="3" name="Text 1"/>
          <p:cNvSpPr/>
          <p:nvPr/>
        </p:nvSpPr>
        <p:spPr>
          <a:xfrm>
            <a:off x="355550" y="126950"/>
            <a:ext cx="8601557" cy="238125"/>
          </a:xfrm>
          <a:prstGeom prst="rect">
            <a:avLst/>
          </a:prstGeom>
          <a:noFill/>
          <a:ln/>
        </p:spPr>
        <p:txBody>
          <a:bodyPr wrap="square" lIns="0" tIns="0" rIns="0" bIns="0" rtlCol="0" anchor="t"/>
          <a:lstStyle/>
          <a:p>
            <a:pPr algn="l" indent="0" marL="0">
              <a:buNone/>
            </a:pPr>
            <a:r>
              <a:rPr lang="en-US" sz="1600" b="1" dirty="0">
                <a:solidFill>
                  <a:srgbClr val="FFFFFF"/>
                </a:solidFill>
                <a:latin typeface="Arial" pitchFamily="34" charset="0"/>
                <a:ea typeface="Arial" pitchFamily="34" charset="-122"/>
                <a:cs typeface="Arial" pitchFamily="34" charset="-120"/>
              </a:rPr>
              <a:t>Key Findings — 4 Pricing Insights</a:t>
            </a:r>
            <a:endParaRPr lang="en-US" sz="1600" dirty="0"/>
          </a:p>
        </p:txBody>
      </p:sp>
      <p:sp>
        <p:nvSpPr>
          <p:cNvPr id="4" name="Text 2"/>
          <p:cNvSpPr/>
          <p:nvPr/>
        </p:nvSpPr>
        <p:spPr>
          <a:xfrm>
            <a:off x="253901" y="568077"/>
            <a:ext cx="4381500" cy="911126"/>
          </a:xfrm>
          <a:prstGeom prst="roundRect">
            <a:avLst>
              <a:gd name="adj" fmla="val 6969"/>
            </a:avLst>
          </a:prstGeom>
          <a:solidFill>
            <a:srgbClr val="FFFFFF"/>
          </a:solidFill>
          <a:ln/>
          <a:effectLst>
            <a:outerShdw sx="100000" sy="100000" kx="0" ky="0" algn="bl" rotWithShape="0" blurRad="50800" dist="17960" dir="2700000">
              <a:srgbClr val="000000">
                <a:alpha val="7000"/>
              </a:srgbClr>
            </a:outerShdw>
          </a:effectLst>
        </p:spPr>
        <p:txBody>
          <a:bodyPr wrap="square" rtlCol="0" anchor="ctr"/>
          <a:lstStyle/>
          <a:p>
            <a:pPr indent="0" marL="0">
              <a:buNone/>
            </a:pPr>
            <a:endParaRPr lang="en-US" dirty="0"/>
          </a:p>
        </p:txBody>
      </p:sp>
      <p:sp>
        <p:nvSpPr>
          <p:cNvPr id="5" name="Shape 3"/>
          <p:cNvSpPr/>
          <p:nvPr/>
        </p:nvSpPr>
        <p:spPr>
          <a:xfrm>
            <a:off x="272951" y="568077"/>
            <a:ext cx="0" cy="911126"/>
          </a:xfrm>
          <a:prstGeom prst="line">
            <a:avLst/>
          </a:prstGeom>
          <a:noFill/>
          <a:ln w="38100">
            <a:solidFill>
              <a:srgbClr val="00703C"/>
            </a:solidFill>
            <a:prstDash val="solid"/>
          </a:ln>
        </p:spPr>
      </p:sp>
      <p:sp>
        <p:nvSpPr>
          <p:cNvPr id="6" name="Text 4"/>
          <p:cNvSpPr/>
          <p:nvPr/>
        </p:nvSpPr>
        <p:spPr>
          <a:xfrm>
            <a:off x="444401" y="656927"/>
            <a:ext cx="4119372" cy="152400"/>
          </a:xfrm>
          <a:prstGeom prst="rect">
            <a:avLst/>
          </a:prstGeom>
          <a:noFill/>
          <a:ln/>
        </p:spPr>
        <p:txBody>
          <a:bodyPr wrap="square" lIns="0" tIns="0" rIns="0" bIns="0" rtlCol="0" anchor="t"/>
          <a:lstStyle/>
          <a:p>
            <a:pPr algn="l" indent="0" marL="0">
              <a:spcAft>
                <a:spcPts val="300"/>
              </a:spcAft>
              <a:buNone/>
            </a:pPr>
            <a:r>
              <a:rPr lang="en-US" sz="1100" b="1" dirty="0">
                <a:solidFill>
                  <a:srgbClr val="00703C"/>
                </a:solidFill>
                <a:latin typeface="Arial" pitchFamily="34" charset="0"/>
                <a:ea typeface="Arial" pitchFamily="34" charset="-122"/>
                <a:cs typeface="Arial" pitchFamily="34" charset="-120"/>
              </a:rPr>
              <a:t>01</a:t>
            </a:r>
            <a:endParaRPr lang="en-US" sz="1100" dirty="0"/>
          </a:p>
        </p:txBody>
      </p:sp>
      <p:sp>
        <p:nvSpPr>
          <p:cNvPr id="7" name="Text 5"/>
          <p:cNvSpPr/>
          <p:nvPr/>
        </p:nvSpPr>
        <p:spPr>
          <a:xfrm>
            <a:off x="444401" y="847427"/>
            <a:ext cx="4119372" cy="133350"/>
          </a:xfrm>
          <a:prstGeom prst="rect">
            <a:avLst/>
          </a:prstGeom>
          <a:noFill/>
          <a:ln/>
        </p:spPr>
        <p:txBody>
          <a:bodyPr wrap="square" lIns="0" tIns="0" rIns="0" bIns="0" rtlCol="0" anchor="t"/>
          <a:lstStyle/>
          <a:p>
            <a:pPr algn="l" indent="0" marL="0">
              <a:spcAft>
                <a:spcPts val="300"/>
              </a:spcAft>
              <a:buNone/>
            </a:pPr>
            <a:r>
              <a:rPr lang="en-US" sz="900" b="1" dirty="0">
                <a:solidFill>
                  <a:srgbClr val="023520"/>
                </a:solidFill>
                <a:latin typeface="Arial" pitchFamily="34" charset="0"/>
                <a:ea typeface="Arial" pitchFamily="34" charset="-122"/>
                <a:cs typeface="Arial" pitchFamily="34" charset="-120"/>
              </a:rPr>
              <a:t>16 SKUs Are Underpriced vs Market</a:t>
            </a:r>
            <a:endParaRPr lang="en-US" sz="900" dirty="0"/>
          </a:p>
        </p:txBody>
      </p:sp>
      <p:sp>
        <p:nvSpPr>
          <p:cNvPr id="8" name="Text 6"/>
          <p:cNvSpPr/>
          <p:nvPr/>
        </p:nvSpPr>
        <p:spPr>
          <a:xfrm>
            <a:off x="444401" y="1018877"/>
            <a:ext cx="4119372" cy="371475"/>
          </a:xfrm>
          <a:prstGeom prst="rect">
            <a:avLst/>
          </a:prstGeom>
          <a:noFill/>
          <a:ln/>
        </p:spPr>
        <p:txBody>
          <a:bodyPr wrap="square" lIns="0" tIns="0" rIns="0" bIns="0" rtlCol="0" anchor="t"/>
          <a:lstStyle/>
          <a:p>
            <a:pPr algn="l" indent="0" marL="0">
              <a:lnSpc>
                <a:spcPts val="975"/>
              </a:lnSpc>
              <a:buNone/>
            </a:pPr>
            <a:r>
              <a:rPr lang="en-US" sz="750" dirty="0">
                <a:solidFill>
                  <a:srgbClr val="444444"/>
                </a:solidFill>
                <a:latin typeface="Arial" pitchFamily="34" charset="0"/>
                <a:ea typeface="Arial" pitchFamily="34" charset="-122"/>
                <a:cs typeface="Arial" pitchFamily="34" charset="-120"/>
              </a:rPr>
              <a:t>36% of PSO's retail SKUs are positioned </a:t>
            </a:r>
            <a:pPr algn="l" indent="0" marL="0">
              <a:lnSpc>
                <a:spcPts val="975"/>
              </a:lnSpc>
              <a:buNone/>
            </a:pPr>
            <a:r>
              <a:rPr lang="en-US" sz="750" b="1" dirty="0">
                <a:solidFill>
                  <a:srgbClr val="C8960C"/>
                </a:solidFill>
                <a:latin typeface="Arial" pitchFamily="34" charset="0"/>
                <a:ea typeface="Arial" pitchFamily="34" charset="-122"/>
                <a:cs typeface="Arial" pitchFamily="34" charset="-120"/>
              </a:rPr>
              <a:t>more than 10% below market median</a:t>
            </a:r>
            <a:pPr algn="l" indent="0" marL="0">
              <a:lnSpc>
                <a:spcPts val="975"/>
              </a:lnSpc>
              <a:buNone/>
            </a:pPr>
            <a:r>
              <a:rPr lang="en-US" sz="750" dirty="0">
                <a:solidFill>
                  <a:srgbClr val="444444"/>
                </a:solidFill>
                <a:latin typeface="Arial" pitchFamily="34" charset="0"/>
                <a:ea typeface="Arial" pitchFamily="34" charset="-122"/>
                <a:cs typeface="Arial" pitchFamily="34" charset="-120"/>
              </a:rPr>
              <a:t>. The highest gap: Carient Plus 10W-40 1L at −27.6%. This represents a direct margin recovery opportunity without volume risk.</a:t>
            </a:r>
            <a:endParaRPr lang="en-US" sz="750" dirty="0"/>
          </a:p>
        </p:txBody>
      </p:sp>
      <p:sp>
        <p:nvSpPr>
          <p:cNvPr id="9" name="Text 7"/>
          <p:cNvSpPr/>
          <p:nvPr/>
        </p:nvSpPr>
        <p:spPr>
          <a:xfrm>
            <a:off x="253901" y="1580704"/>
            <a:ext cx="4381500" cy="911126"/>
          </a:xfrm>
          <a:prstGeom prst="roundRect">
            <a:avLst>
              <a:gd name="adj" fmla="val 6969"/>
            </a:avLst>
          </a:prstGeom>
          <a:solidFill>
            <a:srgbClr val="FFFFFF"/>
          </a:solidFill>
          <a:ln/>
          <a:effectLst>
            <a:outerShdw sx="100000" sy="100000" kx="0" ky="0" algn="bl" rotWithShape="0" blurRad="50800" dist="17960" dir="2700000">
              <a:srgbClr val="000000">
                <a:alpha val="7000"/>
              </a:srgbClr>
            </a:outerShdw>
          </a:effectLst>
        </p:spPr>
        <p:txBody>
          <a:bodyPr wrap="square" rtlCol="0" anchor="ctr"/>
          <a:lstStyle/>
          <a:p>
            <a:pPr indent="0" marL="0">
              <a:buNone/>
            </a:pPr>
            <a:endParaRPr lang="en-US" dirty="0"/>
          </a:p>
        </p:txBody>
      </p:sp>
      <p:sp>
        <p:nvSpPr>
          <p:cNvPr id="10" name="Shape 8"/>
          <p:cNvSpPr/>
          <p:nvPr/>
        </p:nvSpPr>
        <p:spPr>
          <a:xfrm>
            <a:off x="272951" y="1580704"/>
            <a:ext cx="0" cy="911126"/>
          </a:xfrm>
          <a:prstGeom prst="line">
            <a:avLst/>
          </a:prstGeom>
          <a:noFill/>
          <a:ln w="38100">
            <a:solidFill>
              <a:srgbClr val="00703C"/>
            </a:solidFill>
            <a:prstDash val="solid"/>
          </a:ln>
        </p:spPr>
      </p:sp>
      <p:sp>
        <p:nvSpPr>
          <p:cNvPr id="11" name="Text 9"/>
          <p:cNvSpPr/>
          <p:nvPr/>
        </p:nvSpPr>
        <p:spPr>
          <a:xfrm>
            <a:off x="444401" y="1669554"/>
            <a:ext cx="4119372" cy="152400"/>
          </a:xfrm>
          <a:prstGeom prst="rect">
            <a:avLst/>
          </a:prstGeom>
          <a:noFill/>
          <a:ln/>
        </p:spPr>
        <p:txBody>
          <a:bodyPr wrap="square" lIns="0" tIns="0" rIns="0" bIns="0" rtlCol="0" anchor="t"/>
          <a:lstStyle/>
          <a:p>
            <a:pPr algn="l" indent="0" marL="0">
              <a:spcAft>
                <a:spcPts val="300"/>
              </a:spcAft>
              <a:buNone/>
            </a:pPr>
            <a:r>
              <a:rPr lang="en-US" sz="1100" b="1" dirty="0">
                <a:solidFill>
                  <a:srgbClr val="00703C"/>
                </a:solidFill>
                <a:latin typeface="Arial" pitchFamily="34" charset="0"/>
                <a:ea typeface="Arial" pitchFamily="34" charset="-122"/>
                <a:cs typeface="Arial" pitchFamily="34" charset="-120"/>
              </a:rPr>
              <a:t>02</a:t>
            </a:r>
            <a:endParaRPr lang="en-US" sz="1100" dirty="0"/>
          </a:p>
        </p:txBody>
      </p:sp>
      <p:sp>
        <p:nvSpPr>
          <p:cNvPr id="12" name="Text 10"/>
          <p:cNvSpPr/>
          <p:nvPr/>
        </p:nvSpPr>
        <p:spPr>
          <a:xfrm>
            <a:off x="444401" y="1860054"/>
            <a:ext cx="4119372" cy="133350"/>
          </a:xfrm>
          <a:prstGeom prst="rect">
            <a:avLst/>
          </a:prstGeom>
          <a:noFill/>
          <a:ln/>
        </p:spPr>
        <p:txBody>
          <a:bodyPr wrap="square" lIns="0" tIns="0" rIns="0" bIns="0" rtlCol="0" anchor="t"/>
          <a:lstStyle/>
          <a:p>
            <a:pPr algn="l" indent="0" marL="0">
              <a:spcAft>
                <a:spcPts val="300"/>
              </a:spcAft>
              <a:buNone/>
            </a:pPr>
            <a:r>
              <a:rPr lang="en-US" sz="900" b="1" dirty="0">
                <a:solidFill>
                  <a:srgbClr val="023520"/>
                </a:solidFill>
                <a:latin typeface="Arial" pitchFamily="34" charset="0"/>
                <a:ea typeface="Arial" pitchFamily="34" charset="-122"/>
                <a:cs typeface="Arial" pitchFamily="34" charset="-120"/>
              </a:rPr>
              <a:t>5W-30 Commands a Disproportionate Premium</a:t>
            </a:r>
            <a:endParaRPr lang="en-US" sz="900" dirty="0"/>
          </a:p>
        </p:txBody>
      </p:sp>
      <p:sp>
        <p:nvSpPr>
          <p:cNvPr id="13" name="Text 11"/>
          <p:cNvSpPr/>
          <p:nvPr/>
        </p:nvSpPr>
        <p:spPr>
          <a:xfrm>
            <a:off x="444401" y="2031504"/>
            <a:ext cx="4119372" cy="371475"/>
          </a:xfrm>
          <a:prstGeom prst="rect">
            <a:avLst/>
          </a:prstGeom>
          <a:noFill/>
          <a:ln/>
        </p:spPr>
        <p:txBody>
          <a:bodyPr wrap="square" lIns="0" tIns="0" rIns="0" bIns="0" rtlCol="0" anchor="t"/>
          <a:lstStyle/>
          <a:p>
            <a:pPr algn="l" indent="0" marL="0">
              <a:lnSpc>
                <a:spcPts val="975"/>
              </a:lnSpc>
              <a:buNone/>
            </a:pPr>
            <a:r>
              <a:rPr lang="en-US" sz="750" dirty="0">
                <a:solidFill>
                  <a:srgbClr val="444444"/>
                </a:solidFill>
                <a:latin typeface="Arial" pitchFamily="34" charset="0"/>
                <a:ea typeface="Arial" pitchFamily="34" charset="-122"/>
                <a:cs typeface="Arial" pitchFamily="34" charset="-120"/>
              </a:rPr>
              <a:t>Carient Ultra 5W-30 is priced </a:t>
            </a:r>
            <a:pPr algn="l" indent="0" marL="0">
              <a:lnSpc>
                <a:spcPts val="975"/>
              </a:lnSpc>
              <a:buNone/>
            </a:pPr>
            <a:r>
              <a:rPr lang="en-US" sz="750" b="1" dirty="0">
                <a:solidFill>
                  <a:srgbClr val="C8960C"/>
                </a:solidFill>
                <a:latin typeface="Arial" pitchFamily="34" charset="0"/>
                <a:ea typeface="Arial" pitchFamily="34" charset="-122"/>
                <a:cs typeface="Arial" pitchFamily="34" charset="-120"/>
              </a:rPr>
              <a:t>+127% above market median</a:t>
            </a:r>
            <a:pPr algn="l" indent="0" marL="0">
              <a:lnSpc>
                <a:spcPts val="975"/>
              </a:lnSpc>
              <a:buNone/>
            </a:pPr>
            <a:r>
              <a:rPr lang="en-US" sz="750" dirty="0">
                <a:solidFill>
                  <a:srgbClr val="444444"/>
                </a:solidFill>
                <a:latin typeface="Arial" pitchFamily="34" charset="0"/>
                <a:ea typeface="Arial" pitchFamily="34" charset="-122"/>
                <a:cs typeface="Arial" pitchFamily="34" charset="-120"/>
              </a:rPr>
              <a:t> on 1L packs. While partly justified by spec premium, this outlier price may be suppressing trial. A 30–40% reduction is recommended.</a:t>
            </a:r>
            <a:endParaRPr lang="en-US" sz="750" dirty="0"/>
          </a:p>
        </p:txBody>
      </p:sp>
      <p:sp>
        <p:nvSpPr>
          <p:cNvPr id="14" name="Text 12"/>
          <p:cNvSpPr/>
          <p:nvPr/>
        </p:nvSpPr>
        <p:spPr>
          <a:xfrm>
            <a:off x="253901" y="2593330"/>
            <a:ext cx="4381500" cy="911126"/>
          </a:xfrm>
          <a:prstGeom prst="roundRect">
            <a:avLst>
              <a:gd name="adj" fmla="val 6969"/>
            </a:avLst>
          </a:prstGeom>
          <a:solidFill>
            <a:srgbClr val="FFFFFF"/>
          </a:solidFill>
          <a:ln/>
          <a:effectLst>
            <a:outerShdw sx="100000" sy="100000" kx="0" ky="0" algn="bl" rotWithShape="0" blurRad="50800" dist="17960" dir="2700000">
              <a:srgbClr val="000000">
                <a:alpha val="7000"/>
              </a:srgbClr>
            </a:outerShdw>
          </a:effectLst>
        </p:spPr>
        <p:txBody>
          <a:bodyPr wrap="square" rtlCol="0" anchor="ctr"/>
          <a:lstStyle/>
          <a:p>
            <a:pPr indent="0" marL="0">
              <a:buNone/>
            </a:pPr>
            <a:endParaRPr lang="en-US" dirty="0"/>
          </a:p>
        </p:txBody>
      </p:sp>
      <p:sp>
        <p:nvSpPr>
          <p:cNvPr id="15" name="Shape 13"/>
          <p:cNvSpPr/>
          <p:nvPr/>
        </p:nvSpPr>
        <p:spPr>
          <a:xfrm>
            <a:off x="272951" y="2593330"/>
            <a:ext cx="0" cy="911126"/>
          </a:xfrm>
          <a:prstGeom prst="line">
            <a:avLst/>
          </a:prstGeom>
          <a:noFill/>
          <a:ln w="38100">
            <a:solidFill>
              <a:srgbClr val="00703C"/>
            </a:solidFill>
            <a:prstDash val="solid"/>
          </a:ln>
        </p:spPr>
      </p:sp>
      <p:sp>
        <p:nvSpPr>
          <p:cNvPr id="16" name="Text 14"/>
          <p:cNvSpPr/>
          <p:nvPr/>
        </p:nvSpPr>
        <p:spPr>
          <a:xfrm>
            <a:off x="444401" y="2682180"/>
            <a:ext cx="4119372" cy="152400"/>
          </a:xfrm>
          <a:prstGeom prst="rect">
            <a:avLst/>
          </a:prstGeom>
          <a:noFill/>
          <a:ln/>
        </p:spPr>
        <p:txBody>
          <a:bodyPr wrap="square" lIns="0" tIns="0" rIns="0" bIns="0" rtlCol="0" anchor="t"/>
          <a:lstStyle/>
          <a:p>
            <a:pPr algn="l" indent="0" marL="0">
              <a:spcAft>
                <a:spcPts val="300"/>
              </a:spcAft>
              <a:buNone/>
            </a:pPr>
            <a:r>
              <a:rPr lang="en-US" sz="1100" b="1" dirty="0">
                <a:solidFill>
                  <a:srgbClr val="00703C"/>
                </a:solidFill>
                <a:latin typeface="Arial" pitchFamily="34" charset="0"/>
                <a:ea typeface="Arial" pitchFamily="34" charset="-122"/>
                <a:cs typeface="Arial" pitchFamily="34" charset="-120"/>
              </a:rPr>
              <a:t>03</a:t>
            </a:r>
            <a:endParaRPr lang="en-US" sz="1100" dirty="0"/>
          </a:p>
        </p:txBody>
      </p:sp>
      <p:sp>
        <p:nvSpPr>
          <p:cNvPr id="17" name="Text 15"/>
          <p:cNvSpPr/>
          <p:nvPr/>
        </p:nvSpPr>
        <p:spPr>
          <a:xfrm>
            <a:off x="444401" y="2872680"/>
            <a:ext cx="4119372" cy="133350"/>
          </a:xfrm>
          <a:prstGeom prst="rect">
            <a:avLst/>
          </a:prstGeom>
          <a:noFill/>
          <a:ln/>
        </p:spPr>
        <p:txBody>
          <a:bodyPr wrap="square" lIns="0" tIns="0" rIns="0" bIns="0" rtlCol="0" anchor="t"/>
          <a:lstStyle/>
          <a:p>
            <a:pPr algn="l" indent="0" marL="0">
              <a:spcAft>
                <a:spcPts val="300"/>
              </a:spcAft>
              <a:buNone/>
            </a:pPr>
            <a:r>
              <a:rPr lang="en-US" sz="900" b="1" dirty="0">
                <a:solidFill>
                  <a:srgbClr val="023520"/>
                </a:solidFill>
                <a:latin typeface="Arial" pitchFamily="34" charset="0"/>
                <a:ea typeface="Arial" pitchFamily="34" charset="-122"/>
                <a:cs typeface="Arial" pitchFamily="34" charset="-120"/>
              </a:rPr>
              <a:t>DEO Tier Gap Is Too Narrow</a:t>
            </a:r>
            <a:endParaRPr lang="en-US" sz="900" dirty="0"/>
          </a:p>
        </p:txBody>
      </p:sp>
      <p:sp>
        <p:nvSpPr>
          <p:cNvPr id="18" name="Text 16"/>
          <p:cNvSpPr/>
          <p:nvPr/>
        </p:nvSpPr>
        <p:spPr>
          <a:xfrm>
            <a:off x="444401" y="3044130"/>
            <a:ext cx="4119372" cy="371475"/>
          </a:xfrm>
          <a:prstGeom prst="rect">
            <a:avLst/>
          </a:prstGeom>
          <a:noFill/>
          <a:ln/>
        </p:spPr>
        <p:txBody>
          <a:bodyPr wrap="square" lIns="0" tIns="0" rIns="0" bIns="0" rtlCol="0" anchor="t"/>
          <a:lstStyle/>
          <a:p>
            <a:pPr algn="l" indent="0" marL="0">
              <a:lnSpc>
                <a:spcPts val="975"/>
              </a:lnSpc>
              <a:buNone/>
            </a:pPr>
            <a:r>
              <a:rPr lang="en-US" sz="750" dirty="0">
                <a:solidFill>
                  <a:srgbClr val="444444"/>
                </a:solidFill>
                <a:latin typeface="Arial" pitchFamily="34" charset="0"/>
                <a:ea typeface="Arial" pitchFamily="34" charset="-122"/>
                <a:cs typeface="Arial" pitchFamily="34" charset="-120"/>
              </a:rPr>
              <a:t>DEO 8000 (super premium) is priced almost identically to DEO 6000 (premium). The </a:t>
            </a:r>
            <a:pPr algn="l" indent="0" marL="0">
              <a:lnSpc>
                <a:spcPts val="975"/>
              </a:lnSpc>
              <a:buNone/>
            </a:pPr>
            <a:r>
              <a:rPr lang="en-US" sz="750" b="1" dirty="0">
                <a:solidFill>
                  <a:srgbClr val="C8960C"/>
                </a:solidFill>
                <a:latin typeface="Arial" pitchFamily="34" charset="0"/>
                <a:ea typeface="Arial" pitchFamily="34" charset="-122"/>
                <a:cs typeface="Arial" pitchFamily="34" charset="-120"/>
              </a:rPr>
              <a:t>inter-tier spread is only 2–4%</a:t>
            </a:r>
            <a:pPr algn="l" indent="0" marL="0">
              <a:lnSpc>
                <a:spcPts val="975"/>
              </a:lnSpc>
              <a:buNone/>
            </a:pPr>
            <a:r>
              <a:rPr lang="en-US" sz="750" dirty="0">
                <a:solidFill>
                  <a:srgbClr val="444444"/>
                </a:solidFill>
                <a:latin typeface="Arial" pitchFamily="34" charset="0"/>
                <a:ea typeface="Arial" pitchFamily="34" charset="-122"/>
                <a:cs typeface="Arial" pitchFamily="34" charset="-120"/>
              </a:rPr>
              <a:t>. Widening to 10–15% would strengthen trade-up rationale for fleet managers.</a:t>
            </a:r>
            <a:endParaRPr lang="en-US" sz="750" dirty="0"/>
          </a:p>
        </p:txBody>
      </p:sp>
      <p:sp>
        <p:nvSpPr>
          <p:cNvPr id="19" name="Text 17"/>
          <p:cNvSpPr/>
          <p:nvPr/>
        </p:nvSpPr>
        <p:spPr>
          <a:xfrm>
            <a:off x="253901" y="3605957"/>
            <a:ext cx="4381500" cy="911126"/>
          </a:xfrm>
          <a:prstGeom prst="roundRect">
            <a:avLst>
              <a:gd name="adj" fmla="val 6969"/>
            </a:avLst>
          </a:prstGeom>
          <a:solidFill>
            <a:srgbClr val="FFFFFF"/>
          </a:solidFill>
          <a:ln/>
          <a:effectLst>
            <a:outerShdw sx="100000" sy="100000" kx="0" ky="0" algn="bl" rotWithShape="0" blurRad="50800" dist="17960" dir="2700000">
              <a:srgbClr val="000000">
                <a:alpha val="7000"/>
              </a:srgbClr>
            </a:outerShdw>
          </a:effectLst>
        </p:spPr>
        <p:txBody>
          <a:bodyPr wrap="square" rtlCol="0" anchor="ctr"/>
          <a:lstStyle/>
          <a:p>
            <a:pPr indent="0" marL="0">
              <a:buNone/>
            </a:pPr>
            <a:endParaRPr lang="en-US" dirty="0"/>
          </a:p>
        </p:txBody>
      </p:sp>
      <p:sp>
        <p:nvSpPr>
          <p:cNvPr id="20" name="Shape 18"/>
          <p:cNvSpPr/>
          <p:nvPr/>
        </p:nvSpPr>
        <p:spPr>
          <a:xfrm>
            <a:off x="272951" y="3605957"/>
            <a:ext cx="0" cy="911126"/>
          </a:xfrm>
          <a:prstGeom prst="line">
            <a:avLst/>
          </a:prstGeom>
          <a:noFill/>
          <a:ln w="38100">
            <a:solidFill>
              <a:srgbClr val="00703C"/>
            </a:solidFill>
            <a:prstDash val="solid"/>
          </a:ln>
        </p:spPr>
      </p:sp>
      <p:sp>
        <p:nvSpPr>
          <p:cNvPr id="21" name="Text 19"/>
          <p:cNvSpPr/>
          <p:nvPr/>
        </p:nvSpPr>
        <p:spPr>
          <a:xfrm>
            <a:off x="444401" y="3694807"/>
            <a:ext cx="4119372" cy="152400"/>
          </a:xfrm>
          <a:prstGeom prst="rect">
            <a:avLst/>
          </a:prstGeom>
          <a:noFill/>
          <a:ln/>
        </p:spPr>
        <p:txBody>
          <a:bodyPr wrap="square" lIns="0" tIns="0" rIns="0" bIns="0" rtlCol="0" anchor="t"/>
          <a:lstStyle/>
          <a:p>
            <a:pPr algn="l" indent="0" marL="0">
              <a:spcAft>
                <a:spcPts val="300"/>
              </a:spcAft>
              <a:buNone/>
            </a:pPr>
            <a:r>
              <a:rPr lang="en-US" sz="1100" b="1" dirty="0">
                <a:solidFill>
                  <a:srgbClr val="00703C"/>
                </a:solidFill>
                <a:latin typeface="Arial" pitchFamily="34" charset="0"/>
                <a:ea typeface="Arial" pitchFamily="34" charset="-122"/>
                <a:cs typeface="Arial" pitchFamily="34" charset="-120"/>
              </a:rPr>
              <a:t>04</a:t>
            </a:r>
            <a:endParaRPr lang="en-US" sz="1100" dirty="0"/>
          </a:p>
        </p:txBody>
      </p:sp>
      <p:sp>
        <p:nvSpPr>
          <p:cNvPr id="22" name="Text 20"/>
          <p:cNvSpPr/>
          <p:nvPr/>
        </p:nvSpPr>
        <p:spPr>
          <a:xfrm>
            <a:off x="444401" y="3885307"/>
            <a:ext cx="4119372" cy="133350"/>
          </a:xfrm>
          <a:prstGeom prst="rect">
            <a:avLst/>
          </a:prstGeom>
          <a:noFill/>
          <a:ln/>
        </p:spPr>
        <p:txBody>
          <a:bodyPr wrap="square" lIns="0" tIns="0" rIns="0" bIns="0" rtlCol="0" anchor="t"/>
          <a:lstStyle/>
          <a:p>
            <a:pPr algn="l" indent="0" marL="0">
              <a:spcAft>
                <a:spcPts val="300"/>
              </a:spcAft>
              <a:buNone/>
            </a:pPr>
            <a:r>
              <a:rPr lang="en-US" sz="900" b="1" dirty="0">
                <a:solidFill>
                  <a:srgbClr val="023520"/>
                </a:solidFill>
                <a:latin typeface="Arial" pitchFamily="34" charset="0"/>
                <a:ea typeface="Arial" pitchFamily="34" charset="-122"/>
                <a:cs typeface="Arial" pitchFamily="34" charset="-120"/>
              </a:rPr>
              <a:t>MCO Blaze is Significantly Underpriced</a:t>
            </a:r>
            <a:endParaRPr lang="en-US" sz="900" dirty="0"/>
          </a:p>
        </p:txBody>
      </p:sp>
      <p:sp>
        <p:nvSpPr>
          <p:cNvPr id="23" name="Text 21"/>
          <p:cNvSpPr/>
          <p:nvPr/>
        </p:nvSpPr>
        <p:spPr>
          <a:xfrm>
            <a:off x="444401" y="4056757"/>
            <a:ext cx="4119372" cy="371475"/>
          </a:xfrm>
          <a:prstGeom prst="rect">
            <a:avLst/>
          </a:prstGeom>
          <a:noFill/>
          <a:ln/>
        </p:spPr>
        <p:txBody>
          <a:bodyPr wrap="square" lIns="0" tIns="0" rIns="0" bIns="0" rtlCol="0" anchor="t"/>
          <a:lstStyle/>
          <a:p>
            <a:pPr algn="l" indent="0" marL="0">
              <a:lnSpc>
                <a:spcPts val="975"/>
              </a:lnSpc>
              <a:buNone/>
            </a:pPr>
            <a:r>
              <a:rPr lang="en-US" sz="750" dirty="0">
                <a:solidFill>
                  <a:srgbClr val="444444"/>
                </a:solidFill>
                <a:latin typeface="Arial" pitchFamily="34" charset="0"/>
                <a:ea typeface="Arial" pitchFamily="34" charset="-122"/>
                <a:cs typeface="Arial" pitchFamily="34" charset="-120"/>
              </a:rPr>
              <a:t>Blaze 4T and Blaze Xtreme are both positioned </a:t>
            </a:r>
            <a:pPr algn="l" indent="0" marL="0">
              <a:lnSpc>
                <a:spcPts val="975"/>
              </a:lnSpc>
              <a:buNone/>
            </a:pPr>
            <a:r>
              <a:rPr lang="en-US" sz="750" b="1" dirty="0">
                <a:solidFill>
                  <a:srgbClr val="C8960C"/>
                </a:solidFill>
                <a:latin typeface="Arial" pitchFamily="34" charset="0"/>
                <a:ea typeface="Arial" pitchFamily="34" charset="-122"/>
                <a:cs typeface="Arial" pitchFamily="34" charset="-120"/>
              </a:rPr>
              <a:t>17–27% below market median</a:t>
            </a:r>
            <a:pPr algn="l" indent="0" marL="0">
              <a:lnSpc>
                <a:spcPts val="975"/>
              </a:lnSpc>
              <a:buNone/>
            </a:pPr>
            <a:r>
              <a:rPr lang="en-US" sz="750" dirty="0">
                <a:solidFill>
                  <a:srgbClr val="444444"/>
                </a:solidFill>
                <a:latin typeface="Arial" pitchFamily="34" charset="0"/>
                <a:ea typeface="Arial" pitchFamily="34" charset="-122"/>
                <a:cs typeface="Arial" pitchFamily="34" charset="-120"/>
              </a:rPr>
              <a:t> on 1L packs. Given motorcycle oil's high repurchase frequency, selective price recovery here yields outsized revenue impact.</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730151"/>
          </a:xfrm>
          <a:prstGeom prst="rect">
            <a:avLst/>
          </a:prstGeom>
          <a:solidFill>
            <a:srgbClr val="023520"/>
          </a:solidFill>
          <a:ln/>
        </p:spPr>
        <p:txBody>
          <a:bodyPr wrap="square" rtlCol="0" anchor="ctr"/>
          <a:lstStyle/>
          <a:p>
            <a:pPr indent="0" marL="0">
              <a:buNone/>
            </a:pPr>
            <a:endParaRPr lang="en-US" dirty="0"/>
          </a:p>
        </p:txBody>
      </p:sp>
      <p:sp>
        <p:nvSpPr>
          <p:cNvPr id="3" name="Text 1"/>
          <p:cNvSpPr/>
          <p:nvPr/>
        </p:nvSpPr>
        <p:spPr>
          <a:xfrm>
            <a:off x="355550" y="152400"/>
            <a:ext cx="8601557" cy="266700"/>
          </a:xfrm>
          <a:prstGeom prst="rect">
            <a:avLst/>
          </a:prstGeom>
          <a:noFill/>
          <a:ln/>
        </p:spPr>
        <p:txBody>
          <a:bodyPr wrap="square" lIns="0" tIns="0" rIns="0" bIns="0" rtlCol="0" anchor="t"/>
          <a:lstStyle/>
          <a:p>
            <a:pPr algn="l" indent="0" marL="0">
              <a:buNone/>
            </a:pPr>
            <a:r>
              <a:rPr lang="en-US" sz="1800" b="1" dirty="0">
                <a:solidFill>
                  <a:srgbClr val="FFFFFF"/>
                </a:solidFill>
                <a:latin typeface="Arial" pitchFamily="34" charset="0"/>
                <a:ea typeface="Arial" pitchFamily="34" charset="-122"/>
                <a:cs typeface="Arial" pitchFamily="34" charset="-120"/>
              </a:rPr>
              <a:t>Strategic Recommendations</a:t>
            </a:r>
            <a:endParaRPr lang="en-US" sz="1800" dirty="0"/>
          </a:p>
        </p:txBody>
      </p:sp>
      <p:sp>
        <p:nvSpPr>
          <p:cNvPr id="4" name="Text 2"/>
          <p:cNvSpPr/>
          <p:nvPr/>
        </p:nvSpPr>
        <p:spPr>
          <a:xfrm>
            <a:off x="355550" y="469850"/>
            <a:ext cx="8601557" cy="133350"/>
          </a:xfrm>
          <a:prstGeom prst="rect">
            <a:avLst/>
          </a:prstGeom>
          <a:noFill/>
          <a:ln/>
        </p:spPr>
        <p:txBody>
          <a:bodyPr wrap="square" lIns="0" tIns="0" rIns="0" bIns="0" rtlCol="0" anchor="t"/>
          <a:lstStyle/>
          <a:p>
            <a:pPr algn="l" indent="0" marL="0">
              <a:spcBef>
                <a:spcPts val="400"/>
              </a:spcBef>
              <a:buNone/>
            </a:pPr>
            <a:r>
              <a:rPr lang="en-US" sz="900" b="1" dirty="0">
                <a:solidFill>
                  <a:srgbClr val="A8D5BE"/>
                </a:solidFill>
                <a:latin typeface="Arial" pitchFamily="34" charset="0"/>
                <a:ea typeface="Arial" pitchFamily="34" charset="-122"/>
                <a:cs typeface="Arial" pitchFamily="34" charset="-120"/>
              </a:rPr>
              <a:t>5 priority actions to capture pricing opportunity and protect margin</a:t>
            </a:r>
            <a:endParaRPr lang="en-US" sz="900" dirty="0"/>
          </a:p>
        </p:txBody>
      </p:sp>
      <p:sp>
        <p:nvSpPr>
          <p:cNvPr id="5" name="Text 3"/>
          <p:cNvSpPr/>
          <p:nvPr/>
        </p:nvSpPr>
        <p:spPr>
          <a:xfrm>
            <a:off x="304800" y="907852"/>
            <a:ext cx="8534400" cy="698599"/>
          </a:xfrm>
          <a:prstGeom prst="roundRect">
            <a:avLst>
              <a:gd name="adj" fmla="val 9090"/>
            </a:avLst>
          </a:prstGeom>
          <a:solidFill>
            <a:srgbClr val="F8F8F8"/>
          </a:solidFill>
          <a:ln/>
        </p:spPr>
        <p:txBody>
          <a:bodyPr wrap="square" rtlCol="0" anchor="ctr"/>
          <a:lstStyle/>
          <a:p>
            <a:pPr indent="0" marL="0">
              <a:buNone/>
            </a:pPr>
            <a:endParaRPr lang="en-US" dirty="0"/>
          </a:p>
        </p:txBody>
      </p:sp>
      <p:sp>
        <p:nvSpPr>
          <p:cNvPr id="6" name="Shape 4"/>
          <p:cNvSpPr/>
          <p:nvPr/>
        </p:nvSpPr>
        <p:spPr>
          <a:xfrm>
            <a:off x="328613" y="907852"/>
            <a:ext cx="0" cy="698599"/>
          </a:xfrm>
          <a:prstGeom prst="line">
            <a:avLst/>
          </a:prstGeom>
          <a:noFill/>
          <a:ln w="47625">
            <a:solidFill>
              <a:srgbClr val="00703C"/>
            </a:solidFill>
            <a:prstDash val="solid"/>
          </a:ln>
        </p:spPr>
      </p:sp>
      <p:sp>
        <p:nvSpPr>
          <p:cNvPr id="7" name="Text 5"/>
          <p:cNvSpPr/>
          <p:nvPr/>
        </p:nvSpPr>
        <p:spPr>
          <a:xfrm>
            <a:off x="504825" y="1009352"/>
            <a:ext cx="258979" cy="222200"/>
          </a:xfrm>
          <a:prstGeom prst="rect">
            <a:avLst/>
          </a:prstGeom>
          <a:noFill/>
          <a:ln/>
        </p:spPr>
        <p:txBody>
          <a:bodyPr wrap="square" lIns="0" tIns="12700" rIns="0" bIns="0" rtlCol="0" anchor="t"/>
          <a:lstStyle/>
          <a:p>
            <a:pPr algn="l" indent="0" marL="0">
              <a:buNone/>
            </a:pPr>
            <a:r>
              <a:rPr lang="en-US" sz="1400" b="1" dirty="0">
                <a:solidFill>
                  <a:srgbClr val="C8960C"/>
                </a:solidFill>
                <a:latin typeface="Arial" pitchFamily="34" charset="0"/>
                <a:ea typeface="Arial" pitchFamily="34" charset="-122"/>
                <a:cs typeface="Arial" pitchFamily="34" charset="-120"/>
              </a:rPr>
              <a:t>1</a:t>
            </a:r>
            <a:endParaRPr lang="en-US" sz="1400" dirty="0"/>
          </a:p>
        </p:txBody>
      </p:sp>
      <p:sp>
        <p:nvSpPr>
          <p:cNvPr id="8" name="Text 6"/>
          <p:cNvSpPr/>
          <p:nvPr/>
        </p:nvSpPr>
        <p:spPr>
          <a:xfrm>
            <a:off x="911126" y="1009352"/>
            <a:ext cx="2684210" cy="142875"/>
          </a:xfrm>
          <a:prstGeom prst="rect">
            <a:avLst/>
          </a:prstGeom>
          <a:noFill/>
          <a:ln/>
        </p:spPr>
        <p:txBody>
          <a:bodyPr wrap="square" lIns="0" tIns="0" rIns="0" bIns="0" rtlCol="0" anchor="t"/>
          <a:lstStyle/>
          <a:p>
            <a:pPr algn="l" indent="0" marL="0">
              <a:spcAft>
                <a:spcPts val="200"/>
              </a:spcAft>
              <a:buNone/>
            </a:pPr>
            <a:r>
              <a:rPr lang="en-US" sz="1000" b="1" dirty="0">
                <a:solidFill>
                  <a:srgbClr val="023520"/>
                </a:solidFill>
                <a:latin typeface="Arial" pitchFamily="34" charset="0"/>
                <a:ea typeface="Arial" pitchFamily="34" charset="-122"/>
                <a:cs typeface="Arial" pitchFamily="34" charset="-120"/>
              </a:rPr>
              <a:t>Recover Margin on Underpriced MCO SKUs</a:t>
            </a:r>
            <a:endParaRPr lang="en-US" sz="1000" dirty="0"/>
          </a:p>
        </p:txBody>
      </p:sp>
      <p:sp>
        <p:nvSpPr>
          <p:cNvPr id="9" name="Text 7"/>
          <p:cNvSpPr/>
          <p:nvPr/>
        </p:nvSpPr>
        <p:spPr>
          <a:xfrm>
            <a:off x="3644205" y="1020514"/>
            <a:ext cx="819001" cy="145852"/>
          </a:xfrm>
          <a:prstGeom prst="roundRect">
            <a:avLst>
              <a:gd name="adj" fmla="val 17415"/>
            </a:avLst>
          </a:prstGeom>
          <a:solidFill>
            <a:srgbClr val="C8960C"/>
          </a:solidFill>
          <a:ln/>
        </p:spPr>
        <p:txBody>
          <a:bodyPr wrap="square" rtlCol="0" anchor="ctr"/>
          <a:lstStyle/>
          <a:p>
            <a:pPr indent="0" marL="0">
              <a:buNone/>
            </a:pPr>
            <a:endParaRPr lang="en-US" dirty="0"/>
          </a:p>
        </p:txBody>
      </p:sp>
      <p:sp>
        <p:nvSpPr>
          <p:cNvPr id="10" name="Text 8"/>
          <p:cNvSpPr/>
          <p:nvPr/>
        </p:nvSpPr>
        <p:spPr>
          <a:xfrm>
            <a:off x="3720405" y="1045815"/>
            <a:ext cx="679933" cy="95250"/>
          </a:xfrm>
          <a:prstGeom prst="rect">
            <a:avLst/>
          </a:prstGeom>
          <a:noFill/>
          <a:ln/>
        </p:spPr>
        <p:txBody>
          <a:bodyPr wrap="square" lIns="0" tIns="0" rIns="0" bIns="0" rtlCol="0" anchor="t"/>
          <a:lstStyle/>
          <a:p>
            <a:pPr algn="l" indent="0" marL="0">
              <a:buNone/>
            </a:pPr>
            <a:r>
              <a:rPr lang="en-US" sz="700" b="1" dirty="0">
                <a:solidFill>
                  <a:srgbClr val="FFFFFF"/>
                </a:solidFill>
                <a:latin typeface="Arial" pitchFamily="34" charset="0"/>
                <a:ea typeface="Arial" pitchFamily="34" charset="-122"/>
                <a:cs typeface="Arial" pitchFamily="34" charset="-120"/>
              </a:rPr>
              <a:t>HIGH PRIORITY</a:t>
            </a:r>
            <a:endParaRPr lang="en-US" sz="700" dirty="0"/>
          </a:p>
        </p:txBody>
      </p:sp>
      <p:sp>
        <p:nvSpPr>
          <p:cNvPr id="11" name="Text 9"/>
          <p:cNvSpPr/>
          <p:nvPr/>
        </p:nvSpPr>
        <p:spPr>
          <a:xfrm>
            <a:off x="911126" y="1202829"/>
            <a:ext cx="7931188" cy="302121"/>
          </a:xfrm>
          <a:prstGeom prst="rect">
            <a:avLst/>
          </a:prstGeom>
          <a:noFill/>
          <a:ln/>
        </p:spPr>
        <p:txBody>
          <a:bodyPr wrap="square" lIns="0" tIns="0" rIns="0" bIns="0" rtlCol="0" anchor="t"/>
          <a:lstStyle/>
          <a:p>
            <a:pPr algn="l" indent="0" marL="0">
              <a:lnSpc>
                <a:spcPts val="1190"/>
              </a:lnSpc>
              <a:buNone/>
            </a:pPr>
            <a:r>
              <a:rPr lang="en-US" sz="850" dirty="0">
                <a:solidFill>
                  <a:srgbClr val="444444"/>
                </a:solidFill>
                <a:latin typeface="Arial" pitchFamily="34" charset="0"/>
                <a:ea typeface="Arial" pitchFamily="34" charset="-122"/>
                <a:cs typeface="Arial" pitchFamily="34" charset="-120"/>
              </a:rPr>
              <a:t>Raise Blaze 4T and Blaze Xtreme 1L prices by 15–20% in a phased 6-month schedule. MCO buyers are high-frequency purchasers — price increases are absorbed faster here than in HDEO.</a:t>
            </a:r>
            <a:endParaRPr lang="en-US" sz="850" dirty="0"/>
          </a:p>
        </p:txBody>
      </p:sp>
      <p:sp>
        <p:nvSpPr>
          <p:cNvPr id="12" name="Text 10"/>
          <p:cNvSpPr/>
          <p:nvPr/>
        </p:nvSpPr>
        <p:spPr>
          <a:xfrm>
            <a:off x="304800" y="1707952"/>
            <a:ext cx="8534400" cy="698599"/>
          </a:xfrm>
          <a:prstGeom prst="roundRect">
            <a:avLst>
              <a:gd name="adj" fmla="val 9090"/>
            </a:avLst>
          </a:prstGeom>
          <a:solidFill>
            <a:srgbClr val="F8F8F8"/>
          </a:solidFill>
          <a:ln/>
        </p:spPr>
        <p:txBody>
          <a:bodyPr wrap="square" rtlCol="0" anchor="ctr"/>
          <a:lstStyle/>
          <a:p>
            <a:pPr indent="0" marL="0">
              <a:buNone/>
            </a:pPr>
            <a:endParaRPr lang="en-US" dirty="0"/>
          </a:p>
        </p:txBody>
      </p:sp>
      <p:sp>
        <p:nvSpPr>
          <p:cNvPr id="13" name="Shape 11"/>
          <p:cNvSpPr/>
          <p:nvPr/>
        </p:nvSpPr>
        <p:spPr>
          <a:xfrm>
            <a:off x="328613" y="1707952"/>
            <a:ext cx="0" cy="698599"/>
          </a:xfrm>
          <a:prstGeom prst="line">
            <a:avLst/>
          </a:prstGeom>
          <a:noFill/>
          <a:ln w="47625">
            <a:solidFill>
              <a:srgbClr val="00703C"/>
            </a:solidFill>
            <a:prstDash val="solid"/>
          </a:ln>
        </p:spPr>
      </p:sp>
      <p:sp>
        <p:nvSpPr>
          <p:cNvPr id="14" name="Text 12"/>
          <p:cNvSpPr/>
          <p:nvPr/>
        </p:nvSpPr>
        <p:spPr>
          <a:xfrm>
            <a:off x="504825" y="1809452"/>
            <a:ext cx="258979" cy="222200"/>
          </a:xfrm>
          <a:prstGeom prst="rect">
            <a:avLst/>
          </a:prstGeom>
          <a:noFill/>
          <a:ln/>
        </p:spPr>
        <p:txBody>
          <a:bodyPr wrap="square" lIns="0" tIns="12700" rIns="0" bIns="0" rtlCol="0" anchor="t"/>
          <a:lstStyle/>
          <a:p>
            <a:pPr algn="l" indent="0" marL="0">
              <a:buNone/>
            </a:pPr>
            <a:r>
              <a:rPr lang="en-US" sz="1400" b="1" dirty="0">
                <a:solidFill>
                  <a:srgbClr val="C8960C"/>
                </a:solidFill>
                <a:latin typeface="Arial" pitchFamily="34" charset="0"/>
                <a:ea typeface="Arial" pitchFamily="34" charset="-122"/>
                <a:cs typeface="Arial" pitchFamily="34" charset="-120"/>
              </a:rPr>
              <a:t>2</a:t>
            </a:r>
            <a:endParaRPr lang="en-US" sz="1400" dirty="0"/>
          </a:p>
        </p:txBody>
      </p:sp>
      <p:sp>
        <p:nvSpPr>
          <p:cNvPr id="15" name="Text 13"/>
          <p:cNvSpPr/>
          <p:nvPr/>
        </p:nvSpPr>
        <p:spPr>
          <a:xfrm>
            <a:off x="911126" y="1809452"/>
            <a:ext cx="1911828" cy="142875"/>
          </a:xfrm>
          <a:prstGeom prst="rect">
            <a:avLst/>
          </a:prstGeom>
          <a:noFill/>
          <a:ln/>
        </p:spPr>
        <p:txBody>
          <a:bodyPr wrap="square" lIns="0" tIns="0" rIns="0" bIns="0" rtlCol="0" anchor="t"/>
          <a:lstStyle/>
          <a:p>
            <a:pPr algn="l" indent="0" marL="0">
              <a:spcAft>
                <a:spcPts val="200"/>
              </a:spcAft>
              <a:buNone/>
            </a:pPr>
            <a:r>
              <a:rPr lang="en-US" sz="1000" b="1" dirty="0">
                <a:solidFill>
                  <a:srgbClr val="023520"/>
                </a:solidFill>
                <a:latin typeface="Arial" pitchFamily="34" charset="0"/>
                <a:ea typeface="Arial" pitchFamily="34" charset="-122"/>
                <a:cs typeface="Arial" pitchFamily="34" charset="-120"/>
              </a:rPr>
              <a:t>Correct the 5W-30 Price Outlier</a:t>
            </a:r>
            <a:endParaRPr lang="en-US" sz="1000" dirty="0"/>
          </a:p>
        </p:txBody>
      </p:sp>
      <p:sp>
        <p:nvSpPr>
          <p:cNvPr id="16" name="Text 14"/>
          <p:cNvSpPr/>
          <p:nvPr/>
        </p:nvSpPr>
        <p:spPr>
          <a:xfrm>
            <a:off x="2886968" y="1820614"/>
            <a:ext cx="644575" cy="145852"/>
          </a:xfrm>
          <a:prstGeom prst="roundRect">
            <a:avLst>
              <a:gd name="adj" fmla="val 17415"/>
            </a:avLst>
          </a:prstGeom>
          <a:solidFill>
            <a:srgbClr val="C8960C"/>
          </a:solidFill>
          <a:ln/>
        </p:spPr>
        <p:txBody>
          <a:bodyPr wrap="square" rtlCol="0" anchor="ctr"/>
          <a:lstStyle/>
          <a:p>
            <a:pPr indent="0" marL="0">
              <a:buNone/>
            </a:pPr>
            <a:endParaRPr lang="en-US" dirty="0"/>
          </a:p>
        </p:txBody>
      </p:sp>
      <p:sp>
        <p:nvSpPr>
          <p:cNvPr id="17" name="Text 15"/>
          <p:cNvSpPr/>
          <p:nvPr/>
        </p:nvSpPr>
        <p:spPr>
          <a:xfrm>
            <a:off x="2963168" y="1845915"/>
            <a:ext cx="502018" cy="95250"/>
          </a:xfrm>
          <a:prstGeom prst="rect">
            <a:avLst/>
          </a:prstGeom>
          <a:noFill/>
          <a:ln/>
        </p:spPr>
        <p:txBody>
          <a:bodyPr wrap="square" lIns="0" tIns="0" rIns="0" bIns="0" rtlCol="0" anchor="t"/>
          <a:lstStyle/>
          <a:p>
            <a:pPr algn="l" indent="0" marL="0">
              <a:buNone/>
            </a:pPr>
            <a:r>
              <a:rPr lang="en-US" sz="700" b="1" dirty="0">
                <a:solidFill>
                  <a:srgbClr val="FFFFFF"/>
                </a:solidFill>
                <a:latin typeface="Arial" pitchFamily="34" charset="0"/>
                <a:ea typeface="Arial" pitchFamily="34" charset="-122"/>
                <a:cs typeface="Arial" pitchFamily="34" charset="-120"/>
              </a:rPr>
              <a:t>IMMEDIATE</a:t>
            </a:r>
            <a:endParaRPr lang="en-US" sz="700" dirty="0"/>
          </a:p>
        </p:txBody>
      </p:sp>
      <p:sp>
        <p:nvSpPr>
          <p:cNvPr id="18" name="Text 16"/>
          <p:cNvSpPr/>
          <p:nvPr/>
        </p:nvSpPr>
        <p:spPr>
          <a:xfrm>
            <a:off x="911126" y="2002929"/>
            <a:ext cx="7931188" cy="302121"/>
          </a:xfrm>
          <a:prstGeom prst="rect">
            <a:avLst/>
          </a:prstGeom>
          <a:noFill/>
          <a:ln/>
        </p:spPr>
        <p:txBody>
          <a:bodyPr wrap="square" lIns="0" tIns="0" rIns="0" bIns="0" rtlCol="0" anchor="t"/>
          <a:lstStyle/>
          <a:p>
            <a:pPr algn="l" indent="0" marL="0">
              <a:lnSpc>
                <a:spcPts val="1190"/>
              </a:lnSpc>
              <a:buNone/>
            </a:pPr>
            <a:r>
              <a:rPr lang="en-US" sz="850" dirty="0">
                <a:solidFill>
                  <a:srgbClr val="444444"/>
                </a:solidFill>
                <a:latin typeface="Arial" pitchFamily="34" charset="0"/>
                <a:ea typeface="Arial" pitchFamily="34" charset="-122"/>
                <a:cs typeface="Arial" pitchFamily="34" charset="-120"/>
              </a:rPr>
              <a:t>Carient Ultra 5W-30 at +127% vs market is a trial barrier. Reduce 1L price to the Rs 1,800–2,000 range while communicating spec superiority to maintain premium positioning.</a:t>
            </a:r>
            <a:endParaRPr lang="en-US" sz="850" dirty="0"/>
          </a:p>
        </p:txBody>
      </p:sp>
      <p:sp>
        <p:nvSpPr>
          <p:cNvPr id="19" name="Text 17"/>
          <p:cNvSpPr/>
          <p:nvPr/>
        </p:nvSpPr>
        <p:spPr>
          <a:xfrm>
            <a:off x="304800" y="2508052"/>
            <a:ext cx="8534400" cy="698599"/>
          </a:xfrm>
          <a:prstGeom prst="roundRect">
            <a:avLst>
              <a:gd name="adj" fmla="val 9090"/>
            </a:avLst>
          </a:prstGeom>
          <a:solidFill>
            <a:srgbClr val="F8F8F8"/>
          </a:solidFill>
          <a:ln/>
        </p:spPr>
        <p:txBody>
          <a:bodyPr wrap="square" rtlCol="0" anchor="ctr"/>
          <a:lstStyle/>
          <a:p>
            <a:pPr indent="0" marL="0">
              <a:buNone/>
            </a:pPr>
            <a:endParaRPr lang="en-US" dirty="0"/>
          </a:p>
        </p:txBody>
      </p:sp>
      <p:sp>
        <p:nvSpPr>
          <p:cNvPr id="20" name="Shape 18"/>
          <p:cNvSpPr/>
          <p:nvPr/>
        </p:nvSpPr>
        <p:spPr>
          <a:xfrm>
            <a:off x="328613" y="2508052"/>
            <a:ext cx="0" cy="698599"/>
          </a:xfrm>
          <a:prstGeom prst="line">
            <a:avLst/>
          </a:prstGeom>
          <a:noFill/>
          <a:ln w="47625">
            <a:solidFill>
              <a:srgbClr val="00703C"/>
            </a:solidFill>
            <a:prstDash val="solid"/>
          </a:ln>
        </p:spPr>
      </p:sp>
      <p:sp>
        <p:nvSpPr>
          <p:cNvPr id="21" name="Text 19"/>
          <p:cNvSpPr/>
          <p:nvPr/>
        </p:nvSpPr>
        <p:spPr>
          <a:xfrm>
            <a:off x="504825" y="2609552"/>
            <a:ext cx="258979" cy="222200"/>
          </a:xfrm>
          <a:prstGeom prst="rect">
            <a:avLst/>
          </a:prstGeom>
          <a:noFill/>
          <a:ln/>
        </p:spPr>
        <p:txBody>
          <a:bodyPr wrap="square" lIns="0" tIns="12700" rIns="0" bIns="0" rtlCol="0" anchor="t"/>
          <a:lstStyle/>
          <a:p>
            <a:pPr algn="l" indent="0" marL="0">
              <a:buNone/>
            </a:pPr>
            <a:r>
              <a:rPr lang="en-US" sz="1400" b="1" dirty="0">
                <a:solidFill>
                  <a:srgbClr val="C8960C"/>
                </a:solidFill>
                <a:latin typeface="Arial" pitchFamily="34" charset="0"/>
                <a:ea typeface="Arial" pitchFamily="34" charset="-122"/>
                <a:cs typeface="Arial" pitchFamily="34" charset="-120"/>
              </a:rPr>
              <a:t>3</a:t>
            </a:r>
            <a:endParaRPr lang="en-US" sz="1400" dirty="0"/>
          </a:p>
        </p:txBody>
      </p:sp>
      <p:sp>
        <p:nvSpPr>
          <p:cNvPr id="22" name="Text 20"/>
          <p:cNvSpPr/>
          <p:nvPr/>
        </p:nvSpPr>
        <p:spPr>
          <a:xfrm>
            <a:off x="911126" y="2609552"/>
            <a:ext cx="1817102" cy="142875"/>
          </a:xfrm>
          <a:prstGeom prst="rect">
            <a:avLst/>
          </a:prstGeom>
          <a:noFill/>
          <a:ln/>
        </p:spPr>
        <p:txBody>
          <a:bodyPr wrap="square" lIns="0" tIns="0" rIns="0" bIns="0" rtlCol="0" anchor="t"/>
          <a:lstStyle/>
          <a:p>
            <a:pPr algn="l" indent="0" marL="0">
              <a:spcAft>
                <a:spcPts val="200"/>
              </a:spcAft>
              <a:buNone/>
            </a:pPr>
            <a:r>
              <a:rPr lang="en-US" sz="1000" b="1" dirty="0">
                <a:solidFill>
                  <a:srgbClr val="023520"/>
                </a:solidFill>
                <a:latin typeface="Arial" pitchFamily="34" charset="0"/>
                <a:ea typeface="Arial" pitchFamily="34" charset="-122"/>
                <a:cs typeface="Arial" pitchFamily="34" charset="-120"/>
              </a:rPr>
              <a:t>Widen the DEO Inter-Tier Gap</a:t>
            </a:r>
            <a:endParaRPr lang="en-US" sz="1000" dirty="0"/>
          </a:p>
        </p:txBody>
      </p:sp>
      <p:sp>
        <p:nvSpPr>
          <p:cNvPr id="23" name="Text 21"/>
          <p:cNvSpPr/>
          <p:nvPr/>
        </p:nvSpPr>
        <p:spPr>
          <a:xfrm>
            <a:off x="2794099" y="2620714"/>
            <a:ext cx="957263" cy="145852"/>
          </a:xfrm>
          <a:prstGeom prst="roundRect">
            <a:avLst>
              <a:gd name="adj" fmla="val 17415"/>
            </a:avLst>
          </a:prstGeom>
          <a:solidFill>
            <a:srgbClr val="C8960C"/>
          </a:solidFill>
          <a:ln/>
        </p:spPr>
        <p:txBody>
          <a:bodyPr wrap="square" rtlCol="0" anchor="ctr"/>
          <a:lstStyle/>
          <a:p>
            <a:pPr indent="0" marL="0">
              <a:buNone/>
            </a:pPr>
            <a:endParaRPr lang="en-US" dirty="0"/>
          </a:p>
        </p:txBody>
      </p:sp>
      <p:sp>
        <p:nvSpPr>
          <p:cNvPr id="24" name="Text 22"/>
          <p:cNvSpPr/>
          <p:nvPr/>
        </p:nvSpPr>
        <p:spPr>
          <a:xfrm>
            <a:off x="2870299" y="2646015"/>
            <a:ext cx="820960" cy="95250"/>
          </a:xfrm>
          <a:prstGeom prst="rect">
            <a:avLst/>
          </a:prstGeom>
          <a:noFill/>
          <a:ln/>
        </p:spPr>
        <p:txBody>
          <a:bodyPr wrap="square" lIns="0" tIns="0" rIns="0" bIns="0" rtlCol="0" anchor="t"/>
          <a:lstStyle/>
          <a:p>
            <a:pPr algn="l" indent="0" marL="0">
              <a:buNone/>
            </a:pPr>
            <a:r>
              <a:rPr lang="en-US" sz="700" b="1" dirty="0">
                <a:solidFill>
                  <a:srgbClr val="FFFFFF"/>
                </a:solidFill>
                <a:latin typeface="Arial" pitchFamily="34" charset="0"/>
                <a:ea typeface="Arial" pitchFamily="34" charset="-122"/>
                <a:cs typeface="Arial" pitchFamily="34" charset="-120"/>
              </a:rPr>
              <a:t>MEDIUM PRIORITY</a:t>
            </a:r>
            <a:endParaRPr lang="en-US" sz="700" dirty="0"/>
          </a:p>
        </p:txBody>
      </p:sp>
      <p:sp>
        <p:nvSpPr>
          <p:cNvPr id="25" name="Text 23"/>
          <p:cNvSpPr/>
          <p:nvPr/>
        </p:nvSpPr>
        <p:spPr>
          <a:xfrm>
            <a:off x="911126" y="2803029"/>
            <a:ext cx="7931188" cy="302121"/>
          </a:xfrm>
          <a:prstGeom prst="rect">
            <a:avLst/>
          </a:prstGeom>
          <a:noFill/>
          <a:ln/>
        </p:spPr>
        <p:txBody>
          <a:bodyPr wrap="square" lIns="0" tIns="0" rIns="0" bIns="0" rtlCol="0" anchor="t"/>
          <a:lstStyle/>
          <a:p>
            <a:pPr algn="l" indent="0" marL="0">
              <a:lnSpc>
                <a:spcPts val="1190"/>
              </a:lnSpc>
              <a:buNone/>
            </a:pPr>
            <a:r>
              <a:rPr lang="en-US" sz="850" dirty="0">
                <a:solidFill>
                  <a:srgbClr val="444444"/>
                </a:solidFill>
                <a:latin typeface="Arial" pitchFamily="34" charset="0"/>
                <a:ea typeface="Arial" pitchFamily="34" charset="-122"/>
                <a:cs typeface="Arial" pitchFamily="34" charset="-120"/>
              </a:rPr>
              <a:t>Increase DEO Max and DEO 8000 pricing by 8–12% relative to DEO 6000. A 10–15% visible price step will reinforce the trade-up story with fleet buyers and workshop channel partners.</a:t>
            </a:r>
            <a:endParaRPr lang="en-US" sz="850" dirty="0"/>
          </a:p>
        </p:txBody>
      </p:sp>
      <p:sp>
        <p:nvSpPr>
          <p:cNvPr id="26" name="Text 24"/>
          <p:cNvSpPr/>
          <p:nvPr/>
        </p:nvSpPr>
        <p:spPr>
          <a:xfrm>
            <a:off x="304800" y="3308152"/>
            <a:ext cx="8534400" cy="698599"/>
          </a:xfrm>
          <a:prstGeom prst="roundRect">
            <a:avLst>
              <a:gd name="adj" fmla="val 9090"/>
            </a:avLst>
          </a:prstGeom>
          <a:solidFill>
            <a:srgbClr val="F8F8F8"/>
          </a:solidFill>
          <a:ln/>
        </p:spPr>
        <p:txBody>
          <a:bodyPr wrap="square" rtlCol="0" anchor="ctr"/>
          <a:lstStyle/>
          <a:p>
            <a:pPr indent="0" marL="0">
              <a:buNone/>
            </a:pPr>
            <a:endParaRPr lang="en-US" dirty="0"/>
          </a:p>
        </p:txBody>
      </p:sp>
      <p:sp>
        <p:nvSpPr>
          <p:cNvPr id="27" name="Shape 25"/>
          <p:cNvSpPr/>
          <p:nvPr/>
        </p:nvSpPr>
        <p:spPr>
          <a:xfrm>
            <a:off x="328613" y="3308152"/>
            <a:ext cx="0" cy="698599"/>
          </a:xfrm>
          <a:prstGeom prst="line">
            <a:avLst/>
          </a:prstGeom>
          <a:noFill/>
          <a:ln w="47625">
            <a:solidFill>
              <a:srgbClr val="00703C"/>
            </a:solidFill>
            <a:prstDash val="solid"/>
          </a:ln>
        </p:spPr>
      </p:sp>
      <p:sp>
        <p:nvSpPr>
          <p:cNvPr id="28" name="Text 26"/>
          <p:cNvSpPr/>
          <p:nvPr/>
        </p:nvSpPr>
        <p:spPr>
          <a:xfrm>
            <a:off x="504825" y="3409652"/>
            <a:ext cx="258979" cy="222200"/>
          </a:xfrm>
          <a:prstGeom prst="rect">
            <a:avLst/>
          </a:prstGeom>
          <a:noFill/>
          <a:ln/>
        </p:spPr>
        <p:txBody>
          <a:bodyPr wrap="square" lIns="0" tIns="12700" rIns="0" bIns="0" rtlCol="0" anchor="t"/>
          <a:lstStyle/>
          <a:p>
            <a:pPr algn="l" indent="0" marL="0">
              <a:buNone/>
            </a:pPr>
            <a:r>
              <a:rPr lang="en-US" sz="1400" b="1" dirty="0">
                <a:solidFill>
                  <a:srgbClr val="C8960C"/>
                </a:solidFill>
                <a:latin typeface="Arial" pitchFamily="34" charset="0"/>
                <a:ea typeface="Arial" pitchFamily="34" charset="-122"/>
                <a:cs typeface="Arial" pitchFamily="34" charset="-120"/>
              </a:rPr>
              <a:t>4</a:t>
            </a:r>
            <a:endParaRPr lang="en-US" sz="1400" dirty="0"/>
          </a:p>
        </p:txBody>
      </p:sp>
      <p:sp>
        <p:nvSpPr>
          <p:cNvPr id="29" name="Text 27"/>
          <p:cNvSpPr/>
          <p:nvPr/>
        </p:nvSpPr>
        <p:spPr>
          <a:xfrm>
            <a:off x="911126" y="3409652"/>
            <a:ext cx="2447395" cy="142875"/>
          </a:xfrm>
          <a:prstGeom prst="rect">
            <a:avLst/>
          </a:prstGeom>
          <a:noFill/>
          <a:ln/>
        </p:spPr>
        <p:txBody>
          <a:bodyPr wrap="square" lIns="0" tIns="0" rIns="0" bIns="0" rtlCol="0" anchor="t"/>
          <a:lstStyle/>
          <a:p>
            <a:pPr algn="l" indent="0" marL="0">
              <a:spcAft>
                <a:spcPts val="200"/>
              </a:spcAft>
              <a:buNone/>
            </a:pPr>
            <a:r>
              <a:rPr lang="en-US" sz="1000" b="1" dirty="0">
                <a:solidFill>
                  <a:srgbClr val="023520"/>
                </a:solidFill>
                <a:latin typeface="Arial" pitchFamily="34" charset="0"/>
                <a:ea typeface="Arial" pitchFamily="34" charset="-122"/>
                <a:cs typeface="Arial" pitchFamily="34" charset="-120"/>
              </a:rPr>
              <a:t>Standardise Pack-Size Premium Curves</a:t>
            </a:r>
            <a:endParaRPr lang="en-US" sz="1000" dirty="0"/>
          </a:p>
        </p:txBody>
      </p:sp>
      <p:sp>
        <p:nvSpPr>
          <p:cNvPr id="30" name="Text 28"/>
          <p:cNvSpPr/>
          <p:nvPr/>
        </p:nvSpPr>
        <p:spPr>
          <a:xfrm>
            <a:off x="3412034" y="3420814"/>
            <a:ext cx="957263" cy="145852"/>
          </a:xfrm>
          <a:prstGeom prst="roundRect">
            <a:avLst>
              <a:gd name="adj" fmla="val 17415"/>
            </a:avLst>
          </a:prstGeom>
          <a:solidFill>
            <a:srgbClr val="C8960C"/>
          </a:solidFill>
          <a:ln/>
        </p:spPr>
        <p:txBody>
          <a:bodyPr wrap="square" rtlCol="0" anchor="ctr"/>
          <a:lstStyle/>
          <a:p>
            <a:pPr indent="0" marL="0">
              <a:buNone/>
            </a:pPr>
            <a:endParaRPr lang="en-US" dirty="0"/>
          </a:p>
        </p:txBody>
      </p:sp>
      <p:sp>
        <p:nvSpPr>
          <p:cNvPr id="31" name="Text 29"/>
          <p:cNvSpPr/>
          <p:nvPr/>
        </p:nvSpPr>
        <p:spPr>
          <a:xfrm>
            <a:off x="3488234" y="3446115"/>
            <a:ext cx="820960" cy="95250"/>
          </a:xfrm>
          <a:prstGeom prst="rect">
            <a:avLst/>
          </a:prstGeom>
          <a:noFill/>
          <a:ln/>
        </p:spPr>
        <p:txBody>
          <a:bodyPr wrap="square" lIns="0" tIns="0" rIns="0" bIns="0" rtlCol="0" anchor="t"/>
          <a:lstStyle/>
          <a:p>
            <a:pPr algn="l" indent="0" marL="0">
              <a:buNone/>
            </a:pPr>
            <a:r>
              <a:rPr lang="en-US" sz="700" b="1" dirty="0">
                <a:solidFill>
                  <a:srgbClr val="FFFFFF"/>
                </a:solidFill>
                <a:latin typeface="Arial" pitchFamily="34" charset="0"/>
                <a:ea typeface="Arial" pitchFamily="34" charset="-122"/>
                <a:cs typeface="Arial" pitchFamily="34" charset="-120"/>
              </a:rPr>
              <a:t>MEDIUM PRIORITY</a:t>
            </a:r>
            <a:endParaRPr lang="en-US" sz="700" dirty="0"/>
          </a:p>
        </p:txBody>
      </p:sp>
      <p:sp>
        <p:nvSpPr>
          <p:cNvPr id="32" name="Text 30"/>
          <p:cNvSpPr/>
          <p:nvPr/>
        </p:nvSpPr>
        <p:spPr>
          <a:xfrm>
            <a:off x="911126" y="3603129"/>
            <a:ext cx="7931188" cy="302121"/>
          </a:xfrm>
          <a:prstGeom prst="rect">
            <a:avLst/>
          </a:prstGeom>
          <a:noFill/>
          <a:ln/>
        </p:spPr>
        <p:txBody>
          <a:bodyPr wrap="square" lIns="0" tIns="0" rIns="0" bIns="0" rtlCol="0" anchor="t"/>
          <a:lstStyle/>
          <a:p>
            <a:pPr algn="l" indent="0" marL="0">
              <a:lnSpc>
                <a:spcPts val="1190"/>
              </a:lnSpc>
              <a:buNone/>
            </a:pPr>
            <a:r>
              <a:rPr lang="en-US" sz="850" dirty="0">
                <a:solidFill>
                  <a:srgbClr val="444444"/>
                </a:solidFill>
                <a:latin typeface="Arial" pitchFamily="34" charset="0"/>
                <a:ea typeface="Arial" pitchFamily="34" charset="-122"/>
                <a:cs typeface="Arial" pitchFamily="34" charset="-120"/>
              </a:rPr>
              <a:t>Apply consistent PPA step-down rules across all brands. Currently, some 3L and 4L packs are priced inconsistently vs 1L, creating arbitrage opportunities for distributors.</a:t>
            </a:r>
            <a:endParaRPr lang="en-US" sz="850" dirty="0"/>
          </a:p>
        </p:txBody>
      </p:sp>
      <p:sp>
        <p:nvSpPr>
          <p:cNvPr id="33" name="Text 31"/>
          <p:cNvSpPr/>
          <p:nvPr/>
        </p:nvSpPr>
        <p:spPr>
          <a:xfrm>
            <a:off x="304800" y="4108252"/>
            <a:ext cx="8534400" cy="698599"/>
          </a:xfrm>
          <a:prstGeom prst="roundRect">
            <a:avLst>
              <a:gd name="adj" fmla="val 9090"/>
            </a:avLst>
          </a:prstGeom>
          <a:solidFill>
            <a:srgbClr val="F8F8F8"/>
          </a:solidFill>
          <a:ln/>
        </p:spPr>
        <p:txBody>
          <a:bodyPr wrap="square" rtlCol="0" anchor="ctr"/>
          <a:lstStyle/>
          <a:p>
            <a:pPr indent="0" marL="0">
              <a:buNone/>
            </a:pPr>
            <a:endParaRPr lang="en-US" dirty="0"/>
          </a:p>
        </p:txBody>
      </p:sp>
      <p:sp>
        <p:nvSpPr>
          <p:cNvPr id="34" name="Shape 32"/>
          <p:cNvSpPr/>
          <p:nvPr/>
        </p:nvSpPr>
        <p:spPr>
          <a:xfrm>
            <a:off x="328613" y="4108252"/>
            <a:ext cx="0" cy="698599"/>
          </a:xfrm>
          <a:prstGeom prst="line">
            <a:avLst/>
          </a:prstGeom>
          <a:noFill/>
          <a:ln w="47625">
            <a:solidFill>
              <a:srgbClr val="00703C"/>
            </a:solidFill>
            <a:prstDash val="solid"/>
          </a:ln>
        </p:spPr>
      </p:sp>
      <p:sp>
        <p:nvSpPr>
          <p:cNvPr id="35" name="Text 33"/>
          <p:cNvSpPr/>
          <p:nvPr/>
        </p:nvSpPr>
        <p:spPr>
          <a:xfrm>
            <a:off x="504825" y="4209752"/>
            <a:ext cx="258979" cy="222200"/>
          </a:xfrm>
          <a:prstGeom prst="rect">
            <a:avLst/>
          </a:prstGeom>
          <a:noFill/>
          <a:ln/>
        </p:spPr>
        <p:txBody>
          <a:bodyPr wrap="square" lIns="0" tIns="12700" rIns="0" bIns="0" rtlCol="0" anchor="t"/>
          <a:lstStyle/>
          <a:p>
            <a:pPr algn="l" indent="0" marL="0">
              <a:buNone/>
            </a:pPr>
            <a:r>
              <a:rPr lang="en-US" sz="1400" b="1" dirty="0">
                <a:solidFill>
                  <a:srgbClr val="C8960C"/>
                </a:solidFill>
                <a:latin typeface="Arial" pitchFamily="34" charset="0"/>
                <a:ea typeface="Arial" pitchFamily="34" charset="-122"/>
                <a:cs typeface="Arial" pitchFamily="34" charset="-120"/>
              </a:rPr>
              <a:t>5</a:t>
            </a:r>
            <a:endParaRPr lang="en-US" sz="1400" dirty="0"/>
          </a:p>
        </p:txBody>
      </p:sp>
      <p:sp>
        <p:nvSpPr>
          <p:cNvPr id="36" name="Text 34"/>
          <p:cNvSpPr/>
          <p:nvPr/>
        </p:nvSpPr>
        <p:spPr>
          <a:xfrm>
            <a:off x="911126" y="4209752"/>
            <a:ext cx="2670396" cy="142875"/>
          </a:xfrm>
          <a:prstGeom prst="rect">
            <a:avLst/>
          </a:prstGeom>
          <a:noFill/>
          <a:ln/>
        </p:spPr>
        <p:txBody>
          <a:bodyPr wrap="square" lIns="0" tIns="0" rIns="0" bIns="0" rtlCol="0" anchor="t"/>
          <a:lstStyle/>
          <a:p>
            <a:pPr algn="l" indent="0" marL="0">
              <a:spcAft>
                <a:spcPts val="200"/>
              </a:spcAft>
              <a:buNone/>
            </a:pPr>
            <a:r>
              <a:rPr lang="en-US" sz="1000" b="1" dirty="0">
                <a:solidFill>
                  <a:srgbClr val="023520"/>
                </a:solidFill>
                <a:latin typeface="Arial" pitchFamily="34" charset="0"/>
                <a:ea typeface="Arial" pitchFamily="34" charset="-122"/>
                <a:cs typeface="Arial" pitchFamily="34" charset="-120"/>
              </a:rPr>
              <a:t>Implement Quarterly Price Review Cadence</a:t>
            </a:r>
            <a:endParaRPr lang="en-US" sz="1000" dirty="0"/>
          </a:p>
        </p:txBody>
      </p:sp>
      <p:sp>
        <p:nvSpPr>
          <p:cNvPr id="37" name="Text 35"/>
          <p:cNvSpPr/>
          <p:nvPr/>
        </p:nvSpPr>
        <p:spPr>
          <a:xfrm>
            <a:off x="3630662" y="4220914"/>
            <a:ext cx="759619" cy="145852"/>
          </a:xfrm>
          <a:prstGeom prst="roundRect">
            <a:avLst>
              <a:gd name="adj" fmla="val 17415"/>
            </a:avLst>
          </a:prstGeom>
          <a:solidFill>
            <a:srgbClr val="C8960C"/>
          </a:solidFill>
          <a:ln/>
        </p:spPr>
        <p:txBody>
          <a:bodyPr wrap="square" rtlCol="0" anchor="ctr"/>
          <a:lstStyle/>
          <a:p>
            <a:pPr indent="0" marL="0">
              <a:buNone/>
            </a:pPr>
            <a:endParaRPr lang="en-US" dirty="0"/>
          </a:p>
        </p:txBody>
      </p:sp>
      <p:sp>
        <p:nvSpPr>
          <p:cNvPr id="38" name="Text 36"/>
          <p:cNvSpPr/>
          <p:nvPr/>
        </p:nvSpPr>
        <p:spPr>
          <a:xfrm>
            <a:off x="3706862" y="4246215"/>
            <a:ext cx="619363" cy="95250"/>
          </a:xfrm>
          <a:prstGeom prst="rect">
            <a:avLst/>
          </a:prstGeom>
          <a:noFill/>
          <a:ln/>
        </p:spPr>
        <p:txBody>
          <a:bodyPr wrap="square" lIns="0" tIns="0" rIns="0" bIns="0" rtlCol="0" anchor="t"/>
          <a:lstStyle/>
          <a:p>
            <a:pPr algn="l" indent="0" marL="0">
              <a:buNone/>
            </a:pPr>
            <a:r>
              <a:rPr lang="en-US" sz="700" b="1" dirty="0">
                <a:solidFill>
                  <a:srgbClr val="FFFFFF"/>
                </a:solidFill>
                <a:latin typeface="Arial" pitchFamily="34" charset="0"/>
                <a:ea typeface="Arial" pitchFamily="34" charset="-122"/>
                <a:cs typeface="Arial" pitchFamily="34" charset="-120"/>
              </a:rPr>
              <a:t>STRUCTURAL</a:t>
            </a:r>
            <a:endParaRPr lang="en-US" sz="700" dirty="0"/>
          </a:p>
        </p:txBody>
      </p:sp>
      <p:sp>
        <p:nvSpPr>
          <p:cNvPr id="39" name="Text 37"/>
          <p:cNvSpPr/>
          <p:nvPr/>
        </p:nvSpPr>
        <p:spPr>
          <a:xfrm>
            <a:off x="911126" y="4403229"/>
            <a:ext cx="7931188" cy="302121"/>
          </a:xfrm>
          <a:prstGeom prst="rect">
            <a:avLst/>
          </a:prstGeom>
          <a:noFill/>
          <a:ln/>
        </p:spPr>
        <p:txBody>
          <a:bodyPr wrap="square" lIns="0" tIns="0" rIns="0" bIns="0" rtlCol="0" anchor="t"/>
          <a:lstStyle/>
          <a:p>
            <a:pPr algn="l" indent="0" marL="0">
              <a:lnSpc>
                <a:spcPts val="1190"/>
              </a:lnSpc>
              <a:buNone/>
            </a:pPr>
            <a:r>
              <a:rPr lang="en-US" sz="850" dirty="0">
                <a:solidFill>
                  <a:srgbClr val="444444"/>
                </a:solidFill>
                <a:latin typeface="Arial" pitchFamily="34" charset="0"/>
                <a:ea typeface="Arial" pitchFamily="34" charset="-122"/>
                <a:cs typeface="Arial" pitchFamily="34" charset="-120"/>
              </a:rPr>
              <a:t>Tie recommended prices to a quarterly BOI re-indexation. Automate re-calculation when PKR/USD moves &gt;5% or Group III base oil benchmarks shift &gt;8%. This pricing intelligence tool delivers that capability.</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730151"/>
          </a:xfrm>
          <a:prstGeom prst="rect">
            <a:avLst/>
          </a:prstGeom>
          <a:solidFill>
            <a:srgbClr val="00703C"/>
          </a:solidFill>
          <a:ln/>
        </p:spPr>
        <p:txBody>
          <a:bodyPr wrap="square" rtlCol="0" anchor="ctr"/>
          <a:lstStyle/>
          <a:p>
            <a:pPr indent="0" marL="0">
              <a:buNone/>
            </a:pPr>
            <a:endParaRPr lang="en-US" dirty="0"/>
          </a:p>
        </p:txBody>
      </p:sp>
      <p:sp>
        <p:nvSpPr>
          <p:cNvPr id="3" name="Text 1"/>
          <p:cNvSpPr/>
          <p:nvPr/>
        </p:nvSpPr>
        <p:spPr>
          <a:xfrm>
            <a:off x="355550" y="152400"/>
            <a:ext cx="8601557" cy="266700"/>
          </a:xfrm>
          <a:prstGeom prst="rect">
            <a:avLst/>
          </a:prstGeom>
          <a:noFill/>
          <a:ln/>
        </p:spPr>
        <p:txBody>
          <a:bodyPr wrap="square" lIns="0" tIns="0" rIns="0" bIns="0" rtlCol="0" anchor="t"/>
          <a:lstStyle/>
          <a:p>
            <a:pPr algn="l" indent="0" marL="0">
              <a:buNone/>
            </a:pPr>
            <a:r>
              <a:rPr lang="en-US" sz="1800" b="1" dirty="0">
                <a:solidFill>
                  <a:srgbClr val="FFFFFF"/>
                </a:solidFill>
                <a:latin typeface="Arial" pitchFamily="34" charset="0"/>
                <a:ea typeface="Arial" pitchFamily="34" charset="-122"/>
                <a:cs typeface="Arial" pitchFamily="34" charset="-120"/>
              </a:rPr>
              <a:t>Implementation Roadmap</a:t>
            </a:r>
            <a:endParaRPr lang="en-US" sz="1800" dirty="0"/>
          </a:p>
        </p:txBody>
      </p:sp>
      <p:sp>
        <p:nvSpPr>
          <p:cNvPr id="4" name="Text 2"/>
          <p:cNvSpPr/>
          <p:nvPr/>
        </p:nvSpPr>
        <p:spPr>
          <a:xfrm>
            <a:off x="355550" y="469850"/>
            <a:ext cx="8601557" cy="133350"/>
          </a:xfrm>
          <a:prstGeom prst="rect">
            <a:avLst/>
          </a:prstGeom>
          <a:noFill/>
          <a:ln/>
        </p:spPr>
        <p:txBody>
          <a:bodyPr wrap="square" lIns="0" tIns="0" rIns="0" bIns="0" rtlCol="0" anchor="t"/>
          <a:lstStyle/>
          <a:p>
            <a:pPr algn="l" indent="0" marL="0">
              <a:spcBef>
                <a:spcPts val="400"/>
              </a:spcBef>
              <a:buNone/>
            </a:pPr>
            <a:r>
              <a:rPr lang="en-US" sz="900" b="1" dirty="0">
                <a:solidFill>
                  <a:srgbClr val="A8D5BE"/>
                </a:solidFill>
                <a:latin typeface="Arial" pitchFamily="34" charset="0"/>
                <a:ea typeface="Arial" pitchFamily="34" charset="-122"/>
                <a:cs typeface="Arial" pitchFamily="34" charset="-120"/>
              </a:rPr>
              <a:t>12-month phased pricing adjustment plan | August 2026 – July 2027</a:t>
            </a:r>
            <a:endParaRPr lang="en-US" sz="900" dirty="0"/>
          </a:p>
        </p:txBody>
      </p:sp>
      <p:sp>
        <p:nvSpPr>
          <p:cNvPr id="5" name="Text 3"/>
          <p:cNvSpPr/>
          <p:nvPr/>
        </p:nvSpPr>
        <p:spPr>
          <a:xfrm>
            <a:off x="304800" y="907852"/>
            <a:ext cx="8705088" cy="114300"/>
          </a:xfrm>
          <a:prstGeom prst="rect">
            <a:avLst/>
          </a:prstGeom>
          <a:noFill/>
          <a:ln/>
        </p:spPr>
        <p:txBody>
          <a:bodyPr wrap="square" lIns="0" tIns="0" rIns="0" bIns="0" rtlCol="0" anchor="t"/>
          <a:lstStyle/>
          <a:p>
            <a:pPr algn="l" indent="0" marL="0">
              <a:spcAft>
                <a:spcPts val="1000"/>
              </a:spcAft>
              <a:buNone/>
            </a:pPr>
            <a:r>
              <a:rPr lang="en-US" sz="800" dirty="0">
                <a:solidFill>
                  <a:srgbClr val="555555"/>
                </a:solidFill>
                <a:latin typeface="Arial" pitchFamily="34" charset="0"/>
                <a:ea typeface="Arial" pitchFamily="34" charset="-122"/>
                <a:cs typeface="Arial" pitchFamily="34" charset="-120"/>
              </a:rPr>
              <a:t>Priority actions mapped to quarter. RED = immediate. AMBER = within 6 months. GREEN = structural / ongoing.</a:t>
            </a:r>
            <a:endParaRPr lang="en-US" sz="800" dirty="0"/>
          </a:p>
        </p:txBody>
      </p:sp>
      <p:sp>
        <p:nvSpPr>
          <p:cNvPr id="6" name="Text 4"/>
          <p:cNvSpPr/>
          <p:nvPr/>
        </p:nvSpPr>
        <p:spPr>
          <a:xfrm>
            <a:off x="304800" y="1149102"/>
            <a:ext cx="8534400" cy="3816697"/>
          </a:xfrm>
          <a:prstGeom prst="roundRect">
            <a:avLst>
              <a:gd name="adj" fmla="val 1331"/>
            </a:avLst>
          </a:prstGeom>
          <a:solidFill>
            <a:srgbClr val="F0F8F4"/>
          </a:solidFill>
          <a:ln w="9525">
            <a:solidFill>
              <a:srgbClr val="00703C"/>
            </a:solidFill>
          </a:ln>
        </p:spPr>
        <p:txBody>
          <a:bodyPr wrap="square" rtlCol="0" anchor="ctr"/>
          <a:lstStyle/>
          <a:p>
            <a:pPr indent="0" marL="0">
              <a:buNone/>
            </a:pPr>
            <a:endParaRPr lang="en-US"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274320" y="1325880"/>
          <a:ext cx="8595360" cy="3383280"/>
        </p:xfrm>
        <a:graphic>
          <a:graphicData uri="http://schemas.openxmlformats.org/drawingml/2006/table">
            <a:tbl>
              <a:tblPr/>
              <a:tblGrid>
                <a:gridCol w="2560320"/>
                <a:gridCol w="1280160"/>
                <a:gridCol w="1371600"/>
                <a:gridCol w="1280160"/>
                <a:gridCol w="1188720"/>
                <a:gridCol w="914400"/>
              </a:tblGrid>
              <a:tr h="484632">
                <a:tc>
                  <a:txBody>
                    <a:bodyPr/>
                    <a:lstStyle/>
                    <a:p>
                      <a:pPr indent="0" marL="0">
                        <a:buNone/>
                      </a:pPr>
                      <a:r>
                        <a:rPr lang="en-US" sz="900" b="1" dirty="0">
                          <a:solidFill>
                            <a:srgbClr val="FFFFFF"/>
                          </a:solidFill>
                        </a:rPr>
                        <a:t>Action</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900" b="1" dirty="0">
                          <a:solidFill>
                            <a:srgbClr val="FFFFFF"/>
                          </a:solidFill>
                        </a:rPr>
                        <a:t>Q1 Aug–Oct '26</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900" b="1" dirty="0">
                          <a:solidFill>
                            <a:srgbClr val="FFFFFF"/>
                          </a:solidFill>
                        </a:rPr>
                        <a:t>Q2 Nov '26–Jan '27</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900" b="1" dirty="0">
                          <a:solidFill>
                            <a:srgbClr val="FFFFFF"/>
                          </a:solidFill>
                        </a:rPr>
                        <a:t>Q3 Feb–Apr '27</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900" b="1" dirty="0">
                          <a:solidFill>
                            <a:srgbClr val="FFFFFF"/>
                          </a:solidFill>
                        </a:rPr>
                        <a:t>Q4 May–Jul '27</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indent="0" marL="0">
                        <a:buNone/>
                      </a:pPr>
                      <a:r>
                        <a:rPr lang="en-US" sz="900" b="1" dirty="0">
                          <a:solidFill>
                            <a:srgbClr val="FFFFFF"/>
                          </a:solidFill>
                        </a:rPr>
                        <a:t>Owner</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r>
              <a:tr h="484632">
                <a:tc>
                  <a:txBody>
                    <a:bodyPr/>
                    <a:lstStyle/>
                    <a:p>
                      <a:pPr indent="0" marL="0">
                        <a:buNone/>
                      </a:pPr>
                      <a:r>
                        <a:rPr lang="en-US" sz="800" b="1" dirty="0">
                          <a:solidFill>
                            <a:srgbClr val="023520"/>
                          </a:solidFill>
                        </a:rPr>
                        <a:t>Correct 5W-30 outlier price</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FFFFFF"/>
                          </a:solidFill>
                        </a:rPr>
                        <a:t>EXECUTE</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0392B"/>
                    </a:solidFill>
                  </a:tcPr>
                </a:tc>
                <a:tc>
                  <a:txBody>
                    <a:bodyPr/>
                    <a:lstStyle/>
                    <a:p>
                      <a:pPr algn="ctr" indent="0" marL="0">
                        <a:buNone/>
                      </a:pPr>
                      <a:r>
                        <a:rPr lang="en-US" sz="800" dirty="0">
                          <a:solidFill>
                            <a:srgbClr val="555555"/>
                          </a:solidFill>
                        </a:rPr>
                        <a:t>Monitor</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rPr>
                        <a:t>BU Pricing</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484632">
                <a:tc>
                  <a:txBody>
                    <a:bodyPr/>
                    <a:lstStyle/>
                    <a:p>
                      <a:pPr indent="0" marL="0">
                        <a:buNone/>
                      </a:pPr>
                      <a:r>
                        <a:rPr lang="en-US" sz="800" b="1" dirty="0">
                          <a:solidFill>
                            <a:srgbClr val="023520"/>
                          </a:solidFill>
                        </a:rPr>
                        <a:t>Raise MCO prices by 15–20%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FFFFFF"/>
                          </a:solidFill>
                        </a:rPr>
                        <a:t>PLAN</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67E22"/>
                    </a:solidFill>
                  </a:tcPr>
                </a:tc>
                <a:tc>
                  <a:txBody>
                    <a:bodyPr/>
                    <a:lstStyle/>
                    <a:p>
                      <a:pPr algn="ctr" indent="0" marL="0">
                        <a:buNone/>
                      </a:pPr>
                      <a:r>
                        <a:rPr lang="en-US" sz="800" b="1" dirty="0">
                          <a:solidFill>
                            <a:srgbClr val="FFFFFF"/>
                          </a:solidFill>
                        </a:rPr>
                        <a:t>EXECUTE</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67E22"/>
                    </a:solidFill>
                  </a:tcPr>
                </a:tc>
                <a:tc>
                  <a:txBody>
                    <a:bodyPr/>
                    <a:lstStyle/>
                    <a:p>
                      <a:pPr algn="ctr" indent="0" marL="0">
                        <a:buNone/>
                      </a:pPr>
                      <a:r>
                        <a:rPr lang="en-US" sz="800" dirty="0">
                          <a:solidFill>
                            <a:srgbClr val="555555"/>
                          </a:solidFill>
                        </a:rPr>
                        <a:t>Monitor</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rPr>
                        <a:t>Sales / BU</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484632">
                <a:tc>
                  <a:txBody>
                    <a:bodyPr/>
                    <a:lstStyle/>
                    <a:p>
                      <a:pPr indent="0" marL="0">
                        <a:buNone/>
                      </a:pPr>
                      <a:r>
                        <a:rPr lang="en-US" sz="800" b="1" dirty="0">
                          <a:solidFill>
                            <a:srgbClr val="023520"/>
                          </a:solidFill>
                        </a:rPr>
                        <a:t>Widen DEO tier gap (+8–12%)</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FFFFFF"/>
                          </a:solidFill>
                        </a:rPr>
                        <a:t>PLAN</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67E22"/>
                    </a:solidFill>
                  </a:tcPr>
                </a:tc>
                <a:tc>
                  <a:txBody>
                    <a:bodyPr/>
                    <a:lstStyle/>
                    <a:p>
                      <a:pPr algn="ctr" indent="0" marL="0">
                        <a:buNone/>
                      </a:pPr>
                      <a:r>
                        <a:rPr lang="en-US" sz="800" b="1" dirty="0">
                          <a:solidFill>
                            <a:srgbClr val="FFFFFF"/>
                          </a:solidFill>
                        </a:rPr>
                        <a:t>EXECUTE</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67E22"/>
                    </a:solidFill>
                  </a:tcPr>
                </a:tc>
                <a:tc>
                  <a:txBody>
                    <a:bodyPr/>
                    <a:lstStyle/>
                    <a:p>
                      <a:pPr algn="ctr" indent="0" marL="0">
                        <a:buNone/>
                      </a:pPr>
                      <a:r>
                        <a:rPr lang="en-US" sz="800" dirty="0">
                          <a:solidFill>
                            <a:srgbClr val="555555"/>
                          </a:solidFill>
                        </a:rPr>
                        <a:t>Monitor</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rPr>
                        <a:t>Sales / BU</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484632">
                <a:tc>
                  <a:txBody>
                    <a:bodyPr/>
                    <a:lstStyle/>
                    <a:p>
                      <a:pPr indent="0" marL="0">
                        <a:buNone/>
                      </a:pPr>
                      <a:r>
                        <a:rPr lang="en-US" sz="800" b="1" dirty="0">
                          <a:solidFill>
                            <a:srgbClr val="023520"/>
                          </a:solidFill>
                        </a:rPr>
                        <a:t>Standardise PPA step-down curves</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FFFFFF"/>
                          </a:solidFill>
                        </a:rPr>
                        <a:t>EXECUTE</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0703C"/>
                    </a:solidFill>
                  </a:tcPr>
                </a:tc>
                <a:tc>
                  <a:txBody>
                    <a:bodyPr/>
                    <a:lstStyle/>
                    <a:p>
                      <a:pPr algn="ctr" indent="0" marL="0">
                        <a:buNone/>
                      </a:pPr>
                      <a:r>
                        <a:rPr lang="en-US" sz="800" dirty="0">
                          <a:solidFill>
                            <a:srgbClr val="555555"/>
                          </a:solidFill>
                        </a:rPr>
                        <a:t>Audit</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555555"/>
                          </a:solidFill>
                        </a:rPr>
                        <a:t>Ongoing</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rPr>
                        <a:t>BU Pricing</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484632">
                <a:tc>
                  <a:txBody>
                    <a:bodyPr/>
                    <a:lstStyle/>
                    <a:p>
                      <a:pPr indent="0" marL="0">
                        <a:buNone/>
                      </a:pPr>
                      <a:r>
                        <a:rPr lang="en-US" sz="800" b="1" dirty="0">
                          <a:solidFill>
                            <a:srgbClr val="023520"/>
                          </a:solidFill>
                        </a:rPr>
                        <a:t>Quarterly BOI re-indexation cadence</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FFFFFF"/>
                          </a:solidFill>
                        </a:rPr>
                        <a:t>DESIGN</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0703C"/>
                    </a:solidFill>
                  </a:tcPr>
                </a:tc>
                <a:tc>
                  <a:txBody>
                    <a:bodyPr/>
                    <a:lstStyle/>
                    <a:p>
                      <a:pPr algn="ctr" indent="0" marL="0">
                        <a:buNone/>
                      </a:pPr>
                      <a:r>
                        <a:rPr lang="en-US" sz="800" b="1" dirty="0">
                          <a:solidFill>
                            <a:srgbClr val="FFFFFF"/>
                          </a:solidFill>
                        </a:rPr>
                        <a:t>PILOT</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0703C"/>
                    </a:solidFill>
                  </a:tcPr>
                </a:tc>
                <a:tc>
                  <a:txBody>
                    <a:bodyPr/>
                    <a:lstStyle/>
                    <a:p>
                      <a:pPr algn="ctr" indent="0" marL="0">
                        <a:buNone/>
                      </a:pPr>
                      <a:r>
                        <a:rPr lang="en-US" sz="800" b="1" dirty="0">
                          <a:solidFill>
                            <a:srgbClr val="FFFFFF"/>
                          </a:solidFill>
                        </a:rPr>
                        <a:t>ROLLOUT</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0703C"/>
                    </a:solidFill>
                  </a:tcPr>
                </a:tc>
                <a:tc>
                  <a:txBody>
                    <a:bodyPr/>
                    <a:lstStyle/>
                    <a:p>
                      <a:pPr algn="ctr" indent="0" marL="0">
                        <a:buNone/>
                      </a:pPr>
                      <a:r>
                        <a:rPr lang="en-US" sz="800" dirty="0">
                          <a:solidFill>
                            <a:srgbClr val="555555"/>
                          </a:solidFill>
                        </a:rPr>
                        <a:t>Ongoing</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rPr>
                        <a:t>Strategy</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23520"/>
        </a:solidFill>
      </p:bgPr>
    </p:bg>
    <p:spTree>
      <p:nvGrpSpPr>
        <p:cNvPr id="1" name=""/>
        <p:cNvGrpSpPr/>
        <p:nvPr/>
      </p:nvGrpSpPr>
      <p:grpSpPr>
        <a:xfrm>
          <a:off x="0" y="0"/>
          <a:ext cx="0" cy="0"/>
          <a:chOff x="0" y="0"/>
          <a:chExt cx="0" cy="0"/>
        </a:xfrm>
      </p:grpSpPr>
      <p:sp>
        <p:nvSpPr>
          <p:cNvPr id="2" name="Text 0"/>
          <p:cNvSpPr/>
          <p:nvPr/>
        </p:nvSpPr>
        <p:spPr>
          <a:xfrm>
            <a:off x="4303812" y="1125736"/>
            <a:ext cx="547104" cy="295275"/>
          </a:xfrm>
          <a:prstGeom prst="rect">
            <a:avLst/>
          </a:prstGeom>
          <a:noFill/>
          <a:ln/>
        </p:spPr>
        <p:txBody>
          <a:bodyPr wrap="square" lIns="0" tIns="0" rIns="0" bIns="0" rtlCol="0" anchor="t"/>
          <a:lstStyle/>
          <a:p>
            <a:pPr algn="l" indent="0" marL="0">
              <a:spcAft>
                <a:spcPts val="800"/>
              </a:spcAft>
              <a:buNone/>
            </a:pPr>
            <a:r>
              <a:rPr lang="en-US" sz="2000" b="1" dirty="0">
                <a:solidFill>
                  <a:srgbClr val="C8960C"/>
                </a:solidFill>
                <a:latin typeface="Arial" pitchFamily="34" charset="0"/>
                <a:ea typeface="Arial" pitchFamily="34" charset="-122"/>
                <a:cs typeface="Arial" pitchFamily="34" charset="-120"/>
              </a:rPr>
              <a:t>PSO</a:t>
            </a:r>
            <a:endParaRPr lang="en-US" sz="2000" dirty="0"/>
          </a:p>
        </p:txBody>
      </p:sp>
      <p:sp>
        <p:nvSpPr>
          <p:cNvPr id="3" name="Text 1"/>
          <p:cNvSpPr/>
          <p:nvPr/>
        </p:nvSpPr>
        <p:spPr>
          <a:xfrm>
            <a:off x="3399830" y="1522512"/>
            <a:ext cx="2391227" cy="133350"/>
          </a:xfrm>
          <a:prstGeom prst="rect">
            <a:avLst/>
          </a:prstGeom>
          <a:noFill/>
          <a:ln/>
        </p:spPr>
        <p:txBody>
          <a:bodyPr wrap="square" lIns="0" tIns="0" rIns="0" bIns="0" rtlCol="0" anchor="t"/>
          <a:lstStyle/>
          <a:p>
            <a:pPr algn="l" indent="0" marL="0">
              <a:spcAft>
                <a:spcPts val="2200"/>
              </a:spcAft>
              <a:buNone/>
            </a:pPr>
            <a:r>
              <a:rPr lang="en-US" sz="900" dirty="0">
                <a:solidFill>
                  <a:srgbClr val="A8D5BE"/>
                </a:solidFill>
                <a:latin typeface="Arial" pitchFamily="34" charset="0"/>
                <a:ea typeface="Arial" pitchFamily="34" charset="-122"/>
                <a:cs typeface="Arial" pitchFamily="34" charset="-120"/>
              </a:rPr>
              <a:t>Pakistan State Oil — Lubricants Business Unit</a:t>
            </a:r>
            <a:endParaRPr lang="en-US" sz="900" dirty="0"/>
          </a:p>
        </p:txBody>
      </p:sp>
      <p:sp>
        <p:nvSpPr>
          <p:cNvPr id="4" name="Text 2"/>
          <p:cNvSpPr/>
          <p:nvPr/>
        </p:nvSpPr>
        <p:spPr>
          <a:xfrm>
            <a:off x="3555950" y="1935212"/>
            <a:ext cx="2031950" cy="38100"/>
          </a:xfrm>
          <a:prstGeom prst="rect">
            <a:avLst/>
          </a:prstGeom>
          <a:solidFill>
            <a:srgbClr val="C8960C"/>
          </a:solidFill>
          <a:ln/>
        </p:spPr>
        <p:txBody>
          <a:bodyPr wrap="square" rtlCol="0" anchor="ctr"/>
          <a:lstStyle/>
          <a:p>
            <a:pPr indent="0" marL="0">
              <a:buNone/>
            </a:pPr>
            <a:endParaRPr lang="en-US" dirty="0"/>
          </a:p>
        </p:txBody>
      </p:sp>
      <p:sp>
        <p:nvSpPr>
          <p:cNvPr id="5" name="Text 3"/>
          <p:cNvSpPr/>
          <p:nvPr/>
        </p:nvSpPr>
        <p:spPr>
          <a:xfrm>
            <a:off x="3596656" y="2252663"/>
            <a:ext cx="1950538" cy="428625"/>
          </a:xfrm>
          <a:prstGeom prst="rect">
            <a:avLst/>
          </a:prstGeom>
          <a:noFill/>
          <a:ln/>
        </p:spPr>
        <p:txBody>
          <a:bodyPr wrap="square" lIns="0" tIns="0" rIns="0" bIns="0" rtlCol="0" anchor="t"/>
          <a:lstStyle/>
          <a:p>
            <a:pPr algn="ctr" indent="0" marL="0">
              <a:spcAft>
                <a:spcPts val="1000"/>
              </a:spcAft>
              <a:buNone/>
            </a:pPr>
            <a:r>
              <a:rPr lang="en-US" sz="3000" b="1" dirty="0">
                <a:solidFill>
                  <a:srgbClr val="FFFFFF"/>
                </a:solidFill>
                <a:latin typeface="Arial" pitchFamily="34" charset="0"/>
                <a:ea typeface="Arial" pitchFamily="34" charset="-122"/>
                <a:cs typeface="Arial" pitchFamily="34" charset="-120"/>
              </a:rPr>
              <a:t>Thank You</a:t>
            </a:r>
            <a:endParaRPr lang="en-US" sz="3000" dirty="0"/>
          </a:p>
        </p:txBody>
      </p:sp>
      <p:sp>
        <p:nvSpPr>
          <p:cNvPr id="6" name="Text 4"/>
          <p:cNvSpPr/>
          <p:nvPr/>
        </p:nvSpPr>
        <p:spPr>
          <a:xfrm>
            <a:off x="3682881" y="2808238"/>
            <a:ext cx="1778088" cy="200025"/>
          </a:xfrm>
          <a:prstGeom prst="rect">
            <a:avLst/>
          </a:prstGeom>
          <a:noFill/>
          <a:ln/>
        </p:spPr>
        <p:txBody>
          <a:bodyPr wrap="square" lIns="0" tIns="0" rIns="0" bIns="0" rtlCol="0" anchor="t"/>
          <a:lstStyle/>
          <a:p>
            <a:pPr algn="ctr" indent="0" marL="0">
              <a:spcAft>
                <a:spcPts val="2800"/>
              </a:spcAft>
              <a:buNone/>
            </a:pPr>
            <a:r>
              <a:rPr lang="en-US" sz="1300" dirty="0">
                <a:solidFill>
                  <a:srgbClr val="A8D5BE"/>
                </a:solidFill>
                <a:latin typeface="Arial" pitchFamily="34" charset="0"/>
                <a:ea typeface="Arial" pitchFamily="34" charset="-122"/>
                <a:cs typeface="Arial" pitchFamily="34" charset="-120"/>
              </a:rPr>
              <a:t>Questions &amp; Discussion</a:t>
            </a:r>
            <a:endParaRPr lang="en-US" sz="1300" dirty="0"/>
          </a:p>
        </p:txBody>
      </p:sp>
      <p:sp>
        <p:nvSpPr>
          <p:cNvPr id="7" name="Text 5"/>
          <p:cNvSpPr/>
          <p:nvPr/>
        </p:nvSpPr>
        <p:spPr>
          <a:xfrm>
            <a:off x="4064050" y="3541514"/>
            <a:ext cx="1015901" cy="12650"/>
          </a:xfrm>
          <a:prstGeom prst="rect">
            <a:avLst/>
          </a:prstGeom>
          <a:solidFill>
            <a:srgbClr val="00703C"/>
          </a:solidFill>
          <a:ln/>
        </p:spPr>
        <p:txBody>
          <a:bodyPr wrap="square" rtlCol="0" anchor="ctr"/>
          <a:lstStyle/>
          <a:p>
            <a:pPr indent="0" marL="0">
              <a:buNone/>
            </a:pPr>
            <a:endParaRPr lang="en-US" dirty="0"/>
          </a:p>
        </p:txBody>
      </p:sp>
      <p:sp>
        <p:nvSpPr>
          <p:cNvPr id="8" name="Text 6"/>
          <p:cNvSpPr/>
          <p:nvPr/>
        </p:nvSpPr>
        <p:spPr>
          <a:xfrm>
            <a:off x="1699248" y="3731865"/>
            <a:ext cx="5745504" cy="142875"/>
          </a:xfrm>
          <a:prstGeom prst="rect">
            <a:avLst/>
          </a:prstGeom>
          <a:noFill/>
          <a:ln/>
        </p:spPr>
        <p:txBody>
          <a:bodyPr wrap="square" lIns="0" tIns="0" rIns="0" bIns="0" rtlCol="0" anchor="t"/>
          <a:lstStyle/>
          <a:p>
            <a:pPr algn="ctr" indent="0" marL="0">
              <a:buNone/>
            </a:pPr>
            <a:r>
              <a:rPr lang="en-US" sz="1000" dirty="0">
                <a:solidFill>
                  <a:srgbClr val="6FA882"/>
                </a:solidFill>
                <a:latin typeface="Arial" pitchFamily="34" charset="0"/>
                <a:ea typeface="Arial" pitchFamily="34" charset="-122"/>
                <a:cs typeface="Arial" pitchFamily="34" charset="-120"/>
              </a:rPr>
              <a:t>Pricing Intelligence v2.0 | Powered by live Daraz.pk market data + 8 international pricing frameworks</a:t>
            </a:r>
            <a:endParaRPr lang="en-US" sz="1000" dirty="0"/>
          </a:p>
        </p:txBody>
      </p:sp>
      <p:sp>
        <p:nvSpPr>
          <p:cNvPr id="9" name="Text 7"/>
          <p:cNvSpPr/>
          <p:nvPr/>
        </p:nvSpPr>
        <p:spPr>
          <a:xfrm>
            <a:off x="3851992" y="3874740"/>
            <a:ext cx="1439867" cy="142875"/>
          </a:xfrm>
          <a:prstGeom prst="rect">
            <a:avLst/>
          </a:prstGeom>
          <a:noFill/>
          <a:ln/>
        </p:spPr>
        <p:txBody>
          <a:bodyPr wrap="square" lIns="0" tIns="0" rIns="0" bIns="0" rtlCol="0" anchor="t"/>
          <a:lstStyle/>
          <a:p>
            <a:pPr algn="ctr" indent="0" marL="0">
              <a:buNone/>
            </a:pPr>
            <a:r>
              <a:rPr lang="en-US" sz="1000" dirty="0">
                <a:solidFill>
                  <a:srgbClr val="6FA882"/>
                </a:solidFill>
                <a:latin typeface="Arial" pitchFamily="34" charset="0"/>
                <a:ea typeface="Arial" pitchFamily="34" charset="-122"/>
                <a:cs typeface="Arial" pitchFamily="34" charset="-120"/>
              </a:rPr>
              <a:t>Confidential — July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Pakistan State Oil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PSO Lubricants Pricing Strategy 2025–26</dc:title>
  <dc:subject>PptxGenJS Presentation</dc:subject>
  <dc:creator>PSO Lubricants Pricing Intelligence v2</dc:creator>
  <cp:lastModifiedBy>PSO Lubricants Pricing Intelligence v2</cp:lastModifiedBy>
  <cp:revision>1</cp:revision>
  <dcterms:created xsi:type="dcterms:W3CDTF">2026-07-07T12:34:03Z</dcterms:created>
  <dcterms:modified xsi:type="dcterms:W3CDTF">2026-07-07T12:34:03Z</dcterms:modified>
</cp:coreProperties>
</file>